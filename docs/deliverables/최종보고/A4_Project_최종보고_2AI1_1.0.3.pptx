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8"/>
  </p:notesMasterIdLst>
  <p:handoutMasterIdLst>
    <p:handoutMasterId r:id="rId69"/>
  </p:handoutMasterIdLst>
  <p:sldIdLst>
    <p:sldId id="256" r:id="rId2"/>
    <p:sldId id="257" r:id="rId3"/>
    <p:sldId id="258" r:id="rId4"/>
    <p:sldId id="259" r:id="rId5"/>
    <p:sldId id="260" r:id="rId6"/>
    <p:sldId id="261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277" r:id="rId20"/>
    <p:sldId id="267" r:id="rId21"/>
    <p:sldId id="268" r:id="rId22"/>
    <p:sldId id="269" r:id="rId23"/>
    <p:sldId id="270" r:id="rId24"/>
    <p:sldId id="271" r:id="rId25"/>
    <p:sldId id="272" r:id="rId26"/>
    <p:sldId id="274" r:id="rId27"/>
    <p:sldId id="362" r:id="rId28"/>
    <p:sldId id="363" r:id="rId29"/>
    <p:sldId id="364" r:id="rId30"/>
    <p:sldId id="365" r:id="rId31"/>
    <p:sldId id="366" r:id="rId32"/>
    <p:sldId id="367" r:id="rId33"/>
    <p:sldId id="368" r:id="rId34"/>
    <p:sldId id="369" r:id="rId35"/>
    <p:sldId id="370" r:id="rId36"/>
    <p:sldId id="371" r:id="rId37"/>
    <p:sldId id="372" r:id="rId38"/>
    <p:sldId id="373" r:id="rId39"/>
    <p:sldId id="374" r:id="rId40"/>
    <p:sldId id="375" r:id="rId41"/>
    <p:sldId id="376" r:id="rId42"/>
    <p:sldId id="377" r:id="rId43"/>
    <p:sldId id="304" r:id="rId44"/>
    <p:sldId id="328" r:id="rId45"/>
    <p:sldId id="306" r:id="rId46"/>
    <p:sldId id="307" r:id="rId47"/>
    <p:sldId id="308" r:id="rId48"/>
    <p:sldId id="309" r:id="rId49"/>
    <p:sldId id="310" r:id="rId50"/>
    <p:sldId id="311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4" r:id="rId62"/>
    <p:sldId id="263" r:id="rId63"/>
    <p:sldId id="264" r:id="rId64"/>
    <p:sldId id="265" r:id="rId65"/>
    <p:sldId id="266" r:id="rId66"/>
    <p:sldId id="325" r:id="rId6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1C30AD4-E135-4A70-ADF7-14059A74B045}">
          <p14:sldIdLst>
            <p14:sldId id="256"/>
          </p14:sldIdLst>
        </p14:section>
        <p14:section name="기획" id="{43CD3D60-DD09-4BEA-9000-B2A96986C995}">
          <p14:sldIdLst>
            <p14:sldId id="257"/>
            <p14:sldId id="258"/>
            <p14:sldId id="259"/>
            <p14:sldId id="260"/>
            <p14:sldId id="261"/>
          </p14:sldIdLst>
        </p14:section>
        <p14:section name="System Architecture" id="{1B35B541-4DC7-4C19-868A-DCF3120E998A}">
          <p14:sldIdLst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</p14:sldIdLst>
        </p14:section>
        <p14:section name="Data Architecture" id="{B3530D6C-A4EE-41AD-8E1A-2AA2350D3BEE}">
          <p14:sldIdLst>
            <p14:sldId id="277"/>
            <p14:sldId id="267"/>
            <p14:sldId id="268"/>
            <p14:sldId id="269"/>
            <p14:sldId id="270"/>
            <p14:sldId id="271"/>
            <p14:sldId id="272"/>
            <p14:sldId id="274"/>
          </p14:sldIdLst>
        </p14:section>
        <p14:section name="LLM Architecture" id="{F2C13D5E-1F37-4855-802C-0DBA4EC730C2}">
          <p14:sldIdLst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</p14:sldIdLst>
        </p14:section>
        <p14:section name="Model Architecture" id="{AFF5ECE3-6647-4F1F-BA1B-CE47B54ADFD2}">
          <p14:sldIdLst>
            <p14:sldId id="304"/>
            <p14:sldId id="328"/>
            <p14:sldId id="306"/>
            <p14:sldId id="307"/>
            <p14:sldId id="308"/>
            <p14:sldId id="309"/>
            <p14:sldId id="310"/>
            <p14:sldId id="311"/>
            <p14:sldId id="313"/>
          </p14:sldIdLst>
        </p14:section>
        <p14:section name="System Development" id="{B7E9508F-5019-44FB-A3C6-66693D589CD3}">
          <p14:sldIdLst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4"/>
          </p14:sldIdLst>
        </p14:section>
        <p14:section name="결과" id="{6E063171-F238-44AC-95F3-E42CF0070805}">
          <p14:sldIdLst>
            <p14:sldId id="263"/>
            <p14:sldId id="264"/>
            <p14:sldId id="265"/>
            <p14:sldId id="266"/>
            <p14:sldId id="32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723"/>
    <a:srgbClr val="EEF7F2"/>
    <a:srgbClr val="E2F0D9"/>
    <a:srgbClr val="FFDAB9"/>
    <a:srgbClr val="EEF8F2"/>
    <a:srgbClr val="1B5E20"/>
    <a:srgbClr val="FEA402"/>
    <a:srgbClr val="F9177D"/>
    <a:srgbClr val="FFFFFF"/>
    <a:srgbClr val="DD27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07" autoAdjust="0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413162984153057"/>
          <c:y val="0.17264921168826974"/>
          <c:w val="0.92687733759842517"/>
          <c:h val="0.731017794597822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크롤링 기반 수집</c:v>
                </c:pt>
              </c:strCache>
            </c:strRef>
          </c:tx>
          <c:spPr>
            <a:solidFill>
              <a:schemeClr val="accent1"/>
            </a:solidFill>
            <a:ln cap="rnd">
              <a:solidFill>
                <a:srgbClr val="FFFFFF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noFill/>
              <a:ln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BD-4C81-8BD0-353F7EFE584B}"/>
              </c:ext>
            </c:extLst>
          </c:dPt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BD-4C81-8BD0-353F7EFE58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담당자 직접 수집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BD-4C81-8BD0-353F7EFE58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80"/>
        <c:axId val="1601126767"/>
        <c:axId val="1601127183"/>
      </c:barChart>
      <c:catAx>
        <c:axId val="1601126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01127183"/>
        <c:crosses val="autoZero"/>
        <c:auto val="1"/>
        <c:lblAlgn val="ctr"/>
        <c:lblOffset val="100"/>
        <c:noMultiLvlLbl val="0"/>
      </c:catAx>
      <c:valAx>
        <c:axId val="16011271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01126767"/>
        <c:crosses val="autoZero"/>
        <c:crossBetween val="between"/>
      </c:valAx>
      <c:spPr>
        <a:noFill/>
        <a:ln cap="rnd">
          <a:noFill/>
        </a:ln>
        <a:effectLst>
          <a:softEdge rad="584200"/>
        </a:effectLst>
      </c:spPr>
    </c:plotArea>
    <c:plotVisOnly val="1"/>
    <c:dispBlanksAs val="gap"/>
    <c:showDLblsOverMax val="0"/>
  </c:chart>
  <c:spPr>
    <a:noFill/>
    <a:ln>
      <a:noFill/>
    </a:ln>
    <a:effectLst>
      <a:softEdge rad="0"/>
    </a:effectLst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01075B-DF25-4AC9-9B86-500ADE4A1B96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 smtClean="0"/>
              <a:t>A4_Project_</a:t>
            </a:r>
            <a:r>
              <a:rPr lang="ko-KR" altLang="en-US" smtClean="0"/>
              <a:t>함유라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656D0-036D-4C3C-8A58-BF9E95BB5C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712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41780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32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32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80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71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87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974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218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96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307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9221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812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6451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824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99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113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128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740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2091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395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76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928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086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857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441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0212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814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625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715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549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193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1205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7176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211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6346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5573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81628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6695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49896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0851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0420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9922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4453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2841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6696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841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5114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65346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7981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05517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4396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9045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1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6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7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7.png"/><Relationship Id="rId10" Type="http://schemas.openxmlformats.org/officeDocument/2006/relationships/image" Target="../media/image39.png"/><Relationship Id="rId4" Type="http://schemas.openxmlformats.org/officeDocument/2006/relationships/image" Target="../media/image16.png"/><Relationship Id="rId9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1.png"/><Relationship Id="rId21" Type="http://schemas.openxmlformats.org/officeDocument/2006/relationships/image" Target="../media/image58.png"/><Relationship Id="rId7" Type="http://schemas.openxmlformats.org/officeDocument/2006/relationships/image" Target="../media/image45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8.png"/><Relationship Id="rId24" Type="http://schemas.openxmlformats.org/officeDocument/2006/relationships/image" Target="../media/image61.png"/><Relationship Id="rId5" Type="http://schemas.openxmlformats.org/officeDocument/2006/relationships/image" Target="../media/image43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10" Type="http://schemas.openxmlformats.org/officeDocument/2006/relationships/image" Target="../media/image7.png"/><Relationship Id="rId19" Type="http://schemas.openxmlformats.org/officeDocument/2006/relationships/image" Target="../media/image56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18" Type="http://schemas.openxmlformats.org/officeDocument/2006/relationships/image" Target="../media/image75.png"/><Relationship Id="rId3" Type="http://schemas.openxmlformats.org/officeDocument/2006/relationships/image" Target="../media/image41.png"/><Relationship Id="rId21" Type="http://schemas.openxmlformats.org/officeDocument/2006/relationships/image" Target="../media/image78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3.png"/><Relationship Id="rId20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7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19" Type="http://schemas.openxmlformats.org/officeDocument/2006/relationships/image" Target="../media/image76.png"/><Relationship Id="rId4" Type="http://schemas.openxmlformats.org/officeDocument/2006/relationships/image" Target="../media/image62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Relationship Id="rId22" Type="http://schemas.openxmlformats.org/officeDocument/2006/relationships/image" Target="../media/image7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11" Type="http://schemas.openxmlformats.org/officeDocument/2006/relationships/image" Target="../media/image109.png"/><Relationship Id="rId5" Type="http://schemas.openxmlformats.org/officeDocument/2006/relationships/image" Target="../media/image102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10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3" Type="http://schemas.openxmlformats.org/officeDocument/2006/relationships/image" Target="../media/image103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17" Type="http://schemas.openxmlformats.org/officeDocument/2006/relationships/image" Target="../media/image131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27.png"/><Relationship Id="rId3" Type="http://schemas.openxmlformats.org/officeDocument/2006/relationships/image" Target="../media/image103.png"/><Relationship Id="rId7" Type="http://schemas.openxmlformats.org/officeDocument/2006/relationships/image" Target="../media/image121.png"/><Relationship Id="rId12" Type="http://schemas.openxmlformats.org/officeDocument/2006/relationships/image" Target="../media/image136.png"/><Relationship Id="rId17" Type="http://schemas.openxmlformats.org/officeDocument/2006/relationships/image" Target="../media/image138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10" Type="http://schemas.openxmlformats.org/officeDocument/2006/relationships/image" Target="../media/image135.png"/><Relationship Id="rId4" Type="http://schemas.openxmlformats.org/officeDocument/2006/relationships/image" Target="../media/image132.png"/><Relationship Id="rId9" Type="http://schemas.openxmlformats.org/officeDocument/2006/relationships/image" Target="../media/image123.png"/><Relationship Id="rId14" Type="http://schemas.openxmlformats.org/officeDocument/2006/relationships/image" Target="../media/image13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27.png"/><Relationship Id="rId3" Type="http://schemas.openxmlformats.org/officeDocument/2006/relationships/image" Target="../media/image103.png"/><Relationship Id="rId7" Type="http://schemas.openxmlformats.org/officeDocument/2006/relationships/image" Target="../media/image121.png"/><Relationship Id="rId12" Type="http://schemas.openxmlformats.org/officeDocument/2006/relationships/image" Target="../media/image142.png"/><Relationship Id="rId17" Type="http://schemas.openxmlformats.org/officeDocument/2006/relationships/image" Target="../media/image144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10" Type="http://schemas.openxmlformats.org/officeDocument/2006/relationships/image" Target="../media/image141.png"/><Relationship Id="rId4" Type="http://schemas.openxmlformats.org/officeDocument/2006/relationships/image" Target="../media/image139.png"/><Relationship Id="rId9" Type="http://schemas.openxmlformats.org/officeDocument/2006/relationships/image" Target="../media/image123.png"/><Relationship Id="rId14" Type="http://schemas.openxmlformats.org/officeDocument/2006/relationships/image" Target="../media/image13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54.png"/><Relationship Id="rId18" Type="http://schemas.openxmlformats.org/officeDocument/2006/relationships/image" Target="../media/image159.png"/><Relationship Id="rId3" Type="http://schemas.openxmlformats.org/officeDocument/2006/relationships/image" Target="../media/image62.png"/><Relationship Id="rId21" Type="http://schemas.openxmlformats.org/officeDocument/2006/relationships/image" Target="../media/image162.png"/><Relationship Id="rId7" Type="http://schemas.openxmlformats.org/officeDocument/2006/relationships/image" Target="../media/image148.png"/><Relationship Id="rId12" Type="http://schemas.openxmlformats.org/officeDocument/2006/relationships/image" Target="../media/image153.png"/><Relationship Id="rId17" Type="http://schemas.openxmlformats.org/officeDocument/2006/relationships/image" Target="../media/image158.png"/><Relationship Id="rId25" Type="http://schemas.openxmlformats.org/officeDocument/2006/relationships/image" Target="../media/image166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57.png"/><Relationship Id="rId20" Type="http://schemas.openxmlformats.org/officeDocument/2006/relationships/image" Target="../media/image1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11" Type="http://schemas.openxmlformats.org/officeDocument/2006/relationships/image" Target="../media/image152.png"/><Relationship Id="rId24" Type="http://schemas.openxmlformats.org/officeDocument/2006/relationships/image" Target="../media/image165.png"/><Relationship Id="rId5" Type="http://schemas.openxmlformats.org/officeDocument/2006/relationships/image" Target="../media/image146.png"/><Relationship Id="rId15" Type="http://schemas.openxmlformats.org/officeDocument/2006/relationships/image" Target="../media/image156.png"/><Relationship Id="rId23" Type="http://schemas.openxmlformats.org/officeDocument/2006/relationships/image" Target="../media/image164.png"/><Relationship Id="rId10" Type="http://schemas.openxmlformats.org/officeDocument/2006/relationships/image" Target="../media/image151.png"/><Relationship Id="rId19" Type="http://schemas.openxmlformats.org/officeDocument/2006/relationships/image" Target="../media/image160.png"/><Relationship Id="rId4" Type="http://schemas.openxmlformats.org/officeDocument/2006/relationships/image" Target="../media/image145.png"/><Relationship Id="rId9" Type="http://schemas.openxmlformats.org/officeDocument/2006/relationships/image" Target="../media/image150.png"/><Relationship Id="rId14" Type="http://schemas.openxmlformats.org/officeDocument/2006/relationships/image" Target="../media/image155.png"/><Relationship Id="rId22" Type="http://schemas.openxmlformats.org/officeDocument/2006/relationships/image" Target="../media/image16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10" Type="http://schemas.openxmlformats.org/officeDocument/2006/relationships/image" Target="../media/image174.png"/><Relationship Id="rId4" Type="http://schemas.openxmlformats.org/officeDocument/2006/relationships/image" Target="../media/image168.png"/><Relationship Id="rId9" Type="http://schemas.openxmlformats.org/officeDocument/2006/relationships/image" Target="../media/image17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185.png"/><Relationship Id="rId3" Type="http://schemas.openxmlformats.org/officeDocument/2006/relationships/image" Target="../media/image175.png"/><Relationship Id="rId7" Type="http://schemas.openxmlformats.org/officeDocument/2006/relationships/image" Target="../media/image179.png"/><Relationship Id="rId12" Type="http://schemas.openxmlformats.org/officeDocument/2006/relationships/image" Target="../media/image18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8.png"/><Relationship Id="rId11" Type="http://schemas.openxmlformats.org/officeDocument/2006/relationships/image" Target="../media/image183.png"/><Relationship Id="rId5" Type="http://schemas.openxmlformats.org/officeDocument/2006/relationships/image" Target="../media/image177.png"/><Relationship Id="rId10" Type="http://schemas.openxmlformats.org/officeDocument/2006/relationships/image" Target="../media/image182.png"/><Relationship Id="rId4" Type="http://schemas.openxmlformats.org/officeDocument/2006/relationships/image" Target="../media/image176.png"/><Relationship Id="rId9" Type="http://schemas.openxmlformats.org/officeDocument/2006/relationships/image" Target="../media/image18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186.png"/><Relationship Id="rId7" Type="http://schemas.openxmlformats.org/officeDocument/2006/relationships/image" Target="../media/image190.png"/><Relationship Id="rId12" Type="http://schemas.openxmlformats.org/officeDocument/2006/relationships/image" Target="../media/image19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9.png"/><Relationship Id="rId11" Type="http://schemas.openxmlformats.org/officeDocument/2006/relationships/image" Target="../media/image194.png"/><Relationship Id="rId5" Type="http://schemas.openxmlformats.org/officeDocument/2006/relationships/image" Target="../media/image188.png"/><Relationship Id="rId10" Type="http://schemas.openxmlformats.org/officeDocument/2006/relationships/image" Target="../media/image193.png"/><Relationship Id="rId4" Type="http://schemas.openxmlformats.org/officeDocument/2006/relationships/image" Target="../media/image187.png"/><Relationship Id="rId9" Type="http://schemas.openxmlformats.org/officeDocument/2006/relationships/image" Target="../media/image19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9.png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3.png"/><Relationship Id="rId5" Type="http://schemas.openxmlformats.org/officeDocument/2006/relationships/image" Target="../media/image202.png"/><Relationship Id="rId4" Type="http://schemas.openxmlformats.org/officeDocument/2006/relationships/image" Target="../media/image20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20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3" Type="http://schemas.openxmlformats.org/officeDocument/2006/relationships/image" Target="../media/image206.png"/><Relationship Id="rId7" Type="http://schemas.openxmlformats.org/officeDocument/2006/relationships/image" Target="../media/image2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9.png"/><Relationship Id="rId5" Type="http://schemas.openxmlformats.org/officeDocument/2006/relationships/image" Target="../media/image208.png"/><Relationship Id="rId10" Type="http://schemas.openxmlformats.org/officeDocument/2006/relationships/image" Target="../media/image213.png"/><Relationship Id="rId4" Type="http://schemas.openxmlformats.org/officeDocument/2006/relationships/image" Target="../media/image207.png"/><Relationship Id="rId9" Type="http://schemas.openxmlformats.org/officeDocument/2006/relationships/image" Target="../media/image2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7.png"/><Relationship Id="rId5" Type="http://schemas.openxmlformats.org/officeDocument/2006/relationships/image" Target="../media/image216.png"/><Relationship Id="rId4" Type="http://schemas.openxmlformats.org/officeDocument/2006/relationships/image" Target="../media/image21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3" Type="http://schemas.openxmlformats.org/officeDocument/2006/relationships/image" Target="../media/image218.png"/><Relationship Id="rId7" Type="http://schemas.openxmlformats.org/officeDocument/2006/relationships/image" Target="../media/image2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Relationship Id="rId9" Type="http://schemas.openxmlformats.org/officeDocument/2006/relationships/image" Target="../media/image21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13" Type="http://schemas.openxmlformats.org/officeDocument/2006/relationships/image" Target="../media/image232.png"/><Relationship Id="rId3" Type="http://schemas.openxmlformats.org/officeDocument/2006/relationships/image" Target="../media/image222.png"/><Relationship Id="rId7" Type="http://schemas.openxmlformats.org/officeDocument/2006/relationships/image" Target="../media/image226.png"/><Relationship Id="rId12" Type="http://schemas.openxmlformats.org/officeDocument/2006/relationships/image" Target="../media/image2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5.png"/><Relationship Id="rId11" Type="http://schemas.openxmlformats.org/officeDocument/2006/relationships/image" Target="../media/image230.png"/><Relationship Id="rId5" Type="http://schemas.openxmlformats.org/officeDocument/2006/relationships/image" Target="../media/image224.png"/><Relationship Id="rId15" Type="http://schemas.openxmlformats.org/officeDocument/2006/relationships/image" Target="../media/image234.png"/><Relationship Id="rId10" Type="http://schemas.openxmlformats.org/officeDocument/2006/relationships/image" Target="../media/image229.png"/><Relationship Id="rId4" Type="http://schemas.openxmlformats.org/officeDocument/2006/relationships/image" Target="../media/image223.png"/><Relationship Id="rId9" Type="http://schemas.openxmlformats.org/officeDocument/2006/relationships/image" Target="../media/image228.png"/><Relationship Id="rId14" Type="http://schemas.openxmlformats.org/officeDocument/2006/relationships/image" Target="../media/image23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13" Type="http://schemas.openxmlformats.org/officeDocument/2006/relationships/image" Target="../media/image245.png"/><Relationship Id="rId3" Type="http://schemas.openxmlformats.org/officeDocument/2006/relationships/image" Target="../media/image235.png"/><Relationship Id="rId7" Type="http://schemas.openxmlformats.org/officeDocument/2006/relationships/image" Target="../media/image239.png"/><Relationship Id="rId12" Type="http://schemas.openxmlformats.org/officeDocument/2006/relationships/image" Target="../media/image2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8.png"/><Relationship Id="rId11" Type="http://schemas.openxmlformats.org/officeDocument/2006/relationships/image" Target="../media/image243.png"/><Relationship Id="rId5" Type="http://schemas.openxmlformats.org/officeDocument/2006/relationships/image" Target="../media/image237.png"/><Relationship Id="rId15" Type="http://schemas.openxmlformats.org/officeDocument/2006/relationships/image" Target="../media/image247.png"/><Relationship Id="rId10" Type="http://schemas.openxmlformats.org/officeDocument/2006/relationships/image" Target="../media/image242.png"/><Relationship Id="rId4" Type="http://schemas.openxmlformats.org/officeDocument/2006/relationships/image" Target="../media/image236.png"/><Relationship Id="rId9" Type="http://schemas.openxmlformats.org/officeDocument/2006/relationships/image" Target="../media/image241.png"/><Relationship Id="rId14" Type="http://schemas.openxmlformats.org/officeDocument/2006/relationships/image" Target="../media/image24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13" Type="http://schemas.openxmlformats.org/officeDocument/2006/relationships/image" Target="../media/image43.png"/><Relationship Id="rId3" Type="http://schemas.openxmlformats.org/officeDocument/2006/relationships/image" Target="../media/image248.png"/><Relationship Id="rId7" Type="http://schemas.openxmlformats.org/officeDocument/2006/relationships/image" Target="../media/image252.png"/><Relationship Id="rId12" Type="http://schemas.openxmlformats.org/officeDocument/2006/relationships/image" Target="../media/image25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1.png"/><Relationship Id="rId11" Type="http://schemas.openxmlformats.org/officeDocument/2006/relationships/image" Target="../media/image256.png"/><Relationship Id="rId5" Type="http://schemas.openxmlformats.org/officeDocument/2006/relationships/image" Target="../media/image250.png"/><Relationship Id="rId10" Type="http://schemas.openxmlformats.org/officeDocument/2006/relationships/image" Target="../media/image255.png"/><Relationship Id="rId4" Type="http://schemas.openxmlformats.org/officeDocument/2006/relationships/image" Target="../media/image249.png"/><Relationship Id="rId9" Type="http://schemas.openxmlformats.org/officeDocument/2006/relationships/image" Target="../media/image25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png"/><Relationship Id="rId13" Type="http://schemas.openxmlformats.org/officeDocument/2006/relationships/image" Target="../media/image274.png"/><Relationship Id="rId18" Type="http://schemas.openxmlformats.org/officeDocument/2006/relationships/image" Target="../media/image279.png"/><Relationship Id="rId3" Type="http://schemas.openxmlformats.org/officeDocument/2006/relationships/image" Target="../media/image264.png"/><Relationship Id="rId21" Type="http://schemas.openxmlformats.org/officeDocument/2006/relationships/image" Target="../media/image282.png"/><Relationship Id="rId7" Type="http://schemas.openxmlformats.org/officeDocument/2006/relationships/image" Target="../media/image268.png"/><Relationship Id="rId12" Type="http://schemas.openxmlformats.org/officeDocument/2006/relationships/image" Target="../media/image273.png"/><Relationship Id="rId17" Type="http://schemas.openxmlformats.org/officeDocument/2006/relationships/image" Target="../media/image278.png"/><Relationship Id="rId25" Type="http://schemas.openxmlformats.org/officeDocument/2006/relationships/image" Target="../media/image286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277.png"/><Relationship Id="rId20" Type="http://schemas.openxmlformats.org/officeDocument/2006/relationships/image" Target="../media/image2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7.png"/><Relationship Id="rId11" Type="http://schemas.openxmlformats.org/officeDocument/2006/relationships/image" Target="../media/image272.png"/><Relationship Id="rId24" Type="http://schemas.openxmlformats.org/officeDocument/2006/relationships/image" Target="../media/image285.png"/><Relationship Id="rId5" Type="http://schemas.openxmlformats.org/officeDocument/2006/relationships/image" Target="../media/image266.png"/><Relationship Id="rId15" Type="http://schemas.openxmlformats.org/officeDocument/2006/relationships/image" Target="../media/image276.png"/><Relationship Id="rId23" Type="http://schemas.openxmlformats.org/officeDocument/2006/relationships/image" Target="../media/image284.png"/><Relationship Id="rId10" Type="http://schemas.openxmlformats.org/officeDocument/2006/relationships/image" Target="../media/image271.png"/><Relationship Id="rId19" Type="http://schemas.openxmlformats.org/officeDocument/2006/relationships/image" Target="../media/image280.png"/><Relationship Id="rId4" Type="http://schemas.openxmlformats.org/officeDocument/2006/relationships/image" Target="../media/image265.png"/><Relationship Id="rId9" Type="http://schemas.openxmlformats.org/officeDocument/2006/relationships/image" Target="../media/image270.png"/><Relationship Id="rId14" Type="http://schemas.openxmlformats.org/officeDocument/2006/relationships/image" Target="../media/image275.png"/><Relationship Id="rId22" Type="http://schemas.openxmlformats.org/officeDocument/2006/relationships/image" Target="../media/image28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png"/><Relationship Id="rId13" Type="http://schemas.openxmlformats.org/officeDocument/2006/relationships/image" Target="../media/image295.png"/><Relationship Id="rId3" Type="http://schemas.openxmlformats.org/officeDocument/2006/relationships/image" Target="../media/image264.png"/><Relationship Id="rId7" Type="http://schemas.openxmlformats.org/officeDocument/2006/relationships/image" Target="../media/image290.png"/><Relationship Id="rId12" Type="http://schemas.openxmlformats.org/officeDocument/2006/relationships/image" Target="../media/image294.png"/><Relationship Id="rId17" Type="http://schemas.openxmlformats.org/officeDocument/2006/relationships/image" Target="../media/image299.png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2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9.png"/><Relationship Id="rId11" Type="http://schemas.openxmlformats.org/officeDocument/2006/relationships/image" Target="../media/image293.png"/><Relationship Id="rId5" Type="http://schemas.openxmlformats.org/officeDocument/2006/relationships/image" Target="../media/image288.png"/><Relationship Id="rId15" Type="http://schemas.openxmlformats.org/officeDocument/2006/relationships/image" Target="../media/image297.png"/><Relationship Id="rId10" Type="http://schemas.openxmlformats.org/officeDocument/2006/relationships/image" Target="../media/image292.png"/><Relationship Id="rId4" Type="http://schemas.openxmlformats.org/officeDocument/2006/relationships/image" Target="../media/image287.png"/><Relationship Id="rId9" Type="http://schemas.openxmlformats.org/officeDocument/2006/relationships/image" Target="../media/image291.png"/><Relationship Id="rId14" Type="http://schemas.openxmlformats.org/officeDocument/2006/relationships/image" Target="../media/image29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13" Type="http://schemas.openxmlformats.org/officeDocument/2006/relationships/image" Target="../media/image275.png"/><Relationship Id="rId18" Type="http://schemas.openxmlformats.org/officeDocument/2006/relationships/image" Target="../media/image280.png"/><Relationship Id="rId3" Type="http://schemas.openxmlformats.org/officeDocument/2006/relationships/image" Target="../media/image265.png"/><Relationship Id="rId21" Type="http://schemas.openxmlformats.org/officeDocument/2006/relationships/image" Target="../media/image283.png"/><Relationship Id="rId7" Type="http://schemas.openxmlformats.org/officeDocument/2006/relationships/image" Target="../media/image269.png"/><Relationship Id="rId12" Type="http://schemas.openxmlformats.org/officeDocument/2006/relationships/image" Target="../media/image274.png"/><Relationship Id="rId17" Type="http://schemas.openxmlformats.org/officeDocument/2006/relationships/image" Target="../media/image279.png"/><Relationship Id="rId2" Type="http://schemas.openxmlformats.org/officeDocument/2006/relationships/image" Target="../media/image264.png"/><Relationship Id="rId16" Type="http://schemas.openxmlformats.org/officeDocument/2006/relationships/image" Target="../media/image278.png"/><Relationship Id="rId20" Type="http://schemas.openxmlformats.org/officeDocument/2006/relationships/image" Target="../media/image2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8.png"/><Relationship Id="rId11" Type="http://schemas.openxmlformats.org/officeDocument/2006/relationships/image" Target="../media/image273.png"/><Relationship Id="rId24" Type="http://schemas.openxmlformats.org/officeDocument/2006/relationships/image" Target="../media/image286.png"/><Relationship Id="rId5" Type="http://schemas.openxmlformats.org/officeDocument/2006/relationships/image" Target="../media/image267.png"/><Relationship Id="rId15" Type="http://schemas.openxmlformats.org/officeDocument/2006/relationships/image" Target="../media/image277.png"/><Relationship Id="rId23" Type="http://schemas.openxmlformats.org/officeDocument/2006/relationships/image" Target="../media/image285.png"/><Relationship Id="rId10" Type="http://schemas.openxmlformats.org/officeDocument/2006/relationships/image" Target="../media/image272.png"/><Relationship Id="rId19" Type="http://schemas.openxmlformats.org/officeDocument/2006/relationships/image" Target="../media/image281.png"/><Relationship Id="rId4" Type="http://schemas.openxmlformats.org/officeDocument/2006/relationships/image" Target="../media/image266.png"/><Relationship Id="rId9" Type="http://schemas.openxmlformats.org/officeDocument/2006/relationships/image" Target="../media/image271.png"/><Relationship Id="rId14" Type="http://schemas.openxmlformats.org/officeDocument/2006/relationships/image" Target="../media/image276.png"/><Relationship Id="rId22" Type="http://schemas.openxmlformats.org/officeDocument/2006/relationships/image" Target="../media/image28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13" Type="http://schemas.openxmlformats.org/officeDocument/2006/relationships/image" Target="../media/image282.png"/><Relationship Id="rId3" Type="http://schemas.openxmlformats.org/officeDocument/2006/relationships/image" Target="../media/image265.png"/><Relationship Id="rId7" Type="http://schemas.openxmlformats.org/officeDocument/2006/relationships/image" Target="../media/image269.png"/><Relationship Id="rId12" Type="http://schemas.openxmlformats.org/officeDocument/2006/relationships/image" Target="../media/image281.png"/><Relationship Id="rId17" Type="http://schemas.openxmlformats.org/officeDocument/2006/relationships/image" Target="../media/image286.png"/><Relationship Id="rId2" Type="http://schemas.openxmlformats.org/officeDocument/2006/relationships/image" Target="../media/image264.png"/><Relationship Id="rId16" Type="http://schemas.openxmlformats.org/officeDocument/2006/relationships/image" Target="../media/image2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8.png"/><Relationship Id="rId11" Type="http://schemas.openxmlformats.org/officeDocument/2006/relationships/image" Target="../media/image273.png"/><Relationship Id="rId5" Type="http://schemas.openxmlformats.org/officeDocument/2006/relationships/image" Target="../media/image267.png"/><Relationship Id="rId15" Type="http://schemas.openxmlformats.org/officeDocument/2006/relationships/image" Target="../media/image284.png"/><Relationship Id="rId10" Type="http://schemas.openxmlformats.org/officeDocument/2006/relationships/image" Target="../media/image272.png"/><Relationship Id="rId4" Type="http://schemas.openxmlformats.org/officeDocument/2006/relationships/image" Target="../media/image266.png"/><Relationship Id="rId9" Type="http://schemas.openxmlformats.org/officeDocument/2006/relationships/image" Target="../media/image271.png"/><Relationship Id="rId14" Type="http://schemas.openxmlformats.org/officeDocument/2006/relationships/image" Target="../media/image28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png"/><Relationship Id="rId13" Type="http://schemas.openxmlformats.org/officeDocument/2006/relationships/image" Target="../media/image310.png"/><Relationship Id="rId18" Type="http://schemas.openxmlformats.org/officeDocument/2006/relationships/image" Target="../media/image315.png"/><Relationship Id="rId26" Type="http://schemas.openxmlformats.org/officeDocument/2006/relationships/image" Target="../media/image323.png"/><Relationship Id="rId3" Type="http://schemas.openxmlformats.org/officeDocument/2006/relationships/image" Target="../media/image300.png"/><Relationship Id="rId21" Type="http://schemas.openxmlformats.org/officeDocument/2006/relationships/image" Target="../media/image318.png"/><Relationship Id="rId7" Type="http://schemas.openxmlformats.org/officeDocument/2006/relationships/image" Target="../media/image304.png"/><Relationship Id="rId12" Type="http://schemas.openxmlformats.org/officeDocument/2006/relationships/image" Target="../media/image309.png"/><Relationship Id="rId17" Type="http://schemas.openxmlformats.org/officeDocument/2006/relationships/image" Target="../media/image314.png"/><Relationship Id="rId25" Type="http://schemas.openxmlformats.org/officeDocument/2006/relationships/image" Target="../media/image322.pn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313.png"/><Relationship Id="rId20" Type="http://schemas.openxmlformats.org/officeDocument/2006/relationships/image" Target="../media/image3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3.png"/><Relationship Id="rId11" Type="http://schemas.openxmlformats.org/officeDocument/2006/relationships/image" Target="../media/image308.png"/><Relationship Id="rId24" Type="http://schemas.openxmlformats.org/officeDocument/2006/relationships/image" Target="../media/image321.png"/><Relationship Id="rId5" Type="http://schemas.openxmlformats.org/officeDocument/2006/relationships/image" Target="../media/image302.png"/><Relationship Id="rId15" Type="http://schemas.openxmlformats.org/officeDocument/2006/relationships/image" Target="../media/image312.png"/><Relationship Id="rId23" Type="http://schemas.openxmlformats.org/officeDocument/2006/relationships/image" Target="../media/image320.png"/><Relationship Id="rId28" Type="http://schemas.openxmlformats.org/officeDocument/2006/relationships/image" Target="../media/image325.png"/><Relationship Id="rId10" Type="http://schemas.openxmlformats.org/officeDocument/2006/relationships/image" Target="../media/image307.png"/><Relationship Id="rId19" Type="http://schemas.openxmlformats.org/officeDocument/2006/relationships/image" Target="../media/image316.png"/><Relationship Id="rId4" Type="http://schemas.openxmlformats.org/officeDocument/2006/relationships/image" Target="../media/image301.png"/><Relationship Id="rId9" Type="http://schemas.openxmlformats.org/officeDocument/2006/relationships/image" Target="../media/image306.png"/><Relationship Id="rId14" Type="http://schemas.openxmlformats.org/officeDocument/2006/relationships/image" Target="../media/image311.png"/><Relationship Id="rId22" Type="http://schemas.openxmlformats.org/officeDocument/2006/relationships/image" Target="../media/image319.png"/><Relationship Id="rId27" Type="http://schemas.openxmlformats.org/officeDocument/2006/relationships/image" Target="../media/image32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png"/><Relationship Id="rId3" Type="http://schemas.openxmlformats.org/officeDocument/2006/relationships/image" Target="../media/image326.png"/><Relationship Id="rId7" Type="http://schemas.openxmlformats.org/officeDocument/2006/relationships/image" Target="../media/image3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9.png"/><Relationship Id="rId5" Type="http://schemas.openxmlformats.org/officeDocument/2006/relationships/image" Target="../media/image328.png"/><Relationship Id="rId10" Type="http://schemas.openxmlformats.org/officeDocument/2006/relationships/image" Target="../media/image333.png"/><Relationship Id="rId4" Type="http://schemas.openxmlformats.org/officeDocument/2006/relationships/image" Target="../media/image327.png"/><Relationship Id="rId9" Type="http://schemas.openxmlformats.org/officeDocument/2006/relationships/image" Target="../media/image33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png"/><Relationship Id="rId3" Type="http://schemas.openxmlformats.org/officeDocument/2006/relationships/image" Target="../media/image334.png"/><Relationship Id="rId7" Type="http://schemas.openxmlformats.org/officeDocument/2006/relationships/image" Target="../media/image33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7.png"/><Relationship Id="rId5" Type="http://schemas.openxmlformats.org/officeDocument/2006/relationships/image" Target="../media/image336.png"/><Relationship Id="rId4" Type="http://schemas.openxmlformats.org/officeDocument/2006/relationships/image" Target="../media/image335.png"/><Relationship Id="rId9" Type="http://schemas.openxmlformats.org/officeDocument/2006/relationships/image" Target="../media/image34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png"/><Relationship Id="rId13" Type="http://schemas.openxmlformats.org/officeDocument/2006/relationships/image" Target="../media/image351.png"/><Relationship Id="rId3" Type="http://schemas.openxmlformats.org/officeDocument/2006/relationships/image" Target="../media/image341.png"/><Relationship Id="rId7" Type="http://schemas.openxmlformats.org/officeDocument/2006/relationships/image" Target="../media/image345.png"/><Relationship Id="rId12" Type="http://schemas.openxmlformats.org/officeDocument/2006/relationships/image" Target="../media/image35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4.png"/><Relationship Id="rId11" Type="http://schemas.openxmlformats.org/officeDocument/2006/relationships/image" Target="../media/image349.png"/><Relationship Id="rId5" Type="http://schemas.openxmlformats.org/officeDocument/2006/relationships/image" Target="../media/image343.png"/><Relationship Id="rId10" Type="http://schemas.openxmlformats.org/officeDocument/2006/relationships/image" Target="../media/image348.png"/><Relationship Id="rId4" Type="http://schemas.openxmlformats.org/officeDocument/2006/relationships/image" Target="../media/image342.png"/><Relationship Id="rId9" Type="http://schemas.openxmlformats.org/officeDocument/2006/relationships/image" Target="../media/image347.png"/><Relationship Id="rId14" Type="http://schemas.openxmlformats.org/officeDocument/2006/relationships/image" Target="../media/image35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png"/><Relationship Id="rId13" Type="http://schemas.openxmlformats.org/officeDocument/2006/relationships/image" Target="../media/image363.png"/><Relationship Id="rId18" Type="http://schemas.openxmlformats.org/officeDocument/2006/relationships/image" Target="../media/image368.png"/><Relationship Id="rId3" Type="http://schemas.openxmlformats.org/officeDocument/2006/relationships/image" Target="../media/image353.png"/><Relationship Id="rId21" Type="http://schemas.openxmlformats.org/officeDocument/2006/relationships/image" Target="../media/image371.png"/><Relationship Id="rId7" Type="http://schemas.openxmlformats.org/officeDocument/2006/relationships/image" Target="../media/image357.png"/><Relationship Id="rId12" Type="http://schemas.openxmlformats.org/officeDocument/2006/relationships/image" Target="../media/image362.png"/><Relationship Id="rId17" Type="http://schemas.openxmlformats.org/officeDocument/2006/relationships/image" Target="../media/image367.png"/><Relationship Id="rId2" Type="http://schemas.openxmlformats.org/officeDocument/2006/relationships/notesSlide" Target="../notesSlides/notesSlide41.xml"/><Relationship Id="rId16" Type="http://schemas.openxmlformats.org/officeDocument/2006/relationships/image" Target="../media/image366.png"/><Relationship Id="rId20" Type="http://schemas.openxmlformats.org/officeDocument/2006/relationships/image" Target="../media/image3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6.png"/><Relationship Id="rId11" Type="http://schemas.openxmlformats.org/officeDocument/2006/relationships/image" Target="../media/image361.png"/><Relationship Id="rId5" Type="http://schemas.openxmlformats.org/officeDocument/2006/relationships/image" Target="../media/image355.png"/><Relationship Id="rId15" Type="http://schemas.openxmlformats.org/officeDocument/2006/relationships/image" Target="../media/image365.png"/><Relationship Id="rId10" Type="http://schemas.openxmlformats.org/officeDocument/2006/relationships/image" Target="../media/image360.png"/><Relationship Id="rId19" Type="http://schemas.openxmlformats.org/officeDocument/2006/relationships/image" Target="../media/image369.png"/><Relationship Id="rId4" Type="http://schemas.openxmlformats.org/officeDocument/2006/relationships/image" Target="../media/image354.png"/><Relationship Id="rId9" Type="http://schemas.openxmlformats.org/officeDocument/2006/relationships/image" Target="../media/image359.png"/><Relationship Id="rId14" Type="http://schemas.openxmlformats.org/officeDocument/2006/relationships/image" Target="../media/image364.png"/><Relationship Id="rId22" Type="http://schemas.openxmlformats.org/officeDocument/2006/relationships/image" Target="../media/image372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8.png"/><Relationship Id="rId13" Type="http://schemas.openxmlformats.org/officeDocument/2006/relationships/image" Target="../media/image383.png"/><Relationship Id="rId18" Type="http://schemas.openxmlformats.org/officeDocument/2006/relationships/image" Target="../media/image388.png"/><Relationship Id="rId3" Type="http://schemas.openxmlformats.org/officeDocument/2006/relationships/image" Target="../media/image373.png"/><Relationship Id="rId7" Type="http://schemas.openxmlformats.org/officeDocument/2006/relationships/image" Target="../media/image377.png"/><Relationship Id="rId12" Type="http://schemas.openxmlformats.org/officeDocument/2006/relationships/image" Target="../media/image382.png"/><Relationship Id="rId17" Type="http://schemas.openxmlformats.org/officeDocument/2006/relationships/image" Target="../media/image387.png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3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6.png"/><Relationship Id="rId11" Type="http://schemas.openxmlformats.org/officeDocument/2006/relationships/image" Target="../media/image381.png"/><Relationship Id="rId5" Type="http://schemas.openxmlformats.org/officeDocument/2006/relationships/image" Target="../media/image375.png"/><Relationship Id="rId15" Type="http://schemas.openxmlformats.org/officeDocument/2006/relationships/image" Target="../media/image385.png"/><Relationship Id="rId10" Type="http://schemas.openxmlformats.org/officeDocument/2006/relationships/image" Target="../media/image380.png"/><Relationship Id="rId4" Type="http://schemas.openxmlformats.org/officeDocument/2006/relationships/image" Target="../media/image374.png"/><Relationship Id="rId9" Type="http://schemas.openxmlformats.org/officeDocument/2006/relationships/image" Target="../media/image379.png"/><Relationship Id="rId14" Type="http://schemas.openxmlformats.org/officeDocument/2006/relationships/image" Target="../media/image38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4.png"/><Relationship Id="rId13" Type="http://schemas.openxmlformats.org/officeDocument/2006/relationships/image" Target="../media/image399.png"/><Relationship Id="rId3" Type="http://schemas.openxmlformats.org/officeDocument/2006/relationships/image" Target="../media/image389.png"/><Relationship Id="rId7" Type="http://schemas.openxmlformats.org/officeDocument/2006/relationships/image" Target="../media/image393.png"/><Relationship Id="rId12" Type="http://schemas.openxmlformats.org/officeDocument/2006/relationships/image" Target="../media/image398.png"/><Relationship Id="rId17" Type="http://schemas.openxmlformats.org/officeDocument/2006/relationships/image" Target="../media/image403.png"/><Relationship Id="rId2" Type="http://schemas.openxmlformats.org/officeDocument/2006/relationships/notesSlide" Target="../notesSlides/notesSlide43.xml"/><Relationship Id="rId16" Type="http://schemas.openxmlformats.org/officeDocument/2006/relationships/image" Target="../media/image4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2.png"/><Relationship Id="rId11" Type="http://schemas.openxmlformats.org/officeDocument/2006/relationships/image" Target="../media/image397.png"/><Relationship Id="rId5" Type="http://schemas.openxmlformats.org/officeDocument/2006/relationships/image" Target="../media/image391.png"/><Relationship Id="rId15" Type="http://schemas.openxmlformats.org/officeDocument/2006/relationships/image" Target="../media/image401.png"/><Relationship Id="rId10" Type="http://schemas.openxmlformats.org/officeDocument/2006/relationships/image" Target="../media/image396.png"/><Relationship Id="rId4" Type="http://schemas.openxmlformats.org/officeDocument/2006/relationships/image" Target="../media/image390.png"/><Relationship Id="rId9" Type="http://schemas.openxmlformats.org/officeDocument/2006/relationships/image" Target="../media/image395.png"/><Relationship Id="rId14" Type="http://schemas.openxmlformats.org/officeDocument/2006/relationships/image" Target="../media/image40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6.png"/><Relationship Id="rId13" Type="http://schemas.openxmlformats.org/officeDocument/2006/relationships/image" Target="../media/image398.png"/><Relationship Id="rId18" Type="http://schemas.openxmlformats.org/officeDocument/2006/relationships/image" Target="../media/image402.png"/><Relationship Id="rId3" Type="http://schemas.openxmlformats.org/officeDocument/2006/relationships/image" Target="../media/image404.png"/><Relationship Id="rId7" Type="http://schemas.openxmlformats.org/officeDocument/2006/relationships/image" Target="../media/image393.png"/><Relationship Id="rId12" Type="http://schemas.openxmlformats.org/officeDocument/2006/relationships/image" Target="../media/image407.png"/><Relationship Id="rId17" Type="http://schemas.openxmlformats.org/officeDocument/2006/relationships/image" Target="../media/image409.png"/><Relationship Id="rId2" Type="http://schemas.openxmlformats.org/officeDocument/2006/relationships/notesSlide" Target="../notesSlides/notesSlide44.xml"/><Relationship Id="rId16" Type="http://schemas.openxmlformats.org/officeDocument/2006/relationships/image" Target="../media/image4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2.png"/><Relationship Id="rId11" Type="http://schemas.openxmlformats.org/officeDocument/2006/relationships/image" Target="../media/image396.png"/><Relationship Id="rId5" Type="http://schemas.openxmlformats.org/officeDocument/2006/relationships/image" Target="../media/image391.png"/><Relationship Id="rId15" Type="http://schemas.openxmlformats.org/officeDocument/2006/relationships/image" Target="../media/image408.png"/><Relationship Id="rId10" Type="http://schemas.openxmlformats.org/officeDocument/2006/relationships/image" Target="../media/image403.png"/><Relationship Id="rId4" Type="http://schemas.openxmlformats.org/officeDocument/2006/relationships/image" Target="../media/image405.png"/><Relationship Id="rId9" Type="http://schemas.openxmlformats.org/officeDocument/2006/relationships/image" Target="../media/image395.png"/><Relationship Id="rId14" Type="http://schemas.openxmlformats.org/officeDocument/2006/relationships/image" Target="../media/image399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2.png"/><Relationship Id="rId13" Type="http://schemas.openxmlformats.org/officeDocument/2006/relationships/image" Target="../media/image399.png"/><Relationship Id="rId18" Type="http://schemas.openxmlformats.org/officeDocument/2006/relationships/image" Target="../media/image416.png"/><Relationship Id="rId3" Type="http://schemas.openxmlformats.org/officeDocument/2006/relationships/image" Target="../media/image410.png"/><Relationship Id="rId7" Type="http://schemas.openxmlformats.org/officeDocument/2006/relationships/image" Target="../media/image393.png"/><Relationship Id="rId12" Type="http://schemas.openxmlformats.org/officeDocument/2006/relationships/image" Target="../media/image398.png"/><Relationship Id="rId17" Type="http://schemas.openxmlformats.org/officeDocument/2006/relationships/image" Target="../media/image403.png"/><Relationship Id="rId2" Type="http://schemas.openxmlformats.org/officeDocument/2006/relationships/notesSlide" Target="../notesSlides/notesSlide45.xml"/><Relationship Id="rId16" Type="http://schemas.openxmlformats.org/officeDocument/2006/relationships/image" Target="../media/image4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2.png"/><Relationship Id="rId11" Type="http://schemas.openxmlformats.org/officeDocument/2006/relationships/image" Target="../media/image413.png"/><Relationship Id="rId5" Type="http://schemas.openxmlformats.org/officeDocument/2006/relationships/image" Target="../media/image391.png"/><Relationship Id="rId15" Type="http://schemas.openxmlformats.org/officeDocument/2006/relationships/image" Target="../media/image401.png"/><Relationship Id="rId10" Type="http://schemas.openxmlformats.org/officeDocument/2006/relationships/image" Target="../media/image396.png"/><Relationship Id="rId4" Type="http://schemas.openxmlformats.org/officeDocument/2006/relationships/image" Target="../media/image411.png"/><Relationship Id="rId9" Type="http://schemas.openxmlformats.org/officeDocument/2006/relationships/image" Target="../media/image395.png"/><Relationship Id="rId14" Type="http://schemas.openxmlformats.org/officeDocument/2006/relationships/image" Target="../media/image414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2.png"/><Relationship Id="rId13" Type="http://schemas.openxmlformats.org/officeDocument/2006/relationships/image" Target="../media/image427.png"/><Relationship Id="rId18" Type="http://schemas.openxmlformats.org/officeDocument/2006/relationships/image" Target="../media/image432.png"/><Relationship Id="rId3" Type="http://schemas.openxmlformats.org/officeDocument/2006/relationships/image" Target="../media/image417.png"/><Relationship Id="rId7" Type="http://schemas.openxmlformats.org/officeDocument/2006/relationships/image" Target="../media/image421.png"/><Relationship Id="rId12" Type="http://schemas.openxmlformats.org/officeDocument/2006/relationships/image" Target="../media/image426.png"/><Relationship Id="rId17" Type="http://schemas.openxmlformats.org/officeDocument/2006/relationships/image" Target="../media/image431.png"/><Relationship Id="rId2" Type="http://schemas.openxmlformats.org/officeDocument/2006/relationships/notesSlide" Target="../notesSlides/notesSlide46.xml"/><Relationship Id="rId16" Type="http://schemas.openxmlformats.org/officeDocument/2006/relationships/image" Target="../media/image4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0.png"/><Relationship Id="rId11" Type="http://schemas.openxmlformats.org/officeDocument/2006/relationships/image" Target="../media/image425.png"/><Relationship Id="rId5" Type="http://schemas.openxmlformats.org/officeDocument/2006/relationships/image" Target="../media/image419.png"/><Relationship Id="rId15" Type="http://schemas.openxmlformats.org/officeDocument/2006/relationships/image" Target="../media/image429.png"/><Relationship Id="rId10" Type="http://schemas.openxmlformats.org/officeDocument/2006/relationships/image" Target="../media/image424.png"/><Relationship Id="rId4" Type="http://schemas.openxmlformats.org/officeDocument/2006/relationships/image" Target="../media/image418.png"/><Relationship Id="rId9" Type="http://schemas.openxmlformats.org/officeDocument/2006/relationships/image" Target="../media/image423.png"/><Relationship Id="rId14" Type="http://schemas.openxmlformats.org/officeDocument/2006/relationships/image" Target="../media/image42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8.png"/><Relationship Id="rId3" Type="http://schemas.openxmlformats.org/officeDocument/2006/relationships/image" Target="../media/image433.png"/><Relationship Id="rId7" Type="http://schemas.openxmlformats.org/officeDocument/2006/relationships/image" Target="../media/image437.png"/><Relationship Id="rId12" Type="http://schemas.openxmlformats.org/officeDocument/2006/relationships/image" Target="../media/image44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6.png"/><Relationship Id="rId11" Type="http://schemas.openxmlformats.org/officeDocument/2006/relationships/image" Target="../media/image441.png"/><Relationship Id="rId5" Type="http://schemas.openxmlformats.org/officeDocument/2006/relationships/image" Target="../media/image435.png"/><Relationship Id="rId10" Type="http://schemas.openxmlformats.org/officeDocument/2006/relationships/image" Target="../media/image440.png"/><Relationship Id="rId4" Type="http://schemas.openxmlformats.org/officeDocument/2006/relationships/image" Target="../media/image434.png"/><Relationship Id="rId9" Type="http://schemas.openxmlformats.org/officeDocument/2006/relationships/image" Target="../media/image43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6.png"/><Relationship Id="rId5" Type="http://schemas.openxmlformats.org/officeDocument/2006/relationships/image" Target="../media/image445.png"/><Relationship Id="rId4" Type="http://schemas.openxmlformats.org/officeDocument/2006/relationships/image" Target="../media/image44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8.png"/><Relationship Id="rId4" Type="http://schemas.openxmlformats.org/officeDocument/2006/relationships/image" Target="../media/image8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4.png"/><Relationship Id="rId13" Type="http://schemas.openxmlformats.org/officeDocument/2006/relationships/image" Target="../media/image459.png"/><Relationship Id="rId18" Type="http://schemas.openxmlformats.org/officeDocument/2006/relationships/image" Target="../media/image464.png"/><Relationship Id="rId3" Type="http://schemas.openxmlformats.org/officeDocument/2006/relationships/image" Target="../media/image449.png"/><Relationship Id="rId7" Type="http://schemas.openxmlformats.org/officeDocument/2006/relationships/image" Target="../media/image453.png"/><Relationship Id="rId12" Type="http://schemas.openxmlformats.org/officeDocument/2006/relationships/image" Target="../media/image458.png"/><Relationship Id="rId17" Type="http://schemas.openxmlformats.org/officeDocument/2006/relationships/image" Target="../media/image463.png"/><Relationship Id="rId2" Type="http://schemas.openxmlformats.org/officeDocument/2006/relationships/notesSlide" Target="../notesSlides/notesSlide50.xml"/><Relationship Id="rId16" Type="http://schemas.openxmlformats.org/officeDocument/2006/relationships/image" Target="../media/image4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2.png"/><Relationship Id="rId11" Type="http://schemas.openxmlformats.org/officeDocument/2006/relationships/image" Target="../media/image457.png"/><Relationship Id="rId5" Type="http://schemas.openxmlformats.org/officeDocument/2006/relationships/image" Target="../media/image451.png"/><Relationship Id="rId15" Type="http://schemas.openxmlformats.org/officeDocument/2006/relationships/image" Target="../media/image461.png"/><Relationship Id="rId10" Type="http://schemas.openxmlformats.org/officeDocument/2006/relationships/image" Target="../media/image456.png"/><Relationship Id="rId19" Type="http://schemas.openxmlformats.org/officeDocument/2006/relationships/image" Target="../media/image465.png"/><Relationship Id="rId4" Type="http://schemas.openxmlformats.org/officeDocument/2006/relationships/image" Target="../media/image450.png"/><Relationship Id="rId9" Type="http://schemas.openxmlformats.org/officeDocument/2006/relationships/image" Target="../media/image455.png"/><Relationship Id="rId14" Type="http://schemas.openxmlformats.org/officeDocument/2006/relationships/image" Target="../media/image460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0.png"/><Relationship Id="rId3" Type="http://schemas.openxmlformats.org/officeDocument/2006/relationships/image" Target="../media/image466.png"/><Relationship Id="rId7" Type="http://schemas.openxmlformats.org/officeDocument/2006/relationships/image" Target="../media/image46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9.png"/><Relationship Id="rId5" Type="http://schemas.openxmlformats.org/officeDocument/2006/relationships/image" Target="../media/image468.png"/><Relationship Id="rId10" Type="http://schemas.openxmlformats.org/officeDocument/2006/relationships/image" Target="../media/image472.png"/><Relationship Id="rId4" Type="http://schemas.openxmlformats.org/officeDocument/2006/relationships/image" Target="../media/image467.png"/><Relationship Id="rId9" Type="http://schemas.openxmlformats.org/officeDocument/2006/relationships/image" Target="../media/image47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6.png"/><Relationship Id="rId5" Type="http://schemas.openxmlformats.org/officeDocument/2006/relationships/image" Target="../media/image475.png"/><Relationship Id="rId4" Type="http://schemas.openxmlformats.org/officeDocument/2006/relationships/image" Target="../media/image47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2.png"/><Relationship Id="rId13" Type="http://schemas.openxmlformats.org/officeDocument/2006/relationships/image" Target="../media/image487.png"/><Relationship Id="rId3" Type="http://schemas.openxmlformats.org/officeDocument/2006/relationships/image" Target="../media/image477.png"/><Relationship Id="rId7" Type="http://schemas.openxmlformats.org/officeDocument/2006/relationships/image" Target="../media/image481.png"/><Relationship Id="rId12" Type="http://schemas.openxmlformats.org/officeDocument/2006/relationships/image" Target="../media/image48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0.png"/><Relationship Id="rId11" Type="http://schemas.openxmlformats.org/officeDocument/2006/relationships/image" Target="../media/image485.png"/><Relationship Id="rId5" Type="http://schemas.openxmlformats.org/officeDocument/2006/relationships/image" Target="../media/image479.png"/><Relationship Id="rId15" Type="http://schemas.openxmlformats.org/officeDocument/2006/relationships/image" Target="../media/image489.png"/><Relationship Id="rId10" Type="http://schemas.openxmlformats.org/officeDocument/2006/relationships/image" Target="../media/image484.png"/><Relationship Id="rId4" Type="http://schemas.openxmlformats.org/officeDocument/2006/relationships/image" Target="../media/image478.png"/><Relationship Id="rId9" Type="http://schemas.openxmlformats.org/officeDocument/2006/relationships/image" Target="../media/image483.png"/><Relationship Id="rId14" Type="http://schemas.openxmlformats.org/officeDocument/2006/relationships/image" Target="../media/image488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2.png"/><Relationship Id="rId13" Type="http://schemas.openxmlformats.org/officeDocument/2006/relationships/image" Target="../media/image493.png"/><Relationship Id="rId3" Type="http://schemas.openxmlformats.org/officeDocument/2006/relationships/image" Target="../media/image490.png"/><Relationship Id="rId7" Type="http://schemas.openxmlformats.org/officeDocument/2006/relationships/image" Target="../media/image481.png"/><Relationship Id="rId12" Type="http://schemas.openxmlformats.org/officeDocument/2006/relationships/image" Target="../media/image48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1.png"/><Relationship Id="rId11" Type="http://schemas.openxmlformats.org/officeDocument/2006/relationships/image" Target="../media/image485.png"/><Relationship Id="rId5" Type="http://schemas.openxmlformats.org/officeDocument/2006/relationships/image" Target="../media/image479.png"/><Relationship Id="rId15" Type="http://schemas.openxmlformats.org/officeDocument/2006/relationships/image" Target="../media/image495.png"/><Relationship Id="rId10" Type="http://schemas.openxmlformats.org/officeDocument/2006/relationships/image" Target="../media/image492.png"/><Relationship Id="rId4" Type="http://schemas.openxmlformats.org/officeDocument/2006/relationships/image" Target="../media/image478.png"/><Relationship Id="rId9" Type="http://schemas.openxmlformats.org/officeDocument/2006/relationships/image" Target="../media/image483.png"/><Relationship Id="rId14" Type="http://schemas.openxmlformats.org/officeDocument/2006/relationships/image" Target="../media/image494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8.png"/><Relationship Id="rId13" Type="http://schemas.openxmlformats.org/officeDocument/2006/relationships/image" Target="../media/image485.png"/><Relationship Id="rId3" Type="http://schemas.openxmlformats.org/officeDocument/2006/relationships/image" Target="../media/image496.png"/><Relationship Id="rId7" Type="http://schemas.openxmlformats.org/officeDocument/2006/relationships/image" Target="../media/image481.png"/><Relationship Id="rId12" Type="http://schemas.openxmlformats.org/officeDocument/2006/relationships/image" Target="../media/image502.png"/><Relationship Id="rId17" Type="http://schemas.openxmlformats.org/officeDocument/2006/relationships/image" Target="../media/image504.png"/><Relationship Id="rId2" Type="http://schemas.openxmlformats.org/officeDocument/2006/relationships/notesSlide" Target="../notesSlides/notesSlide55.xml"/><Relationship Id="rId16" Type="http://schemas.openxmlformats.org/officeDocument/2006/relationships/image" Target="../media/image5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7.png"/><Relationship Id="rId11" Type="http://schemas.openxmlformats.org/officeDocument/2006/relationships/image" Target="../media/image501.png"/><Relationship Id="rId5" Type="http://schemas.openxmlformats.org/officeDocument/2006/relationships/image" Target="../media/image479.png"/><Relationship Id="rId15" Type="http://schemas.openxmlformats.org/officeDocument/2006/relationships/image" Target="../media/image489.png"/><Relationship Id="rId10" Type="http://schemas.openxmlformats.org/officeDocument/2006/relationships/image" Target="../media/image500.png"/><Relationship Id="rId4" Type="http://schemas.openxmlformats.org/officeDocument/2006/relationships/image" Target="../media/image478.png"/><Relationship Id="rId9" Type="http://schemas.openxmlformats.org/officeDocument/2006/relationships/image" Target="../media/image499.png"/><Relationship Id="rId14" Type="http://schemas.openxmlformats.org/officeDocument/2006/relationships/image" Target="../media/image486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13" Type="http://schemas.openxmlformats.org/officeDocument/2006/relationships/image" Target="../media/image515.png"/><Relationship Id="rId3" Type="http://schemas.openxmlformats.org/officeDocument/2006/relationships/image" Target="../media/image505.png"/><Relationship Id="rId7" Type="http://schemas.openxmlformats.org/officeDocument/2006/relationships/image" Target="../media/image509.png"/><Relationship Id="rId12" Type="http://schemas.openxmlformats.org/officeDocument/2006/relationships/image" Target="../media/image51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8.png"/><Relationship Id="rId11" Type="http://schemas.openxmlformats.org/officeDocument/2006/relationships/image" Target="../media/image513.png"/><Relationship Id="rId5" Type="http://schemas.openxmlformats.org/officeDocument/2006/relationships/image" Target="../media/image507.png"/><Relationship Id="rId10" Type="http://schemas.openxmlformats.org/officeDocument/2006/relationships/image" Target="../media/image512.png"/><Relationship Id="rId4" Type="http://schemas.openxmlformats.org/officeDocument/2006/relationships/image" Target="../media/image506.png"/><Relationship Id="rId9" Type="http://schemas.openxmlformats.org/officeDocument/2006/relationships/image" Target="../media/image511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png"/><Relationship Id="rId3" Type="http://schemas.openxmlformats.org/officeDocument/2006/relationships/image" Target="../media/image516.png"/><Relationship Id="rId7" Type="http://schemas.openxmlformats.org/officeDocument/2006/relationships/image" Target="../media/image51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8.png"/><Relationship Id="rId11" Type="http://schemas.openxmlformats.org/officeDocument/2006/relationships/image" Target="../media/image523.png"/><Relationship Id="rId5" Type="http://schemas.openxmlformats.org/officeDocument/2006/relationships/image" Target="../media/image517.png"/><Relationship Id="rId10" Type="http://schemas.openxmlformats.org/officeDocument/2006/relationships/image" Target="../media/image522.png"/><Relationship Id="rId4" Type="http://schemas.openxmlformats.org/officeDocument/2006/relationships/image" Target="../media/image28.png"/><Relationship Id="rId9" Type="http://schemas.openxmlformats.org/officeDocument/2006/relationships/image" Target="../media/image521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6.png"/><Relationship Id="rId13" Type="http://schemas.openxmlformats.org/officeDocument/2006/relationships/image" Target="../media/image531.png"/><Relationship Id="rId18" Type="http://schemas.openxmlformats.org/officeDocument/2006/relationships/image" Target="../media/image536.png"/><Relationship Id="rId3" Type="http://schemas.openxmlformats.org/officeDocument/2006/relationships/image" Target="../media/image41.png"/><Relationship Id="rId21" Type="http://schemas.openxmlformats.org/officeDocument/2006/relationships/image" Target="../media/image539.png"/><Relationship Id="rId7" Type="http://schemas.openxmlformats.org/officeDocument/2006/relationships/image" Target="../media/image525.png"/><Relationship Id="rId12" Type="http://schemas.openxmlformats.org/officeDocument/2006/relationships/image" Target="../media/image530.png"/><Relationship Id="rId17" Type="http://schemas.openxmlformats.org/officeDocument/2006/relationships/image" Target="../media/image535.png"/><Relationship Id="rId2" Type="http://schemas.openxmlformats.org/officeDocument/2006/relationships/notesSlide" Target="../notesSlides/notesSlide58.xml"/><Relationship Id="rId16" Type="http://schemas.openxmlformats.org/officeDocument/2006/relationships/image" Target="../media/image534.png"/><Relationship Id="rId20" Type="http://schemas.openxmlformats.org/officeDocument/2006/relationships/image" Target="../media/image5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4.png"/><Relationship Id="rId11" Type="http://schemas.openxmlformats.org/officeDocument/2006/relationships/image" Target="../media/image529.png"/><Relationship Id="rId5" Type="http://schemas.openxmlformats.org/officeDocument/2006/relationships/image" Target="../media/image7.png"/><Relationship Id="rId15" Type="http://schemas.openxmlformats.org/officeDocument/2006/relationships/image" Target="../media/image533.png"/><Relationship Id="rId10" Type="http://schemas.openxmlformats.org/officeDocument/2006/relationships/image" Target="../media/image528.png"/><Relationship Id="rId19" Type="http://schemas.openxmlformats.org/officeDocument/2006/relationships/image" Target="../media/image537.png"/><Relationship Id="rId4" Type="http://schemas.openxmlformats.org/officeDocument/2006/relationships/image" Target="../media/image62.png"/><Relationship Id="rId9" Type="http://schemas.openxmlformats.org/officeDocument/2006/relationships/image" Target="../media/image527.png"/><Relationship Id="rId14" Type="http://schemas.openxmlformats.org/officeDocument/2006/relationships/image" Target="../media/image532.png"/><Relationship Id="rId22" Type="http://schemas.openxmlformats.org/officeDocument/2006/relationships/image" Target="../media/image54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2.png"/><Relationship Id="rId13" Type="http://schemas.openxmlformats.org/officeDocument/2006/relationships/image" Target="../media/image547.png"/><Relationship Id="rId3" Type="http://schemas.openxmlformats.org/officeDocument/2006/relationships/image" Target="../media/image34.png"/><Relationship Id="rId7" Type="http://schemas.openxmlformats.org/officeDocument/2006/relationships/image" Target="../media/image541.png"/><Relationship Id="rId12" Type="http://schemas.openxmlformats.org/officeDocument/2006/relationships/image" Target="../media/image546.png"/><Relationship Id="rId17" Type="http://schemas.openxmlformats.org/officeDocument/2006/relationships/image" Target="../media/image551.png"/><Relationship Id="rId2" Type="http://schemas.openxmlformats.org/officeDocument/2006/relationships/notesSlide" Target="../notesSlides/notesSlide59.xml"/><Relationship Id="rId16" Type="http://schemas.openxmlformats.org/officeDocument/2006/relationships/image" Target="../media/image5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545.png"/><Relationship Id="rId5" Type="http://schemas.openxmlformats.org/officeDocument/2006/relationships/image" Target="../media/image62.png"/><Relationship Id="rId15" Type="http://schemas.openxmlformats.org/officeDocument/2006/relationships/image" Target="../media/image549.png"/><Relationship Id="rId10" Type="http://schemas.openxmlformats.org/officeDocument/2006/relationships/image" Target="../media/image544.png"/><Relationship Id="rId4" Type="http://schemas.openxmlformats.org/officeDocument/2006/relationships/image" Target="../media/image41.png"/><Relationship Id="rId9" Type="http://schemas.openxmlformats.org/officeDocument/2006/relationships/image" Target="../media/image543.png"/><Relationship Id="rId14" Type="http://schemas.openxmlformats.org/officeDocument/2006/relationships/image" Target="../media/image548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5.png"/><Relationship Id="rId13" Type="http://schemas.openxmlformats.org/officeDocument/2006/relationships/image" Target="../media/image560.png"/><Relationship Id="rId18" Type="http://schemas.openxmlformats.org/officeDocument/2006/relationships/image" Target="../media/image565.png"/><Relationship Id="rId3" Type="http://schemas.openxmlformats.org/officeDocument/2006/relationships/image" Target="../media/image41.png"/><Relationship Id="rId21" Type="http://schemas.openxmlformats.org/officeDocument/2006/relationships/image" Target="../media/image568.png"/><Relationship Id="rId7" Type="http://schemas.openxmlformats.org/officeDocument/2006/relationships/image" Target="../media/image554.png"/><Relationship Id="rId12" Type="http://schemas.openxmlformats.org/officeDocument/2006/relationships/image" Target="../media/image559.png"/><Relationship Id="rId17" Type="http://schemas.openxmlformats.org/officeDocument/2006/relationships/image" Target="../media/image564.png"/><Relationship Id="rId2" Type="http://schemas.openxmlformats.org/officeDocument/2006/relationships/notesSlide" Target="../notesSlides/notesSlide60.xml"/><Relationship Id="rId16" Type="http://schemas.openxmlformats.org/officeDocument/2006/relationships/image" Target="../media/image563.png"/><Relationship Id="rId20" Type="http://schemas.openxmlformats.org/officeDocument/2006/relationships/image" Target="../media/image5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3.png"/><Relationship Id="rId11" Type="http://schemas.openxmlformats.org/officeDocument/2006/relationships/image" Target="../media/image558.png"/><Relationship Id="rId5" Type="http://schemas.openxmlformats.org/officeDocument/2006/relationships/image" Target="../media/image552.png"/><Relationship Id="rId15" Type="http://schemas.openxmlformats.org/officeDocument/2006/relationships/image" Target="../media/image562.png"/><Relationship Id="rId10" Type="http://schemas.openxmlformats.org/officeDocument/2006/relationships/image" Target="../media/image557.png"/><Relationship Id="rId19" Type="http://schemas.openxmlformats.org/officeDocument/2006/relationships/image" Target="../media/image566.png"/><Relationship Id="rId4" Type="http://schemas.openxmlformats.org/officeDocument/2006/relationships/image" Target="../media/image7.png"/><Relationship Id="rId9" Type="http://schemas.openxmlformats.org/officeDocument/2006/relationships/image" Target="../media/image556.png"/><Relationship Id="rId14" Type="http://schemas.openxmlformats.org/officeDocument/2006/relationships/image" Target="../media/image561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4.png"/><Relationship Id="rId13" Type="http://schemas.openxmlformats.org/officeDocument/2006/relationships/image" Target="../media/image579.png"/><Relationship Id="rId18" Type="http://schemas.openxmlformats.org/officeDocument/2006/relationships/image" Target="../media/image584.png"/><Relationship Id="rId3" Type="http://schemas.openxmlformats.org/officeDocument/2006/relationships/image" Target="../media/image569.png"/><Relationship Id="rId7" Type="http://schemas.openxmlformats.org/officeDocument/2006/relationships/image" Target="../media/image573.png"/><Relationship Id="rId12" Type="http://schemas.openxmlformats.org/officeDocument/2006/relationships/image" Target="../media/image578.png"/><Relationship Id="rId17" Type="http://schemas.openxmlformats.org/officeDocument/2006/relationships/image" Target="../media/image583.png"/><Relationship Id="rId2" Type="http://schemas.openxmlformats.org/officeDocument/2006/relationships/notesSlide" Target="../notesSlides/notesSlide61.xml"/><Relationship Id="rId16" Type="http://schemas.openxmlformats.org/officeDocument/2006/relationships/image" Target="../media/image5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2.png"/><Relationship Id="rId11" Type="http://schemas.openxmlformats.org/officeDocument/2006/relationships/image" Target="../media/image577.png"/><Relationship Id="rId5" Type="http://schemas.openxmlformats.org/officeDocument/2006/relationships/image" Target="../media/image571.png"/><Relationship Id="rId15" Type="http://schemas.openxmlformats.org/officeDocument/2006/relationships/image" Target="../media/image581.png"/><Relationship Id="rId10" Type="http://schemas.openxmlformats.org/officeDocument/2006/relationships/image" Target="../media/image576.png"/><Relationship Id="rId4" Type="http://schemas.openxmlformats.org/officeDocument/2006/relationships/image" Target="../media/image570.png"/><Relationship Id="rId9" Type="http://schemas.openxmlformats.org/officeDocument/2006/relationships/image" Target="../media/image575.png"/><Relationship Id="rId14" Type="http://schemas.openxmlformats.org/officeDocument/2006/relationships/image" Target="../media/image580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0.png"/><Relationship Id="rId3" Type="http://schemas.openxmlformats.org/officeDocument/2006/relationships/image" Target="../media/image585.png"/><Relationship Id="rId7" Type="http://schemas.openxmlformats.org/officeDocument/2006/relationships/image" Target="../media/image58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8.png"/><Relationship Id="rId5" Type="http://schemas.openxmlformats.org/officeDocument/2006/relationships/image" Target="../media/image587.png"/><Relationship Id="rId4" Type="http://schemas.openxmlformats.org/officeDocument/2006/relationships/image" Target="../media/image586.png"/><Relationship Id="rId9" Type="http://schemas.openxmlformats.org/officeDocument/2006/relationships/hyperlink" Target="https://github.com/jaemin1020/Big20_aI_interview_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타원 31"/>
          <p:cNvSpPr/>
          <p:nvPr/>
        </p:nvSpPr>
        <p:spPr>
          <a:xfrm>
            <a:off x="8457805" y="816777"/>
            <a:ext cx="1962558" cy="2083483"/>
          </a:xfrm>
          <a:prstGeom prst="ellipse">
            <a:avLst/>
          </a:prstGeom>
          <a:solidFill>
            <a:srgbClr val="EFCFE9">
              <a:alpha val="54902"/>
            </a:srgbClr>
          </a:solidFill>
          <a:ln>
            <a:solidFill>
              <a:srgbClr val="EFCFE9">
                <a:alpha val="5607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10420363" y="5011354"/>
            <a:ext cx="2321333" cy="2458365"/>
          </a:xfrm>
          <a:prstGeom prst="ellipse">
            <a:avLst/>
          </a:prstGeom>
          <a:solidFill>
            <a:srgbClr val="EFCFE9">
              <a:alpha val="54902"/>
            </a:srgbClr>
          </a:solidFill>
          <a:ln>
            <a:solidFill>
              <a:srgbClr val="EFCFE9">
                <a:alpha val="5607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 2"/>
          <p:cNvSpPr txBox="1"/>
          <p:nvPr/>
        </p:nvSpPr>
        <p:spPr>
          <a:xfrm>
            <a:off x="1524305" y="1895551"/>
            <a:ext cx="10020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INTELLIGENT RECRUITING SOLUTION</a:t>
            </a:r>
            <a:endParaRPr lang="en-US" sz="1500" dirty="0"/>
          </a:p>
        </p:txBody>
      </p:sp>
      <p:sp>
        <p:nvSpPr>
          <p:cNvPr id="10" name="Text 3"/>
          <p:cNvSpPr txBox="1"/>
          <p:nvPr/>
        </p:nvSpPr>
        <p:spPr>
          <a:xfrm>
            <a:off x="1524306" y="2314346"/>
            <a:ext cx="58750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18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A4 프로젝트</a:t>
            </a:r>
            <a:endParaRPr lang="en-US" sz="7200" dirty="0"/>
          </a:p>
        </p:txBody>
      </p:sp>
      <p:sp>
        <p:nvSpPr>
          <p:cNvPr id="11" name="Text 4"/>
          <p:cNvSpPr txBox="1"/>
          <p:nvPr/>
        </p:nvSpPr>
        <p:spPr>
          <a:xfrm>
            <a:off x="1422862" y="3366477"/>
            <a:ext cx="86493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 멀티모달 AI</a:t>
            </a:r>
            <a:r>
              <a:rPr lang="en-US" sz="2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면접 플랫폼 </a:t>
            </a:r>
            <a:r>
              <a:rPr lang="en-US" sz="2200" b="1" dirty="0">
                <a:solidFill>
                  <a:srgbClr val="DB2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Bigterview</a:t>
            </a:r>
            <a:endParaRPr lang="en-US" sz="22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805" y="1524305"/>
            <a:ext cx="114300" cy="4572000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914400" y="609905"/>
            <a:ext cx="1647749" cy="352044"/>
          </a:xfrm>
          <a:prstGeom prst="roundRect">
            <a:avLst>
              <a:gd name="adj" fmla="val 259740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Text 7"/>
          <p:cNvSpPr txBox="1"/>
          <p:nvPr/>
        </p:nvSpPr>
        <p:spPr>
          <a:xfrm>
            <a:off x="1104595" y="685800"/>
            <a:ext cx="13432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REPORT</a:t>
            </a:r>
            <a:endParaRPr lang="en-US" sz="1000" dirty="0"/>
          </a:p>
        </p:txBody>
      </p:sp>
      <p:sp>
        <p:nvSpPr>
          <p:cNvPr id="16" name="Shape 8"/>
          <p:cNvSpPr/>
          <p:nvPr/>
        </p:nvSpPr>
        <p:spPr>
          <a:xfrm>
            <a:off x="2713939" y="609905"/>
            <a:ext cx="990295" cy="352044"/>
          </a:xfrm>
          <a:prstGeom prst="roundRect">
            <a:avLst>
              <a:gd name="adj" fmla="val 259740"/>
            </a:avLst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Text 9"/>
          <p:cNvSpPr txBox="1"/>
          <p:nvPr/>
        </p:nvSpPr>
        <p:spPr>
          <a:xfrm>
            <a:off x="2923337" y="685800"/>
            <a:ext cx="648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 smtClean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2026.03</a:t>
            </a:r>
            <a:endParaRPr lang="en-US" sz="1000" dirty="0"/>
          </a:p>
        </p:txBody>
      </p:sp>
      <p:sp>
        <p:nvSpPr>
          <p:cNvPr id="29" name="타원 28"/>
          <p:cNvSpPr/>
          <p:nvPr/>
        </p:nvSpPr>
        <p:spPr>
          <a:xfrm>
            <a:off x="8125436" y="3910916"/>
            <a:ext cx="2937164" cy="2979059"/>
          </a:xfrm>
          <a:prstGeom prst="ellipse">
            <a:avLst/>
          </a:prstGeom>
          <a:solidFill>
            <a:srgbClr val="F0E0F3">
              <a:alpha val="54902"/>
            </a:srgbClr>
          </a:solidFill>
          <a:ln>
            <a:solidFill>
              <a:srgbClr val="F0E0F3">
                <a:alpha val="5607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/>
          <p:cNvSpPr/>
          <p:nvPr/>
        </p:nvSpPr>
        <p:spPr>
          <a:xfrm>
            <a:off x="9183915" y="1421701"/>
            <a:ext cx="3960000" cy="3960000"/>
          </a:xfrm>
          <a:prstGeom prst="ellipse">
            <a:avLst/>
          </a:prstGeom>
          <a:solidFill>
            <a:srgbClr val="D9DDF8">
              <a:alpha val="54902"/>
            </a:srgbClr>
          </a:solidFill>
          <a:ln>
            <a:solidFill>
              <a:srgbClr val="D9DDF8">
                <a:alpha val="5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9381349" y="-2123062"/>
            <a:ext cx="3960000" cy="3960000"/>
          </a:xfrm>
          <a:prstGeom prst="ellipse">
            <a:avLst/>
          </a:prstGeom>
          <a:solidFill>
            <a:srgbClr val="F0E0F3">
              <a:alpha val="54902"/>
            </a:srgbClr>
          </a:solidFill>
          <a:ln>
            <a:solidFill>
              <a:srgbClr val="F0E0F3">
                <a:alpha val="5607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" name="그룹 35"/>
          <p:cNvGrpSpPr/>
          <p:nvPr/>
        </p:nvGrpSpPr>
        <p:grpSpPr>
          <a:xfrm>
            <a:off x="1422862" y="4058177"/>
            <a:ext cx="4891126" cy="1200607"/>
            <a:chOff x="2906476" y="5258784"/>
            <a:chExt cx="4891126" cy="1200607"/>
          </a:xfrm>
        </p:grpSpPr>
        <p:grpSp>
          <p:nvGrpSpPr>
            <p:cNvPr id="35" name="그룹 34"/>
            <p:cNvGrpSpPr/>
            <p:nvPr/>
          </p:nvGrpSpPr>
          <p:grpSpPr>
            <a:xfrm>
              <a:off x="2906476" y="5258784"/>
              <a:ext cx="4891126" cy="1200607"/>
              <a:chOff x="2316892" y="5851541"/>
              <a:chExt cx="4891126" cy="1200607"/>
            </a:xfrm>
          </p:grpSpPr>
          <p:sp>
            <p:nvSpPr>
              <p:cNvPr id="21" name="Shape 10"/>
              <p:cNvSpPr/>
              <p:nvPr/>
            </p:nvSpPr>
            <p:spPr>
              <a:xfrm>
                <a:off x="4575105" y="6080828"/>
                <a:ext cx="9144" cy="724205"/>
              </a:xfrm>
              <a:prstGeom prst="rect">
                <a:avLst/>
              </a:prstGeom>
              <a:solidFill>
                <a:srgbClr val="D1D5DB"/>
              </a:solidFill>
              <a:ln w="12700">
                <a:solidFill>
                  <a:srgbClr val="D1D5DB">
                    <a:alpha val="0"/>
                  </a:srgbClr>
                </a:solidFill>
                <a:prstDash val="solid"/>
              </a:ln>
            </p:spPr>
          </p:sp>
          <p:grpSp>
            <p:nvGrpSpPr>
              <p:cNvPr id="34" name="그룹 33"/>
              <p:cNvGrpSpPr/>
              <p:nvPr/>
            </p:nvGrpSpPr>
            <p:grpSpPr>
              <a:xfrm>
                <a:off x="2316892" y="5851541"/>
                <a:ext cx="4891126" cy="1200607"/>
                <a:chOff x="1104595" y="5056859"/>
                <a:chExt cx="4891126" cy="1200607"/>
              </a:xfrm>
            </p:grpSpPr>
            <p:pic>
              <p:nvPicPr>
                <p:cNvPr id="18" name="Image 6" descr="preencoded.png"/>
                <p:cNvPicPr>
                  <a:picLocks noChangeAspect="1"/>
                </p:cNvPicPr>
                <p:nvPr/>
              </p:nvPicPr>
              <p:blipFill>
                <a:blip r:embed="rId4"/>
                <a:srcRect t="-22" b="-22"/>
                <a:stretch/>
              </p:blipFill>
              <p:spPr>
                <a:xfrm>
                  <a:off x="1104595" y="5056859"/>
                  <a:ext cx="4891126" cy="1200607"/>
                </a:xfrm>
                <a:prstGeom prst="rect">
                  <a:avLst/>
                </a:prstGeom>
              </p:spPr>
            </p:pic>
            <p:pic>
              <p:nvPicPr>
                <p:cNvPr id="19" name="Image 7" descr="preencoded.png"/>
                <p:cNvPicPr>
                  <a:picLocks noChangeAspect="1"/>
                </p:cNvPicPr>
                <p:nvPr/>
              </p:nvPicPr>
              <p:blipFill>
                <a:blip r:embed="rId5"/>
                <a:srcRect/>
                <a:stretch/>
              </p:blipFill>
              <p:spPr>
                <a:xfrm>
                  <a:off x="1276044" y="5400131"/>
                  <a:ext cx="609905" cy="609905"/>
                </a:xfrm>
                <a:prstGeom prst="rect">
                  <a:avLst/>
                </a:prstGeom>
              </p:spPr>
            </p:pic>
            <p:sp>
              <p:nvSpPr>
                <p:cNvPr id="22" name="Text 11"/>
                <p:cNvSpPr txBox="1"/>
                <p:nvPr/>
              </p:nvSpPr>
              <p:spPr>
                <a:xfrm>
                  <a:off x="2066544" y="5400131"/>
                  <a:ext cx="1275588" cy="19111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000" dirty="0">
                      <a:solidFill>
                        <a:srgbClr val="6B7280"/>
                      </a:solidFill>
                      <a:latin typeface="Noto Sans KR" pitchFamily="34" charset="0"/>
                      <a:ea typeface="Noto Sans KR" pitchFamily="34" charset="-122"/>
                      <a:cs typeface="Noto Sans KR" pitchFamily="34" charset="-120"/>
                    </a:rPr>
                    <a:t>발표자</a:t>
                  </a:r>
                  <a:endParaRPr lang="en-US" sz="1000" dirty="0"/>
                </a:p>
              </p:txBody>
            </p:sp>
            <p:sp>
              <p:nvSpPr>
                <p:cNvPr id="23" name="Text 12"/>
                <p:cNvSpPr txBox="1"/>
                <p:nvPr/>
              </p:nvSpPr>
              <p:spPr>
                <a:xfrm>
                  <a:off x="2066544" y="5561951"/>
                  <a:ext cx="647395" cy="30541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b="1" dirty="0" smtClean="0"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2AI1</a:t>
                  </a:r>
                  <a:endParaRPr lang="en-US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  <p:sp>
              <p:nvSpPr>
                <p:cNvPr id="25" name="Text 14"/>
                <p:cNvSpPr txBox="1"/>
                <p:nvPr/>
              </p:nvSpPr>
              <p:spPr>
                <a:xfrm>
                  <a:off x="3941064" y="5400446"/>
                  <a:ext cx="1718158" cy="19111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000" dirty="0">
                      <a:solidFill>
                        <a:srgbClr val="6B7280"/>
                      </a:solidFill>
                      <a:latin typeface="Noto Sans KR" pitchFamily="34" charset="0"/>
                      <a:ea typeface="Noto Sans KR" pitchFamily="34" charset="-122"/>
                      <a:cs typeface="Noto Sans KR" pitchFamily="34" charset="-120"/>
                    </a:rPr>
                    <a:t>발표일</a:t>
                  </a:r>
                  <a:endParaRPr lang="en-US" sz="1000" dirty="0"/>
                </a:p>
              </p:txBody>
            </p:sp>
            <p:pic>
              <p:nvPicPr>
                <p:cNvPr id="26" name="Image 9" descr="preencoded.png"/>
                <p:cNvPicPr>
                  <a:picLocks noChangeAspect="1"/>
                </p:cNvPicPr>
                <p:nvPr/>
              </p:nvPicPr>
              <p:blipFill>
                <a:blip r:embed="rId6"/>
                <a:srcRect t="-43" b="-43"/>
                <a:stretch/>
              </p:blipFill>
              <p:spPr>
                <a:xfrm>
                  <a:off x="3941064" y="5686654"/>
                  <a:ext cx="133502" cy="152705"/>
                </a:xfrm>
                <a:prstGeom prst="rect">
                  <a:avLst/>
                </a:prstGeom>
              </p:spPr>
            </p:pic>
            <p:sp>
              <p:nvSpPr>
                <p:cNvPr id="27" name="Text 15"/>
                <p:cNvSpPr txBox="1"/>
                <p:nvPr/>
              </p:nvSpPr>
              <p:spPr>
                <a:xfrm>
                  <a:off x="4150462" y="5629046"/>
                  <a:ext cx="1628546" cy="26700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300" b="1" dirty="0">
                      <a:solidFill>
                        <a:srgbClr val="374151"/>
                      </a:solidFill>
                      <a:latin typeface="Noto Sans KR" pitchFamily="34" charset="0"/>
                      <a:ea typeface="Noto Sans KR" pitchFamily="34" charset="-122"/>
                      <a:cs typeface="Noto Sans KR" pitchFamily="34" charset="-120"/>
                    </a:rPr>
                    <a:t>2026년 03월 </a:t>
                  </a:r>
                  <a:r>
                    <a:rPr lang="en-US" sz="1300" b="1" dirty="0" smtClean="0">
                      <a:solidFill>
                        <a:srgbClr val="374151"/>
                      </a:solidFill>
                      <a:latin typeface="Noto Sans KR" pitchFamily="34" charset="0"/>
                      <a:ea typeface="Noto Sans KR" pitchFamily="34" charset="-122"/>
                      <a:cs typeface="Noto Sans KR" pitchFamily="34" charset="-120"/>
                    </a:rPr>
                    <a:t>11일</a:t>
                  </a:r>
                  <a:endParaRPr lang="en-US" sz="1300" dirty="0"/>
                </a:p>
              </p:txBody>
            </p:sp>
          </p:grpSp>
        </p:grpSp>
        <p:pic>
          <p:nvPicPr>
            <p:cNvPr id="20" name="Image 8" descr="preencoded.png"/>
            <p:cNvPicPr>
              <a:picLocks noChangeAspect="1"/>
            </p:cNvPicPr>
            <p:nvPr/>
          </p:nvPicPr>
          <p:blipFill>
            <a:blip r:embed="rId7"/>
            <a:srcRect t="-530" b="-530"/>
            <a:stretch/>
          </p:blipFill>
          <p:spPr>
            <a:xfrm>
              <a:off x="3258976" y="5769184"/>
              <a:ext cx="247802" cy="286207"/>
            </a:xfrm>
            <a:prstGeom prst="rect">
              <a:avLst/>
            </a:prstGeom>
          </p:spPr>
        </p:pic>
      </p:grpSp>
      <p:sp>
        <p:nvSpPr>
          <p:cNvPr id="37" name="타원 36"/>
          <p:cNvSpPr/>
          <p:nvPr/>
        </p:nvSpPr>
        <p:spPr>
          <a:xfrm>
            <a:off x="6845511" y="2325460"/>
            <a:ext cx="720000" cy="720000"/>
          </a:xfrm>
          <a:prstGeom prst="ellipse">
            <a:avLst/>
          </a:prstGeom>
          <a:solidFill>
            <a:srgbClr val="F0E0F3">
              <a:alpha val="54902"/>
            </a:srgbClr>
          </a:solidFill>
          <a:ln>
            <a:solidFill>
              <a:srgbClr val="F0E0F3">
                <a:alpha val="5607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/>
          <p:cNvSpPr/>
          <p:nvPr/>
        </p:nvSpPr>
        <p:spPr>
          <a:xfrm>
            <a:off x="7141720" y="466518"/>
            <a:ext cx="1080000" cy="1080000"/>
          </a:xfrm>
          <a:prstGeom prst="ellipse">
            <a:avLst/>
          </a:prstGeom>
          <a:solidFill>
            <a:srgbClr val="F0E0F3">
              <a:alpha val="54902"/>
            </a:srgbClr>
          </a:solidFill>
          <a:ln>
            <a:solidFill>
              <a:srgbClr val="F0E0F3">
                <a:alpha val="5607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5" b="-5"/>
          <a:stretch/>
        </p:blipFill>
        <p:spPr>
          <a:xfrm>
            <a:off x="0" y="5143500"/>
            <a:ext cx="3047695" cy="17145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691518" y="6362395"/>
            <a:ext cx="2770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3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t="-177" b="-177"/>
          <a:stretch/>
        </p:blipFill>
        <p:spPr>
          <a:xfrm>
            <a:off x="609905" y="457200"/>
            <a:ext cx="75895" cy="809244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914400" y="495605"/>
            <a:ext cx="3781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배경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914400" y="1067105"/>
            <a:ext cx="41687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채용 환경의 변화와 기존 시스템의 한계 분석</a:t>
            </a:r>
            <a:endParaRPr lang="en-US" sz="1500" dirty="0"/>
          </a:p>
        </p:txBody>
      </p:sp>
      <p:sp>
        <p:nvSpPr>
          <p:cNvPr id="10" name="Shape 4"/>
          <p:cNvSpPr/>
          <p:nvPr/>
        </p:nvSpPr>
        <p:spPr>
          <a:xfrm>
            <a:off x="609905" y="1676095"/>
            <a:ext cx="5372100" cy="2247595"/>
          </a:xfrm>
          <a:prstGeom prst="roundRect">
            <a:avLst>
              <a:gd name="adj" fmla="val 6896"/>
            </a:avLst>
          </a:prstGeom>
          <a:solidFill>
            <a:srgbClr val="FFFFFF">
              <a:alpha val="90000"/>
            </a:srgbClr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5"/>
          <p:cNvSpPr/>
          <p:nvPr/>
        </p:nvSpPr>
        <p:spPr>
          <a:xfrm>
            <a:off x="609905" y="1676095"/>
            <a:ext cx="5372100" cy="38405"/>
          </a:xfrm>
          <a:prstGeom prst="roundRect">
            <a:avLst>
              <a:gd name="adj" fmla="val 403549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914400" y="2018995"/>
            <a:ext cx="571500" cy="57150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6307" y="2190902"/>
            <a:ext cx="228600" cy="2286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676095" y="2229307"/>
            <a:ext cx="175564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채용 환경 문제</a:t>
            </a:r>
            <a:endParaRPr lang="en-US" sz="1800" dirty="0"/>
          </a:p>
        </p:txBody>
      </p:sp>
      <p:sp>
        <p:nvSpPr>
          <p:cNvPr id="15" name="Text 8"/>
          <p:cNvSpPr txBox="1"/>
          <p:nvPr/>
        </p:nvSpPr>
        <p:spPr>
          <a:xfrm>
            <a:off x="914400" y="2895905"/>
            <a:ext cx="4839005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대규모 채용 과정에서 </a:t>
            </a:r>
            <a:r>
              <a:rPr lang="en-US" sz="13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면접관 인력 운영 비용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증가하고 있으며, 서류 전형부터 1차 면접까지 평균 2~3주 이상의 </a:t>
            </a:r>
            <a:r>
              <a:rPr lang="en-US" sz="13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채용 지연(Hire Latency)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발생하여 우수 인재가 이탈하는 </a:t>
            </a:r>
            <a:r>
              <a:rPr lang="en-US" sz="13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문제가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심화</a:t>
            </a:r>
            <a:r>
              <a:rPr lang="en-US" sz="13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rcRect/>
          <a:stretch/>
        </p:blipFill>
        <p:spPr>
          <a:xfrm>
            <a:off x="4914900" y="2857500"/>
            <a:ext cx="914400" cy="91440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6210605" y="1676095"/>
            <a:ext cx="5372100" cy="2247595"/>
          </a:xfrm>
          <a:prstGeom prst="roundRect">
            <a:avLst>
              <a:gd name="adj" fmla="val 6896"/>
            </a:avLst>
          </a:prstGeom>
          <a:solidFill>
            <a:srgbClr val="FFFFFF">
              <a:alpha val="90000"/>
            </a:srgbClr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Shape 10"/>
          <p:cNvSpPr/>
          <p:nvPr/>
        </p:nvSpPr>
        <p:spPr>
          <a:xfrm>
            <a:off x="6210605" y="1676095"/>
            <a:ext cx="5372100" cy="38405"/>
          </a:xfrm>
          <a:prstGeom prst="roundRect">
            <a:avLst>
              <a:gd name="adj" fmla="val 403549"/>
            </a:avLst>
          </a:prstGeom>
          <a:solidFill>
            <a:srgbClr val="FFC000"/>
          </a:solidFill>
          <a:ln w="12700">
            <a:solidFill>
              <a:srgbClr val="FFC000">
                <a:alpha val="0"/>
              </a:srgbClr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6657746" y="2190902"/>
            <a:ext cx="286207" cy="2286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7276795" y="2229307"/>
            <a:ext cx="239024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면접 방식 한계</a:t>
            </a:r>
            <a:endParaRPr lang="en-US" sz="1800" dirty="0"/>
          </a:p>
        </p:txBody>
      </p:sp>
      <p:sp>
        <p:nvSpPr>
          <p:cNvPr id="21" name="Text 12"/>
          <p:cNvSpPr txBox="1"/>
          <p:nvPr/>
        </p:nvSpPr>
        <p:spPr>
          <a:xfrm>
            <a:off x="6515100" y="2895905"/>
            <a:ext cx="483900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면접관 개인의 경험과 직관에 의존한 </a:t>
            </a: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주관적 평가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이루어지며, 동일 지원자에 대해서도 면접관의 성향이나 상황에 따라 </a:t>
            </a: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결과 불일치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</a:t>
            </a:r>
            <a:r>
              <a:rPr lang="en-US" sz="13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빈번하게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</a:t>
            </a:r>
            <a:r>
              <a:rPr lang="en-US" sz="13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</a:t>
            </a:r>
            <a:endParaRPr lang="en-US" sz="13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8">
            <a:alphaModFix amt="10000"/>
          </a:blip>
          <a:srcRect/>
          <a:stretch/>
        </p:blipFill>
        <p:spPr>
          <a:xfrm>
            <a:off x="10287000" y="2857500"/>
            <a:ext cx="1143000" cy="91440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609905" y="4153205"/>
            <a:ext cx="5372100" cy="2247595"/>
          </a:xfrm>
          <a:prstGeom prst="roundRect">
            <a:avLst>
              <a:gd name="adj" fmla="val 6896"/>
            </a:avLst>
          </a:prstGeom>
          <a:solidFill>
            <a:srgbClr val="FFFFFF">
              <a:alpha val="90000"/>
            </a:srgbClr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4" name="Shape 14"/>
          <p:cNvSpPr/>
          <p:nvPr/>
        </p:nvSpPr>
        <p:spPr>
          <a:xfrm>
            <a:off x="609905" y="4153205"/>
            <a:ext cx="5372100" cy="38405"/>
          </a:xfrm>
          <a:prstGeom prst="roundRect">
            <a:avLst>
              <a:gd name="adj" fmla="val 403549"/>
            </a:avLst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25" name="Shape 15"/>
          <p:cNvSpPr/>
          <p:nvPr/>
        </p:nvSpPr>
        <p:spPr>
          <a:xfrm>
            <a:off x="914400" y="4496105"/>
            <a:ext cx="571500" cy="5715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1057046" y="4667098"/>
            <a:ext cx="286207" cy="228600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1676095" y="4705502"/>
            <a:ext cx="24478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면접에 대한 인식</a:t>
            </a:r>
            <a:endParaRPr lang="en-US" sz="1800" dirty="0"/>
          </a:p>
        </p:txBody>
      </p:sp>
      <p:sp>
        <p:nvSpPr>
          <p:cNvPr id="28" name="Text 17"/>
          <p:cNvSpPr txBox="1"/>
          <p:nvPr/>
        </p:nvSpPr>
        <p:spPr>
          <a:xfrm>
            <a:off x="914400" y="5372100"/>
            <a:ext cx="483900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기존 AI 면접은 </a:t>
            </a:r>
            <a:r>
              <a:rPr lang="en-US" sz="13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고정된 질문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정형화된 평가만 가능하다는 인식이 존재하며, 지원자의 상황과 경험을 반영한 </a:t>
            </a:r>
            <a:r>
              <a:rPr lang="en-US" sz="13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맞춤형 질문 생성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정교한 역량 분석이 어렵다는 </a:t>
            </a:r>
            <a:r>
              <a:rPr lang="en-US" sz="13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한계가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지적</a:t>
            </a:r>
            <a:r>
              <a:rPr lang="ko-KR" altLang="en-US" sz="13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됨</a:t>
            </a:r>
            <a:r>
              <a:rPr lang="en-US" altLang="ko-KR" sz="13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3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0">
            <a:alphaModFix amt="10000"/>
          </a:blip>
          <a:srcRect/>
          <a:stretch/>
        </p:blipFill>
        <p:spPr>
          <a:xfrm>
            <a:off x="4686300" y="5333695"/>
            <a:ext cx="1143000" cy="914400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6248552" y="4153205"/>
            <a:ext cx="5372100" cy="2247595"/>
          </a:xfrm>
          <a:prstGeom prst="roundRect">
            <a:avLst>
              <a:gd name="adj" fmla="val 6896"/>
            </a:avLst>
          </a:prstGeom>
          <a:solidFill>
            <a:srgbClr val="FFFFFF">
              <a:alpha val="90000"/>
            </a:srgbClr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1" name="Shape 19"/>
          <p:cNvSpPr/>
          <p:nvPr/>
        </p:nvSpPr>
        <p:spPr>
          <a:xfrm>
            <a:off x="6210605" y="4153205"/>
            <a:ext cx="5372100" cy="38405"/>
          </a:xfrm>
          <a:prstGeom prst="roundRect">
            <a:avLst>
              <a:gd name="adj" fmla="val 40354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2" name="Shape 20"/>
          <p:cNvSpPr/>
          <p:nvPr/>
        </p:nvSpPr>
        <p:spPr>
          <a:xfrm>
            <a:off x="6515100" y="4496105"/>
            <a:ext cx="571500" cy="5715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687007" y="4667098"/>
            <a:ext cx="228600" cy="22860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7276795" y="4705502"/>
            <a:ext cx="175564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환경 변화</a:t>
            </a:r>
            <a:endParaRPr lang="en-US" sz="1800" dirty="0"/>
          </a:p>
        </p:txBody>
      </p:sp>
      <p:sp>
        <p:nvSpPr>
          <p:cNvPr id="35" name="Text 22"/>
          <p:cNvSpPr txBox="1"/>
          <p:nvPr/>
        </p:nvSpPr>
        <p:spPr>
          <a:xfrm>
            <a:off x="6515100" y="5372100"/>
            <a:ext cx="483900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최근 </a:t>
            </a: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STT, Vision AI, LLM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기술의 비약적 발전으로 음성·영상·텍스트 데이터를 동시에 분석하는 </a:t>
            </a: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멀티모달 AI 시스템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구현이 가능해졌으며, 지능형 인터뷰 시스템 개발 </a:t>
            </a:r>
            <a:r>
              <a:rPr lang="en-US" sz="13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환경이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진화</a:t>
            </a:r>
            <a:endParaRPr lang="en-US" sz="130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12">
            <a:alphaModFix amt="10000"/>
          </a:blip>
          <a:srcRect/>
          <a:stretch/>
        </p:blipFill>
        <p:spPr>
          <a:xfrm>
            <a:off x="10287000" y="5333695"/>
            <a:ext cx="11430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A4_Project_2AI1_PA_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함유라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/>
        </p:blipFill>
        <p:spPr>
          <a:xfrm>
            <a:off x="-381305" y="4190695"/>
            <a:ext cx="3047695" cy="3047695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691518" y="6362395"/>
            <a:ext cx="2770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3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t="-177" b="-177"/>
          <a:stretch/>
        </p:blipFill>
        <p:spPr>
          <a:xfrm>
            <a:off x="609905" y="457200"/>
            <a:ext cx="75895" cy="809244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914400" y="495605"/>
            <a:ext cx="8257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해결을 위한 프로젝트 방향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914400" y="1067105"/>
            <a:ext cx="59820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멀티모달 데이터 통합 분석을 통한 지능형 채용 시스템 구축</a:t>
            </a:r>
            <a:endParaRPr lang="en-US" sz="1500" dirty="0"/>
          </a:p>
        </p:txBody>
      </p:sp>
      <p:sp>
        <p:nvSpPr>
          <p:cNvPr id="10" name="Shape 4"/>
          <p:cNvSpPr/>
          <p:nvPr/>
        </p:nvSpPr>
        <p:spPr>
          <a:xfrm>
            <a:off x="555198" y="1676095"/>
            <a:ext cx="3581705" cy="1886407"/>
          </a:xfrm>
          <a:prstGeom prst="roundRect">
            <a:avLst>
              <a:gd name="adj" fmla="val 7834"/>
            </a:avLst>
          </a:prstGeom>
          <a:solidFill>
            <a:schemeClr val="bg1">
              <a:lumMod val="75000"/>
              <a:alpha val="85000"/>
            </a:schemeClr>
          </a:solidFill>
          <a:ln w="12700">
            <a:solidFill>
              <a:schemeClr val="bg1">
                <a:lumMod val="75000"/>
                <a:alpha val="60000"/>
              </a:scheme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5"/>
          <p:cNvSpPr/>
          <p:nvPr/>
        </p:nvSpPr>
        <p:spPr>
          <a:xfrm>
            <a:off x="847649" y="1914754"/>
            <a:ext cx="381305" cy="381305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2746" y="2009851"/>
            <a:ext cx="190195" cy="19019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343254" y="1971446"/>
            <a:ext cx="13405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목표</a:t>
            </a:r>
            <a:endParaRPr lang="en-US" sz="1500" dirty="0"/>
          </a:p>
        </p:txBody>
      </p:sp>
      <p:sp>
        <p:nvSpPr>
          <p:cNvPr id="14" name="Text 7"/>
          <p:cNvSpPr txBox="1"/>
          <p:nvPr/>
        </p:nvSpPr>
        <p:spPr>
          <a:xfrm>
            <a:off x="847649" y="2447849"/>
            <a:ext cx="318211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온프레미스 기반</a:t>
            </a:r>
            <a:endParaRPr lang="en-US" sz="13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61A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멀티모달 AI 면접 플랫폼</a:t>
            </a:r>
            <a:endParaRPr lang="en-US" sz="1300" dirty="0">
              <a:solidFill>
                <a:srgbClr val="F61A88"/>
              </a:solidFill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구축 및 지능형 평가 실현 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583387" y="3705149"/>
            <a:ext cx="3581705" cy="2924251"/>
          </a:xfrm>
          <a:prstGeom prst="roundRect">
            <a:avLst>
              <a:gd name="adj" fmla="val 3259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821131" y="4286708"/>
            <a:ext cx="3105302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821131" y="3943808"/>
            <a:ext cx="329641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컨셉 &amp; 분석 데이터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821131" y="4448556"/>
            <a:ext cx="31821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지원자와 AI의 실시간 인터뷰를 통해 다양한 데이터를 수집하고 종합 분석합니다.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821131" y="5095952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916228" y="5171847"/>
            <a:ext cx="114300" cy="152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239926" y="5057547"/>
            <a:ext cx="16568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데이터</a:t>
            </a:r>
            <a:endParaRPr lang="en-US" sz="1000" dirty="0"/>
          </a:p>
        </p:txBody>
      </p:sp>
      <p:sp>
        <p:nvSpPr>
          <p:cNvPr id="22" name="Text 14"/>
          <p:cNvSpPr txBox="1"/>
          <p:nvPr/>
        </p:nvSpPr>
        <p:spPr>
          <a:xfrm>
            <a:off x="1239926" y="5248656"/>
            <a:ext cx="182514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발화 속도, 톤, 휴지(Pause) 분석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821131" y="5591556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887882" y="5667452"/>
            <a:ext cx="171907" cy="15270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239926" y="5553152"/>
            <a:ext cx="17282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데이터</a:t>
            </a:r>
            <a:endParaRPr lang="en-US" sz="1000" dirty="0"/>
          </a:p>
        </p:txBody>
      </p:sp>
      <p:sp>
        <p:nvSpPr>
          <p:cNvPr id="26" name="Text 17"/>
          <p:cNvSpPr txBox="1"/>
          <p:nvPr/>
        </p:nvSpPr>
        <p:spPr>
          <a:xfrm>
            <a:off x="1239926" y="5743347"/>
            <a:ext cx="20345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표정, 시선, 자세 등 비언어적 행동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821131" y="608624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916228" y="6163056"/>
            <a:ext cx="114300" cy="15270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39926" y="6048756"/>
            <a:ext cx="1841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데이터</a:t>
            </a:r>
            <a:endParaRPr lang="en-US" sz="1000" dirty="0"/>
          </a:p>
        </p:txBody>
      </p:sp>
      <p:sp>
        <p:nvSpPr>
          <p:cNvPr id="30" name="Text 20"/>
          <p:cNvSpPr txBox="1"/>
          <p:nvPr/>
        </p:nvSpPr>
        <p:spPr>
          <a:xfrm>
            <a:off x="1239926" y="6238952"/>
            <a:ext cx="2153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내용, 논리 구조 및 핵심 키워드</a:t>
            </a:r>
            <a:endParaRPr lang="en-US" sz="900" dirty="0"/>
          </a:p>
        </p:txBody>
      </p:sp>
      <p:sp>
        <p:nvSpPr>
          <p:cNvPr id="31" name="Text 21"/>
          <p:cNvSpPr txBox="1"/>
          <p:nvPr/>
        </p:nvSpPr>
        <p:spPr>
          <a:xfrm>
            <a:off x="4714646" y="1676095"/>
            <a:ext cx="70582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멀티모달 AI 분석 구조 </a:t>
            </a:r>
            <a:endParaRPr lang="en-US" sz="15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4419295" y="1714500"/>
            <a:ext cx="219456" cy="19019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4686300" y="5181905"/>
            <a:ext cx="7086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인터뷰 시스템 주요 특징 </a:t>
            </a:r>
            <a:endParaRPr lang="en-US" sz="13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0"/>
          <a:srcRect t="-842" b="-842"/>
          <a:stretch/>
        </p:blipFill>
        <p:spPr>
          <a:xfrm>
            <a:off x="4419295" y="5229454"/>
            <a:ext cx="190195" cy="171907"/>
          </a:xfrm>
          <a:prstGeom prst="rect">
            <a:avLst/>
          </a:prstGeom>
        </p:spPr>
      </p:pic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1"/>
          <a:srcRect t="-9" b="-9"/>
          <a:stretch/>
        </p:blipFill>
        <p:spPr>
          <a:xfrm>
            <a:off x="4419295" y="5562295"/>
            <a:ext cx="1676095" cy="914400"/>
          </a:xfrm>
          <a:prstGeom prst="rect">
            <a:avLst/>
          </a:prstGeom>
        </p:spPr>
      </p:pic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12"/>
          <a:srcRect l="-57" r="-57"/>
          <a:stretch/>
        </p:blipFill>
        <p:spPr>
          <a:xfrm>
            <a:off x="5158130" y="5772607"/>
            <a:ext cx="200254" cy="228600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4721962" y="6077102"/>
            <a:ext cx="10817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인터랙션</a:t>
            </a:r>
            <a:endParaRPr lang="en-US" sz="1000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1"/>
          <a:srcRect t="-9" b="-9"/>
          <a:stretch/>
        </p:blipFill>
        <p:spPr>
          <a:xfrm>
            <a:off x="6248095" y="5562295"/>
            <a:ext cx="1676095" cy="914400"/>
          </a:xfrm>
          <a:prstGeom prst="rect">
            <a:avLst/>
          </a:prstGeom>
        </p:spPr>
      </p:pic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3"/>
          <a:srcRect l="-57" r="-57"/>
          <a:stretch/>
        </p:blipFill>
        <p:spPr>
          <a:xfrm>
            <a:off x="6986930" y="5772607"/>
            <a:ext cx="200254" cy="228600"/>
          </a:xfrm>
          <a:prstGeom prst="rect">
            <a:avLst/>
          </a:prstGeom>
        </p:spPr>
      </p:pic>
      <p:sp>
        <p:nvSpPr>
          <p:cNvPr id="40" name="Text 24"/>
          <p:cNvSpPr txBox="1"/>
          <p:nvPr/>
        </p:nvSpPr>
        <p:spPr>
          <a:xfrm>
            <a:off x="6503213" y="6077102"/>
            <a:ext cx="11667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적응형 질문 생성</a:t>
            </a:r>
            <a:endParaRPr lang="en-US" sz="100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1"/>
          <a:srcRect t="-9" b="-9"/>
          <a:stretch/>
        </p:blipFill>
        <p:spPr>
          <a:xfrm>
            <a:off x="8076895" y="5562295"/>
            <a:ext cx="1676095" cy="914400"/>
          </a:xfrm>
          <a:prstGeom prst="rect">
            <a:avLst/>
          </a:prstGeom>
        </p:spPr>
      </p:pic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14"/>
          <a:srcRect t="-45" b="-45"/>
          <a:stretch/>
        </p:blipFill>
        <p:spPr>
          <a:xfrm>
            <a:off x="8786470" y="5772607"/>
            <a:ext cx="256946" cy="228600"/>
          </a:xfrm>
          <a:prstGeom prst="rect">
            <a:avLst/>
          </a:prstGeom>
        </p:spPr>
      </p:pic>
      <p:sp>
        <p:nvSpPr>
          <p:cNvPr id="43" name="Text 25"/>
          <p:cNvSpPr txBox="1"/>
          <p:nvPr/>
        </p:nvSpPr>
        <p:spPr>
          <a:xfrm>
            <a:off x="8387791" y="6077102"/>
            <a:ext cx="10616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 경험 분석</a:t>
            </a:r>
            <a:endParaRPr lang="en-US" sz="1000" dirty="0"/>
          </a:p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11"/>
          <a:srcRect t="-9" b="-9"/>
          <a:stretch/>
        </p:blipFill>
        <p:spPr>
          <a:xfrm>
            <a:off x="9905695" y="5562295"/>
            <a:ext cx="1676095" cy="914400"/>
          </a:xfrm>
          <a:prstGeom prst="rect">
            <a:avLst/>
          </a:prstGeom>
        </p:spPr>
      </p:pic>
      <p:pic>
        <p:nvPicPr>
          <p:cNvPr id="45" name="Image 17" descr="preencoded.png"/>
          <p:cNvPicPr>
            <a:picLocks noChangeAspect="1"/>
          </p:cNvPicPr>
          <p:nvPr/>
        </p:nvPicPr>
        <p:blipFill>
          <a:blip r:embed="rId15"/>
          <a:srcRect l="-133" r="-133"/>
          <a:stretch/>
        </p:blipFill>
        <p:spPr>
          <a:xfrm>
            <a:off x="10658246" y="5772607"/>
            <a:ext cx="171907" cy="228600"/>
          </a:xfrm>
          <a:prstGeom prst="rect">
            <a:avLst/>
          </a:prstGeom>
        </p:spPr>
      </p:pic>
      <p:sp>
        <p:nvSpPr>
          <p:cNvPr id="46" name="Text 26"/>
          <p:cNvSpPr txBox="1"/>
          <p:nvPr/>
        </p:nvSpPr>
        <p:spPr>
          <a:xfrm>
            <a:off x="10090404" y="6077102"/>
            <a:ext cx="13085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루브릭 평가 자동화</a:t>
            </a:r>
            <a:endParaRPr lang="en-US" sz="1000" dirty="0"/>
          </a:p>
        </p:txBody>
      </p:sp>
      <p:sp>
        <p:nvSpPr>
          <p:cNvPr id="47" name="Shape 27"/>
          <p:cNvSpPr/>
          <p:nvPr/>
        </p:nvSpPr>
        <p:spPr>
          <a:xfrm>
            <a:off x="4419295" y="2095805"/>
            <a:ext cx="2286000" cy="2438705"/>
          </a:xfrm>
          <a:prstGeom prst="roundRect">
            <a:avLst>
              <a:gd name="adj" fmla="val 5333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8" name="Shape 28"/>
          <p:cNvSpPr/>
          <p:nvPr/>
        </p:nvSpPr>
        <p:spPr>
          <a:xfrm>
            <a:off x="4419295" y="2095805"/>
            <a:ext cx="2266798" cy="57607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29"/>
          <p:cNvSpPr/>
          <p:nvPr/>
        </p:nvSpPr>
        <p:spPr>
          <a:xfrm>
            <a:off x="4619549" y="2295144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18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733849" y="2409444"/>
            <a:ext cx="228600" cy="228600"/>
          </a:xfrm>
          <a:prstGeom prst="rect">
            <a:avLst/>
          </a:prstGeom>
        </p:spPr>
      </p:pic>
      <p:sp>
        <p:nvSpPr>
          <p:cNvPr id="51" name="Text 30"/>
          <p:cNvSpPr txBox="1"/>
          <p:nvPr/>
        </p:nvSpPr>
        <p:spPr>
          <a:xfrm>
            <a:off x="4619549" y="2866644"/>
            <a:ext cx="203728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언어 지표</a:t>
            </a:r>
            <a:endParaRPr lang="en-US" sz="1300" dirty="0"/>
          </a:p>
        </p:txBody>
      </p:sp>
      <p:sp>
        <p:nvSpPr>
          <p:cNvPr id="52" name="Text 31"/>
          <p:cNvSpPr txBox="1"/>
          <p:nvPr/>
        </p:nvSpPr>
        <p:spPr>
          <a:xfrm>
            <a:off x="4619549" y="3172054"/>
            <a:ext cx="1962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HARD SKILL</a:t>
            </a:r>
            <a:endParaRPr lang="en-US" sz="900" dirty="0"/>
          </a:p>
        </p:txBody>
      </p:sp>
      <p:pic>
        <p:nvPicPr>
          <p:cNvPr id="53" name="Image 19" descr="preencoded.png"/>
          <p:cNvPicPr>
            <a:picLocks noChangeAspect="1"/>
          </p:cNvPicPr>
          <p:nvPr/>
        </p:nvPicPr>
        <p:blipFill>
          <a:blip r:embed="rId17"/>
          <a:srcRect l="-2571" r="-2571"/>
          <a:stretch/>
        </p:blipFill>
        <p:spPr>
          <a:xfrm>
            <a:off x="4619549" y="3476549"/>
            <a:ext cx="105156" cy="114300"/>
          </a:xfrm>
          <a:prstGeom prst="rect">
            <a:avLst/>
          </a:prstGeom>
        </p:spPr>
      </p:pic>
      <p:sp>
        <p:nvSpPr>
          <p:cNvPr id="54" name="Text 32"/>
          <p:cNvSpPr txBox="1"/>
          <p:nvPr/>
        </p:nvSpPr>
        <p:spPr>
          <a:xfrm>
            <a:off x="4800600" y="3438144"/>
            <a:ext cx="12929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기반 논리 구조</a:t>
            </a:r>
            <a:endParaRPr lang="en-US" sz="1000" dirty="0"/>
          </a:p>
        </p:txBody>
      </p:sp>
      <p:pic>
        <p:nvPicPr>
          <p:cNvPr id="55" name="Image 20" descr="preencoded.png"/>
          <p:cNvPicPr>
            <a:picLocks noChangeAspect="1"/>
          </p:cNvPicPr>
          <p:nvPr/>
        </p:nvPicPr>
        <p:blipFill>
          <a:blip r:embed="rId17"/>
          <a:srcRect l="-2571" r="-2571"/>
          <a:stretch/>
        </p:blipFill>
        <p:spPr>
          <a:xfrm>
            <a:off x="4619549" y="3743554"/>
            <a:ext cx="105156" cy="114300"/>
          </a:xfrm>
          <a:prstGeom prst="rect">
            <a:avLst/>
          </a:prstGeom>
        </p:spPr>
      </p:pic>
      <p:sp>
        <p:nvSpPr>
          <p:cNvPr id="56" name="Text 33"/>
          <p:cNvSpPr txBox="1"/>
          <p:nvPr/>
        </p:nvSpPr>
        <p:spPr>
          <a:xfrm>
            <a:off x="4800600" y="3705149"/>
            <a:ext cx="12691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키워드 적합성</a:t>
            </a:r>
            <a:endParaRPr lang="en-US" sz="1000" dirty="0"/>
          </a:p>
        </p:txBody>
      </p:sp>
      <p:pic>
        <p:nvPicPr>
          <p:cNvPr id="57" name="Image 21" descr="preencoded.png"/>
          <p:cNvPicPr>
            <a:picLocks noChangeAspect="1"/>
          </p:cNvPicPr>
          <p:nvPr/>
        </p:nvPicPr>
        <p:blipFill>
          <a:blip r:embed="rId17"/>
          <a:srcRect l="-2571" r="-2571"/>
          <a:stretch/>
        </p:blipFill>
        <p:spPr>
          <a:xfrm>
            <a:off x="4619549" y="4009644"/>
            <a:ext cx="105156" cy="114300"/>
          </a:xfrm>
          <a:prstGeom prst="rect">
            <a:avLst/>
          </a:prstGeom>
        </p:spPr>
      </p:pic>
      <p:sp>
        <p:nvSpPr>
          <p:cNvPr id="58" name="Text 34"/>
          <p:cNvSpPr txBox="1"/>
          <p:nvPr/>
        </p:nvSpPr>
        <p:spPr>
          <a:xfrm>
            <a:off x="4800600" y="3972154"/>
            <a:ext cx="1078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지식 정합성</a:t>
            </a:r>
            <a:endParaRPr lang="en-US" sz="1000" dirty="0"/>
          </a:p>
        </p:txBody>
      </p:sp>
      <p:sp>
        <p:nvSpPr>
          <p:cNvPr id="59" name="Shape 35"/>
          <p:cNvSpPr/>
          <p:nvPr/>
        </p:nvSpPr>
        <p:spPr>
          <a:xfrm>
            <a:off x="6858000" y="2095805"/>
            <a:ext cx="2286000" cy="2438705"/>
          </a:xfrm>
          <a:prstGeom prst="roundRect">
            <a:avLst>
              <a:gd name="adj" fmla="val 5333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60" name="Shape 36"/>
          <p:cNvSpPr/>
          <p:nvPr/>
        </p:nvSpPr>
        <p:spPr>
          <a:xfrm>
            <a:off x="6858000" y="2095805"/>
            <a:ext cx="2266798" cy="57607"/>
          </a:xfrm>
          <a:prstGeom prst="rect">
            <a:avLst/>
          </a:prstGeom>
          <a:solidFill>
            <a:srgbClr val="EC48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37"/>
          <p:cNvSpPr/>
          <p:nvPr/>
        </p:nvSpPr>
        <p:spPr>
          <a:xfrm>
            <a:off x="7058254" y="2295144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D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2" name="Image 22" descr="preencoded.png"/>
          <p:cNvPicPr>
            <a:picLocks noChangeAspect="1"/>
          </p:cNvPicPr>
          <p:nvPr/>
        </p:nvPicPr>
        <p:blipFill>
          <a:blip r:embed="rId18"/>
          <a:srcRect t="-45" b="-45"/>
          <a:stretch/>
        </p:blipFill>
        <p:spPr>
          <a:xfrm>
            <a:off x="7157923" y="2409444"/>
            <a:ext cx="256946" cy="228600"/>
          </a:xfrm>
          <a:prstGeom prst="rect">
            <a:avLst/>
          </a:prstGeom>
        </p:spPr>
      </p:pic>
      <p:sp>
        <p:nvSpPr>
          <p:cNvPr id="63" name="Text 38"/>
          <p:cNvSpPr txBox="1"/>
          <p:nvPr/>
        </p:nvSpPr>
        <p:spPr>
          <a:xfrm>
            <a:off x="7058254" y="2866644"/>
            <a:ext cx="203728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비언어 지표</a:t>
            </a:r>
            <a:endParaRPr lang="en-US" sz="1300" dirty="0"/>
          </a:p>
        </p:txBody>
      </p:sp>
      <p:sp>
        <p:nvSpPr>
          <p:cNvPr id="64" name="Text 39"/>
          <p:cNvSpPr txBox="1"/>
          <p:nvPr/>
        </p:nvSpPr>
        <p:spPr>
          <a:xfrm>
            <a:off x="7058254" y="3172054"/>
            <a:ext cx="1962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EC48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SOFT SKILL</a:t>
            </a:r>
            <a:endParaRPr lang="en-US" sz="900" dirty="0"/>
          </a:p>
        </p:txBody>
      </p:sp>
      <p:pic>
        <p:nvPicPr>
          <p:cNvPr id="65" name="Image 23" descr="preencoded.png"/>
          <p:cNvPicPr>
            <a:picLocks noChangeAspect="1"/>
          </p:cNvPicPr>
          <p:nvPr/>
        </p:nvPicPr>
        <p:blipFill>
          <a:blip r:embed="rId19"/>
          <a:srcRect l="-2571" r="-2571"/>
          <a:stretch/>
        </p:blipFill>
        <p:spPr>
          <a:xfrm>
            <a:off x="7058254" y="3476549"/>
            <a:ext cx="105156" cy="114300"/>
          </a:xfrm>
          <a:prstGeom prst="rect">
            <a:avLst/>
          </a:prstGeom>
        </p:spPr>
      </p:pic>
      <p:sp>
        <p:nvSpPr>
          <p:cNvPr id="66" name="Text 40"/>
          <p:cNvSpPr txBox="1"/>
          <p:nvPr/>
        </p:nvSpPr>
        <p:spPr>
          <a:xfrm>
            <a:off x="7239305" y="3438144"/>
            <a:ext cx="1314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Vision AI 표정 분석</a:t>
            </a:r>
            <a:endParaRPr lang="en-US" sz="1000" dirty="0"/>
          </a:p>
        </p:txBody>
      </p:sp>
      <p:pic>
        <p:nvPicPr>
          <p:cNvPr id="67" name="Image 24" descr="preencoded.png"/>
          <p:cNvPicPr>
            <a:picLocks noChangeAspect="1"/>
          </p:cNvPicPr>
          <p:nvPr/>
        </p:nvPicPr>
        <p:blipFill>
          <a:blip r:embed="rId19"/>
          <a:srcRect l="-2571" r="-2571"/>
          <a:stretch/>
        </p:blipFill>
        <p:spPr>
          <a:xfrm>
            <a:off x="7058254" y="3743554"/>
            <a:ext cx="105156" cy="114300"/>
          </a:xfrm>
          <a:prstGeom prst="rect">
            <a:avLst/>
          </a:prstGeom>
        </p:spPr>
      </p:pic>
      <p:sp>
        <p:nvSpPr>
          <p:cNvPr id="68" name="Text 41"/>
          <p:cNvSpPr txBox="1"/>
          <p:nvPr/>
        </p:nvSpPr>
        <p:spPr>
          <a:xfrm>
            <a:off x="7239305" y="3705149"/>
            <a:ext cx="12143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 처리 및 감정</a:t>
            </a:r>
            <a:endParaRPr lang="en-US" sz="1000" dirty="0"/>
          </a:p>
        </p:txBody>
      </p:sp>
      <p:pic>
        <p:nvPicPr>
          <p:cNvPr id="69" name="Image 25" descr="preencoded.png"/>
          <p:cNvPicPr>
            <a:picLocks noChangeAspect="1"/>
          </p:cNvPicPr>
          <p:nvPr/>
        </p:nvPicPr>
        <p:blipFill>
          <a:blip r:embed="rId19"/>
          <a:srcRect l="-2571" r="-2571"/>
          <a:stretch/>
        </p:blipFill>
        <p:spPr>
          <a:xfrm>
            <a:off x="7058254" y="4009644"/>
            <a:ext cx="105156" cy="114300"/>
          </a:xfrm>
          <a:prstGeom prst="rect">
            <a:avLst/>
          </a:prstGeom>
        </p:spPr>
      </p:pic>
      <p:sp>
        <p:nvSpPr>
          <p:cNvPr id="70" name="Text 42"/>
          <p:cNvSpPr txBox="1"/>
          <p:nvPr/>
        </p:nvSpPr>
        <p:spPr>
          <a:xfrm>
            <a:off x="7239305" y="3972154"/>
            <a:ext cx="13523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태도 및 집중도 평가</a:t>
            </a:r>
            <a:endParaRPr lang="en-US" sz="1000" dirty="0"/>
          </a:p>
        </p:txBody>
      </p:sp>
      <p:sp>
        <p:nvSpPr>
          <p:cNvPr id="71" name="Shape 43"/>
          <p:cNvSpPr/>
          <p:nvPr/>
        </p:nvSpPr>
        <p:spPr>
          <a:xfrm>
            <a:off x="9296705" y="2095805"/>
            <a:ext cx="2286000" cy="2438705"/>
          </a:xfrm>
          <a:prstGeom prst="roundRect">
            <a:avLst>
              <a:gd name="adj" fmla="val 5333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72" name="Shape 44"/>
          <p:cNvSpPr/>
          <p:nvPr/>
        </p:nvSpPr>
        <p:spPr>
          <a:xfrm>
            <a:off x="9296705" y="2095805"/>
            <a:ext cx="2266798" cy="57607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45"/>
          <p:cNvSpPr/>
          <p:nvPr/>
        </p:nvSpPr>
        <p:spPr>
          <a:xfrm>
            <a:off x="9496044" y="2295144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4" name="Image 26" descr="preencoded.png"/>
          <p:cNvPicPr>
            <a:picLocks noChangeAspect="1"/>
          </p:cNvPicPr>
          <p:nvPr/>
        </p:nvPicPr>
        <p:blipFill>
          <a:blip r:embed="rId20"/>
          <a:srcRect l="-80" r="-80"/>
          <a:stretch/>
        </p:blipFill>
        <p:spPr>
          <a:xfrm>
            <a:off x="9581998" y="2409444"/>
            <a:ext cx="286207" cy="228600"/>
          </a:xfrm>
          <a:prstGeom prst="rect">
            <a:avLst/>
          </a:prstGeom>
        </p:spPr>
      </p:pic>
      <p:sp>
        <p:nvSpPr>
          <p:cNvPr id="75" name="Text 46"/>
          <p:cNvSpPr txBox="1"/>
          <p:nvPr/>
        </p:nvSpPr>
        <p:spPr>
          <a:xfrm>
            <a:off x="9496044" y="2866644"/>
            <a:ext cx="203728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지표</a:t>
            </a:r>
            <a:endParaRPr lang="en-US" sz="1300" dirty="0"/>
          </a:p>
        </p:txBody>
      </p:sp>
      <p:sp>
        <p:nvSpPr>
          <p:cNvPr id="76" name="Text 47"/>
          <p:cNvSpPr txBox="1"/>
          <p:nvPr/>
        </p:nvSpPr>
        <p:spPr>
          <a:xfrm>
            <a:off x="9496044" y="3172054"/>
            <a:ext cx="1962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COMMUNICATION</a:t>
            </a:r>
            <a:endParaRPr lang="en-US" sz="900" dirty="0"/>
          </a:p>
        </p:txBody>
      </p:sp>
      <p:pic>
        <p:nvPicPr>
          <p:cNvPr id="77" name="Image 27" descr="preencoded.png"/>
          <p:cNvPicPr>
            <a:picLocks noChangeAspect="1"/>
          </p:cNvPicPr>
          <p:nvPr/>
        </p:nvPicPr>
        <p:blipFill>
          <a:blip r:embed="rId21"/>
          <a:srcRect l="-2571" r="-2571"/>
          <a:stretch/>
        </p:blipFill>
        <p:spPr>
          <a:xfrm>
            <a:off x="9496044" y="3476549"/>
            <a:ext cx="105156" cy="114300"/>
          </a:xfrm>
          <a:prstGeom prst="rect">
            <a:avLst/>
          </a:prstGeom>
        </p:spPr>
      </p:pic>
      <p:sp>
        <p:nvSpPr>
          <p:cNvPr id="78" name="Text 48"/>
          <p:cNvSpPr txBox="1"/>
          <p:nvPr/>
        </p:nvSpPr>
        <p:spPr>
          <a:xfrm>
            <a:off x="9677095" y="3438144"/>
            <a:ext cx="9939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발화 속도 측정</a:t>
            </a:r>
            <a:endParaRPr lang="en-US" sz="1000" dirty="0"/>
          </a:p>
        </p:txBody>
      </p:sp>
      <p:pic>
        <p:nvPicPr>
          <p:cNvPr id="79" name="Image 28" descr="preencoded.png"/>
          <p:cNvPicPr>
            <a:picLocks noChangeAspect="1"/>
          </p:cNvPicPr>
          <p:nvPr/>
        </p:nvPicPr>
        <p:blipFill>
          <a:blip r:embed="rId21"/>
          <a:srcRect l="-2571" r="-2571"/>
          <a:stretch/>
        </p:blipFill>
        <p:spPr>
          <a:xfrm>
            <a:off x="9496044" y="3743554"/>
            <a:ext cx="105156" cy="114300"/>
          </a:xfrm>
          <a:prstGeom prst="rect">
            <a:avLst/>
          </a:prstGeom>
        </p:spPr>
      </p:pic>
      <p:sp>
        <p:nvSpPr>
          <p:cNvPr id="80" name="Text 49"/>
          <p:cNvSpPr txBox="1"/>
          <p:nvPr/>
        </p:nvSpPr>
        <p:spPr>
          <a:xfrm>
            <a:off x="9677095" y="3705149"/>
            <a:ext cx="12143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톤 변화 분석</a:t>
            </a:r>
            <a:endParaRPr lang="en-US" sz="1000" dirty="0"/>
          </a:p>
        </p:txBody>
      </p:sp>
      <p:pic>
        <p:nvPicPr>
          <p:cNvPr id="81" name="Image 29" descr="preencoded.png"/>
          <p:cNvPicPr>
            <a:picLocks noChangeAspect="1"/>
          </p:cNvPicPr>
          <p:nvPr/>
        </p:nvPicPr>
        <p:blipFill>
          <a:blip r:embed="rId21"/>
          <a:srcRect l="-2571" r="-2571"/>
          <a:stretch/>
        </p:blipFill>
        <p:spPr>
          <a:xfrm>
            <a:off x="9496044" y="4009644"/>
            <a:ext cx="105156" cy="114300"/>
          </a:xfrm>
          <a:prstGeom prst="rect">
            <a:avLst/>
          </a:prstGeom>
        </p:spPr>
      </p:pic>
      <p:sp>
        <p:nvSpPr>
          <p:cNvPr id="82" name="Text 50"/>
          <p:cNvSpPr txBox="1"/>
          <p:nvPr/>
        </p:nvSpPr>
        <p:spPr>
          <a:xfrm>
            <a:off x="9677095" y="3972154"/>
            <a:ext cx="11311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유창성 및 전달력</a:t>
            </a:r>
            <a:endParaRPr lang="en-US" sz="1000" dirty="0"/>
          </a:p>
        </p:txBody>
      </p:sp>
      <p:sp>
        <p:nvSpPr>
          <p:cNvPr id="83" name="TextBox 82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A4_Project_2AI1_PA_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함유라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/>
          <a:stretch/>
        </p:blipFill>
        <p:spPr>
          <a:xfrm>
            <a:off x="-381305" y="4190695"/>
            <a:ext cx="3047695" cy="3047695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691518" y="6362395"/>
            <a:ext cx="2770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3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rcRect t="-177" b="-177"/>
          <a:stretch/>
        </p:blipFill>
        <p:spPr>
          <a:xfrm>
            <a:off x="609905" y="457200"/>
            <a:ext cx="75895" cy="809244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914400" y="495605"/>
            <a:ext cx="6149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소개 및 팀 구성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914400" y="1067105"/>
            <a:ext cx="4343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아이덴티티와 역할 중심의 팀 구조</a:t>
            </a:r>
            <a:endParaRPr lang="en-US" sz="1500" dirty="0"/>
          </a:p>
        </p:txBody>
      </p:sp>
      <p:sp>
        <p:nvSpPr>
          <p:cNvPr id="10" name="Shape 4"/>
          <p:cNvSpPr/>
          <p:nvPr/>
        </p:nvSpPr>
        <p:spPr>
          <a:xfrm>
            <a:off x="609905" y="3390595"/>
            <a:ext cx="10972800" cy="3161995"/>
          </a:xfrm>
          <a:prstGeom prst="roundRect">
            <a:avLst>
              <a:gd name="adj" fmla="val 2787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628193" y="3763671"/>
            <a:ext cx="10953598" cy="9144"/>
          </a:xfrm>
          <a:prstGeom prst="roundRect">
            <a:avLst>
              <a:gd name="adj" fmla="val 6530612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grpSp>
        <p:nvGrpSpPr>
          <p:cNvPr id="4" name="그룹 3"/>
          <p:cNvGrpSpPr/>
          <p:nvPr/>
        </p:nvGrpSpPr>
        <p:grpSpPr>
          <a:xfrm>
            <a:off x="619049" y="3373755"/>
            <a:ext cx="10953598" cy="386863"/>
            <a:chOff x="619049" y="3400654"/>
            <a:chExt cx="10953598" cy="466344"/>
          </a:xfrm>
        </p:grpSpPr>
        <p:sp>
          <p:nvSpPr>
            <p:cNvPr id="11" name="Shape 5"/>
            <p:cNvSpPr/>
            <p:nvPr/>
          </p:nvSpPr>
          <p:spPr>
            <a:xfrm>
              <a:off x="619049" y="3400654"/>
              <a:ext cx="10953598" cy="466344"/>
            </a:xfrm>
            <a:prstGeom prst="roundRect">
              <a:avLst>
                <a:gd name="adj" fmla="val 128051"/>
              </a:avLst>
            </a:prstGeom>
            <a:solidFill>
              <a:srgbClr val="F9FAFB"/>
            </a:solidFill>
            <a:ln/>
          </p:spPr>
        </p:sp>
        <p:pic>
          <p:nvPicPr>
            <p:cNvPr id="13" name="Image 4" descr="preencoded.png"/>
            <p:cNvPicPr>
              <a:picLocks noChangeAspect="1"/>
            </p:cNvPicPr>
            <p:nvPr/>
          </p:nvPicPr>
          <p:blipFill>
            <a:blip r:embed="rId6"/>
            <a:srcRect t="-180" b="-180"/>
            <a:stretch/>
          </p:blipFill>
          <p:spPr>
            <a:xfrm>
              <a:off x="847649" y="3552444"/>
              <a:ext cx="190195" cy="152705"/>
            </a:xfrm>
            <a:prstGeom prst="rect">
              <a:avLst/>
            </a:prstGeom>
          </p:spPr>
        </p:pic>
        <p:sp>
          <p:nvSpPr>
            <p:cNvPr id="14" name="Text 7"/>
            <p:cNvSpPr txBox="1"/>
            <p:nvPr/>
          </p:nvSpPr>
          <p:spPr>
            <a:xfrm>
              <a:off x="1114654" y="3514954"/>
              <a:ext cx="173461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팀 구성 및 역할 (R&amp;R)</a:t>
              </a:r>
              <a:endParaRPr lang="en-US" sz="1200" dirty="0"/>
            </a:p>
          </p:txBody>
        </p:sp>
      </p:grpSp>
      <p:sp>
        <p:nvSpPr>
          <p:cNvPr id="15" name="Text 8"/>
          <p:cNvSpPr txBox="1"/>
          <p:nvPr/>
        </p:nvSpPr>
        <p:spPr>
          <a:xfrm>
            <a:off x="10440619" y="3552444"/>
            <a:ext cx="10652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Members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236104"/>
              </p:ext>
            </p:extLst>
          </p:nvPr>
        </p:nvGraphicFramePr>
        <p:xfrm>
          <a:off x="598934" y="4405029"/>
          <a:ext cx="10973713" cy="2161165"/>
        </p:xfrm>
        <a:graphic>
          <a:graphicData uri="http://schemas.openxmlformats.org/drawingml/2006/table">
            <a:tbl>
              <a:tblPr/>
              <a:tblGrid>
                <a:gridCol w="2358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4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7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3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6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파트 (Role)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Primary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Secondary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주요 역할 및 책임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smtClean="0">
                          <a:solidFill>
                            <a:srgbClr val="F61A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Planning</a:t>
                      </a:r>
                      <a:r>
                        <a:rPr lang="en-US" sz="1200" b="1" baseline="0" dirty="0" smtClean="0">
                          <a:solidFill>
                            <a:srgbClr val="F61A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</a:t>
                      </a:r>
                      <a:r>
                        <a:rPr lang="en-US" sz="1200" b="1" dirty="0" smtClean="0">
                          <a:solidFill>
                            <a:srgbClr val="F61A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Architecture</a:t>
                      </a:r>
                      <a:endParaRPr lang="en-US" sz="1200" dirty="0">
                        <a:solidFill>
                          <a:srgbClr val="F61A88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b="1" dirty="0">
                          <a:solidFill>
                            <a:srgbClr val="1E40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함유라</a:t>
                      </a:r>
                      <a:endParaRPr lang="en-US" sz="1200" dirty="0"/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200" dirty="0"/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프로젝트 기획, 서비스 구조 설계 및 일정·요구사항 관리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System Architecture</a:t>
                      </a:r>
                      <a:endParaRPr lang="en-US" sz="1200" dirty="0">
                        <a:solidFill>
                          <a:schemeClr val="accent2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b="1" dirty="0">
                          <a:solidFill>
                            <a:srgbClr val="1E40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엄재민</a:t>
                      </a:r>
                      <a:endParaRPr lang="en-US" sz="1200" dirty="0"/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함유라</a:t>
                      </a:r>
                      <a:endParaRPr lang="en-US" sz="1200" dirty="0"/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전체 시스템 아키텍처 설계 및 인프라 구조 정의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smtClean="0">
                          <a:solidFill>
                            <a:schemeClr val="accent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Data Architecture</a:t>
                      </a: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b="1" dirty="0">
                          <a:solidFill>
                            <a:srgbClr val="1E40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권준호</a:t>
                      </a:r>
                      <a:endParaRPr lang="en-US" sz="1200" dirty="0"/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김린</a:t>
                      </a:r>
                      <a:endParaRPr lang="en-US" sz="1200" dirty="0"/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 수집·정제 및 DB 스키마 설계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2D05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LLM Architecture</a:t>
                      </a:r>
                      <a:endParaRPr lang="en-US" sz="1200" dirty="0">
                        <a:solidFill>
                          <a:srgbClr val="92D050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b="1" dirty="0">
                          <a:solidFill>
                            <a:srgbClr val="1E40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김린</a:t>
                      </a:r>
                      <a:endParaRPr lang="en-US" sz="1200" dirty="0"/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엄재민</a:t>
                      </a:r>
                      <a:endParaRPr lang="en-US" sz="1200" dirty="0"/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LLM 기반 질문 생성, RAG 및 대화 흐름 설계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8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030A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Model Architecture</a:t>
                      </a:r>
                      <a:endParaRPr lang="en-US" sz="1200" dirty="0">
                        <a:solidFill>
                          <a:srgbClr val="7030A0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b="1" dirty="0">
                          <a:solidFill>
                            <a:srgbClr val="1E40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조윤재</a:t>
                      </a:r>
                      <a:endParaRPr lang="en-US" sz="1200" dirty="0"/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이승재</a:t>
                      </a:r>
                      <a:endParaRPr lang="en-US" sz="1200" dirty="0"/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Vision·STT 등 AI 모델 선정 및 분석 파이프라인 구축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5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B0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System Development</a:t>
                      </a:r>
                      <a:endParaRPr lang="en-US" sz="1200" dirty="0">
                        <a:solidFill>
                          <a:srgbClr val="00B0F0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b="1" dirty="0">
                          <a:solidFill>
                            <a:srgbClr val="1E40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이승재</a:t>
                      </a:r>
                      <a:endParaRPr lang="en-US" sz="1200" dirty="0"/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조윤재</a:t>
                      </a:r>
                      <a:endParaRPr lang="en-US" sz="1200" dirty="0"/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웹 서비스 UI 및 백엔드 API 개발과 시스템 통합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609905" y="1524305"/>
            <a:ext cx="5391302" cy="1676095"/>
          </a:xfrm>
          <a:prstGeom prst="roundRect">
            <a:avLst>
              <a:gd name="adj" fmla="val 9919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>
            <a:alphaModFix amt="10000"/>
          </a:blip>
          <a:srcRect/>
          <a:stretch/>
        </p:blipFill>
        <p:spPr>
          <a:xfrm>
            <a:off x="5233568" y="1595770"/>
            <a:ext cx="621335" cy="552298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6095847" y="1543051"/>
            <a:ext cx="5391302" cy="1676095"/>
          </a:xfrm>
          <a:prstGeom prst="roundRect">
            <a:avLst>
              <a:gd name="adj" fmla="val 9919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rcRect l="-201" r="-201"/>
          <a:stretch/>
        </p:blipFill>
        <p:spPr>
          <a:xfrm>
            <a:off x="6115049" y="1533449"/>
            <a:ext cx="5372100" cy="758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7796174" y="1266444"/>
            <a:ext cx="21826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5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Service Platform Brand</a:t>
            </a:r>
            <a:endParaRPr lang="en-US" sz="1000" dirty="0"/>
          </a:p>
        </p:txBody>
      </p:sp>
      <p:grpSp>
        <p:nvGrpSpPr>
          <p:cNvPr id="58" name="그룹 57"/>
          <p:cNvGrpSpPr/>
          <p:nvPr/>
        </p:nvGrpSpPr>
        <p:grpSpPr>
          <a:xfrm>
            <a:off x="751636" y="1624961"/>
            <a:ext cx="381305" cy="381305"/>
            <a:chOff x="847649" y="1828800"/>
            <a:chExt cx="381305" cy="381305"/>
          </a:xfrm>
        </p:grpSpPr>
        <p:sp>
          <p:nvSpPr>
            <p:cNvPr id="30" name="Shape 17"/>
            <p:cNvSpPr/>
            <p:nvPr/>
          </p:nvSpPr>
          <p:spPr>
            <a:xfrm>
              <a:off x="847649" y="1828800"/>
              <a:ext cx="381305" cy="381305"/>
            </a:xfrm>
            <a:prstGeom prst="roundRect">
              <a:avLst>
                <a:gd name="adj" fmla="val 95923"/>
              </a:avLst>
            </a:prstGeom>
            <a:solidFill>
              <a:srgbClr val="DBEAF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31" name="Image 10" descr="preencoded.png"/>
            <p:cNvPicPr>
              <a:picLocks noChangeAspect="1"/>
            </p:cNvPicPr>
            <p:nvPr/>
          </p:nvPicPr>
          <p:blipFill>
            <a:blip r:embed="rId9"/>
            <a:srcRect t="-842" b="-842"/>
            <a:stretch/>
          </p:blipFill>
          <p:spPr>
            <a:xfrm>
              <a:off x="942746" y="1933956"/>
              <a:ext cx="190195" cy="171907"/>
            </a:xfrm>
            <a:prstGeom prst="rect">
              <a:avLst/>
            </a:prstGeom>
          </p:spPr>
        </p:pic>
      </p:grpSp>
      <p:sp>
        <p:nvSpPr>
          <p:cNvPr id="32" name="Text 18"/>
          <p:cNvSpPr txBox="1"/>
          <p:nvPr/>
        </p:nvSpPr>
        <p:spPr>
          <a:xfrm>
            <a:off x="1228425" y="1632851"/>
            <a:ext cx="13734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IDENTITY</a:t>
            </a:r>
            <a:endParaRPr lang="en-US" sz="1000" dirty="0"/>
          </a:p>
        </p:txBody>
      </p:sp>
      <p:sp>
        <p:nvSpPr>
          <p:cNvPr id="33" name="Text 19"/>
          <p:cNvSpPr txBox="1"/>
          <p:nvPr/>
        </p:nvSpPr>
        <p:spPr>
          <a:xfrm>
            <a:off x="741492" y="2339568"/>
            <a:ext cx="141640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A4 Project</a:t>
            </a:r>
            <a:endParaRPr lang="en-US" sz="1800" dirty="0"/>
          </a:p>
        </p:txBody>
      </p:sp>
      <p:grpSp>
        <p:nvGrpSpPr>
          <p:cNvPr id="57" name="그룹 56"/>
          <p:cNvGrpSpPr/>
          <p:nvPr/>
        </p:nvGrpSpPr>
        <p:grpSpPr>
          <a:xfrm>
            <a:off x="2179163" y="1855900"/>
            <a:ext cx="1440000" cy="576000"/>
            <a:chOff x="847649" y="2428646"/>
            <a:chExt cx="2456993" cy="828446"/>
          </a:xfrm>
        </p:grpSpPr>
        <p:sp>
          <p:nvSpPr>
            <p:cNvPr id="34" name="Shape 20"/>
            <p:cNvSpPr/>
            <p:nvPr/>
          </p:nvSpPr>
          <p:spPr>
            <a:xfrm>
              <a:off x="847649" y="2428646"/>
              <a:ext cx="2400300" cy="828446"/>
            </a:xfrm>
            <a:prstGeom prst="roundRect">
              <a:avLst>
                <a:gd name="adj" fmla="val 30448"/>
              </a:avLst>
            </a:prstGeom>
            <a:solidFill>
              <a:srgbClr val="F8FAFC"/>
            </a:solidFill>
            <a:ln/>
          </p:spPr>
        </p:sp>
        <p:sp>
          <p:nvSpPr>
            <p:cNvPr id="35" name="Shape 21"/>
            <p:cNvSpPr/>
            <p:nvPr/>
          </p:nvSpPr>
          <p:spPr>
            <a:xfrm>
              <a:off x="847649" y="2428646"/>
              <a:ext cx="38405" cy="828446"/>
            </a:xfrm>
            <a:prstGeom prst="roundRect">
              <a:avLst>
                <a:gd name="adj" fmla="val 656811"/>
              </a:avLst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36" name="Text 22"/>
            <p:cNvSpPr txBox="1"/>
            <p:nvPr/>
          </p:nvSpPr>
          <p:spPr>
            <a:xfrm>
              <a:off x="1000354" y="2542946"/>
              <a:ext cx="2219249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3B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A1</a:t>
              </a:r>
              <a:endParaRPr lang="en-US" sz="900" dirty="0"/>
            </a:p>
          </p:txBody>
        </p:sp>
        <p:sp>
          <p:nvSpPr>
            <p:cNvPr id="37" name="Text 23"/>
            <p:cNvSpPr txBox="1"/>
            <p:nvPr/>
          </p:nvSpPr>
          <p:spPr>
            <a:xfrm>
              <a:off x="1000354" y="2734056"/>
              <a:ext cx="2219249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Automation</a:t>
              </a:r>
              <a:endParaRPr lang="en-US" sz="1300" dirty="0"/>
            </a:p>
          </p:txBody>
        </p:sp>
        <p:sp>
          <p:nvSpPr>
            <p:cNvPr id="38" name="Text 24"/>
            <p:cNvSpPr txBox="1"/>
            <p:nvPr/>
          </p:nvSpPr>
          <p:spPr>
            <a:xfrm>
              <a:off x="1000354" y="2986430"/>
              <a:ext cx="2304288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프로세스 자동화</a:t>
              </a:r>
              <a:endParaRPr lang="en-US" sz="900" dirty="0"/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3703932" y="1865840"/>
            <a:ext cx="1440000" cy="576000"/>
            <a:chOff x="3362249" y="2428646"/>
            <a:chExt cx="2456993" cy="828446"/>
          </a:xfrm>
        </p:grpSpPr>
        <p:sp>
          <p:nvSpPr>
            <p:cNvPr id="39" name="Shape 25"/>
            <p:cNvSpPr/>
            <p:nvPr/>
          </p:nvSpPr>
          <p:spPr>
            <a:xfrm>
              <a:off x="3362249" y="2428646"/>
              <a:ext cx="2400300" cy="828446"/>
            </a:xfrm>
            <a:prstGeom prst="roundRect">
              <a:avLst>
                <a:gd name="adj" fmla="val 30448"/>
              </a:avLst>
            </a:prstGeom>
            <a:solidFill>
              <a:srgbClr val="F8FAFC"/>
            </a:solidFill>
            <a:ln/>
          </p:spPr>
        </p:sp>
        <p:sp>
          <p:nvSpPr>
            <p:cNvPr id="40" name="Shape 26"/>
            <p:cNvSpPr/>
            <p:nvPr/>
          </p:nvSpPr>
          <p:spPr>
            <a:xfrm>
              <a:off x="3362249" y="2428646"/>
              <a:ext cx="38405" cy="828446"/>
            </a:xfrm>
            <a:prstGeom prst="roundRect">
              <a:avLst>
                <a:gd name="adj" fmla="val 656811"/>
              </a:avLst>
            </a:prstGeom>
            <a:solidFill>
              <a:srgbClr val="6366F1"/>
            </a:solidFill>
            <a:ln w="12700">
              <a:solidFill>
                <a:srgbClr val="6366F1">
                  <a:alpha val="0"/>
                </a:srgbClr>
              </a:solidFill>
              <a:prstDash val="solid"/>
            </a:ln>
          </p:spPr>
        </p:sp>
        <p:sp>
          <p:nvSpPr>
            <p:cNvPr id="41" name="Text 27"/>
            <p:cNvSpPr txBox="1"/>
            <p:nvPr/>
          </p:nvSpPr>
          <p:spPr>
            <a:xfrm>
              <a:off x="3514954" y="2542946"/>
              <a:ext cx="2219249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366F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A2</a:t>
              </a:r>
              <a:endParaRPr lang="en-US" sz="900" dirty="0"/>
            </a:p>
          </p:txBody>
        </p:sp>
        <p:sp>
          <p:nvSpPr>
            <p:cNvPr id="42" name="Text 28"/>
            <p:cNvSpPr txBox="1"/>
            <p:nvPr/>
          </p:nvSpPr>
          <p:spPr>
            <a:xfrm>
              <a:off x="3514954" y="2734056"/>
              <a:ext cx="2219249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Agent</a:t>
              </a:r>
              <a:endParaRPr lang="en-US" sz="1300" dirty="0"/>
            </a:p>
          </p:txBody>
        </p:sp>
        <p:sp>
          <p:nvSpPr>
            <p:cNvPr id="43" name="Text 29"/>
            <p:cNvSpPr txBox="1"/>
            <p:nvPr/>
          </p:nvSpPr>
          <p:spPr>
            <a:xfrm>
              <a:off x="3514954" y="2986430"/>
              <a:ext cx="2304288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지능형 에이전트</a:t>
              </a:r>
              <a:endParaRPr lang="en-US" sz="900" dirty="0"/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2169620" y="2529915"/>
            <a:ext cx="1440000" cy="576000"/>
            <a:chOff x="847649" y="3366821"/>
            <a:chExt cx="2456993" cy="828446"/>
          </a:xfrm>
        </p:grpSpPr>
        <p:sp>
          <p:nvSpPr>
            <p:cNvPr id="44" name="Shape 30"/>
            <p:cNvSpPr/>
            <p:nvPr/>
          </p:nvSpPr>
          <p:spPr>
            <a:xfrm>
              <a:off x="847649" y="3366821"/>
              <a:ext cx="2400300" cy="828446"/>
            </a:xfrm>
            <a:prstGeom prst="roundRect">
              <a:avLst>
                <a:gd name="adj" fmla="val 30448"/>
              </a:avLst>
            </a:prstGeom>
            <a:solidFill>
              <a:srgbClr val="F8FAFC"/>
            </a:solidFill>
            <a:ln/>
          </p:spPr>
        </p:sp>
        <p:sp>
          <p:nvSpPr>
            <p:cNvPr id="45" name="Shape 31"/>
            <p:cNvSpPr/>
            <p:nvPr/>
          </p:nvSpPr>
          <p:spPr>
            <a:xfrm>
              <a:off x="847649" y="3366821"/>
              <a:ext cx="38405" cy="828446"/>
            </a:xfrm>
            <a:prstGeom prst="roundRect">
              <a:avLst>
                <a:gd name="adj" fmla="val 656811"/>
              </a:avLst>
            </a:prstGeom>
            <a:solidFill>
              <a:srgbClr val="A855F7"/>
            </a:solidFill>
            <a:ln w="12700">
              <a:solidFill>
                <a:srgbClr val="A855F7">
                  <a:alpha val="0"/>
                </a:srgbClr>
              </a:solidFill>
              <a:prstDash val="solid"/>
            </a:ln>
          </p:spPr>
        </p:sp>
        <p:sp>
          <p:nvSpPr>
            <p:cNvPr id="46" name="Text 32"/>
            <p:cNvSpPr txBox="1"/>
            <p:nvPr/>
          </p:nvSpPr>
          <p:spPr>
            <a:xfrm>
              <a:off x="1000354" y="3481121"/>
              <a:ext cx="2219249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8B5C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A3</a:t>
              </a:r>
              <a:endParaRPr lang="en-US" sz="900" dirty="0"/>
            </a:p>
          </p:txBody>
        </p:sp>
        <p:sp>
          <p:nvSpPr>
            <p:cNvPr id="47" name="Text 33"/>
            <p:cNvSpPr txBox="1"/>
            <p:nvPr/>
          </p:nvSpPr>
          <p:spPr>
            <a:xfrm>
              <a:off x="1000354" y="3672230"/>
              <a:ext cx="2219249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Architecture</a:t>
              </a:r>
              <a:endParaRPr lang="en-US" sz="1300" dirty="0"/>
            </a:p>
          </p:txBody>
        </p:sp>
        <p:sp>
          <p:nvSpPr>
            <p:cNvPr id="48" name="Text 34"/>
            <p:cNvSpPr txBox="1"/>
            <p:nvPr/>
          </p:nvSpPr>
          <p:spPr>
            <a:xfrm>
              <a:off x="1000354" y="3924605"/>
              <a:ext cx="2304288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멀티 계층 구조</a:t>
              </a:r>
              <a:endParaRPr lang="en-US" sz="900" dirty="0"/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3704930" y="2560356"/>
            <a:ext cx="1440000" cy="576000"/>
            <a:chOff x="3362249" y="3366821"/>
            <a:chExt cx="2456993" cy="828446"/>
          </a:xfrm>
        </p:grpSpPr>
        <p:sp>
          <p:nvSpPr>
            <p:cNvPr id="49" name="Shape 35"/>
            <p:cNvSpPr/>
            <p:nvPr/>
          </p:nvSpPr>
          <p:spPr>
            <a:xfrm>
              <a:off x="3362249" y="3366821"/>
              <a:ext cx="2400300" cy="828446"/>
            </a:xfrm>
            <a:prstGeom prst="roundRect">
              <a:avLst>
                <a:gd name="adj" fmla="val 30448"/>
              </a:avLst>
            </a:prstGeom>
            <a:solidFill>
              <a:srgbClr val="F8FAFC"/>
            </a:solidFill>
            <a:ln/>
          </p:spPr>
        </p:sp>
        <p:sp>
          <p:nvSpPr>
            <p:cNvPr id="50" name="Shape 36"/>
            <p:cNvSpPr/>
            <p:nvPr/>
          </p:nvSpPr>
          <p:spPr>
            <a:xfrm>
              <a:off x="3362249" y="3366821"/>
              <a:ext cx="38405" cy="828446"/>
            </a:xfrm>
            <a:prstGeom prst="roundRect">
              <a:avLst>
                <a:gd name="adj" fmla="val 656811"/>
              </a:avLst>
            </a:prstGeom>
            <a:solidFill>
              <a:srgbClr val="EC4899"/>
            </a:solidFill>
            <a:ln w="12700">
              <a:solidFill>
                <a:srgbClr val="EC4899">
                  <a:alpha val="0"/>
                </a:srgbClr>
              </a:solidFill>
              <a:prstDash val="solid"/>
            </a:ln>
          </p:spPr>
        </p:sp>
        <p:sp>
          <p:nvSpPr>
            <p:cNvPr id="51" name="Text 37"/>
            <p:cNvSpPr txBox="1"/>
            <p:nvPr/>
          </p:nvSpPr>
          <p:spPr>
            <a:xfrm>
              <a:off x="3514954" y="3481121"/>
              <a:ext cx="2219249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EC489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A4</a:t>
              </a:r>
              <a:endParaRPr lang="en-US" sz="900" dirty="0"/>
            </a:p>
          </p:txBody>
        </p:sp>
        <p:sp>
          <p:nvSpPr>
            <p:cNvPr id="52" name="Text 38"/>
            <p:cNvSpPr txBox="1"/>
            <p:nvPr/>
          </p:nvSpPr>
          <p:spPr>
            <a:xfrm>
              <a:off x="3514954" y="3672230"/>
              <a:ext cx="2219249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Asynchronous</a:t>
              </a:r>
              <a:endParaRPr lang="en-US" sz="1300" dirty="0"/>
            </a:p>
          </p:txBody>
        </p:sp>
        <p:sp>
          <p:nvSpPr>
            <p:cNvPr id="53" name="Text 39"/>
            <p:cNvSpPr txBox="1"/>
            <p:nvPr/>
          </p:nvSpPr>
          <p:spPr>
            <a:xfrm>
              <a:off x="3514954" y="3924605"/>
              <a:ext cx="2304288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비동기 처리</a:t>
              </a:r>
              <a:endParaRPr lang="en-US" sz="900" dirty="0"/>
            </a:p>
          </p:txBody>
        </p:sp>
      </p:grpSp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DFDF9"/>
              </a:clrFrom>
              <a:clrTo>
                <a:srgbClr val="FDFD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39" b="10112"/>
          <a:stretch/>
        </p:blipFill>
        <p:spPr>
          <a:xfrm>
            <a:off x="6117112" y="1817709"/>
            <a:ext cx="2466593" cy="1108490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6848856" y="2600554"/>
            <a:ext cx="38862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대규모 인터뷰 데이터를 분석하여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객관적인 채용 인사이트를 제공하는 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채용 플랫폼</a:t>
            </a:r>
            <a:endParaRPr lang="en-US" sz="1200" dirty="0"/>
          </a:p>
        </p:txBody>
      </p:sp>
      <p:grpSp>
        <p:nvGrpSpPr>
          <p:cNvPr id="56" name="그룹 55"/>
          <p:cNvGrpSpPr/>
          <p:nvPr/>
        </p:nvGrpSpPr>
        <p:grpSpPr>
          <a:xfrm>
            <a:off x="8696690" y="1971446"/>
            <a:ext cx="2564313" cy="454248"/>
            <a:chOff x="8537645" y="1887751"/>
            <a:chExt cx="2564313" cy="454248"/>
          </a:xfrm>
        </p:grpSpPr>
        <p:sp>
          <p:nvSpPr>
            <p:cNvPr id="24" name="Text 13"/>
            <p:cNvSpPr txBox="1"/>
            <p:nvPr/>
          </p:nvSpPr>
          <p:spPr>
            <a:xfrm>
              <a:off x="8537645" y="1887751"/>
              <a:ext cx="706358" cy="454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Big Data</a:t>
              </a:r>
              <a:endParaRPr lang="en-US" sz="1300" dirty="0"/>
            </a:p>
          </p:txBody>
        </p:sp>
        <p:pic>
          <p:nvPicPr>
            <p:cNvPr id="25" name="Image 8" descr="preencoded.png"/>
            <p:cNvPicPr>
              <a:picLocks noChangeAspect="1"/>
            </p:cNvPicPr>
            <p:nvPr/>
          </p:nvPicPr>
          <p:blipFill>
            <a:blip r:embed="rId11"/>
            <a:srcRect l="-2571" r="-2571"/>
            <a:stretch/>
          </p:blipFill>
          <p:spPr>
            <a:xfrm>
              <a:off x="9351128" y="2064447"/>
              <a:ext cx="96245" cy="100854"/>
            </a:xfrm>
            <a:prstGeom prst="rect">
              <a:avLst/>
            </a:prstGeom>
          </p:spPr>
        </p:pic>
        <p:sp>
          <p:nvSpPr>
            <p:cNvPr id="26" name="Text 14"/>
            <p:cNvSpPr txBox="1"/>
            <p:nvPr/>
          </p:nvSpPr>
          <p:spPr>
            <a:xfrm>
              <a:off x="9560358" y="1887751"/>
              <a:ext cx="793397" cy="454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7C3AE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Interview</a:t>
              </a:r>
              <a:endParaRPr lang="en-US" sz="1300" dirty="0"/>
            </a:p>
          </p:txBody>
        </p:sp>
        <p:pic>
          <p:nvPicPr>
            <p:cNvPr id="27" name="Image 9" descr="preencoded.png"/>
            <p:cNvPicPr>
              <a:picLocks noChangeAspect="1"/>
            </p:cNvPicPr>
            <p:nvPr/>
          </p:nvPicPr>
          <p:blipFill>
            <a:blip r:embed="rId11"/>
            <a:srcRect l="-2571" r="-2571"/>
            <a:stretch/>
          </p:blipFill>
          <p:spPr>
            <a:xfrm>
              <a:off x="10465065" y="2064447"/>
              <a:ext cx="96245" cy="100854"/>
            </a:xfrm>
            <a:prstGeom prst="rect">
              <a:avLst/>
            </a:prstGeom>
          </p:spPr>
        </p:pic>
        <p:sp>
          <p:nvSpPr>
            <p:cNvPr id="28" name="Text 15"/>
            <p:cNvSpPr txBox="1"/>
            <p:nvPr/>
          </p:nvSpPr>
          <p:spPr>
            <a:xfrm>
              <a:off x="10674294" y="1887751"/>
              <a:ext cx="427664" cy="454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DB277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View</a:t>
              </a:r>
              <a:endParaRPr lang="en-US" sz="1300" dirty="0"/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A4_Project_2AI1_PA_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함유라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588876" y="3734347"/>
            <a:ext cx="123534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4000" b="1" cap="none" spc="0" dirty="0" smtClean="0">
                <a:ln w="6600">
                  <a:solidFill>
                    <a:srgbClr val="F9177D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F9177D"/>
                  </a:outerShdw>
                </a:effectLst>
              </a:rPr>
              <a:t>2AI1</a:t>
            </a:r>
            <a:endParaRPr lang="en-US" altLang="ko-KR" sz="4000" b="1" cap="none" spc="0" dirty="0">
              <a:ln w="6600">
                <a:solidFill>
                  <a:srgbClr val="F9177D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F9177D"/>
                </a:outerShdw>
              </a:effectLst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1767078" y="3888760"/>
            <a:ext cx="4328769" cy="38819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002060"/>
                </a:solidFill>
              </a:rPr>
              <a:t>21</a:t>
            </a:r>
            <a:r>
              <a:rPr lang="ko-KR" altLang="en-US" b="1" dirty="0" smtClean="0">
                <a:solidFill>
                  <a:srgbClr val="002060"/>
                </a:solidFill>
              </a:rPr>
              <a:t>세기 </a:t>
            </a:r>
            <a:r>
              <a:rPr lang="en-US" altLang="ko-KR" b="1" dirty="0" smtClean="0">
                <a:solidFill>
                  <a:srgbClr val="002060"/>
                </a:solidFill>
              </a:rPr>
              <a:t>AI</a:t>
            </a:r>
            <a:r>
              <a:rPr lang="ko-KR" altLang="en-US" b="1" dirty="0" smtClean="0">
                <a:solidFill>
                  <a:srgbClr val="002060"/>
                </a:solidFill>
              </a:rPr>
              <a:t>산업을 이끌어갈 인재들 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9296705" y="-761695"/>
            <a:ext cx="3657600" cy="36576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/>
          <a:stretch/>
        </p:blipFill>
        <p:spPr>
          <a:xfrm>
            <a:off x="1381387" y="2516138"/>
            <a:ext cx="2743200" cy="27432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609905" y="5790895"/>
            <a:ext cx="10972800" cy="761695"/>
          </a:xfrm>
          <a:prstGeom prst="roundRect">
            <a:avLst>
              <a:gd name="adj" fmla="val 36014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923544" y="6019495"/>
            <a:ext cx="304495" cy="304495"/>
          </a:xfrm>
          <a:prstGeom prst="ellipse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1009498" y="6096305"/>
            <a:ext cx="133502" cy="15270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343254" y="6038698"/>
            <a:ext cx="13176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개발 목표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2690165" y="5971946"/>
            <a:ext cx="2600554" cy="400507"/>
          </a:xfrm>
          <a:prstGeom prst="roundRect">
            <a:avLst>
              <a:gd name="adj" fmla="val 2283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2935224" y="6096305"/>
            <a:ext cx="171907" cy="152705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183026" y="5971946"/>
            <a:ext cx="193212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AI 인터뷰 시스템 구현</a:t>
            </a:r>
            <a:endParaRPr lang="en-US" sz="12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5435194" y="6096305"/>
            <a:ext cx="95098" cy="152705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5682996" y="5971946"/>
            <a:ext cx="2600554" cy="400507"/>
          </a:xfrm>
          <a:prstGeom prst="roundRect">
            <a:avLst>
              <a:gd name="adj" fmla="val 2283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5858561" y="6096305"/>
            <a:ext cx="171907" cy="152705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6106363" y="5971946"/>
            <a:ext cx="2076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멀티모달 기반 지원자 역량 분석</a:t>
            </a:r>
            <a:endParaRPr lang="en-US" sz="12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8428025" y="6096305"/>
            <a:ext cx="95098" cy="152705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8706917" y="5966395"/>
            <a:ext cx="2600554" cy="396000"/>
          </a:xfrm>
          <a:prstGeom prst="roundRect">
            <a:avLst>
              <a:gd name="adj" fmla="val 14534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8808645" y="6070796"/>
            <a:ext cx="171907" cy="152705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9049537" y="5832596"/>
            <a:ext cx="226039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객관적 평가 체계 구축</a:t>
            </a: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11691518" y="6362395"/>
            <a:ext cx="2770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3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t="-177" b="-177"/>
          <a:stretch/>
        </p:blipFill>
        <p:spPr>
          <a:xfrm>
            <a:off x="609905" y="457200"/>
            <a:ext cx="75895" cy="809244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914400" y="495605"/>
            <a:ext cx="6404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요구사항 및 목표</a:t>
            </a:r>
            <a:endParaRPr lang="en-US" sz="3600" dirty="0"/>
          </a:p>
        </p:txBody>
      </p:sp>
      <p:sp>
        <p:nvSpPr>
          <p:cNvPr id="24" name="Text 12"/>
          <p:cNvSpPr txBox="1"/>
          <p:nvPr/>
        </p:nvSpPr>
        <p:spPr>
          <a:xfrm>
            <a:off x="914400" y="1067105"/>
            <a:ext cx="49231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안정적인 서비스 운영을 위한 핵심 KPI 및 개발 목표</a:t>
            </a:r>
            <a:endParaRPr lang="en-US" sz="1500" dirty="0"/>
          </a:p>
        </p:txBody>
      </p:sp>
      <p:sp>
        <p:nvSpPr>
          <p:cNvPr id="25" name="Text 13"/>
          <p:cNvSpPr txBox="1"/>
          <p:nvPr/>
        </p:nvSpPr>
        <p:spPr>
          <a:xfrm>
            <a:off x="981151" y="1480884"/>
            <a:ext cx="4286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시스템 요구사항 </a:t>
            </a:r>
            <a:endParaRPr lang="en-US" sz="15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29107" y="1519289"/>
            <a:ext cx="237744" cy="190195"/>
          </a:xfrm>
          <a:prstGeom prst="rect">
            <a:avLst/>
          </a:prstGeom>
        </p:spPr>
      </p:pic>
      <p:grpSp>
        <p:nvGrpSpPr>
          <p:cNvPr id="98" name="그룹 97"/>
          <p:cNvGrpSpPr/>
          <p:nvPr/>
        </p:nvGrpSpPr>
        <p:grpSpPr>
          <a:xfrm>
            <a:off x="609905" y="1866412"/>
            <a:ext cx="4320000" cy="792000"/>
            <a:chOff x="609905" y="2018995"/>
            <a:chExt cx="4448556" cy="922020"/>
          </a:xfrm>
        </p:grpSpPr>
        <p:sp>
          <p:nvSpPr>
            <p:cNvPr id="27" name="Shape 14"/>
            <p:cNvSpPr/>
            <p:nvPr/>
          </p:nvSpPr>
          <p:spPr>
            <a:xfrm>
              <a:off x="609905" y="2018995"/>
              <a:ext cx="4448556" cy="922020"/>
            </a:xfrm>
            <a:prstGeom prst="roundRect">
              <a:avLst>
                <a:gd name="adj" fmla="val 17631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28" name="Shape 15"/>
            <p:cNvSpPr/>
            <p:nvPr/>
          </p:nvSpPr>
          <p:spPr>
            <a:xfrm>
              <a:off x="609905" y="2018995"/>
              <a:ext cx="57607" cy="922020"/>
            </a:xfrm>
            <a:prstGeom prst="roundRect">
              <a:avLst>
                <a:gd name="adj" fmla="val 384802"/>
              </a:avLst>
            </a:prstGeom>
            <a:solidFill>
              <a:srgbClr val="000000"/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29" name="Shape 16"/>
            <p:cNvSpPr/>
            <p:nvPr/>
          </p:nvSpPr>
          <p:spPr>
            <a:xfrm>
              <a:off x="847184" y="2136039"/>
              <a:ext cx="381305" cy="329501"/>
            </a:xfrm>
            <a:prstGeom prst="ellipse">
              <a:avLst/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30" name="Image 11" descr="preencoded.png"/>
            <p:cNvPicPr>
              <a:picLocks noChangeAspect="1"/>
            </p:cNvPicPr>
            <p:nvPr/>
          </p:nvPicPr>
          <p:blipFill>
            <a:blip r:embed="rId12"/>
            <a:srcRect t="-842" b="-842"/>
            <a:stretch/>
          </p:blipFill>
          <p:spPr>
            <a:xfrm>
              <a:off x="942282" y="2240280"/>
              <a:ext cx="190195" cy="171907"/>
            </a:xfrm>
            <a:prstGeom prst="rect">
              <a:avLst/>
            </a:prstGeom>
          </p:spPr>
        </p:pic>
        <p:sp>
          <p:nvSpPr>
            <p:cNvPr id="31" name="Text 17"/>
            <p:cNvSpPr txBox="1"/>
            <p:nvPr/>
          </p:nvSpPr>
          <p:spPr>
            <a:xfrm>
              <a:off x="1345423" y="2129905"/>
              <a:ext cx="1865376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실시간 인터뷰 시스템</a:t>
              </a:r>
              <a:endParaRPr lang="en-US" sz="1300" dirty="0"/>
            </a:p>
          </p:txBody>
        </p:sp>
        <p:sp>
          <p:nvSpPr>
            <p:cNvPr id="32" name="Text 18"/>
            <p:cNvSpPr txBox="1"/>
            <p:nvPr/>
          </p:nvSpPr>
          <p:spPr>
            <a:xfrm>
              <a:off x="1334591" y="2410325"/>
              <a:ext cx="359176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•</a:t>
              </a:r>
              <a:r>
                <a:rPr 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WebRTC 기반 음성·영상 스트리밍</a:t>
              </a:r>
              <a:endParaRPr lang="en-US" sz="1000" dirty="0"/>
            </a:p>
          </p:txBody>
        </p:sp>
        <p:sp>
          <p:nvSpPr>
            <p:cNvPr id="33" name="Text 19"/>
            <p:cNvSpPr txBox="1"/>
            <p:nvPr/>
          </p:nvSpPr>
          <p:spPr>
            <a:xfrm>
              <a:off x="1334591" y="2638925"/>
              <a:ext cx="359176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•</a:t>
              </a:r>
              <a:r>
                <a:rPr 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FastAPI 기반 비동기 서버 구조</a:t>
              </a:r>
              <a:endParaRPr lang="en-US" sz="1000" dirty="0"/>
            </a:p>
          </p:txBody>
        </p:sp>
      </p:grpSp>
      <p:grpSp>
        <p:nvGrpSpPr>
          <p:cNvPr id="99" name="그룹 98"/>
          <p:cNvGrpSpPr/>
          <p:nvPr/>
        </p:nvGrpSpPr>
        <p:grpSpPr>
          <a:xfrm>
            <a:off x="606465" y="2881725"/>
            <a:ext cx="4320000" cy="792000"/>
            <a:chOff x="609905" y="3429000"/>
            <a:chExt cx="4448556" cy="922020"/>
          </a:xfrm>
        </p:grpSpPr>
        <p:sp>
          <p:nvSpPr>
            <p:cNvPr id="34" name="Shape 20"/>
            <p:cNvSpPr/>
            <p:nvPr/>
          </p:nvSpPr>
          <p:spPr>
            <a:xfrm>
              <a:off x="609905" y="3429000"/>
              <a:ext cx="4448556" cy="922020"/>
            </a:xfrm>
            <a:prstGeom prst="roundRect">
              <a:avLst>
                <a:gd name="adj" fmla="val 17631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35" name="Shape 21"/>
            <p:cNvSpPr/>
            <p:nvPr/>
          </p:nvSpPr>
          <p:spPr>
            <a:xfrm>
              <a:off x="609905" y="3429000"/>
              <a:ext cx="57607" cy="922020"/>
            </a:xfrm>
            <a:prstGeom prst="roundRect">
              <a:avLst>
                <a:gd name="adj" fmla="val 384802"/>
              </a:avLst>
            </a:prstGeom>
            <a:solidFill>
              <a:srgbClr val="000000"/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36" name="Shape 22"/>
            <p:cNvSpPr/>
            <p:nvPr/>
          </p:nvSpPr>
          <p:spPr>
            <a:xfrm>
              <a:off x="821954" y="3507775"/>
              <a:ext cx="381305" cy="381305"/>
            </a:xfrm>
            <a:prstGeom prst="ellipse">
              <a:avLst/>
            </a:prstGeom>
            <a:solidFill>
              <a:srgbClr val="FDF2F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37" name="Image 12" descr="preencoded.png"/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926196" y="3612931"/>
              <a:ext cx="171907" cy="171907"/>
            </a:xfrm>
            <a:prstGeom prst="rect">
              <a:avLst/>
            </a:prstGeom>
          </p:spPr>
        </p:pic>
        <p:sp>
          <p:nvSpPr>
            <p:cNvPr id="38" name="Text 23"/>
            <p:cNvSpPr txBox="1"/>
            <p:nvPr/>
          </p:nvSpPr>
          <p:spPr>
            <a:xfrm>
              <a:off x="1348966" y="3553022"/>
              <a:ext cx="1207008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멀티모달 분석</a:t>
              </a:r>
              <a:endParaRPr lang="en-US" sz="1300" dirty="0"/>
            </a:p>
          </p:txBody>
        </p:sp>
        <p:sp>
          <p:nvSpPr>
            <p:cNvPr id="39" name="Text 24"/>
            <p:cNvSpPr txBox="1"/>
            <p:nvPr/>
          </p:nvSpPr>
          <p:spPr>
            <a:xfrm>
              <a:off x="1300593" y="3823263"/>
              <a:ext cx="359176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DB277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•</a:t>
              </a:r>
              <a:r>
                <a:rPr 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STT(음성 인식) 및 Vision(표정 분석)</a:t>
              </a:r>
              <a:endParaRPr lang="en-US" sz="1000" dirty="0"/>
            </a:p>
          </p:txBody>
        </p:sp>
        <p:sp>
          <p:nvSpPr>
            <p:cNvPr id="40" name="Text 25"/>
            <p:cNvSpPr txBox="1"/>
            <p:nvPr/>
          </p:nvSpPr>
          <p:spPr>
            <a:xfrm>
              <a:off x="1300593" y="4051863"/>
              <a:ext cx="359176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DB277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•</a:t>
              </a:r>
              <a:r>
                <a:rPr 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LLM 기반 답변 내용 및 논리 분석</a:t>
              </a:r>
              <a:endParaRPr lang="en-US" sz="1000" dirty="0"/>
            </a:p>
          </p:txBody>
        </p:sp>
      </p:grpSp>
      <p:grpSp>
        <p:nvGrpSpPr>
          <p:cNvPr id="100" name="그룹 99"/>
          <p:cNvGrpSpPr/>
          <p:nvPr/>
        </p:nvGrpSpPr>
        <p:grpSpPr>
          <a:xfrm>
            <a:off x="606465" y="3845305"/>
            <a:ext cx="4320000" cy="792001"/>
            <a:chOff x="609905" y="4839005"/>
            <a:chExt cx="4448556" cy="922022"/>
          </a:xfrm>
        </p:grpSpPr>
        <p:sp>
          <p:nvSpPr>
            <p:cNvPr id="41" name="Shape 26"/>
            <p:cNvSpPr/>
            <p:nvPr/>
          </p:nvSpPr>
          <p:spPr>
            <a:xfrm>
              <a:off x="609905" y="4839007"/>
              <a:ext cx="4448556" cy="922020"/>
            </a:xfrm>
            <a:prstGeom prst="roundRect">
              <a:avLst>
                <a:gd name="adj" fmla="val 17631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42" name="Shape 27"/>
            <p:cNvSpPr/>
            <p:nvPr/>
          </p:nvSpPr>
          <p:spPr>
            <a:xfrm>
              <a:off x="609905" y="4839005"/>
              <a:ext cx="57607" cy="922020"/>
            </a:xfrm>
            <a:prstGeom prst="roundRect">
              <a:avLst>
                <a:gd name="adj" fmla="val 384802"/>
              </a:avLst>
            </a:prstGeom>
            <a:solidFill>
              <a:srgbClr val="000000"/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43" name="Shape 28"/>
            <p:cNvSpPr/>
            <p:nvPr/>
          </p:nvSpPr>
          <p:spPr>
            <a:xfrm>
              <a:off x="802759" y="4935131"/>
              <a:ext cx="381305" cy="381305"/>
            </a:xfrm>
            <a:prstGeom prst="ellipse">
              <a:avLst/>
            </a:prstGeom>
            <a:solidFill>
              <a:srgbClr val="ECFDF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44" name="Image 13" descr="preencoded.png"/>
            <p:cNvPicPr>
              <a:picLocks noChangeAspect="1"/>
            </p:cNvPicPr>
            <p:nvPr/>
          </p:nvPicPr>
          <p:blipFill>
            <a:blip r:embed="rId14"/>
            <a:srcRect l="-1773" r="-1773"/>
            <a:stretch/>
          </p:blipFill>
          <p:spPr>
            <a:xfrm>
              <a:off x="926204" y="5040288"/>
              <a:ext cx="133502" cy="171907"/>
            </a:xfrm>
            <a:prstGeom prst="rect">
              <a:avLst/>
            </a:prstGeom>
          </p:spPr>
        </p:pic>
        <p:sp>
          <p:nvSpPr>
            <p:cNvPr id="45" name="Text 29"/>
            <p:cNvSpPr txBox="1"/>
            <p:nvPr/>
          </p:nvSpPr>
          <p:spPr>
            <a:xfrm>
              <a:off x="1297806" y="4974471"/>
              <a:ext cx="2317221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3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사용자 인터뷰 흐름 및 </a:t>
              </a:r>
              <a:r>
                <a:rPr lang="en-US" altLang="ko-KR" sz="13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UI </a:t>
              </a:r>
              <a:r>
                <a:rPr lang="ko-KR" altLang="en-US" sz="13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설계</a:t>
              </a:r>
              <a:endParaRPr lang="en-US" sz="1300" dirty="0"/>
            </a:p>
          </p:txBody>
        </p:sp>
        <p:sp>
          <p:nvSpPr>
            <p:cNvPr id="46" name="Text 30"/>
            <p:cNvSpPr txBox="1"/>
            <p:nvPr/>
          </p:nvSpPr>
          <p:spPr>
            <a:xfrm>
              <a:off x="1276944" y="5263505"/>
              <a:ext cx="359176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b="1" dirty="0">
                  <a:solidFill>
                    <a:srgbClr val="0596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•</a:t>
              </a:r>
              <a:r>
                <a:rPr 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ko-KR" alt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실시간 인터뷰 화면 및 결과 리포트 대시보드</a:t>
              </a:r>
              <a:endParaRPr lang="en-US" sz="1000" dirty="0"/>
            </a:p>
          </p:txBody>
        </p:sp>
        <p:sp>
          <p:nvSpPr>
            <p:cNvPr id="47" name="Text 31"/>
            <p:cNvSpPr txBox="1"/>
            <p:nvPr/>
          </p:nvSpPr>
          <p:spPr>
            <a:xfrm>
              <a:off x="1276944" y="5492105"/>
              <a:ext cx="366765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b="1" dirty="0">
                  <a:solidFill>
                    <a:srgbClr val="0596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•</a:t>
              </a:r>
              <a:r>
                <a:rPr 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ko-KR" alt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면접 진행 전체 사용자 시나리오 정의</a:t>
              </a:r>
              <a:endParaRPr lang="en-US" sz="1000" dirty="0"/>
            </a:p>
          </p:txBody>
        </p:sp>
      </p:grpSp>
      <p:sp>
        <p:nvSpPr>
          <p:cNvPr id="48" name="Text 32"/>
          <p:cNvSpPr txBox="1"/>
          <p:nvPr/>
        </p:nvSpPr>
        <p:spPr>
          <a:xfrm>
            <a:off x="5729576" y="1428292"/>
            <a:ext cx="6039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성과 지표 (KPI)</a:t>
            </a: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Verification</a:t>
            </a:r>
            <a:endParaRPr lang="en-US" sz="1500" dirty="0"/>
          </a:p>
        </p:txBody>
      </p:sp>
      <p:grpSp>
        <p:nvGrpSpPr>
          <p:cNvPr id="101" name="그룹 100"/>
          <p:cNvGrpSpPr/>
          <p:nvPr/>
        </p:nvGrpSpPr>
        <p:grpSpPr>
          <a:xfrm>
            <a:off x="5324781" y="1848261"/>
            <a:ext cx="6223406" cy="3752698"/>
            <a:chOff x="5359298" y="2095805"/>
            <a:chExt cx="6223406" cy="3752698"/>
          </a:xfrm>
        </p:grpSpPr>
        <p:pic>
          <p:nvPicPr>
            <p:cNvPr id="49" name="Image 14" descr="preencoded.png"/>
            <p:cNvPicPr>
              <a:picLocks noChangeAspect="1"/>
            </p:cNvPicPr>
            <p:nvPr/>
          </p:nvPicPr>
          <p:blipFill>
            <a:blip r:embed="rId15"/>
            <a:srcRect l="-6" r="-6"/>
            <a:stretch/>
          </p:blipFill>
          <p:spPr>
            <a:xfrm>
              <a:off x="5359298" y="2095805"/>
              <a:ext cx="6223406" cy="3752698"/>
            </a:xfrm>
            <a:prstGeom prst="rect">
              <a:avLst/>
            </a:prstGeom>
          </p:spPr>
        </p:pic>
        <p:sp>
          <p:nvSpPr>
            <p:cNvPr id="50" name="Shape 33"/>
            <p:cNvSpPr/>
            <p:nvPr/>
          </p:nvSpPr>
          <p:spPr>
            <a:xfrm>
              <a:off x="5597957" y="2333549"/>
              <a:ext cx="1324051" cy="1561795"/>
            </a:xfrm>
            <a:prstGeom prst="roundRect">
              <a:avLst>
                <a:gd name="adj" fmla="val 11924"/>
              </a:avLst>
            </a:prstGeom>
            <a:solidFill>
              <a:srgbClr val="FFFFFF"/>
            </a:solidFill>
            <a:ln w="12700">
              <a:solidFill>
                <a:srgbClr val="F3F4F6"/>
              </a:solidFill>
              <a:prstDash val="solid"/>
            </a:ln>
          </p:spPr>
        </p:sp>
        <p:sp>
          <p:nvSpPr>
            <p:cNvPr id="51" name="Text 34"/>
            <p:cNvSpPr txBox="1"/>
            <p:nvPr/>
          </p:nvSpPr>
          <p:spPr>
            <a:xfrm>
              <a:off x="6150254" y="2486254"/>
              <a:ext cx="2953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kern="0" spc="22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성능</a:t>
              </a:r>
              <a:endParaRPr lang="en-US" sz="900" dirty="0"/>
            </a:p>
          </p:txBody>
        </p:sp>
        <p:sp>
          <p:nvSpPr>
            <p:cNvPr id="52" name="Shape 35"/>
            <p:cNvSpPr/>
            <p:nvPr/>
          </p:nvSpPr>
          <p:spPr>
            <a:xfrm>
              <a:off x="6030468" y="2714854"/>
              <a:ext cx="457200" cy="457200"/>
            </a:xfrm>
            <a:prstGeom prst="ellipse">
              <a:avLst/>
            </a:prstGeom>
            <a:solidFill>
              <a:srgbClr val="EEF2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53" name="Image 15" descr="preencoded.png"/>
            <p:cNvPicPr>
              <a:picLocks noChangeAspect="1"/>
            </p:cNvPicPr>
            <p:nvPr/>
          </p:nvPicPr>
          <p:blipFill>
            <a:blip r:embed="rId16"/>
            <a:srcRect t="-43" b="-43"/>
            <a:stretch/>
          </p:blipFill>
          <p:spPr>
            <a:xfrm>
              <a:off x="6192317" y="2866644"/>
              <a:ext cx="133502" cy="152705"/>
            </a:xfrm>
            <a:prstGeom prst="rect">
              <a:avLst/>
            </a:prstGeom>
          </p:spPr>
        </p:pic>
        <p:sp>
          <p:nvSpPr>
            <p:cNvPr id="54" name="Text 36"/>
            <p:cNvSpPr txBox="1"/>
            <p:nvPr/>
          </p:nvSpPr>
          <p:spPr>
            <a:xfrm>
              <a:off x="5964631" y="3247949"/>
              <a:ext cx="703174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AI 응답 지연</a:t>
              </a:r>
              <a:endParaRPr lang="en-US" sz="900" dirty="0"/>
            </a:p>
          </p:txBody>
        </p:sp>
        <p:sp>
          <p:nvSpPr>
            <p:cNvPr id="55" name="Text 37"/>
            <p:cNvSpPr txBox="1"/>
            <p:nvPr/>
          </p:nvSpPr>
          <p:spPr>
            <a:xfrm>
              <a:off x="5984748" y="3438144"/>
              <a:ext cx="629107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4338C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≤ 7s</a:t>
              </a:r>
              <a:endParaRPr lang="en-US" sz="1800" dirty="0"/>
            </a:p>
          </p:txBody>
        </p:sp>
        <p:sp>
          <p:nvSpPr>
            <p:cNvPr id="56" name="Shape 38"/>
            <p:cNvSpPr/>
            <p:nvPr/>
          </p:nvSpPr>
          <p:spPr>
            <a:xfrm>
              <a:off x="7071970" y="2333549"/>
              <a:ext cx="1324051" cy="1561795"/>
            </a:xfrm>
            <a:prstGeom prst="roundRect">
              <a:avLst>
                <a:gd name="adj" fmla="val 11924"/>
              </a:avLst>
            </a:prstGeom>
            <a:solidFill>
              <a:srgbClr val="FFFFFF"/>
            </a:solidFill>
            <a:ln w="12700">
              <a:solidFill>
                <a:srgbClr val="F3F4F6"/>
              </a:solidFill>
              <a:prstDash val="solid"/>
            </a:ln>
          </p:spPr>
        </p:sp>
        <p:sp>
          <p:nvSpPr>
            <p:cNvPr id="57" name="Text 39"/>
            <p:cNvSpPr txBox="1"/>
            <p:nvPr/>
          </p:nvSpPr>
          <p:spPr>
            <a:xfrm>
              <a:off x="7625182" y="2486254"/>
              <a:ext cx="2953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kern="0" spc="22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기능</a:t>
              </a:r>
              <a:endParaRPr lang="en-US" sz="900" dirty="0"/>
            </a:p>
          </p:txBody>
        </p:sp>
        <p:sp>
          <p:nvSpPr>
            <p:cNvPr id="58" name="Shape 40"/>
            <p:cNvSpPr/>
            <p:nvPr/>
          </p:nvSpPr>
          <p:spPr>
            <a:xfrm>
              <a:off x="7504481" y="2714854"/>
              <a:ext cx="457200" cy="457200"/>
            </a:xfrm>
            <a:prstGeom prst="ellipse">
              <a:avLst/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59" name="Image 16" descr="preencoded.png"/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7657186" y="2866644"/>
              <a:ext cx="152705" cy="152705"/>
            </a:xfrm>
            <a:prstGeom prst="rect">
              <a:avLst/>
            </a:prstGeom>
          </p:spPr>
        </p:pic>
        <p:sp>
          <p:nvSpPr>
            <p:cNvPr id="60" name="Text 41"/>
            <p:cNvSpPr txBox="1"/>
            <p:nvPr/>
          </p:nvSpPr>
          <p:spPr>
            <a:xfrm>
              <a:off x="7402068" y="3247949"/>
              <a:ext cx="780898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멀티모달 분석</a:t>
              </a:r>
              <a:endParaRPr lang="en-US" sz="900" dirty="0"/>
            </a:p>
          </p:txBody>
        </p:sp>
        <p:sp>
          <p:nvSpPr>
            <p:cNvPr id="61" name="Text 42"/>
            <p:cNvSpPr txBox="1"/>
            <p:nvPr/>
          </p:nvSpPr>
          <p:spPr>
            <a:xfrm>
              <a:off x="7481621" y="3438144"/>
              <a:ext cx="581558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1D4ED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99%</a:t>
              </a:r>
              <a:endParaRPr lang="en-US" sz="1800" dirty="0"/>
            </a:p>
          </p:txBody>
        </p:sp>
        <p:sp>
          <p:nvSpPr>
            <p:cNvPr id="62" name="Shape 43"/>
            <p:cNvSpPr/>
            <p:nvPr/>
          </p:nvSpPr>
          <p:spPr>
            <a:xfrm>
              <a:off x="8546897" y="2333549"/>
              <a:ext cx="1324051" cy="1561795"/>
            </a:xfrm>
            <a:prstGeom prst="roundRect">
              <a:avLst>
                <a:gd name="adj" fmla="val 11924"/>
              </a:avLst>
            </a:prstGeom>
            <a:solidFill>
              <a:srgbClr val="FFFFFF"/>
            </a:solidFill>
            <a:ln w="12700">
              <a:solidFill>
                <a:srgbClr val="F3F4F6"/>
              </a:solidFill>
              <a:prstDash val="solid"/>
            </a:ln>
          </p:spPr>
        </p:sp>
        <p:sp>
          <p:nvSpPr>
            <p:cNvPr id="63" name="Text 44"/>
            <p:cNvSpPr txBox="1"/>
            <p:nvPr/>
          </p:nvSpPr>
          <p:spPr>
            <a:xfrm>
              <a:off x="9046159" y="2486254"/>
              <a:ext cx="4096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kern="0" spc="22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정확도</a:t>
              </a:r>
              <a:endParaRPr lang="en-US" sz="900" dirty="0"/>
            </a:p>
          </p:txBody>
        </p:sp>
        <p:sp>
          <p:nvSpPr>
            <p:cNvPr id="64" name="Shape 45"/>
            <p:cNvSpPr/>
            <p:nvPr/>
          </p:nvSpPr>
          <p:spPr>
            <a:xfrm>
              <a:off x="8979408" y="2714854"/>
              <a:ext cx="457200" cy="457200"/>
            </a:xfrm>
            <a:prstGeom prst="ellipse">
              <a:avLst/>
            </a:prstGeom>
            <a:solidFill>
              <a:srgbClr val="ECFDF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65" name="Image 17" descr="preencoded.png"/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9132113" y="2866644"/>
              <a:ext cx="152705" cy="152705"/>
            </a:xfrm>
            <a:prstGeom prst="rect">
              <a:avLst/>
            </a:prstGeom>
          </p:spPr>
        </p:pic>
        <p:sp>
          <p:nvSpPr>
            <p:cNvPr id="66" name="Text 46"/>
            <p:cNvSpPr txBox="1"/>
            <p:nvPr/>
          </p:nvSpPr>
          <p:spPr>
            <a:xfrm>
              <a:off x="8929116" y="3247949"/>
              <a:ext cx="66294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평가 일치도</a:t>
              </a:r>
              <a:endParaRPr lang="en-US" sz="900" dirty="0"/>
            </a:p>
          </p:txBody>
        </p:sp>
        <p:sp>
          <p:nvSpPr>
            <p:cNvPr id="67" name="Text 47"/>
            <p:cNvSpPr txBox="1"/>
            <p:nvPr/>
          </p:nvSpPr>
          <p:spPr>
            <a:xfrm>
              <a:off x="8815730" y="3438144"/>
              <a:ext cx="866851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04785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≥ 80%</a:t>
              </a:r>
              <a:endParaRPr lang="en-US" sz="1800" dirty="0"/>
            </a:p>
          </p:txBody>
        </p:sp>
        <p:sp>
          <p:nvSpPr>
            <p:cNvPr id="68" name="Shape 48"/>
            <p:cNvSpPr/>
            <p:nvPr/>
          </p:nvSpPr>
          <p:spPr>
            <a:xfrm>
              <a:off x="10021824" y="2333549"/>
              <a:ext cx="1324051" cy="1561795"/>
            </a:xfrm>
            <a:prstGeom prst="roundRect">
              <a:avLst>
                <a:gd name="adj" fmla="val 11924"/>
              </a:avLst>
            </a:prstGeom>
            <a:solidFill>
              <a:srgbClr val="FFFFFF"/>
            </a:solidFill>
            <a:ln w="12700">
              <a:solidFill>
                <a:srgbClr val="F3F4F6"/>
              </a:solidFill>
              <a:prstDash val="solid"/>
            </a:ln>
          </p:spPr>
        </p:sp>
        <p:sp>
          <p:nvSpPr>
            <p:cNvPr id="69" name="Text 49"/>
            <p:cNvSpPr txBox="1"/>
            <p:nvPr/>
          </p:nvSpPr>
          <p:spPr>
            <a:xfrm>
              <a:off x="10521086" y="2486254"/>
              <a:ext cx="4096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kern="0" spc="22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안정성</a:t>
              </a:r>
              <a:endParaRPr lang="en-US" sz="900" dirty="0"/>
            </a:p>
          </p:txBody>
        </p:sp>
        <p:sp>
          <p:nvSpPr>
            <p:cNvPr id="70" name="Shape 50"/>
            <p:cNvSpPr/>
            <p:nvPr/>
          </p:nvSpPr>
          <p:spPr>
            <a:xfrm>
              <a:off x="10454335" y="2714854"/>
              <a:ext cx="457200" cy="457200"/>
            </a:xfrm>
            <a:prstGeom prst="ellipse">
              <a:avLst/>
            </a:prstGeom>
            <a:solidFill>
              <a:srgbClr val="F5F3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71" name="Image 18" descr="preencoded.png"/>
            <p:cNvPicPr>
              <a:picLocks noChangeAspect="1"/>
            </p:cNvPicPr>
            <p:nvPr/>
          </p:nvPicPr>
          <p:blipFill>
            <a:blip r:embed="rId19"/>
            <a:srcRect/>
            <a:stretch/>
          </p:blipFill>
          <p:spPr>
            <a:xfrm>
              <a:off x="10607040" y="2866644"/>
              <a:ext cx="152705" cy="152705"/>
            </a:xfrm>
            <a:prstGeom prst="rect">
              <a:avLst/>
            </a:prstGeom>
          </p:spPr>
        </p:pic>
        <p:sp>
          <p:nvSpPr>
            <p:cNvPr id="72" name="Text 51"/>
            <p:cNvSpPr txBox="1"/>
            <p:nvPr/>
          </p:nvSpPr>
          <p:spPr>
            <a:xfrm>
              <a:off x="10404043" y="3247949"/>
              <a:ext cx="66294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작업 성공률</a:t>
              </a:r>
              <a:endParaRPr lang="en-US" sz="900" dirty="0"/>
            </a:p>
          </p:txBody>
        </p:sp>
        <p:sp>
          <p:nvSpPr>
            <p:cNvPr id="73" name="Text 52"/>
            <p:cNvSpPr txBox="1"/>
            <p:nvPr/>
          </p:nvSpPr>
          <p:spPr>
            <a:xfrm>
              <a:off x="10454542" y="3438144"/>
              <a:ext cx="561942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 smtClean="0">
                  <a:solidFill>
                    <a:srgbClr val="6D28D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99%</a:t>
              </a:r>
              <a:endParaRPr lang="en-US" sz="1800" dirty="0"/>
            </a:p>
          </p:txBody>
        </p:sp>
        <p:sp>
          <p:nvSpPr>
            <p:cNvPr id="74" name="Shape 53"/>
            <p:cNvSpPr/>
            <p:nvPr/>
          </p:nvSpPr>
          <p:spPr>
            <a:xfrm>
              <a:off x="5597957" y="4048049"/>
              <a:ext cx="1324051" cy="1561795"/>
            </a:xfrm>
            <a:prstGeom prst="roundRect">
              <a:avLst>
                <a:gd name="adj" fmla="val 11924"/>
              </a:avLst>
            </a:prstGeom>
            <a:solidFill>
              <a:srgbClr val="FFFFFF"/>
            </a:solidFill>
            <a:ln w="12700">
              <a:solidFill>
                <a:srgbClr val="F3F4F6"/>
              </a:solidFill>
              <a:prstDash val="solid"/>
            </a:ln>
          </p:spPr>
        </p:sp>
        <p:sp>
          <p:nvSpPr>
            <p:cNvPr id="75" name="Text 54"/>
            <p:cNvSpPr txBox="1"/>
            <p:nvPr/>
          </p:nvSpPr>
          <p:spPr>
            <a:xfrm>
              <a:off x="6096305" y="4200754"/>
              <a:ext cx="4096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kern="0" spc="22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준수율</a:t>
              </a:r>
              <a:endParaRPr lang="en-US" sz="900" dirty="0"/>
            </a:p>
          </p:txBody>
        </p:sp>
        <p:sp>
          <p:nvSpPr>
            <p:cNvPr id="76" name="Shape 55"/>
            <p:cNvSpPr/>
            <p:nvPr/>
          </p:nvSpPr>
          <p:spPr>
            <a:xfrm>
              <a:off x="6030468" y="4429354"/>
              <a:ext cx="457200" cy="457200"/>
            </a:xfrm>
            <a:prstGeom prst="ellipse">
              <a:avLst/>
            </a:prstGeom>
            <a:solidFill>
              <a:srgbClr val="FFFB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77" name="Image 19" descr="preencoded.png"/>
            <p:cNvPicPr>
              <a:picLocks noChangeAspect="1"/>
            </p:cNvPicPr>
            <p:nvPr/>
          </p:nvPicPr>
          <p:blipFill>
            <a:blip r:embed="rId20"/>
            <a:srcRect t="-43" b="-43"/>
            <a:stretch/>
          </p:blipFill>
          <p:spPr>
            <a:xfrm>
              <a:off x="6192317" y="4581144"/>
              <a:ext cx="133502" cy="152705"/>
            </a:xfrm>
            <a:prstGeom prst="rect">
              <a:avLst/>
            </a:prstGeom>
          </p:spPr>
        </p:pic>
        <p:sp>
          <p:nvSpPr>
            <p:cNvPr id="78" name="Text 56"/>
            <p:cNvSpPr txBox="1"/>
            <p:nvPr/>
          </p:nvSpPr>
          <p:spPr>
            <a:xfrm>
              <a:off x="6016752" y="4962449"/>
              <a:ext cx="56235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WBS 일정</a:t>
              </a:r>
              <a:endParaRPr lang="en-US" sz="900" dirty="0"/>
            </a:p>
          </p:txBody>
        </p:sp>
        <p:sp>
          <p:nvSpPr>
            <p:cNvPr id="79" name="Text 57"/>
            <p:cNvSpPr txBox="1"/>
            <p:nvPr/>
          </p:nvSpPr>
          <p:spPr>
            <a:xfrm>
              <a:off x="6006694" y="5152644"/>
              <a:ext cx="581558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B4530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90%</a:t>
              </a:r>
              <a:endParaRPr lang="en-US" sz="1800" dirty="0"/>
            </a:p>
          </p:txBody>
        </p:sp>
        <p:sp>
          <p:nvSpPr>
            <p:cNvPr id="80" name="Shape 58"/>
            <p:cNvSpPr/>
            <p:nvPr/>
          </p:nvSpPr>
          <p:spPr>
            <a:xfrm>
              <a:off x="7071970" y="4048049"/>
              <a:ext cx="1324051" cy="1561795"/>
            </a:xfrm>
            <a:prstGeom prst="roundRect">
              <a:avLst>
                <a:gd name="adj" fmla="val 11924"/>
              </a:avLst>
            </a:prstGeom>
            <a:solidFill>
              <a:srgbClr val="FFFFFF"/>
            </a:solidFill>
            <a:ln w="12700">
              <a:solidFill>
                <a:srgbClr val="F3F4F6"/>
              </a:solidFill>
              <a:prstDash val="solid"/>
            </a:ln>
          </p:spPr>
        </p:sp>
        <p:sp>
          <p:nvSpPr>
            <p:cNvPr id="81" name="Text 59"/>
            <p:cNvSpPr txBox="1"/>
            <p:nvPr/>
          </p:nvSpPr>
          <p:spPr>
            <a:xfrm>
              <a:off x="7571232" y="4200754"/>
              <a:ext cx="4096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kern="0" spc="22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반영률</a:t>
              </a:r>
              <a:endParaRPr lang="en-US" sz="900" dirty="0"/>
            </a:p>
          </p:txBody>
        </p:sp>
        <p:sp>
          <p:nvSpPr>
            <p:cNvPr id="82" name="Shape 60"/>
            <p:cNvSpPr/>
            <p:nvPr/>
          </p:nvSpPr>
          <p:spPr>
            <a:xfrm>
              <a:off x="7504481" y="4429354"/>
              <a:ext cx="457200" cy="457200"/>
            </a:xfrm>
            <a:prstGeom prst="ellipse">
              <a:avLst/>
            </a:prstGeom>
            <a:solidFill>
              <a:srgbClr val="FEF2F2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83" name="Image 20" descr="preencoded.png"/>
            <p:cNvPicPr>
              <a:picLocks noChangeAspect="1"/>
            </p:cNvPicPr>
            <p:nvPr/>
          </p:nvPicPr>
          <p:blipFill>
            <a:blip r:embed="rId21"/>
            <a:srcRect/>
            <a:stretch/>
          </p:blipFill>
          <p:spPr>
            <a:xfrm>
              <a:off x="7657186" y="4581144"/>
              <a:ext cx="152705" cy="152705"/>
            </a:xfrm>
            <a:prstGeom prst="rect">
              <a:avLst/>
            </a:prstGeom>
          </p:spPr>
        </p:pic>
        <p:sp>
          <p:nvSpPr>
            <p:cNvPr id="84" name="Text 61"/>
            <p:cNvSpPr txBox="1"/>
            <p:nvPr/>
          </p:nvSpPr>
          <p:spPr>
            <a:xfrm>
              <a:off x="7402068" y="4962449"/>
              <a:ext cx="780898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요구사항 구현</a:t>
              </a:r>
              <a:endParaRPr lang="en-US" sz="900" dirty="0"/>
            </a:p>
          </p:txBody>
        </p:sp>
        <p:sp>
          <p:nvSpPr>
            <p:cNvPr id="85" name="Text 62"/>
            <p:cNvSpPr txBox="1"/>
            <p:nvPr/>
          </p:nvSpPr>
          <p:spPr>
            <a:xfrm>
              <a:off x="7481621" y="5152644"/>
              <a:ext cx="581558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B91C1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95%</a:t>
              </a:r>
              <a:endParaRPr lang="en-US" sz="1800" dirty="0"/>
            </a:p>
          </p:txBody>
        </p:sp>
        <p:sp>
          <p:nvSpPr>
            <p:cNvPr id="86" name="Shape 63"/>
            <p:cNvSpPr/>
            <p:nvPr/>
          </p:nvSpPr>
          <p:spPr>
            <a:xfrm>
              <a:off x="8546897" y="4048049"/>
              <a:ext cx="1324051" cy="1561795"/>
            </a:xfrm>
            <a:prstGeom prst="roundRect">
              <a:avLst>
                <a:gd name="adj" fmla="val 11924"/>
              </a:avLst>
            </a:prstGeom>
            <a:solidFill>
              <a:srgbClr val="FFFFFF"/>
            </a:solidFill>
            <a:ln w="12700">
              <a:solidFill>
                <a:srgbClr val="F3F4F6"/>
              </a:solidFill>
              <a:prstDash val="solid"/>
            </a:ln>
          </p:spPr>
        </p:sp>
        <p:sp>
          <p:nvSpPr>
            <p:cNvPr id="87" name="Text 64"/>
            <p:cNvSpPr txBox="1"/>
            <p:nvPr/>
          </p:nvSpPr>
          <p:spPr>
            <a:xfrm>
              <a:off x="9046159" y="4200754"/>
              <a:ext cx="4096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kern="0" spc="22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유효율</a:t>
              </a:r>
              <a:endParaRPr lang="en-US" sz="900" dirty="0"/>
            </a:p>
          </p:txBody>
        </p:sp>
        <p:pic>
          <p:nvPicPr>
            <p:cNvPr id="88" name="Image 21" descr="preencoded.png"/>
            <p:cNvPicPr>
              <a:picLocks noChangeAspect="1"/>
            </p:cNvPicPr>
            <p:nvPr/>
          </p:nvPicPr>
          <p:blipFill>
            <a:blip r:embed="rId22"/>
            <a:srcRect t="-43" b="-43"/>
            <a:stretch/>
          </p:blipFill>
          <p:spPr>
            <a:xfrm>
              <a:off x="9141257" y="4581144"/>
              <a:ext cx="133502" cy="152705"/>
            </a:xfrm>
            <a:prstGeom prst="rect">
              <a:avLst/>
            </a:prstGeom>
          </p:spPr>
        </p:pic>
        <p:sp>
          <p:nvSpPr>
            <p:cNvPr id="89" name="Text 65"/>
            <p:cNvSpPr txBox="1"/>
            <p:nvPr/>
          </p:nvSpPr>
          <p:spPr>
            <a:xfrm>
              <a:off x="8929116" y="4962449"/>
              <a:ext cx="66294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분석 데이터</a:t>
              </a:r>
              <a:endParaRPr lang="en-US" sz="900" dirty="0"/>
            </a:p>
          </p:txBody>
        </p:sp>
        <p:sp>
          <p:nvSpPr>
            <p:cNvPr id="90" name="Text 66"/>
            <p:cNvSpPr txBox="1"/>
            <p:nvPr/>
          </p:nvSpPr>
          <p:spPr>
            <a:xfrm>
              <a:off x="8956548" y="5152644"/>
              <a:ext cx="581558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95%</a:t>
              </a:r>
              <a:endParaRPr lang="en-US" sz="1800" dirty="0"/>
            </a:p>
          </p:txBody>
        </p:sp>
        <p:sp>
          <p:nvSpPr>
            <p:cNvPr id="91" name="Shape 67"/>
            <p:cNvSpPr/>
            <p:nvPr/>
          </p:nvSpPr>
          <p:spPr>
            <a:xfrm>
              <a:off x="10021824" y="4048049"/>
              <a:ext cx="1324051" cy="1561795"/>
            </a:xfrm>
            <a:prstGeom prst="roundRect">
              <a:avLst>
                <a:gd name="adj" fmla="val 11924"/>
              </a:avLst>
            </a:prstGeom>
            <a:solidFill>
              <a:srgbClr val="FFFFFF"/>
            </a:solidFill>
            <a:ln w="12700">
              <a:solidFill>
                <a:srgbClr val="F3F4F6"/>
              </a:solidFill>
              <a:prstDash val="solid"/>
            </a:ln>
          </p:spPr>
        </p:sp>
        <p:sp>
          <p:nvSpPr>
            <p:cNvPr id="92" name="Text 68"/>
            <p:cNvSpPr txBox="1"/>
            <p:nvPr/>
          </p:nvSpPr>
          <p:spPr>
            <a:xfrm>
              <a:off x="10521086" y="4200754"/>
              <a:ext cx="4096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kern="0" spc="22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자동율</a:t>
              </a:r>
              <a:endParaRPr lang="en-US" sz="900" dirty="0"/>
            </a:p>
          </p:txBody>
        </p:sp>
        <p:sp>
          <p:nvSpPr>
            <p:cNvPr id="93" name="Shape 69"/>
            <p:cNvSpPr/>
            <p:nvPr/>
          </p:nvSpPr>
          <p:spPr>
            <a:xfrm>
              <a:off x="10454335" y="4429354"/>
              <a:ext cx="457200" cy="457200"/>
            </a:xfrm>
            <a:prstGeom prst="ellipse">
              <a:avLst/>
            </a:prstGeom>
            <a:solidFill>
              <a:srgbClr val="FDF2F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94" name="Image 22" descr="preencoded.png"/>
            <p:cNvPicPr>
              <a:picLocks noChangeAspect="1"/>
            </p:cNvPicPr>
            <p:nvPr/>
          </p:nvPicPr>
          <p:blipFill>
            <a:blip r:embed="rId23"/>
            <a:srcRect t="-180" b="-180"/>
            <a:stretch/>
          </p:blipFill>
          <p:spPr>
            <a:xfrm>
              <a:off x="10587838" y="4581144"/>
              <a:ext cx="190195" cy="152705"/>
            </a:xfrm>
            <a:prstGeom prst="rect">
              <a:avLst/>
            </a:prstGeom>
          </p:spPr>
        </p:pic>
        <p:sp>
          <p:nvSpPr>
            <p:cNvPr id="95" name="Text 70"/>
            <p:cNvSpPr txBox="1"/>
            <p:nvPr/>
          </p:nvSpPr>
          <p:spPr>
            <a:xfrm>
              <a:off x="10472623" y="4962449"/>
              <a:ext cx="5056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프로세스</a:t>
              </a:r>
              <a:endParaRPr lang="en-US" sz="900" dirty="0"/>
            </a:p>
          </p:txBody>
        </p:sp>
        <p:sp>
          <p:nvSpPr>
            <p:cNvPr id="96" name="Text 71"/>
            <p:cNvSpPr txBox="1"/>
            <p:nvPr/>
          </p:nvSpPr>
          <p:spPr>
            <a:xfrm>
              <a:off x="10431475" y="5152644"/>
              <a:ext cx="581558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BE185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70%</a:t>
              </a:r>
              <a:endParaRPr lang="en-US" sz="1800" dirty="0"/>
            </a:p>
          </p:txBody>
        </p:sp>
      </p:grpSp>
      <p:pic>
        <p:nvPicPr>
          <p:cNvPr id="97" name="Image 23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5425080" y="1471269"/>
            <a:ext cx="190195" cy="190195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A4_Project_2AI1_PA_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함유라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03" name="그룹 102"/>
          <p:cNvGrpSpPr/>
          <p:nvPr/>
        </p:nvGrpSpPr>
        <p:grpSpPr>
          <a:xfrm>
            <a:off x="609608" y="4805117"/>
            <a:ext cx="4320000" cy="792000"/>
            <a:chOff x="609905" y="4839005"/>
            <a:chExt cx="4448556" cy="922020"/>
          </a:xfrm>
        </p:grpSpPr>
        <p:sp>
          <p:nvSpPr>
            <p:cNvPr id="104" name="Shape 26"/>
            <p:cNvSpPr/>
            <p:nvPr/>
          </p:nvSpPr>
          <p:spPr>
            <a:xfrm>
              <a:off x="609905" y="4839005"/>
              <a:ext cx="4448556" cy="922020"/>
            </a:xfrm>
            <a:prstGeom prst="roundRect">
              <a:avLst>
                <a:gd name="adj" fmla="val 17631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105" name="Shape 27"/>
            <p:cNvSpPr/>
            <p:nvPr/>
          </p:nvSpPr>
          <p:spPr>
            <a:xfrm>
              <a:off x="609905" y="4839005"/>
              <a:ext cx="57607" cy="922020"/>
            </a:xfrm>
            <a:prstGeom prst="roundRect">
              <a:avLst>
                <a:gd name="adj" fmla="val 384802"/>
              </a:avLst>
            </a:prstGeom>
            <a:solidFill>
              <a:srgbClr val="000000"/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108" name="Text 29"/>
            <p:cNvSpPr txBox="1"/>
            <p:nvPr/>
          </p:nvSpPr>
          <p:spPr>
            <a:xfrm>
              <a:off x="1313984" y="4975870"/>
              <a:ext cx="2573746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300" b="1" dirty="0" smtClean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</a:rPr>
                <a:t>예외처리 및 시스템 성능 및 안정성</a:t>
              </a:r>
              <a:endParaRPr lang="en-US" sz="1300" dirty="0"/>
            </a:p>
          </p:txBody>
        </p:sp>
        <p:sp>
          <p:nvSpPr>
            <p:cNvPr id="109" name="Text 30"/>
            <p:cNvSpPr txBox="1"/>
            <p:nvPr/>
          </p:nvSpPr>
          <p:spPr>
            <a:xfrm>
              <a:off x="1276944" y="5255620"/>
              <a:ext cx="359176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b="1" dirty="0" smtClean="0">
                  <a:solidFill>
                    <a:srgbClr val="4F46E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•</a:t>
              </a:r>
              <a:r>
                <a:rPr lang="en-US" sz="1000" b="1" dirty="0" smtClean="0">
                  <a:solidFill>
                    <a:srgbClr val="0596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000" dirty="0" smtClean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STT </a:t>
              </a:r>
              <a:r>
                <a:rPr lang="ko-KR" alt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인식 실패 및 </a:t>
              </a:r>
              <a:r>
                <a:rPr lang="en-US" altLang="ko-KR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LLM </a:t>
              </a:r>
              <a:r>
                <a:rPr lang="ko-KR" alt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응답 지연 대응</a:t>
              </a:r>
              <a:endPara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endParaRPr>
            </a:p>
          </p:txBody>
        </p:sp>
        <p:sp>
          <p:nvSpPr>
            <p:cNvPr id="110" name="Text 31"/>
            <p:cNvSpPr txBox="1"/>
            <p:nvPr/>
          </p:nvSpPr>
          <p:spPr>
            <a:xfrm>
              <a:off x="1276945" y="5484220"/>
              <a:ext cx="366765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b="1" dirty="0" smtClean="0">
                  <a:solidFill>
                    <a:srgbClr val="4F46E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•</a:t>
              </a:r>
              <a:r>
                <a:rPr lang="en-US" sz="1000" b="1" dirty="0" smtClean="0">
                  <a:solidFill>
                    <a:srgbClr val="0596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ko-KR" alt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비동기 분석 구조 </a:t>
              </a:r>
              <a:r>
                <a:rPr lang="en-US" altLang="ko-KR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(Celery + </a:t>
              </a:r>
              <a:r>
                <a:rPr lang="en-US" altLang="ko-KR" sz="1000" dirty="0" err="1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Redis</a:t>
              </a:r>
              <a:r>
                <a:rPr lang="en-US" altLang="ko-KR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) </a:t>
              </a:r>
              <a:r>
                <a:rPr lang="ko-KR" alt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응답 지연 최소화</a:t>
              </a:r>
              <a:endPara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endParaRPr>
            </a:p>
          </p:txBody>
        </p:sp>
      </p:grpSp>
      <p:sp>
        <p:nvSpPr>
          <p:cNvPr id="111" name="Shape 35"/>
          <p:cNvSpPr/>
          <p:nvPr/>
        </p:nvSpPr>
        <p:spPr>
          <a:xfrm>
            <a:off x="804740" y="4884979"/>
            <a:ext cx="370800" cy="3276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2" name="Image 15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912907" y="4957544"/>
            <a:ext cx="141774" cy="1621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9296705" y="-761695"/>
            <a:ext cx="3657600" cy="36576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/>
          <a:stretch/>
        </p:blipFill>
        <p:spPr>
          <a:xfrm>
            <a:off x="-381305" y="4190695"/>
            <a:ext cx="3047695" cy="3047695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691518" y="6362395"/>
            <a:ext cx="2770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3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rcRect t="-177" b="-177"/>
          <a:stretch/>
        </p:blipFill>
        <p:spPr>
          <a:xfrm>
            <a:off x="609905" y="457200"/>
            <a:ext cx="75895" cy="809244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914400" y="495605"/>
            <a:ext cx="3751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계획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914400" y="1067105"/>
            <a:ext cx="37344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6주간의 단계별 추진 일정 및 협업 체계</a:t>
            </a:r>
            <a:endParaRPr lang="en-US" sz="1500" dirty="0"/>
          </a:p>
        </p:txBody>
      </p:sp>
      <p:grpSp>
        <p:nvGrpSpPr>
          <p:cNvPr id="79" name="그룹 78"/>
          <p:cNvGrpSpPr/>
          <p:nvPr/>
        </p:nvGrpSpPr>
        <p:grpSpPr>
          <a:xfrm>
            <a:off x="503207" y="4246085"/>
            <a:ext cx="3457346" cy="2160000"/>
            <a:chOff x="609905" y="4839005"/>
            <a:chExt cx="3457346" cy="2160000"/>
          </a:xfrm>
        </p:grpSpPr>
        <p:sp>
          <p:nvSpPr>
            <p:cNvPr id="10" name="Shape 4"/>
            <p:cNvSpPr/>
            <p:nvPr/>
          </p:nvSpPr>
          <p:spPr>
            <a:xfrm>
              <a:off x="609905" y="4839005"/>
              <a:ext cx="3457346" cy="2160000"/>
            </a:xfrm>
            <a:prstGeom prst="roundRect">
              <a:avLst>
                <a:gd name="adj" fmla="val 4687"/>
              </a:avLst>
            </a:prstGeom>
            <a:solidFill>
              <a:srgbClr val="FFFFFF"/>
            </a:solidFill>
            <a:ln/>
            <a:effectLst>
              <a:outerShdw blurRad="101600" dist="38100" dir="162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11" name="Shape 5"/>
            <p:cNvSpPr/>
            <p:nvPr/>
          </p:nvSpPr>
          <p:spPr>
            <a:xfrm>
              <a:off x="609905" y="4839005"/>
              <a:ext cx="3457346" cy="57607"/>
            </a:xfrm>
            <a:prstGeom prst="roundRect">
              <a:avLst>
                <a:gd name="adj" fmla="val 198413"/>
              </a:avLst>
            </a:prstGeom>
            <a:solidFill>
              <a:srgbClr val="000000"/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12" name="Shape 6"/>
            <p:cNvSpPr/>
            <p:nvPr/>
          </p:nvSpPr>
          <p:spPr>
            <a:xfrm>
              <a:off x="838505" y="5124298"/>
              <a:ext cx="533095" cy="533095"/>
            </a:xfrm>
            <a:prstGeom prst="roundRect">
              <a:avLst>
                <a:gd name="adj" fmla="val 85763"/>
              </a:avLst>
            </a:prstGeom>
            <a:solidFill>
              <a:srgbClr val="DBEAF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13" name="Image 4" descr="preencoded.png"/>
            <p:cNvPicPr>
              <a:picLocks noChangeAspect="1"/>
            </p:cNvPicPr>
            <p:nvPr/>
          </p:nvPicPr>
          <p:blipFill>
            <a:blip r:embed="rId6"/>
            <a:srcRect l="-80" r="-80"/>
            <a:stretch/>
          </p:blipFill>
          <p:spPr>
            <a:xfrm>
              <a:off x="961949" y="5277002"/>
              <a:ext cx="286207" cy="228600"/>
            </a:xfrm>
            <a:prstGeom prst="rect">
              <a:avLst/>
            </a:prstGeom>
          </p:spPr>
        </p:pic>
        <p:sp>
          <p:nvSpPr>
            <p:cNvPr id="14" name="Text 7"/>
            <p:cNvSpPr txBox="1"/>
            <p:nvPr/>
          </p:nvSpPr>
          <p:spPr>
            <a:xfrm>
              <a:off x="838505" y="5810098"/>
              <a:ext cx="1572768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커뮤니케이션 체계</a:t>
              </a:r>
              <a:endParaRPr lang="en-US" sz="1300" dirty="0"/>
            </a:p>
          </p:txBody>
        </p:sp>
        <p:sp>
          <p:nvSpPr>
            <p:cNvPr id="15" name="Text 8"/>
            <p:cNvSpPr txBox="1"/>
            <p:nvPr/>
          </p:nvSpPr>
          <p:spPr>
            <a:xfrm>
              <a:off x="1028700" y="6191402"/>
              <a:ext cx="300106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실시간 채팅 기반 빠른 소통</a:t>
              </a:r>
              <a:endParaRPr lang="en-US" sz="1000" dirty="0"/>
            </a:p>
          </p:txBody>
        </p:sp>
        <p:pic>
          <p:nvPicPr>
            <p:cNvPr id="16" name="Image 5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38505" y="6229807"/>
              <a:ext cx="114300" cy="114300"/>
            </a:xfrm>
            <a:prstGeom prst="rect">
              <a:avLst/>
            </a:prstGeom>
          </p:spPr>
        </p:pic>
        <p:sp>
          <p:nvSpPr>
            <p:cNvPr id="17" name="Text 9"/>
            <p:cNvSpPr txBox="1"/>
            <p:nvPr/>
          </p:nvSpPr>
          <p:spPr>
            <a:xfrm>
              <a:off x="1028700" y="6458407"/>
              <a:ext cx="300106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Jira </a:t>
              </a:r>
              <a:r>
                <a:rPr lang="en-US" sz="1000" dirty="0" err="1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기반</a:t>
              </a:r>
              <a:r>
                <a:rPr 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ko-KR" altLang="en-US" sz="1000" dirty="0" smtClean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자체 </a:t>
              </a:r>
              <a:r>
                <a:rPr lang="ko-KR" altLang="en-US" sz="1000" dirty="0" err="1" smtClean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협업툴</a:t>
              </a:r>
              <a:r>
                <a:rPr lang="ko-KR" altLang="en-US" sz="1000" dirty="0" smtClean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사용 </a:t>
              </a:r>
              <a:r>
                <a:rPr lang="en-US" altLang="ko-KR" sz="1000" dirty="0" smtClean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Task</a:t>
              </a:r>
              <a:r>
                <a:rPr lang="en-US" sz="1000" dirty="0" smtClean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및 </a:t>
              </a:r>
              <a:r>
                <a:rPr lang="ko-KR" altLang="en-US" sz="1000" dirty="0" smtClean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일정</a:t>
              </a:r>
              <a:r>
                <a:rPr lang="en-US" sz="1000" dirty="0" smtClean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관리</a:t>
              </a:r>
              <a:endParaRPr lang="en-US" sz="1000" dirty="0"/>
            </a:p>
          </p:txBody>
        </p:sp>
        <p:pic>
          <p:nvPicPr>
            <p:cNvPr id="18" name="Image 6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38505" y="6495898"/>
              <a:ext cx="114300" cy="114300"/>
            </a:xfrm>
            <a:prstGeom prst="rect">
              <a:avLst/>
            </a:prstGeom>
          </p:spPr>
        </p:pic>
        <p:sp>
          <p:nvSpPr>
            <p:cNvPr id="19" name="Text 10"/>
            <p:cNvSpPr txBox="1"/>
            <p:nvPr/>
          </p:nvSpPr>
          <p:spPr>
            <a:xfrm>
              <a:off x="1028700" y="6724498"/>
              <a:ext cx="300106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 err="1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주간</a:t>
              </a:r>
              <a:r>
                <a:rPr 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000" dirty="0" smtClean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정</a:t>
              </a:r>
              <a:r>
                <a:rPr lang="ko-KR" altLang="en-US" sz="1000" dirty="0" smtClean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</a:t>
              </a:r>
              <a:r>
                <a:rPr lang="en-US" sz="1000" dirty="0" smtClean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회의로 진행 상황 점검</a:t>
              </a:r>
              <a:endParaRPr lang="en-US" sz="1000" dirty="0"/>
            </a:p>
          </p:txBody>
        </p:sp>
        <p:pic>
          <p:nvPicPr>
            <p:cNvPr id="20" name="Image 7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38505" y="6762902"/>
              <a:ext cx="114300" cy="114300"/>
            </a:xfrm>
            <a:prstGeom prst="rect">
              <a:avLst/>
            </a:prstGeom>
          </p:spPr>
        </p:pic>
      </p:grpSp>
      <p:sp>
        <p:nvSpPr>
          <p:cNvPr id="21" name="Shape 11"/>
          <p:cNvSpPr/>
          <p:nvPr/>
        </p:nvSpPr>
        <p:spPr>
          <a:xfrm>
            <a:off x="4291441" y="4246085"/>
            <a:ext cx="3457346" cy="2160000"/>
          </a:xfrm>
          <a:prstGeom prst="roundRect">
            <a:avLst>
              <a:gd name="adj" fmla="val 4687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2" name="Shape 12"/>
          <p:cNvSpPr/>
          <p:nvPr/>
        </p:nvSpPr>
        <p:spPr>
          <a:xfrm>
            <a:off x="4291441" y="4246085"/>
            <a:ext cx="3457346" cy="57607"/>
          </a:xfrm>
          <a:prstGeom prst="roundRect">
            <a:avLst>
              <a:gd name="adj" fmla="val 198413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hape 13"/>
          <p:cNvSpPr/>
          <p:nvPr/>
        </p:nvSpPr>
        <p:spPr>
          <a:xfrm>
            <a:off x="4520041" y="4531378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4686462" y="4684082"/>
            <a:ext cx="200254" cy="22860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4520041" y="5217178"/>
            <a:ext cx="13176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협업 방식</a:t>
            </a:r>
            <a:endParaRPr lang="en-US" sz="1300" dirty="0"/>
          </a:p>
        </p:txBody>
      </p:sp>
      <p:sp>
        <p:nvSpPr>
          <p:cNvPr id="26" name="Text 15"/>
          <p:cNvSpPr txBox="1"/>
          <p:nvPr/>
        </p:nvSpPr>
        <p:spPr>
          <a:xfrm>
            <a:off x="4710236" y="5598482"/>
            <a:ext cx="29251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기반 통합 개발 환경 구축</a:t>
            </a:r>
            <a:endParaRPr lang="en-US" sz="10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20041" y="5636887"/>
            <a:ext cx="114300" cy="114300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4710236" y="5865487"/>
            <a:ext cx="3001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r>
              <a:rPr lang="en-US" altLang="ko-KR" dirty="0"/>
              <a:t> Antigravity </a:t>
            </a:r>
            <a:r>
              <a:rPr lang="ko-KR" altLang="en-US" dirty="0"/>
              <a:t>기반 시스템 구현</a:t>
            </a:r>
            <a:r>
              <a:rPr lang="ko-KR" altLang="ko-KR" dirty="0"/>
              <a:t> </a:t>
            </a:r>
            <a:endParaRPr lang="en-US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20041" y="5902978"/>
            <a:ext cx="114300" cy="114300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4710236" y="6131578"/>
            <a:ext cx="29251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r>
              <a:rPr lang="ko-KR" altLang="en-US" dirty="0" smtClean="0"/>
              <a:t>개발 가상 환경 </a:t>
            </a:r>
            <a:r>
              <a:rPr lang="ko-KR" altLang="en-US" dirty="0"/>
              <a:t>통일 </a:t>
            </a:r>
            <a:endParaRPr lang="en-US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20041" y="6169982"/>
            <a:ext cx="114300" cy="114300"/>
          </a:xfrm>
          <a:prstGeom prst="rect">
            <a:avLst/>
          </a:prstGeom>
        </p:spPr>
      </p:pic>
      <p:sp>
        <p:nvSpPr>
          <p:cNvPr id="32" name="Shape 18"/>
          <p:cNvSpPr/>
          <p:nvPr/>
        </p:nvSpPr>
        <p:spPr>
          <a:xfrm>
            <a:off x="8101308" y="4246085"/>
            <a:ext cx="3457346" cy="2160000"/>
          </a:xfrm>
          <a:prstGeom prst="roundRect">
            <a:avLst>
              <a:gd name="adj" fmla="val 4687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19"/>
          <p:cNvSpPr/>
          <p:nvPr/>
        </p:nvSpPr>
        <p:spPr>
          <a:xfrm>
            <a:off x="8101308" y="4246085"/>
            <a:ext cx="3457346" cy="57607"/>
          </a:xfrm>
          <a:prstGeom prst="roundRect">
            <a:avLst>
              <a:gd name="adj" fmla="val 198413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hape 20"/>
          <p:cNvSpPr/>
          <p:nvPr/>
        </p:nvSpPr>
        <p:spPr>
          <a:xfrm>
            <a:off x="8329908" y="4531378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82612" y="4684082"/>
            <a:ext cx="228600" cy="228600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8329908" y="5217178"/>
            <a:ext cx="16824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00" b="1" dirty="0" smtClean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계획</a:t>
            </a:r>
            <a:endParaRPr lang="en-US" sz="1300" dirty="0"/>
          </a:p>
        </p:txBody>
      </p:sp>
      <p:sp>
        <p:nvSpPr>
          <p:cNvPr id="37" name="Text 22"/>
          <p:cNvSpPr txBox="1"/>
          <p:nvPr/>
        </p:nvSpPr>
        <p:spPr>
          <a:xfrm>
            <a:off x="8520103" y="5598482"/>
            <a:ext cx="3001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시나리오 및 전체 기획 구조 설계</a:t>
            </a:r>
            <a:endParaRPr lang="en-US" sz="1000" dirty="0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29908" y="5636887"/>
            <a:ext cx="114300" cy="114300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8520103" y="5865487"/>
            <a:ext cx="3001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 </a:t>
            </a:r>
            <a:r>
              <a:rPr lang="ko-KR" altLang="en-US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</a:t>
            </a:r>
            <a:r>
              <a:rPr lang="en-US" altLang="ko-KR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  <a:r>
              <a:rPr lang="ko-KR" altLang="en-US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파이프라인 설계</a:t>
            </a:r>
            <a:endParaRPr lang="en-US" sz="100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29908" y="5902978"/>
            <a:ext cx="114300" cy="114300"/>
          </a:xfrm>
          <a:prstGeom prst="rect">
            <a:avLst/>
          </a:prstGeom>
        </p:spPr>
      </p:pic>
      <p:sp>
        <p:nvSpPr>
          <p:cNvPr id="41" name="Text 24"/>
          <p:cNvSpPr txBox="1"/>
          <p:nvPr/>
        </p:nvSpPr>
        <p:spPr>
          <a:xfrm>
            <a:off x="8520103" y="6131578"/>
            <a:ext cx="3001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</a:t>
            </a:r>
            <a:r>
              <a:rPr lang="ko-KR" altLang="en-US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</a:t>
            </a:r>
            <a:r>
              <a:rPr lang="en-US" altLang="ko-KR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</a:t>
            </a:r>
            <a:r>
              <a:rPr lang="ko-KR" altLang="en-US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</a:t>
            </a:r>
            <a:r>
              <a:rPr lang="ko-KR" altLang="en-US" sz="1000" dirty="0" err="1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</a:t>
            </a:r>
            <a:r>
              <a:rPr lang="ko-KR" altLang="en-US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API,DB </a:t>
            </a:r>
            <a:r>
              <a:rPr lang="ko-KR" altLang="en-US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1000" dirty="0"/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29908" y="6169982"/>
            <a:ext cx="114300" cy="114300"/>
          </a:xfrm>
          <a:prstGeom prst="rect">
            <a:avLst/>
          </a:prstGeom>
        </p:spPr>
      </p:pic>
      <p:grpSp>
        <p:nvGrpSpPr>
          <p:cNvPr id="78" name="그룹 77"/>
          <p:cNvGrpSpPr/>
          <p:nvPr/>
        </p:nvGrpSpPr>
        <p:grpSpPr>
          <a:xfrm>
            <a:off x="609905" y="1417319"/>
            <a:ext cx="10800000" cy="2287829"/>
            <a:chOff x="609905" y="1970532"/>
            <a:chExt cx="10800000" cy="2287829"/>
          </a:xfrm>
        </p:grpSpPr>
        <p:pic>
          <p:nvPicPr>
            <p:cNvPr id="43" name="Image 16" descr="preencoded.png"/>
            <p:cNvPicPr>
              <a:picLocks noChangeAspect="1"/>
            </p:cNvPicPr>
            <p:nvPr/>
          </p:nvPicPr>
          <p:blipFill>
            <a:blip r:embed="rId12"/>
            <a:srcRect l="-6" r="-6"/>
            <a:stretch/>
          </p:blipFill>
          <p:spPr>
            <a:xfrm>
              <a:off x="609905" y="1970532"/>
              <a:ext cx="10800000" cy="2287829"/>
            </a:xfrm>
            <a:prstGeom prst="rect">
              <a:avLst/>
            </a:prstGeom>
          </p:spPr>
        </p:pic>
        <p:sp>
          <p:nvSpPr>
            <p:cNvPr id="44" name="Text 25"/>
            <p:cNvSpPr txBox="1"/>
            <p:nvPr/>
          </p:nvSpPr>
          <p:spPr>
            <a:xfrm>
              <a:off x="1209751" y="2143354"/>
              <a:ext cx="1017270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E3A8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프로젝트 일정 (6 Weeks) </a:t>
              </a:r>
              <a:endParaRPr lang="en-US" sz="1500" dirty="0"/>
            </a:p>
          </p:txBody>
        </p:sp>
        <p:pic>
          <p:nvPicPr>
            <p:cNvPr id="45" name="Image 17" descr="preencoded.png"/>
            <p:cNvPicPr>
              <a:picLocks noChangeAspect="1"/>
            </p:cNvPicPr>
            <p:nvPr/>
          </p:nvPicPr>
          <p:blipFill>
            <a:blip r:embed="rId13"/>
            <a:srcRect l="-1648" r="-1648"/>
            <a:stretch/>
          </p:blipFill>
          <p:spPr>
            <a:xfrm>
              <a:off x="923544" y="2180844"/>
              <a:ext cx="171907" cy="190195"/>
            </a:xfrm>
            <a:prstGeom prst="rect">
              <a:avLst/>
            </a:prstGeom>
          </p:spPr>
        </p:pic>
        <p:pic>
          <p:nvPicPr>
            <p:cNvPr id="46" name="Image 18" descr="preencoded.png"/>
            <p:cNvPicPr>
              <a:picLocks noChangeAspect="1"/>
            </p:cNvPicPr>
            <p:nvPr/>
          </p:nvPicPr>
          <p:blipFill>
            <a:blip r:embed="rId14"/>
            <a:srcRect t="-398" b="-398"/>
            <a:stretch/>
          </p:blipFill>
          <p:spPr>
            <a:xfrm>
              <a:off x="923544" y="3421246"/>
              <a:ext cx="10344607" cy="38405"/>
            </a:xfrm>
            <a:prstGeom prst="rect">
              <a:avLst/>
            </a:prstGeom>
          </p:spPr>
        </p:pic>
        <p:pic>
          <p:nvPicPr>
            <p:cNvPr id="47" name="Image 19" descr="preencoded.png"/>
            <p:cNvPicPr>
              <a:picLocks noChangeAspect="1"/>
            </p:cNvPicPr>
            <p:nvPr/>
          </p:nvPicPr>
          <p:blipFill>
            <a:blip r:embed="rId15"/>
            <a:srcRect t="-398" b="-398"/>
            <a:stretch/>
          </p:blipFill>
          <p:spPr>
            <a:xfrm>
              <a:off x="925004" y="3390594"/>
              <a:ext cx="10344607" cy="38405"/>
            </a:xfrm>
            <a:prstGeom prst="rect">
              <a:avLst/>
            </a:prstGeom>
          </p:spPr>
        </p:pic>
        <p:sp>
          <p:nvSpPr>
            <p:cNvPr id="48" name="Text 26"/>
            <p:cNvSpPr txBox="1"/>
            <p:nvPr/>
          </p:nvSpPr>
          <p:spPr>
            <a:xfrm>
              <a:off x="1581912" y="3476549"/>
              <a:ext cx="59984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Phase 1</a:t>
              </a:r>
              <a:endParaRPr lang="en-US" sz="1000" dirty="0"/>
            </a:p>
          </p:txBody>
        </p:sp>
        <p:pic>
          <p:nvPicPr>
            <p:cNvPr id="49" name="Image 20" descr="preencoded.png"/>
            <p:cNvPicPr>
              <a:picLocks noChangeAspect="1"/>
            </p:cNvPicPr>
            <p:nvPr/>
          </p:nvPicPr>
          <p:blipFill>
            <a:blip r:embed="rId16"/>
            <a:srcRect l="-216" r="-216"/>
            <a:stretch/>
          </p:blipFill>
          <p:spPr>
            <a:xfrm>
              <a:off x="1430122" y="3705149"/>
              <a:ext cx="819302" cy="362102"/>
            </a:xfrm>
            <a:prstGeom prst="rect">
              <a:avLst/>
            </a:prstGeom>
          </p:spPr>
        </p:pic>
        <p:sp>
          <p:nvSpPr>
            <p:cNvPr id="50" name="Text 27"/>
            <p:cNvSpPr txBox="1"/>
            <p:nvPr/>
          </p:nvSpPr>
          <p:spPr>
            <a:xfrm>
              <a:off x="1401775" y="3705149"/>
              <a:ext cx="876910" cy="362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요구사항 정의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&amp; 설계 확정</a:t>
              </a:r>
              <a:endParaRPr lang="en-US" sz="900" dirty="0"/>
            </a:p>
          </p:txBody>
        </p:sp>
        <p:sp>
          <p:nvSpPr>
            <p:cNvPr id="51" name="Text 28"/>
            <p:cNvSpPr txBox="1"/>
            <p:nvPr/>
          </p:nvSpPr>
          <p:spPr>
            <a:xfrm>
              <a:off x="3284525" y="3476549"/>
              <a:ext cx="59984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730A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Phase 2</a:t>
              </a:r>
              <a:endParaRPr lang="en-US" sz="1000" dirty="0"/>
            </a:p>
          </p:txBody>
        </p:sp>
        <p:pic>
          <p:nvPicPr>
            <p:cNvPr id="52" name="Image 21" descr="preencoded.png"/>
            <p:cNvPicPr>
              <a:picLocks noChangeAspect="1"/>
            </p:cNvPicPr>
            <p:nvPr/>
          </p:nvPicPr>
          <p:blipFill>
            <a:blip r:embed="rId17"/>
            <a:srcRect l="-399" r="-399"/>
            <a:stretch/>
          </p:blipFill>
          <p:spPr>
            <a:xfrm>
              <a:off x="3116275" y="3705149"/>
              <a:ext cx="857707" cy="362102"/>
            </a:xfrm>
            <a:prstGeom prst="rect">
              <a:avLst/>
            </a:prstGeom>
          </p:spPr>
        </p:pic>
        <p:sp>
          <p:nvSpPr>
            <p:cNvPr id="53" name="Text 29"/>
            <p:cNvSpPr txBox="1"/>
            <p:nvPr/>
          </p:nvSpPr>
          <p:spPr>
            <a:xfrm>
              <a:off x="3087014" y="3705149"/>
              <a:ext cx="914400" cy="362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 정의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&amp; AI 모델 PoC</a:t>
              </a:r>
              <a:endParaRPr lang="en-US" sz="900" dirty="0"/>
            </a:p>
          </p:txBody>
        </p:sp>
        <p:sp>
          <p:nvSpPr>
            <p:cNvPr id="54" name="Text 30"/>
            <p:cNvSpPr txBox="1"/>
            <p:nvPr/>
          </p:nvSpPr>
          <p:spPr>
            <a:xfrm>
              <a:off x="4988052" y="3476549"/>
              <a:ext cx="59984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5B21B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Phase 3</a:t>
              </a:r>
              <a:endParaRPr lang="en-US" sz="1000" dirty="0"/>
            </a:p>
          </p:txBody>
        </p:sp>
        <p:pic>
          <p:nvPicPr>
            <p:cNvPr id="55" name="Image 22" descr="preencoded.png"/>
            <p:cNvPicPr>
              <a:picLocks noChangeAspect="1"/>
            </p:cNvPicPr>
            <p:nvPr/>
          </p:nvPicPr>
          <p:blipFill>
            <a:blip r:embed="rId18"/>
            <a:srcRect l="-243" r="-243"/>
            <a:stretch/>
          </p:blipFill>
          <p:spPr>
            <a:xfrm>
              <a:off x="4926787" y="3705149"/>
              <a:ext cx="638251" cy="362102"/>
            </a:xfrm>
            <a:prstGeom prst="rect">
              <a:avLst/>
            </a:prstGeom>
          </p:spPr>
        </p:pic>
        <p:sp>
          <p:nvSpPr>
            <p:cNvPr id="56" name="Text 31"/>
            <p:cNvSpPr txBox="1"/>
            <p:nvPr/>
          </p:nvSpPr>
          <p:spPr>
            <a:xfrm>
              <a:off x="4898441" y="3705149"/>
              <a:ext cx="695858" cy="362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AI 엔진 및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RAG 구축</a:t>
              </a:r>
              <a:endParaRPr lang="en-US" sz="900" dirty="0"/>
            </a:p>
          </p:txBody>
        </p:sp>
        <p:sp>
          <p:nvSpPr>
            <p:cNvPr id="57" name="Text 32"/>
            <p:cNvSpPr txBox="1"/>
            <p:nvPr/>
          </p:nvSpPr>
          <p:spPr>
            <a:xfrm>
              <a:off x="6691579" y="3476549"/>
              <a:ext cx="59984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9D174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Phase 4</a:t>
              </a:r>
              <a:endParaRPr lang="en-US" sz="1000" dirty="0"/>
            </a:p>
          </p:txBody>
        </p:sp>
        <p:pic>
          <p:nvPicPr>
            <p:cNvPr id="58" name="Image 23" descr="preencoded.png"/>
            <p:cNvPicPr>
              <a:picLocks noChangeAspect="1"/>
            </p:cNvPicPr>
            <p:nvPr/>
          </p:nvPicPr>
          <p:blipFill>
            <a:blip r:embed="rId19"/>
            <a:srcRect l="-372" r="-372"/>
            <a:stretch/>
          </p:blipFill>
          <p:spPr>
            <a:xfrm>
              <a:off x="6536131" y="3705149"/>
              <a:ext cx="828446" cy="362102"/>
            </a:xfrm>
            <a:prstGeom prst="rect">
              <a:avLst/>
            </a:prstGeom>
          </p:spPr>
        </p:pic>
        <p:sp>
          <p:nvSpPr>
            <p:cNvPr id="59" name="Text 33"/>
            <p:cNvSpPr txBox="1"/>
            <p:nvPr/>
          </p:nvSpPr>
          <p:spPr>
            <a:xfrm>
              <a:off x="6507785" y="3705149"/>
              <a:ext cx="886054" cy="362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Backend API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&amp; UI 개발</a:t>
              </a:r>
              <a:endParaRPr lang="en-US" sz="900" dirty="0"/>
            </a:p>
          </p:txBody>
        </p:sp>
        <p:sp>
          <p:nvSpPr>
            <p:cNvPr id="60" name="Text 34"/>
            <p:cNvSpPr txBox="1"/>
            <p:nvPr/>
          </p:nvSpPr>
          <p:spPr>
            <a:xfrm>
              <a:off x="8394192" y="3476549"/>
              <a:ext cx="59984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991B1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Phase 5</a:t>
              </a:r>
              <a:endParaRPr lang="en-US" sz="1000" dirty="0"/>
            </a:p>
          </p:txBody>
        </p:sp>
        <p:pic>
          <p:nvPicPr>
            <p:cNvPr id="61" name="Image 24" descr="preencoded.png"/>
            <p:cNvPicPr>
              <a:picLocks noChangeAspect="1"/>
            </p:cNvPicPr>
            <p:nvPr/>
          </p:nvPicPr>
          <p:blipFill>
            <a:blip r:embed="rId20"/>
            <a:srcRect l="-635" r="-635"/>
            <a:stretch/>
          </p:blipFill>
          <p:spPr>
            <a:xfrm>
              <a:off x="8292694" y="3705149"/>
              <a:ext cx="724205" cy="362102"/>
            </a:xfrm>
            <a:prstGeom prst="rect">
              <a:avLst/>
            </a:prstGeom>
          </p:spPr>
        </p:pic>
        <p:sp>
          <p:nvSpPr>
            <p:cNvPr id="62" name="Text 35"/>
            <p:cNvSpPr txBox="1"/>
            <p:nvPr/>
          </p:nvSpPr>
          <p:spPr>
            <a:xfrm>
              <a:off x="8264347" y="3705149"/>
              <a:ext cx="781812" cy="362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시스템 통합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&amp; 성능 개선</a:t>
              </a:r>
              <a:endParaRPr lang="en-US" sz="900" dirty="0"/>
            </a:p>
          </p:txBody>
        </p:sp>
        <p:sp>
          <p:nvSpPr>
            <p:cNvPr id="63" name="Text 36"/>
            <p:cNvSpPr txBox="1"/>
            <p:nvPr/>
          </p:nvSpPr>
          <p:spPr>
            <a:xfrm>
              <a:off x="10096805" y="3476549"/>
              <a:ext cx="59984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65F4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Phase 6</a:t>
              </a:r>
              <a:endParaRPr lang="en-US" sz="1000" dirty="0"/>
            </a:p>
          </p:txBody>
        </p:sp>
        <p:pic>
          <p:nvPicPr>
            <p:cNvPr id="64" name="Image 25" descr="preencoded.png"/>
            <p:cNvPicPr>
              <a:picLocks noChangeAspect="1"/>
            </p:cNvPicPr>
            <p:nvPr/>
          </p:nvPicPr>
          <p:blipFill>
            <a:blip r:embed="rId21"/>
            <a:srcRect t="-8" b="-8"/>
            <a:stretch/>
          </p:blipFill>
          <p:spPr>
            <a:xfrm>
              <a:off x="9930384" y="3705149"/>
              <a:ext cx="847649" cy="362102"/>
            </a:xfrm>
            <a:prstGeom prst="rect">
              <a:avLst/>
            </a:prstGeom>
          </p:spPr>
        </p:pic>
        <p:sp>
          <p:nvSpPr>
            <p:cNvPr id="65" name="Text 37"/>
            <p:cNvSpPr txBox="1"/>
            <p:nvPr/>
          </p:nvSpPr>
          <p:spPr>
            <a:xfrm>
              <a:off x="9901123" y="3705149"/>
              <a:ext cx="905256" cy="362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최종 결과 보고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&amp; 시스템 완성</a:t>
              </a:r>
              <a:endParaRPr lang="en-US" sz="900" dirty="0"/>
            </a:p>
          </p:txBody>
        </p:sp>
        <p:pic>
          <p:nvPicPr>
            <p:cNvPr id="66" name="Image 26" descr="preencoded.png"/>
            <p:cNvPicPr>
              <a:picLocks noChangeAspect="1"/>
            </p:cNvPicPr>
            <p:nvPr/>
          </p:nvPicPr>
          <p:blipFill>
            <a:blip r:embed="rId22"/>
            <a:srcRect/>
            <a:stretch/>
          </p:blipFill>
          <p:spPr>
            <a:xfrm>
              <a:off x="1609344" y="2866644"/>
              <a:ext cx="457200" cy="457200"/>
            </a:xfrm>
            <a:prstGeom prst="rect">
              <a:avLst/>
            </a:prstGeom>
          </p:spPr>
        </p:pic>
        <p:sp>
          <p:nvSpPr>
            <p:cNvPr id="67" name="Text 38"/>
            <p:cNvSpPr txBox="1"/>
            <p:nvPr/>
          </p:nvSpPr>
          <p:spPr>
            <a:xfrm>
              <a:off x="1793138" y="2980944"/>
              <a:ext cx="1719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D4ED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</a:t>
              </a:r>
              <a:endParaRPr lang="en-US" sz="1200" dirty="0"/>
            </a:p>
          </p:txBody>
        </p:sp>
        <p:pic>
          <p:nvPicPr>
            <p:cNvPr id="68" name="Image 27" descr="preencoded.png"/>
            <p:cNvPicPr>
              <a:picLocks noChangeAspect="1"/>
            </p:cNvPicPr>
            <p:nvPr/>
          </p:nvPicPr>
          <p:blipFill>
            <a:blip r:embed="rId22"/>
            <a:srcRect/>
            <a:stretch/>
          </p:blipFill>
          <p:spPr>
            <a:xfrm>
              <a:off x="3312871" y="2866644"/>
              <a:ext cx="457200" cy="457200"/>
            </a:xfrm>
            <a:prstGeom prst="rect">
              <a:avLst/>
            </a:prstGeom>
          </p:spPr>
        </p:pic>
        <p:sp>
          <p:nvSpPr>
            <p:cNvPr id="69" name="Text 39"/>
            <p:cNvSpPr txBox="1"/>
            <p:nvPr/>
          </p:nvSpPr>
          <p:spPr>
            <a:xfrm>
              <a:off x="3496666" y="2980944"/>
              <a:ext cx="1719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4338C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</a:t>
              </a:r>
              <a:endParaRPr lang="en-US" sz="1200" dirty="0"/>
            </a:p>
          </p:txBody>
        </p:sp>
        <p:pic>
          <p:nvPicPr>
            <p:cNvPr id="70" name="Image 28" descr="preencoded.png"/>
            <p:cNvPicPr>
              <a:picLocks noChangeAspect="1"/>
            </p:cNvPicPr>
            <p:nvPr/>
          </p:nvPicPr>
          <p:blipFill>
            <a:blip r:embed="rId22"/>
            <a:srcRect/>
            <a:stretch/>
          </p:blipFill>
          <p:spPr>
            <a:xfrm>
              <a:off x="5015484" y="2866644"/>
              <a:ext cx="457200" cy="457200"/>
            </a:xfrm>
            <a:prstGeom prst="rect">
              <a:avLst/>
            </a:prstGeom>
          </p:spPr>
        </p:pic>
        <p:sp>
          <p:nvSpPr>
            <p:cNvPr id="71" name="Text 40"/>
            <p:cNvSpPr txBox="1"/>
            <p:nvPr/>
          </p:nvSpPr>
          <p:spPr>
            <a:xfrm>
              <a:off x="5199278" y="2980944"/>
              <a:ext cx="1719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D28D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3</a:t>
              </a:r>
              <a:endParaRPr lang="en-US" sz="1200" dirty="0"/>
            </a:p>
          </p:txBody>
        </p:sp>
        <p:pic>
          <p:nvPicPr>
            <p:cNvPr id="72" name="Image 29" descr="preencoded.png"/>
            <p:cNvPicPr>
              <a:picLocks noChangeAspect="1"/>
            </p:cNvPicPr>
            <p:nvPr/>
          </p:nvPicPr>
          <p:blipFill>
            <a:blip r:embed="rId22"/>
            <a:srcRect/>
            <a:stretch/>
          </p:blipFill>
          <p:spPr>
            <a:xfrm>
              <a:off x="6719011" y="2866644"/>
              <a:ext cx="457200" cy="457200"/>
            </a:xfrm>
            <a:prstGeom prst="rect">
              <a:avLst/>
            </a:prstGeom>
          </p:spPr>
        </p:pic>
        <p:sp>
          <p:nvSpPr>
            <p:cNvPr id="73" name="Text 41"/>
            <p:cNvSpPr txBox="1"/>
            <p:nvPr/>
          </p:nvSpPr>
          <p:spPr>
            <a:xfrm>
              <a:off x="6902806" y="2980944"/>
              <a:ext cx="1719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BE185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4</a:t>
              </a:r>
              <a:endParaRPr lang="en-US" sz="1200" dirty="0"/>
            </a:p>
          </p:txBody>
        </p:sp>
        <p:pic>
          <p:nvPicPr>
            <p:cNvPr id="74" name="Image 30" descr="preencoded.png"/>
            <p:cNvPicPr>
              <a:picLocks noChangeAspect="1"/>
            </p:cNvPicPr>
            <p:nvPr/>
          </p:nvPicPr>
          <p:blipFill>
            <a:blip r:embed="rId22"/>
            <a:srcRect/>
            <a:stretch/>
          </p:blipFill>
          <p:spPr>
            <a:xfrm>
              <a:off x="8421624" y="2866644"/>
              <a:ext cx="457200" cy="457200"/>
            </a:xfrm>
            <a:prstGeom prst="rect">
              <a:avLst/>
            </a:prstGeom>
          </p:spPr>
        </p:pic>
        <p:sp>
          <p:nvSpPr>
            <p:cNvPr id="75" name="Text 42"/>
            <p:cNvSpPr txBox="1"/>
            <p:nvPr/>
          </p:nvSpPr>
          <p:spPr>
            <a:xfrm>
              <a:off x="8605418" y="2980944"/>
              <a:ext cx="1719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B91C1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5</a:t>
              </a:r>
              <a:endParaRPr lang="en-US" sz="1200" dirty="0"/>
            </a:p>
          </p:txBody>
        </p:sp>
        <p:pic>
          <p:nvPicPr>
            <p:cNvPr id="76" name="Image 31" descr="preencoded.png"/>
            <p:cNvPicPr>
              <a:picLocks noChangeAspect="1"/>
            </p:cNvPicPr>
            <p:nvPr/>
          </p:nvPicPr>
          <p:blipFill>
            <a:blip r:embed="rId22"/>
            <a:srcRect/>
            <a:stretch/>
          </p:blipFill>
          <p:spPr>
            <a:xfrm>
              <a:off x="10125151" y="2866644"/>
              <a:ext cx="457200" cy="457200"/>
            </a:xfrm>
            <a:prstGeom prst="rect">
              <a:avLst/>
            </a:prstGeom>
          </p:spPr>
        </p:pic>
        <p:sp>
          <p:nvSpPr>
            <p:cNvPr id="77" name="Text 43"/>
            <p:cNvSpPr txBox="1"/>
            <p:nvPr/>
          </p:nvSpPr>
          <p:spPr>
            <a:xfrm>
              <a:off x="10308946" y="2980944"/>
              <a:ext cx="1719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4785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6</a:t>
              </a:r>
              <a:endParaRPr lang="en-US" sz="1200" dirty="0"/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A4_Project_2AI1_PA_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함유라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>
            <a:extLst>
              <a:ext uri="{FF2B5EF4-FFF2-40B4-BE49-F238E27FC236}">
                <a16:creationId xmlns:a16="http://schemas.microsoft.com/office/drawing/2014/main" id="{49320EE5-889D-0DBB-7614-23E6EDDB2591}"/>
              </a:ext>
            </a:extLst>
          </p:cNvPr>
          <p:cNvGrpSpPr/>
          <p:nvPr/>
        </p:nvGrpSpPr>
        <p:grpSpPr>
          <a:xfrm>
            <a:off x="0" y="1"/>
            <a:ext cx="12191696" cy="6743699"/>
            <a:chOff x="0" y="1"/>
            <a:chExt cx="12191696" cy="6743699"/>
          </a:xfrm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7FFDFB62-A95D-5628-5F21-4DC7E78C4628}"/>
                </a:ext>
              </a:extLst>
            </p:cNvPr>
            <p:cNvGrpSpPr/>
            <p:nvPr/>
          </p:nvGrpSpPr>
          <p:grpSpPr>
            <a:xfrm>
              <a:off x="7429501" y="1"/>
              <a:ext cx="4762195" cy="4285793"/>
              <a:chOff x="7429501" y="1"/>
              <a:chExt cx="4762195" cy="4285793"/>
            </a:xfrm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E2321241-F77D-C4C8-ACA0-2F1653E5D6D0}"/>
                  </a:ext>
                </a:extLst>
              </p:cNvPr>
              <p:cNvSpPr/>
              <p:nvPr/>
            </p:nvSpPr>
            <p:spPr>
              <a:xfrm>
                <a:off x="7429501" y="1"/>
                <a:ext cx="4762195" cy="4285793"/>
              </a:xfrm>
              <a:custGeom>
                <a:avLst/>
                <a:gdLst>
                  <a:gd name="connsiteX0" fmla="*/ 385126 w 4762195"/>
                  <a:gd name="connsiteY0" fmla="*/ 0 h 4285793"/>
                  <a:gd name="connsiteX1" fmla="*/ 4762195 w 4762195"/>
                  <a:gd name="connsiteY1" fmla="*/ 0 h 4285793"/>
                  <a:gd name="connsiteX2" fmla="*/ 4762195 w 4762195"/>
                  <a:gd name="connsiteY2" fmla="*/ 3554154 h 4285793"/>
                  <a:gd name="connsiteX3" fmla="*/ 4675136 w 4762195"/>
                  <a:gd name="connsiteY3" fmla="*/ 3633279 h 4285793"/>
                  <a:gd name="connsiteX4" fmla="*/ 2857500 w 4762195"/>
                  <a:gd name="connsiteY4" fmla="*/ 4285793 h 4285793"/>
                  <a:gd name="connsiteX5" fmla="*/ 0 w 4762195"/>
                  <a:gd name="connsiteY5" fmla="*/ 1428293 h 4285793"/>
                  <a:gd name="connsiteX6" fmla="*/ 344885 w 4762195"/>
                  <a:gd name="connsiteY6" fmla="*/ 66239 h 4285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62195" h="4285793">
                    <a:moveTo>
                      <a:pt x="385126" y="0"/>
                    </a:moveTo>
                    <a:lnTo>
                      <a:pt x="4762195" y="0"/>
                    </a:lnTo>
                    <a:lnTo>
                      <a:pt x="4762195" y="3554154"/>
                    </a:lnTo>
                    <a:lnTo>
                      <a:pt x="4675136" y="3633279"/>
                    </a:lnTo>
                    <a:cubicBezTo>
                      <a:pt x="4181191" y="4040918"/>
                      <a:pt x="3547942" y="4285793"/>
                      <a:pt x="2857500" y="4285793"/>
                    </a:cubicBezTo>
                    <a:cubicBezTo>
                      <a:pt x="1279346" y="4285793"/>
                      <a:pt x="0" y="3006447"/>
                      <a:pt x="0" y="1428293"/>
                    </a:cubicBezTo>
                    <a:cubicBezTo>
                      <a:pt x="0" y="935120"/>
                      <a:pt x="124937" y="471127"/>
                      <a:pt x="344885" y="66239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6" name="Shape 3"/>
              <p:cNvSpPr/>
              <p:nvPr/>
            </p:nvSpPr>
            <p:spPr>
              <a:xfrm>
                <a:off x="9810598" y="2381098"/>
                <a:ext cx="952805" cy="952805"/>
              </a:xfrm>
              <a:prstGeom prst="ellipse">
                <a:avLst/>
              </a:prstGeom>
              <a:solidFill>
                <a:srgbClr val="F87171">
                  <a:alpha val="10000"/>
                </a:srgbClr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046D11B8-DEFF-C73A-BFAB-9DD31B83BB17}"/>
                </a:ext>
              </a:extLst>
            </p:cNvPr>
            <p:cNvSpPr/>
            <p:nvPr/>
          </p:nvSpPr>
          <p:spPr>
            <a:xfrm>
              <a:off x="0" y="2572207"/>
              <a:ext cx="3332988" cy="4171493"/>
            </a:xfrm>
            <a:custGeom>
              <a:avLst/>
              <a:gdLst>
                <a:gd name="connsiteX0" fmla="*/ 951891 w 3332988"/>
                <a:gd name="connsiteY0" fmla="*/ 0 h 4171493"/>
                <a:gd name="connsiteX1" fmla="*/ 3320696 w 3332988"/>
                <a:gd name="connsiteY1" fmla="*/ 2137645 h 4171493"/>
                <a:gd name="connsiteX2" fmla="*/ 3332988 w 3332988"/>
                <a:gd name="connsiteY2" fmla="*/ 2381077 h 4171493"/>
                <a:gd name="connsiteX3" fmla="*/ 3332988 w 3332988"/>
                <a:gd name="connsiteY3" fmla="*/ 2381119 h 4171493"/>
                <a:gd name="connsiteX4" fmla="*/ 3320696 w 3332988"/>
                <a:gd name="connsiteY4" fmla="*/ 2624552 h 4171493"/>
                <a:gd name="connsiteX5" fmla="*/ 2635582 w 3332988"/>
                <a:gd name="connsiteY5" fmla="*/ 4064789 h 4171493"/>
                <a:gd name="connsiteX6" fmla="*/ 2518177 w 3332988"/>
                <a:gd name="connsiteY6" fmla="*/ 4171493 h 4171493"/>
                <a:gd name="connsiteX7" fmla="*/ 0 w 3332988"/>
                <a:gd name="connsiteY7" fmla="*/ 4171493 h 4171493"/>
                <a:gd name="connsiteX8" fmla="*/ 0 w 3332988"/>
                <a:gd name="connsiteY8" fmla="*/ 199191 h 4171493"/>
                <a:gd name="connsiteX9" fmla="*/ 25060 w 3332988"/>
                <a:gd name="connsiteY9" fmla="*/ 187119 h 4171493"/>
                <a:gd name="connsiteX10" fmla="*/ 951891 w 3332988"/>
                <a:gd name="connsiteY10" fmla="*/ 0 h 4171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32988" h="4171493">
                  <a:moveTo>
                    <a:pt x="951891" y="0"/>
                  </a:moveTo>
                  <a:cubicBezTo>
                    <a:pt x="2184745" y="0"/>
                    <a:pt x="3198760" y="936962"/>
                    <a:pt x="3320696" y="2137645"/>
                  </a:cubicBezTo>
                  <a:lnTo>
                    <a:pt x="3332988" y="2381077"/>
                  </a:lnTo>
                  <a:lnTo>
                    <a:pt x="3332988" y="2381119"/>
                  </a:lnTo>
                  <a:lnTo>
                    <a:pt x="3320696" y="2624552"/>
                  </a:lnTo>
                  <a:cubicBezTo>
                    <a:pt x="3263792" y="3184870"/>
                    <a:pt x="3012614" y="3687756"/>
                    <a:pt x="2635582" y="4064789"/>
                  </a:cubicBezTo>
                  <a:lnTo>
                    <a:pt x="2518177" y="4171493"/>
                  </a:lnTo>
                  <a:lnTo>
                    <a:pt x="0" y="4171493"/>
                  </a:lnTo>
                  <a:lnTo>
                    <a:pt x="0" y="199191"/>
                  </a:lnTo>
                  <a:lnTo>
                    <a:pt x="25060" y="187119"/>
                  </a:lnTo>
                  <a:cubicBezTo>
                    <a:pt x="309931" y="66629"/>
                    <a:pt x="623130" y="0"/>
                    <a:pt x="951891" y="0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</p:grpSp>
      <p:sp>
        <p:nvSpPr>
          <p:cNvPr id="7" name="Shape 4"/>
          <p:cNvSpPr/>
          <p:nvPr/>
        </p:nvSpPr>
        <p:spPr>
          <a:xfrm>
            <a:off x="952805" y="591617"/>
            <a:ext cx="1561795" cy="333756"/>
          </a:xfrm>
          <a:prstGeom prst="roundRect">
            <a:avLst>
              <a:gd name="adj" fmla="val 273973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1715" y="591617"/>
            <a:ext cx="1624889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ctr">
              <a:buNone/>
            </a:pPr>
            <a:r>
              <a:rPr lang="en-US" sz="1000" b="1" kern="0" spc="5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REPORT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23414" y="591617"/>
            <a:ext cx="886054" cy="333756"/>
          </a:xfrm>
          <a:prstGeom prst="roundRect">
            <a:avLst>
              <a:gd name="adj" fmla="val 273973"/>
            </a:avLst>
          </a:prstGeom>
          <a:solidFill>
            <a:srgbClr val="1E40AF">
              <a:alpha val="10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95067" y="591617"/>
            <a:ext cx="94366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ctr">
              <a:buNone/>
            </a:pPr>
            <a:r>
              <a:rPr lang="en-US" sz="1000" b="1" kern="0" spc="52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52805" y="1153058"/>
            <a:ext cx="75895" cy="309524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410005" y="1153058"/>
            <a:ext cx="7048195" cy="20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kern="0" spc="-96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Architecture</a:t>
            </a:r>
          </a:p>
        </p:txBody>
      </p:sp>
      <p:sp>
        <p:nvSpPr>
          <p:cNvPr id="13" name="Text 10"/>
          <p:cNvSpPr txBox="1"/>
          <p:nvPr/>
        </p:nvSpPr>
        <p:spPr>
          <a:xfrm>
            <a:off x="1487643" y="2856129"/>
            <a:ext cx="6558338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차세대 실전형 AI 면접 플랫폼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설계 및 최적화 전략</a:t>
            </a:r>
            <a:endParaRPr lang="en-US" sz="2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 t="-15" b="-15"/>
          <a:stretch/>
        </p:blipFill>
        <p:spPr>
          <a:xfrm>
            <a:off x="952805" y="5200193"/>
            <a:ext cx="4245559" cy="10671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33195" y="5428793"/>
            <a:ext cx="14612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엄재민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333195" y="5809183"/>
            <a:ext cx="1608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 총괄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061411" y="5485486"/>
            <a:ext cx="9144" cy="4956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452774" y="5485486"/>
            <a:ext cx="14813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발표일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3452774" y="5723230"/>
            <a:ext cx="162854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03월 11일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129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E0F4E01-B89F-B15D-C704-731F07A58B45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DAB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70E4EA51-BE88-1B5D-DFCF-67C0E0D27635}"/>
                </a:ext>
              </a:extLst>
            </p:cNvPr>
            <p:cNvSpPr/>
            <p:nvPr/>
          </p:nvSpPr>
          <p:spPr>
            <a:xfrm>
              <a:off x="8858707" y="0"/>
              <a:ext cx="3332988" cy="2857501"/>
            </a:xfrm>
            <a:custGeom>
              <a:avLst/>
              <a:gdLst>
                <a:gd name="connsiteX0" fmla="*/ 256818 w 3332988"/>
                <a:gd name="connsiteY0" fmla="*/ 0 h 2857501"/>
                <a:gd name="connsiteX1" fmla="*/ 3332988 w 3332988"/>
                <a:gd name="connsiteY1" fmla="*/ 0 h 2857501"/>
                <a:gd name="connsiteX2" fmla="*/ 3332988 w 3332988"/>
                <a:gd name="connsiteY2" fmla="*/ 2210715 h 2857501"/>
                <a:gd name="connsiteX3" fmla="*/ 3252300 w 3332988"/>
                <a:gd name="connsiteY3" fmla="*/ 2299495 h 2857501"/>
                <a:gd name="connsiteX4" fmla="*/ 1905153 w 3332988"/>
                <a:gd name="connsiteY4" fmla="*/ 2857501 h 2857501"/>
                <a:gd name="connsiteX5" fmla="*/ 0 w 3332988"/>
                <a:gd name="connsiteY5" fmla="*/ 952348 h 2857501"/>
                <a:gd name="connsiteX6" fmla="*/ 229942 w 3332988"/>
                <a:gd name="connsiteY6" fmla="*/ 44239 h 285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32988" h="2857501">
                  <a:moveTo>
                    <a:pt x="256818" y="0"/>
                  </a:moveTo>
                  <a:lnTo>
                    <a:pt x="3332988" y="0"/>
                  </a:lnTo>
                  <a:lnTo>
                    <a:pt x="3332988" y="2210715"/>
                  </a:lnTo>
                  <a:lnTo>
                    <a:pt x="3252300" y="2299495"/>
                  </a:lnTo>
                  <a:cubicBezTo>
                    <a:pt x="2907535" y="2644260"/>
                    <a:pt x="2431246" y="2857501"/>
                    <a:pt x="1905153" y="2857501"/>
                  </a:cubicBezTo>
                  <a:cubicBezTo>
                    <a:pt x="852966" y="2857501"/>
                    <a:pt x="0" y="2004535"/>
                    <a:pt x="0" y="952348"/>
                  </a:cubicBezTo>
                  <a:cubicBezTo>
                    <a:pt x="0" y="623540"/>
                    <a:pt x="83298" y="314186"/>
                    <a:pt x="229942" y="44239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7901487F-0656-75A1-C3E7-B0EB1277F920}"/>
                </a:ext>
              </a:extLst>
            </p:cNvPr>
            <p:cNvSpPr/>
            <p:nvPr/>
          </p:nvSpPr>
          <p:spPr>
            <a:xfrm>
              <a:off x="0" y="4476902"/>
              <a:ext cx="2381098" cy="2381098"/>
            </a:xfrm>
            <a:custGeom>
              <a:avLst/>
              <a:gdLst>
                <a:gd name="connsiteX0" fmla="*/ 952348 w 2381098"/>
                <a:gd name="connsiteY0" fmla="*/ 0 h 2381098"/>
                <a:gd name="connsiteX1" fmla="*/ 2381098 w 2381098"/>
                <a:gd name="connsiteY1" fmla="*/ 1428750 h 2381098"/>
                <a:gd name="connsiteX2" fmla="*/ 2054841 w 2381098"/>
                <a:gd name="connsiteY2" fmla="*/ 2337568 h 2381098"/>
                <a:gd name="connsiteX3" fmla="*/ 2015278 w 2381098"/>
                <a:gd name="connsiteY3" fmla="*/ 2381098 h 2381098"/>
                <a:gd name="connsiteX4" fmla="*/ 0 w 2381098"/>
                <a:gd name="connsiteY4" fmla="*/ 2381098 h 2381098"/>
                <a:gd name="connsiteX5" fmla="*/ 0 w 2381098"/>
                <a:gd name="connsiteY5" fmla="*/ 365820 h 2381098"/>
                <a:gd name="connsiteX6" fmla="*/ 43530 w 2381098"/>
                <a:gd name="connsiteY6" fmla="*/ 326257 h 2381098"/>
                <a:gd name="connsiteX7" fmla="*/ 952348 w 2381098"/>
                <a:gd name="connsiteY7" fmla="*/ 0 h 2381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81098" h="2381098">
                  <a:moveTo>
                    <a:pt x="952348" y="0"/>
                  </a:moveTo>
                  <a:cubicBezTo>
                    <a:pt x="1741425" y="0"/>
                    <a:pt x="2381098" y="639673"/>
                    <a:pt x="2381098" y="1428750"/>
                  </a:cubicBezTo>
                  <a:cubicBezTo>
                    <a:pt x="2381098" y="1773971"/>
                    <a:pt x="2258661" y="2090596"/>
                    <a:pt x="2054841" y="2337568"/>
                  </a:cubicBezTo>
                  <a:lnTo>
                    <a:pt x="2015278" y="2381098"/>
                  </a:lnTo>
                  <a:lnTo>
                    <a:pt x="0" y="2381098"/>
                  </a:lnTo>
                  <a:lnTo>
                    <a:pt x="0" y="365820"/>
                  </a:lnTo>
                  <a:lnTo>
                    <a:pt x="43530" y="326257"/>
                  </a:lnTo>
                  <a:cubicBezTo>
                    <a:pt x="290503" y="122438"/>
                    <a:pt x="607127" y="0"/>
                    <a:pt x="952348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</p:grpSp>
      <p:sp>
        <p:nvSpPr>
          <p:cNvPr id="6" name="Shape 4"/>
          <p:cNvSpPr/>
          <p:nvPr/>
        </p:nvSpPr>
        <p:spPr>
          <a:xfrm>
            <a:off x="571500" y="476402"/>
            <a:ext cx="57607" cy="81930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9302" y="476402"/>
            <a:ext cx="11106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</a:t>
            </a:r>
            <a:r>
              <a:rPr lang="en-US" sz="30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30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목표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19302" y="1009498"/>
            <a:ext cx="10992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채용 시대의 대규모 데이터 처리와 시스템 고도화 전략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580998"/>
            <a:ext cx="3530498" cy="480060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25" r="-25"/>
          <a:stretch/>
        </p:blipFill>
        <p:spPr>
          <a:xfrm>
            <a:off x="761695" y="1438351"/>
            <a:ext cx="1086307" cy="2478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3349" y="1438351"/>
            <a:ext cx="1143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857707" y="2486254"/>
            <a:ext cx="2962656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57707" y="1867205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995782" y="1990649"/>
            <a:ext cx="200254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76756" y="1947672"/>
            <a:ext cx="147492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배경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57707" y="2771546"/>
            <a:ext cx="75895" cy="758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028700" y="2695651"/>
            <a:ext cx="28675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온라인 테스트 툴을 넘어선 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실전형 차세대 면접 플랫폼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대한 필요성 대두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57707" y="3373222"/>
            <a:ext cx="75895" cy="758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028700" y="3297326"/>
            <a:ext cx="28675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채용 프로세스의 디지털 전환 가속화에 따른 고도화된 시스템 요구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57707" y="5609844"/>
            <a:ext cx="2962656" cy="485546"/>
          </a:xfrm>
          <a:prstGeom prst="roundRect">
            <a:avLst>
              <a:gd name="adj" fmla="val 59082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19302" y="5609844"/>
            <a:ext cx="3038551" cy="4864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"Next-Level Interview Platform"</a:t>
            </a:r>
            <a:endParaRPr lang="en-US" sz="10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t="-2" b="-2"/>
          <a:stretch/>
        </p:blipFill>
        <p:spPr>
          <a:xfrm>
            <a:off x="4330598" y="1580998"/>
            <a:ext cx="3530498" cy="4800600"/>
          </a:xfrm>
          <a:prstGeom prst="rect">
            <a:avLst/>
          </a:prstGeom>
        </p:spPr>
      </p:pic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l="-326" r="-326"/>
          <a:stretch/>
        </p:blipFill>
        <p:spPr>
          <a:xfrm>
            <a:off x="4520794" y="1438351"/>
            <a:ext cx="828446" cy="24780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492447" y="1438351"/>
            <a:ext cx="8860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4616806" y="2486254"/>
            <a:ext cx="2962656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616806" y="1867205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40250" y="1990649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35854" y="1947672"/>
            <a:ext cx="147492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기존의 문제점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4616806" y="2771546"/>
            <a:ext cx="75895" cy="75895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4787798" y="2695651"/>
            <a:ext cx="2867558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SaaS 종속성 한계: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대형 클라우드 사업자에 종속되어 데이터 주권 및 커스터마이징 제약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4616806" y="3617366"/>
            <a:ext cx="75895" cy="75895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4787798" y="3541471"/>
            <a:ext cx="2867558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실행환경 공유</a:t>
            </a:r>
            <a:r>
              <a:rPr lang="en-US" altLang="ko-KR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</a:t>
            </a:r>
            <a:r>
              <a:rPr lang="en-US" altLang="ko-KR" sz="1200" b="1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어려움</a:t>
            </a:r>
            <a:r>
              <a:rPr lang="en-US" altLang="ko-KR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</a:t>
            </a:r>
            <a:endParaRPr lang="en-US" altLang="ko-KR" sz="1200" dirty="0"/>
          </a:p>
          <a:p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개발 및 실행 환경을 시스템에 그대로 이식하고 공유하는 것의 어려움</a:t>
            </a:r>
            <a:endParaRPr lang="en-US" altLang="ko-KR" sz="1200" dirty="0"/>
          </a:p>
        </p:txBody>
      </p:sp>
      <p:sp>
        <p:nvSpPr>
          <p:cNvPr id="33" name="Shape 25"/>
          <p:cNvSpPr/>
          <p:nvPr/>
        </p:nvSpPr>
        <p:spPr>
          <a:xfrm>
            <a:off x="4616806" y="5609844"/>
            <a:ext cx="2962656" cy="485546"/>
          </a:xfrm>
          <a:prstGeom prst="roundRect">
            <a:avLst>
              <a:gd name="adj" fmla="val 59082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4578401" y="5609844"/>
            <a:ext cx="3038551" cy="4864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Dependence &amp; Subjectivity</a:t>
            </a:r>
            <a:endParaRPr lang="en-US" sz="10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89697" y="1580998"/>
            <a:ext cx="3530498" cy="4800600"/>
          </a:xfrm>
          <a:prstGeom prst="rect">
            <a:avLst/>
          </a:prstGeom>
        </p:spPr>
      </p:pic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rcRect l="-63" r="-63"/>
          <a:stretch/>
        </p:blipFill>
        <p:spPr>
          <a:xfrm>
            <a:off x="8299094" y="1457554"/>
            <a:ext cx="1152144" cy="24780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8270748" y="1457554"/>
            <a:ext cx="12097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Goal &amp; Vision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8395106" y="2505456"/>
            <a:ext cx="2924251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8395106" y="1886407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518550" y="2009851"/>
            <a:ext cx="228600" cy="22860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9014155" y="1966874"/>
            <a:ext cx="196778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목표 및 비전</a:t>
            </a:r>
            <a:endParaRPr lang="en-US" sz="1600" dirty="0"/>
          </a:p>
        </p:txBody>
      </p:sp>
      <p:sp>
        <p:nvSpPr>
          <p:cNvPr id="42" name="Shape 31"/>
          <p:cNvSpPr/>
          <p:nvPr/>
        </p:nvSpPr>
        <p:spPr>
          <a:xfrm>
            <a:off x="8395106" y="2790749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8566099" y="2714854"/>
            <a:ext cx="28291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On-premise 독립 구동: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폐쇄망 환경에서도 완벽히 동작하는 B2B/B2C 솔루션 구축</a:t>
            </a:r>
            <a:endParaRPr lang="en-US" sz="1200" dirty="0"/>
          </a:p>
        </p:txBody>
      </p:sp>
      <p:sp>
        <p:nvSpPr>
          <p:cNvPr id="44" name="Shape 33"/>
          <p:cNvSpPr/>
          <p:nvPr/>
        </p:nvSpPr>
        <p:spPr>
          <a:xfrm>
            <a:off x="8395106" y="3636569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4"/>
          <p:cNvSpPr txBox="1"/>
          <p:nvPr/>
        </p:nvSpPr>
        <p:spPr>
          <a:xfrm>
            <a:off x="8566099" y="3560674"/>
            <a:ext cx="28291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표준화된 실행환경 공유</a:t>
            </a:r>
            <a:r>
              <a:rPr lang="en-US" altLang="ko-KR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</a:t>
            </a:r>
            <a:endParaRPr lang="en-US" altLang="ko-KR" sz="1200" dirty="0"/>
          </a:p>
          <a:p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LLM, Vision AI, STT/TTS, WebRTC </a:t>
            </a:r>
            <a:r>
              <a:rPr lang="en-US" altLang="ko-KR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된</a:t>
            </a:r>
            <a:endParaRPr lang="en-US" altLang="ko-KR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실행 환경 구축 및 공유</a:t>
            </a:r>
            <a:endParaRPr lang="en-US" altLang="ko-KR" sz="1200" dirty="0"/>
          </a:p>
        </p:txBody>
      </p:sp>
      <p:sp>
        <p:nvSpPr>
          <p:cNvPr id="46" name="Shape 35"/>
          <p:cNvSpPr/>
          <p:nvPr/>
        </p:nvSpPr>
        <p:spPr>
          <a:xfrm>
            <a:off x="8395106" y="5591556"/>
            <a:ext cx="2924251" cy="485546"/>
          </a:xfrm>
          <a:prstGeom prst="roundRect">
            <a:avLst>
              <a:gd name="adj" fmla="val 59082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6"/>
          <p:cNvSpPr txBox="1"/>
          <p:nvPr/>
        </p:nvSpPr>
        <p:spPr>
          <a:xfrm>
            <a:off x="8356702" y="5591556"/>
            <a:ext cx="3001061" cy="4864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AI-Driven Deep Insight</a:t>
            </a:r>
            <a:endParaRPr lang="en-US" sz="10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2">
            <a:alphaModFix amt="50000"/>
          </a:blip>
          <a:srcRect t="-80" b="-80"/>
          <a:stretch/>
        </p:blipFill>
        <p:spPr>
          <a:xfrm>
            <a:off x="4149547" y="3877056"/>
            <a:ext cx="142646" cy="228600"/>
          </a:xfrm>
          <a:prstGeom prst="rect">
            <a:avLst/>
          </a:prstGeom>
        </p:spPr>
      </p:pic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2">
            <a:alphaModFix amt="50000"/>
          </a:blip>
          <a:srcRect t="-80" b="-80"/>
          <a:stretch/>
        </p:blipFill>
        <p:spPr>
          <a:xfrm>
            <a:off x="7908646" y="3877056"/>
            <a:ext cx="142646" cy="2286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A4_Project_2AI1_SA_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엄재민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4889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1500" y="476402"/>
            <a:ext cx="75895" cy="80924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5995" y="476402"/>
            <a:ext cx="109353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100" b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아키텍쳐 </a:t>
            </a:r>
            <a:r>
              <a:rPr lang="en-US" sz="3100" b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875995" y="992124"/>
            <a:ext cx="10935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MSA 기반 마이크로서비스 아키텍처 및 인프라 구조</a:t>
            </a:r>
            <a:endParaRPr lang="en-US" sz="1500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33083DB-C523-E0BC-7E20-43BF7FBD7C8A}"/>
              </a:ext>
            </a:extLst>
          </p:cNvPr>
          <p:cNvGrpSpPr/>
          <p:nvPr/>
        </p:nvGrpSpPr>
        <p:grpSpPr>
          <a:xfrm>
            <a:off x="571500" y="2110435"/>
            <a:ext cx="3886200" cy="1790395"/>
            <a:chOff x="571500" y="2110435"/>
            <a:chExt cx="3886200" cy="1790395"/>
          </a:xfrm>
        </p:grpSpPr>
        <p:sp>
          <p:nvSpPr>
            <p:cNvPr id="7" name="Shape 5"/>
            <p:cNvSpPr/>
            <p:nvPr/>
          </p:nvSpPr>
          <p:spPr>
            <a:xfrm>
              <a:off x="571500" y="2110435"/>
              <a:ext cx="3886200" cy="1790395"/>
            </a:xfrm>
            <a:prstGeom prst="roundRect">
              <a:avLst>
                <a:gd name="adj" fmla="val 8693"/>
              </a:avLst>
            </a:prstGeom>
            <a:solidFill>
              <a:srgbClr val="FFFFFF">
                <a:alpha val="95000"/>
              </a:srgbClr>
            </a:solidFill>
            <a:ln/>
            <a:effectLst>
              <a:outerShdw blurRad="63500" dist="38100" dir="162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571500" y="2110435"/>
              <a:ext cx="57607" cy="1790395"/>
            </a:xfrm>
            <a:prstGeom prst="roundRect">
              <a:avLst>
                <a:gd name="adj" fmla="val 270180"/>
              </a:avLst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</p:grpSp>
      <p:sp>
        <p:nvSpPr>
          <p:cNvPr id="9" name="Shape 7"/>
          <p:cNvSpPr/>
          <p:nvPr/>
        </p:nvSpPr>
        <p:spPr>
          <a:xfrm>
            <a:off x="857707" y="233903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961949" y="2434133"/>
            <a:ext cx="171907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52398" y="2386584"/>
            <a:ext cx="321503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마이크로서비스 (MSA) 전면 적용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57707" y="2948940"/>
            <a:ext cx="57607" cy="5760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9498" y="2873045"/>
            <a:ext cx="2660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간 역할 분리로 결합도 최소화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57707" y="3239719"/>
            <a:ext cx="57607" cy="5760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9498" y="3162910"/>
            <a:ext cx="2925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전파 방지 및 격리성(Isolation) 확보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57707" y="3529584"/>
            <a:ext cx="57607" cy="5760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9498" y="3453689"/>
            <a:ext cx="35954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자원별(CPU/GPU) 독립 스케일링(Scale-Out) 가능</a:t>
            </a:r>
            <a:endParaRPr lang="en-US" sz="1100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4DB6925D-EEB4-DA8B-B33E-372430979F9C}"/>
              </a:ext>
            </a:extLst>
          </p:cNvPr>
          <p:cNvGrpSpPr/>
          <p:nvPr/>
        </p:nvGrpSpPr>
        <p:grpSpPr>
          <a:xfrm>
            <a:off x="571500" y="4124858"/>
            <a:ext cx="3886200" cy="1714500"/>
            <a:chOff x="571500" y="4124858"/>
            <a:chExt cx="3886200" cy="1714500"/>
          </a:xfrm>
        </p:grpSpPr>
        <p:sp>
          <p:nvSpPr>
            <p:cNvPr id="18" name="Shape 15"/>
            <p:cNvSpPr/>
            <p:nvPr/>
          </p:nvSpPr>
          <p:spPr>
            <a:xfrm>
              <a:off x="571500" y="4124858"/>
              <a:ext cx="3886200" cy="1714500"/>
            </a:xfrm>
            <a:prstGeom prst="roundRect">
              <a:avLst>
                <a:gd name="adj" fmla="val 9481"/>
              </a:avLst>
            </a:prstGeom>
            <a:solidFill>
              <a:srgbClr val="FFFFFF">
                <a:alpha val="95000"/>
              </a:srgbClr>
            </a:solidFill>
            <a:ln/>
            <a:effectLst>
              <a:outerShdw blurRad="63500" dist="38100" dir="162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9" name="Shape 16"/>
            <p:cNvSpPr/>
            <p:nvPr/>
          </p:nvSpPr>
          <p:spPr>
            <a:xfrm>
              <a:off x="571500" y="4124858"/>
              <a:ext cx="57607" cy="1714500"/>
            </a:xfrm>
            <a:prstGeom prst="roundRect">
              <a:avLst>
                <a:gd name="adj" fmla="val 282188"/>
              </a:avLst>
            </a:prstGeom>
            <a:solidFill>
              <a:srgbClr val="0EA5E9"/>
            </a:solidFill>
            <a:ln w="12700">
              <a:solidFill>
                <a:srgbClr val="0EA5E9">
                  <a:alpha val="0"/>
                </a:srgbClr>
              </a:solidFill>
              <a:prstDash val="solid"/>
            </a:ln>
          </p:spPr>
        </p:sp>
      </p:grpSp>
      <p:sp>
        <p:nvSpPr>
          <p:cNvPr id="20" name="Shape 17"/>
          <p:cNvSpPr/>
          <p:nvPr/>
        </p:nvSpPr>
        <p:spPr>
          <a:xfrm>
            <a:off x="857707" y="4353458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9030" y="4449470"/>
            <a:ext cx="237744" cy="19019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352398" y="4401007"/>
            <a:ext cx="1955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Docker 기반 인프라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857707" y="4963363"/>
            <a:ext cx="57607" cy="5760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009498" y="4887468"/>
            <a:ext cx="36539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 버전 충돌 및 호스트 OS 오염 원천 방지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57707" y="5254142"/>
            <a:ext cx="57607" cy="5760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09498" y="5177333"/>
            <a:ext cx="25722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명령어 한 줄로 100% 동일 실행 환경 보장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(Zero Environment Discrepancy)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812030" y="1567021"/>
            <a:ext cx="6791249" cy="4819802"/>
          </a:xfrm>
          <a:prstGeom prst="roundRect">
            <a:avLst>
              <a:gd name="adj" fmla="val 150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" name="Shape 26"/>
          <p:cNvSpPr/>
          <p:nvPr/>
        </p:nvSpPr>
        <p:spPr>
          <a:xfrm>
            <a:off x="5127041" y="1858975"/>
            <a:ext cx="6200546" cy="1304849"/>
          </a:xfrm>
          <a:prstGeom prst="roundRect">
            <a:avLst>
              <a:gd name="adj" fmla="val 12276"/>
            </a:avLst>
          </a:prstGeom>
          <a:solidFill>
            <a:srgbClr val="EEF2FF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559345" y="2030882"/>
            <a:ext cx="154167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Frontend Layer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7388352" y="2345436"/>
            <a:ext cx="168432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기반 SPA 화면 구성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WebRTC 미디어 송수신 처리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7052754" y="2763317"/>
            <a:ext cx="619049" cy="219456"/>
          </a:xfrm>
          <a:prstGeom prst="roundRect">
            <a:avLst>
              <a:gd name="adj" fmla="val 144928"/>
            </a:avLst>
          </a:prstGeom>
          <a:solidFill>
            <a:srgbClr val="FFFFFF"/>
          </a:solidFill>
          <a:ln w="12700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066091" y="2775204"/>
            <a:ext cx="676656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18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7757237" y="2775204"/>
            <a:ext cx="590702" cy="219456"/>
          </a:xfrm>
          <a:prstGeom prst="roundRect">
            <a:avLst>
              <a:gd name="adj" fmla="val 144928"/>
            </a:avLst>
          </a:prstGeom>
          <a:solidFill>
            <a:srgbClr val="FFFFFF"/>
          </a:solidFill>
          <a:ln w="12700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6" name="Text 32"/>
          <p:cNvSpPr txBox="1"/>
          <p:nvPr/>
        </p:nvSpPr>
        <p:spPr>
          <a:xfrm>
            <a:off x="7771739" y="2787079"/>
            <a:ext cx="648310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Zustand</a:t>
            </a:r>
            <a:endParaRPr lang="en-US" sz="80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54619" y="3218688"/>
            <a:ext cx="142646" cy="190195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5127041" y="3389681"/>
            <a:ext cx="3010205" cy="1304849"/>
          </a:xfrm>
          <a:prstGeom prst="roundRect">
            <a:avLst>
              <a:gd name="adj" fmla="val 12276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031382" y="3561588"/>
            <a:ext cx="1324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 Core</a:t>
            </a:r>
            <a:endParaRPr lang="en-US" sz="1300" dirty="0"/>
          </a:p>
        </p:txBody>
      </p:sp>
      <p:sp>
        <p:nvSpPr>
          <p:cNvPr id="40" name="Text 35"/>
          <p:cNvSpPr txBox="1"/>
          <p:nvPr/>
        </p:nvSpPr>
        <p:spPr>
          <a:xfrm>
            <a:off x="5817413" y="3875227"/>
            <a:ext cx="16248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 중심 비동기 관제탑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HTTP/REST 트래픽 및 인증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5789981" y="4295263"/>
            <a:ext cx="562356" cy="219456"/>
          </a:xfrm>
          <a:prstGeom prst="roundRect">
            <a:avLst>
              <a:gd name="adj" fmla="val 144928"/>
            </a:avLst>
          </a:prstGeom>
          <a:solidFill>
            <a:srgbClr val="FFFFFF"/>
          </a:solidFill>
          <a:ln w="12700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5825642" y="4305910"/>
            <a:ext cx="619963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6363559" y="4295263"/>
            <a:ext cx="590702" cy="219456"/>
          </a:xfrm>
          <a:prstGeom prst="roundRect">
            <a:avLst>
              <a:gd name="adj" fmla="val 144928"/>
            </a:avLst>
          </a:prstGeom>
          <a:solidFill>
            <a:srgbClr val="FFFFFF"/>
          </a:solidFill>
          <a:ln w="12700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6396562" y="4305910"/>
            <a:ext cx="648310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AsyncIO</a:t>
            </a:r>
            <a:endParaRPr lang="en-US" sz="800" dirty="0"/>
          </a:p>
        </p:txBody>
      </p:sp>
      <p:sp>
        <p:nvSpPr>
          <p:cNvPr id="45" name="Shape 40"/>
          <p:cNvSpPr/>
          <p:nvPr/>
        </p:nvSpPr>
        <p:spPr>
          <a:xfrm>
            <a:off x="8321040" y="3389681"/>
            <a:ext cx="3010205" cy="1304849"/>
          </a:xfrm>
          <a:prstGeom prst="roundRect">
            <a:avLst>
              <a:gd name="adj" fmla="val 12276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9250070" y="3561588"/>
            <a:ext cx="132222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 Server</a:t>
            </a:r>
            <a:endParaRPr lang="en-US" sz="1300" dirty="0"/>
          </a:p>
        </p:txBody>
      </p:sp>
      <p:sp>
        <p:nvSpPr>
          <p:cNvPr id="47" name="Text 42"/>
          <p:cNvSpPr txBox="1"/>
          <p:nvPr/>
        </p:nvSpPr>
        <p:spPr>
          <a:xfrm>
            <a:off x="8986723" y="3875227"/>
            <a:ext cx="16742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WebRTC P2P 스트리밍 전담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Vision AI 분석 폴링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8936697" y="4305910"/>
            <a:ext cx="599846" cy="219456"/>
          </a:xfrm>
          <a:prstGeom prst="roundRect">
            <a:avLst>
              <a:gd name="adj" fmla="val 144928"/>
            </a:avLst>
          </a:prstGeom>
          <a:solidFill>
            <a:srgbClr val="FFFFFF"/>
          </a:solidFill>
          <a:ln w="12700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8948575" y="4305910"/>
            <a:ext cx="599846" cy="239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WebRTC</a:t>
            </a:r>
            <a:endParaRPr lang="en-US" sz="800" dirty="0"/>
          </a:p>
        </p:txBody>
      </p:sp>
      <p:sp>
        <p:nvSpPr>
          <p:cNvPr id="50" name="Shape 45"/>
          <p:cNvSpPr/>
          <p:nvPr/>
        </p:nvSpPr>
        <p:spPr>
          <a:xfrm>
            <a:off x="9572239" y="4305910"/>
            <a:ext cx="580644" cy="219456"/>
          </a:xfrm>
          <a:prstGeom prst="roundRect">
            <a:avLst>
              <a:gd name="adj" fmla="val 144928"/>
            </a:avLst>
          </a:prstGeom>
          <a:solidFill>
            <a:srgbClr val="FFFFFF"/>
          </a:solidFill>
          <a:ln w="12700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9560365" y="4315629"/>
            <a:ext cx="638251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OpenCV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5127041" y="5242255"/>
            <a:ext cx="6200546" cy="847649"/>
          </a:xfrm>
          <a:prstGeom prst="roundRect">
            <a:avLst>
              <a:gd name="adj" fmla="val 29090"/>
            </a:avLst>
          </a:prstGeom>
          <a:solidFill>
            <a:srgbClr val="0E53D4"/>
          </a:solidFill>
          <a:ln w="25400">
            <a:solidFill>
              <a:srgbClr val="0E53D4">
                <a:alpha val="0"/>
              </a:srgbClr>
            </a:solidFill>
            <a:prstDash val="solid"/>
          </a:ln>
        </p:spPr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6631229" y="5418734"/>
            <a:ext cx="286207" cy="228600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7030822" y="5375758"/>
            <a:ext cx="332110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Docker Container Infrastructure</a:t>
            </a:r>
            <a:endParaRPr lang="en-US" sz="1300" dirty="0"/>
          </a:p>
        </p:txBody>
      </p:sp>
      <p:sp>
        <p:nvSpPr>
          <p:cNvPr id="55" name="Text 49"/>
          <p:cNvSpPr txBox="1"/>
          <p:nvPr/>
        </p:nvSpPr>
        <p:spPr>
          <a:xfrm>
            <a:off x="6352337" y="5766206"/>
            <a:ext cx="375178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Containerization for All Services (docker-compose)</a:t>
            </a:r>
            <a:endParaRPr lang="en-US" sz="1000" dirty="0"/>
          </a:p>
        </p:txBody>
      </p:sp>
      <p:pic>
        <p:nvPicPr>
          <p:cNvPr id="5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12026" y="3973982"/>
            <a:ext cx="152705" cy="15270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A4_Project_2AI1_SA_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엄재민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사각형: 둥근 모서리 60"/>
          <p:cNvSpPr/>
          <p:nvPr/>
        </p:nvSpPr>
        <p:spPr>
          <a:xfrm>
            <a:off x="9836867" y="5727693"/>
            <a:ext cx="948727" cy="22215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100GB</a:t>
            </a:r>
            <a:endParaRPr lang="ko-KR" altLang="en-US" sz="11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Shape 31">
            <a:extLst>
              <a:ext uri="{FF2B5EF4-FFF2-40B4-BE49-F238E27FC236}">
                <a16:creationId xmlns:a16="http://schemas.microsoft.com/office/drawing/2014/main" id="{295CFA07-BAA5-A62F-1680-AFC112CB8BD8}"/>
              </a:ext>
            </a:extLst>
          </p:cNvPr>
          <p:cNvSpPr/>
          <p:nvPr/>
        </p:nvSpPr>
        <p:spPr>
          <a:xfrm>
            <a:off x="8386179" y="2763317"/>
            <a:ext cx="1045443" cy="208483"/>
          </a:xfrm>
          <a:prstGeom prst="roundRect">
            <a:avLst>
              <a:gd name="adj" fmla="val 144928"/>
            </a:avLst>
          </a:prstGeom>
          <a:solidFill>
            <a:srgbClr val="FFFFFF"/>
          </a:solidFill>
          <a:ln w="12700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65" name="Text 32">
            <a:extLst>
              <a:ext uri="{FF2B5EF4-FFF2-40B4-BE49-F238E27FC236}">
                <a16:creationId xmlns:a16="http://schemas.microsoft.com/office/drawing/2014/main" id="{724C1009-1FD1-4E51-324F-7875F9B46AA9}"/>
              </a:ext>
            </a:extLst>
          </p:cNvPr>
          <p:cNvSpPr txBox="1"/>
          <p:nvPr/>
        </p:nvSpPr>
        <p:spPr>
          <a:xfrm>
            <a:off x="8386179" y="2798064"/>
            <a:ext cx="1007203" cy="17373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</a:rPr>
              <a:t>RAM 512MB~1GB</a:t>
            </a:r>
            <a:endParaRPr lang="en-US" sz="800" dirty="0"/>
          </a:p>
        </p:txBody>
      </p:sp>
      <p:sp>
        <p:nvSpPr>
          <p:cNvPr id="2" name="Shape 38">
            <a:extLst>
              <a:ext uri="{FF2B5EF4-FFF2-40B4-BE49-F238E27FC236}">
                <a16:creationId xmlns:a16="http://schemas.microsoft.com/office/drawing/2014/main" id="{1F45C12A-2C47-451D-6024-C5020430CC86}"/>
              </a:ext>
            </a:extLst>
          </p:cNvPr>
          <p:cNvSpPr/>
          <p:nvPr/>
        </p:nvSpPr>
        <p:spPr>
          <a:xfrm>
            <a:off x="7019578" y="4295263"/>
            <a:ext cx="845448" cy="219455"/>
          </a:xfrm>
          <a:prstGeom prst="roundRect">
            <a:avLst>
              <a:gd name="adj" fmla="val 144928"/>
            </a:avLst>
          </a:prstGeom>
          <a:solidFill>
            <a:srgbClr val="FFFFFF"/>
          </a:solidFill>
          <a:ln w="12700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 sz="80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39">
            <a:extLst>
              <a:ext uri="{FF2B5EF4-FFF2-40B4-BE49-F238E27FC236}">
                <a16:creationId xmlns:a16="http://schemas.microsoft.com/office/drawing/2014/main" id="{7B15CCAD-5D27-8FE2-0254-C3722CB316D6}"/>
              </a:ext>
            </a:extLst>
          </p:cNvPr>
          <p:cNvSpPr txBox="1"/>
          <p:nvPr/>
        </p:nvSpPr>
        <p:spPr>
          <a:xfrm>
            <a:off x="6984211" y="4295874"/>
            <a:ext cx="963505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</a:rPr>
              <a:t>RAM 60~100MB</a:t>
            </a:r>
            <a:endParaRPr lang="en-US" sz="800" dirty="0"/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5D64F818-ABD1-CDE4-C1F0-47438DC87B90}"/>
              </a:ext>
            </a:extLst>
          </p:cNvPr>
          <p:cNvSpPr/>
          <p:nvPr/>
        </p:nvSpPr>
        <p:spPr>
          <a:xfrm>
            <a:off x="10164078" y="4304994"/>
            <a:ext cx="958506" cy="209723"/>
          </a:xfrm>
          <a:prstGeom prst="roundRect">
            <a:avLst>
              <a:gd name="adj" fmla="val 144928"/>
            </a:avLst>
          </a:prstGeom>
          <a:solidFill>
            <a:srgbClr val="FFFFFF"/>
          </a:solidFill>
          <a:ln w="12700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60" name="Text 46">
            <a:extLst>
              <a:ext uri="{FF2B5EF4-FFF2-40B4-BE49-F238E27FC236}">
                <a16:creationId xmlns:a16="http://schemas.microsoft.com/office/drawing/2014/main" id="{4A93F9C1-3211-BF70-C76B-C89A041485FA}"/>
              </a:ext>
            </a:extLst>
          </p:cNvPr>
          <p:cNvSpPr txBox="1"/>
          <p:nvPr/>
        </p:nvSpPr>
        <p:spPr>
          <a:xfrm>
            <a:off x="10176021" y="4324655"/>
            <a:ext cx="1051774" cy="19978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</a:rPr>
              <a:t>RAM 100~180MB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64224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1500" y="476402"/>
            <a:ext cx="75895" cy="80924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5995" y="476402"/>
            <a:ext cx="756254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100" b="1" dirty="0" err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아키텍쳐</a:t>
            </a:r>
            <a:r>
              <a:rPr lang="ko-KR" altLang="en-US" sz="31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100" b="1" dirty="0" err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875995" y="992124"/>
            <a:ext cx="10935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워크로드 격리 및 데이터베이스 융합 아키텍처</a:t>
            </a:r>
            <a:endParaRPr lang="en-US" sz="1500" dirty="0"/>
          </a:p>
        </p:txBody>
      </p:sp>
      <p:grpSp>
        <p:nvGrpSpPr>
          <p:cNvPr id="80" name="그룹 79"/>
          <p:cNvGrpSpPr/>
          <p:nvPr/>
        </p:nvGrpSpPr>
        <p:grpSpPr>
          <a:xfrm>
            <a:off x="513344" y="1632305"/>
            <a:ext cx="4049277" cy="1600200"/>
            <a:chOff x="571500" y="1949919"/>
            <a:chExt cx="3886200" cy="1600200"/>
          </a:xfrm>
        </p:grpSpPr>
        <p:sp>
          <p:nvSpPr>
            <p:cNvPr id="7" name="Shape 5"/>
            <p:cNvSpPr/>
            <p:nvPr/>
          </p:nvSpPr>
          <p:spPr>
            <a:xfrm>
              <a:off x="571500" y="1949919"/>
              <a:ext cx="3886200" cy="1600200"/>
            </a:xfrm>
            <a:prstGeom prst="roundRect">
              <a:avLst>
                <a:gd name="adj" fmla="val 7529"/>
              </a:avLst>
            </a:prstGeom>
            <a:solidFill>
              <a:srgbClr val="FFFFFF">
                <a:alpha val="95000"/>
              </a:srgbClr>
            </a:solidFill>
            <a:ln/>
            <a:effectLst>
              <a:outerShdw blurRad="63500" dist="38100" dir="162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571500" y="1949919"/>
              <a:ext cx="57607" cy="1600200"/>
            </a:xfrm>
            <a:prstGeom prst="roundRect">
              <a:avLst>
                <a:gd name="adj" fmla="val 251455"/>
              </a:avLst>
            </a:prstGeom>
            <a:solidFill>
              <a:srgbClr val="7C3AED"/>
            </a:solidFill>
            <a:ln w="12700">
              <a:solidFill>
                <a:srgbClr val="7C3AED">
                  <a:alpha val="0"/>
                </a:srgbClr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839418" y="2123423"/>
              <a:ext cx="381305" cy="381305"/>
            </a:xfrm>
            <a:prstGeom prst="roundRect">
              <a:avLst>
                <a:gd name="adj" fmla="val 119904"/>
              </a:avLst>
            </a:prstGeom>
            <a:solidFill>
              <a:srgbClr val="F5F3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10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34516" y="2218521"/>
              <a:ext cx="190195" cy="190195"/>
            </a:xfrm>
            <a:prstGeom prst="rect">
              <a:avLst/>
            </a:prstGeom>
          </p:spPr>
        </p:pic>
        <p:sp>
          <p:nvSpPr>
            <p:cNvPr id="11" name="Text 8"/>
            <p:cNvSpPr txBox="1"/>
            <p:nvPr/>
          </p:nvSpPr>
          <p:spPr>
            <a:xfrm>
              <a:off x="1334109" y="2170972"/>
              <a:ext cx="2040026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물리적 AI 워커 격리</a:t>
              </a:r>
              <a:endParaRPr lang="en-US" sz="150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850300" y="2748571"/>
              <a:ext cx="57607" cy="57607"/>
            </a:xfrm>
            <a:prstGeom prst="ellipse">
              <a:avLst/>
            </a:prstGeom>
            <a:solidFill>
              <a:srgbClr val="6B72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3" name="Text 10"/>
            <p:cNvSpPr txBox="1"/>
            <p:nvPr/>
          </p:nvSpPr>
          <p:spPr>
            <a:xfrm>
              <a:off x="1020563" y="2573082"/>
              <a:ext cx="3296412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GPU 워커:</a:t>
              </a:r>
              <a:r>
                <a:rPr lang="en-US" sz="11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LLM 추론, 텐서 연산 및 무거운 행렬 연산 전담</a:t>
              </a:r>
              <a:endParaRPr lang="en-US" sz="110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857707" y="3115206"/>
              <a:ext cx="57607" cy="57607"/>
            </a:xfrm>
            <a:prstGeom prst="ellipse">
              <a:avLst/>
            </a:prstGeom>
            <a:solidFill>
              <a:srgbClr val="6B72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5" name="Text 12"/>
            <p:cNvSpPr txBox="1"/>
            <p:nvPr/>
          </p:nvSpPr>
          <p:spPr>
            <a:xfrm>
              <a:off x="1017371" y="3019245"/>
              <a:ext cx="3391510" cy="4143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CPU 워커:</a:t>
              </a:r>
              <a:r>
                <a:rPr lang="en-US" sz="11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이력서(PDF) 파싱, 오디오 변환, STT 등 I/O 처리</a:t>
              </a:r>
              <a:endParaRPr lang="en-US" sz="1100" dirty="0"/>
            </a:p>
          </p:txBody>
        </p:sp>
      </p:grpSp>
      <p:sp>
        <p:nvSpPr>
          <p:cNvPr id="16" name="Shape 13"/>
          <p:cNvSpPr/>
          <p:nvPr/>
        </p:nvSpPr>
        <p:spPr>
          <a:xfrm>
            <a:off x="506810" y="3390488"/>
            <a:ext cx="4027446" cy="1559991"/>
          </a:xfrm>
          <a:prstGeom prst="roundRect">
            <a:avLst>
              <a:gd name="adj" fmla="val 9481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6810" y="3390488"/>
            <a:ext cx="59701" cy="1559991"/>
          </a:xfrm>
          <a:prstGeom prst="roundRect">
            <a:avLst>
              <a:gd name="adj" fmla="val 282188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3017" y="3555694"/>
            <a:ext cx="395164" cy="381305"/>
          </a:xfrm>
          <a:prstGeom prst="roundRect">
            <a:avLst>
              <a:gd name="adj" fmla="val 11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897259" y="3650791"/>
            <a:ext cx="178155" cy="19019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87708" y="3603243"/>
            <a:ext cx="313572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데이터베이스 융합 (RAG)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793017" y="4165599"/>
            <a:ext cx="59701" cy="5760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44808" y="4088789"/>
            <a:ext cx="34190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내 </a:t>
            </a: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pgvector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확장 플러그인 탑재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93017" y="4455463"/>
            <a:ext cx="59701" cy="57607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44808" y="4379568"/>
            <a:ext cx="341622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RDBMS 트랜잭션과 1024차원 벡터 검색을 </a:t>
            </a: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1회 Query JOIN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해결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825287" y="1593644"/>
            <a:ext cx="6791249" cy="4819802"/>
          </a:xfrm>
          <a:prstGeom prst="roundRect">
            <a:avLst>
              <a:gd name="adj" fmla="val 150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grpSp>
        <p:nvGrpSpPr>
          <p:cNvPr id="67" name="그룹 66"/>
          <p:cNvGrpSpPr/>
          <p:nvPr/>
        </p:nvGrpSpPr>
        <p:grpSpPr>
          <a:xfrm>
            <a:off x="5127041" y="1738680"/>
            <a:ext cx="6200546" cy="881990"/>
            <a:chOff x="5127041" y="1738680"/>
            <a:chExt cx="6200546" cy="881990"/>
          </a:xfrm>
        </p:grpSpPr>
        <p:sp>
          <p:nvSpPr>
            <p:cNvPr id="29" name="Shape 25"/>
            <p:cNvSpPr/>
            <p:nvPr/>
          </p:nvSpPr>
          <p:spPr>
            <a:xfrm>
              <a:off x="6377940" y="1738680"/>
              <a:ext cx="3705149" cy="190195"/>
            </a:xfrm>
            <a:prstGeom prst="roundRect">
              <a:avLst>
                <a:gd name="adj" fmla="val 384616"/>
              </a:avLst>
            </a:prstGeom>
            <a:noFill/>
            <a:ln w="25400">
              <a:solidFill>
                <a:srgbClr val="9CA3AF"/>
              </a:solidFill>
              <a:prstDash val="solid"/>
            </a:ln>
          </p:spPr>
        </p:sp>
        <p:grpSp>
          <p:nvGrpSpPr>
            <p:cNvPr id="66" name="그룹 65"/>
            <p:cNvGrpSpPr/>
            <p:nvPr/>
          </p:nvGrpSpPr>
          <p:grpSpPr>
            <a:xfrm>
              <a:off x="5127041" y="1858975"/>
              <a:ext cx="6200546" cy="761695"/>
              <a:chOff x="5127041" y="1858975"/>
              <a:chExt cx="6200546" cy="761695"/>
            </a:xfrm>
          </p:grpSpPr>
          <p:sp>
            <p:nvSpPr>
              <p:cNvPr id="26" name="Shape 22"/>
              <p:cNvSpPr/>
              <p:nvPr/>
            </p:nvSpPr>
            <p:spPr>
              <a:xfrm>
                <a:off x="5127041" y="1858975"/>
                <a:ext cx="6200546" cy="761695"/>
              </a:xfrm>
              <a:prstGeom prst="roundRect">
                <a:avLst>
                  <a:gd name="adj" fmla="val 36014"/>
                </a:avLst>
              </a:prstGeom>
              <a:solidFill>
                <a:srgbClr val="EFF6FF"/>
              </a:solidFill>
              <a:ln w="25400">
                <a:solidFill>
                  <a:srgbClr val="3B82F6"/>
                </a:solidFill>
                <a:prstDash val="solid"/>
              </a:ln>
              <a:effectLst>
                <a:outerShdw blurRad="63500" dist="38100" dir="16200000" algn="bl" rotWithShape="0">
                  <a:srgbClr val="000000">
                    <a:alpha val="5000"/>
                  </a:srgbClr>
                </a:outerShdw>
              </a:effectLst>
            </p:spPr>
          </p:sp>
          <p:sp>
            <p:nvSpPr>
              <p:cNvPr id="27" name="Text 23"/>
              <p:cNvSpPr txBox="1"/>
              <p:nvPr/>
            </p:nvSpPr>
            <p:spPr>
              <a:xfrm>
                <a:off x="7593178" y="2039112"/>
                <a:ext cx="1507846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1D4ED8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Backend API Core</a:t>
                </a:r>
                <a:endParaRPr lang="en-US" sz="1200" dirty="0"/>
              </a:p>
            </p:txBody>
          </p:sp>
          <p:sp>
            <p:nvSpPr>
              <p:cNvPr id="28" name="Text 24"/>
              <p:cNvSpPr txBox="1"/>
              <p:nvPr/>
            </p:nvSpPr>
            <p:spPr>
              <a:xfrm>
                <a:off x="6601054" y="2267712"/>
                <a:ext cx="3253435" cy="1810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4B5563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Request Routing &amp; Task Dispatching (Producer)</a:t>
                </a:r>
                <a:endParaRPr lang="en-US" sz="900" dirty="0"/>
              </a:p>
            </p:txBody>
          </p:sp>
        </p:grpSp>
      </p:grpSp>
      <p:sp>
        <p:nvSpPr>
          <p:cNvPr id="52" name="Shape 46"/>
          <p:cNvSpPr/>
          <p:nvPr/>
        </p:nvSpPr>
        <p:spPr>
          <a:xfrm>
            <a:off x="6484925" y="4683820"/>
            <a:ext cx="3724351" cy="190195"/>
          </a:xfrm>
          <a:prstGeom prst="roundRect">
            <a:avLst>
              <a:gd name="adj" fmla="val 384616"/>
            </a:avLst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8380472" y="2835817"/>
            <a:ext cx="3010205" cy="1943100"/>
          </a:xfrm>
          <a:prstGeom prst="roundRect">
            <a:avLst>
              <a:gd name="adj" fmla="val 5536"/>
            </a:avLst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grpSp>
        <p:nvGrpSpPr>
          <p:cNvPr id="79" name="그룹 78"/>
          <p:cNvGrpSpPr/>
          <p:nvPr/>
        </p:nvGrpSpPr>
        <p:grpSpPr>
          <a:xfrm>
            <a:off x="9568904" y="3042310"/>
            <a:ext cx="411767" cy="495745"/>
            <a:chOff x="9460633" y="418586"/>
            <a:chExt cx="411767" cy="495745"/>
          </a:xfrm>
        </p:grpSpPr>
        <p:sp>
          <p:nvSpPr>
            <p:cNvPr id="42" name="Shape 37"/>
            <p:cNvSpPr/>
            <p:nvPr/>
          </p:nvSpPr>
          <p:spPr>
            <a:xfrm>
              <a:off x="9460633" y="533026"/>
              <a:ext cx="381305" cy="381305"/>
            </a:xfrm>
            <a:prstGeom prst="roundRect">
              <a:avLst>
                <a:gd name="adj" fmla="val 119904"/>
              </a:avLst>
            </a:prstGeom>
            <a:solidFill>
              <a:srgbClr val="F5F3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43" name="Image 3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9682205" y="418586"/>
              <a:ext cx="190195" cy="1901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</p:pic>
      </p:grpSp>
      <p:sp>
        <p:nvSpPr>
          <p:cNvPr id="44" name="Text 38"/>
          <p:cNvSpPr txBox="1"/>
          <p:nvPr/>
        </p:nvSpPr>
        <p:spPr>
          <a:xfrm>
            <a:off x="9506097" y="3423447"/>
            <a:ext cx="949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Worker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9091969" y="3678752"/>
            <a:ext cx="172364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Compute Intensive Tasks</a:t>
            </a:r>
            <a:endParaRPr lang="en-US" sz="900" dirty="0"/>
          </a:p>
        </p:txBody>
      </p:sp>
      <p:grpSp>
        <p:nvGrpSpPr>
          <p:cNvPr id="76" name="그룹 75"/>
          <p:cNvGrpSpPr/>
          <p:nvPr/>
        </p:nvGrpSpPr>
        <p:grpSpPr>
          <a:xfrm>
            <a:off x="8601630" y="4000360"/>
            <a:ext cx="980825" cy="227365"/>
            <a:chOff x="8627982" y="3901277"/>
            <a:chExt cx="980825" cy="227365"/>
          </a:xfrm>
        </p:grpSpPr>
        <p:sp>
          <p:nvSpPr>
            <p:cNvPr id="46" name="Shape 40"/>
            <p:cNvSpPr/>
            <p:nvPr/>
          </p:nvSpPr>
          <p:spPr>
            <a:xfrm>
              <a:off x="8627982" y="3901277"/>
              <a:ext cx="905256" cy="219456"/>
            </a:xfrm>
            <a:prstGeom prst="roundRect">
              <a:avLst>
                <a:gd name="adj" fmla="val 144928"/>
              </a:avLst>
            </a:prstGeom>
            <a:solidFill>
              <a:srgbClr val="FFFFFF"/>
            </a:solidFill>
            <a:ln w="12700">
              <a:solidFill>
                <a:srgbClr val="000000">
                  <a:alpha val="10000"/>
                </a:srgbClr>
              </a:solidFill>
              <a:prstDash val="solid"/>
            </a:ln>
          </p:spPr>
        </p:sp>
        <p:sp>
          <p:nvSpPr>
            <p:cNvPr id="47" name="Text 41"/>
            <p:cNvSpPr txBox="1"/>
            <p:nvPr/>
          </p:nvSpPr>
          <p:spPr>
            <a:xfrm>
              <a:off x="8645944" y="3909186"/>
              <a:ext cx="962863" cy="21945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00" tIns="25400" rIns="76200" bIns="2540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7C3AE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LLM Inference</a:t>
              </a:r>
              <a:endParaRPr lang="en-US" sz="800" dirty="0"/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9593602" y="4014129"/>
            <a:ext cx="845188" cy="226667"/>
            <a:chOff x="9602226" y="3927131"/>
            <a:chExt cx="845188" cy="226667"/>
          </a:xfrm>
        </p:grpSpPr>
        <p:sp>
          <p:nvSpPr>
            <p:cNvPr id="48" name="Shape 42"/>
            <p:cNvSpPr/>
            <p:nvPr/>
          </p:nvSpPr>
          <p:spPr>
            <a:xfrm>
              <a:off x="9602226" y="3927131"/>
              <a:ext cx="752551" cy="219456"/>
            </a:xfrm>
            <a:prstGeom prst="roundRect">
              <a:avLst>
                <a:gd name="adj" fmla="val 144928"/>
              </a:avLst>
            </a:prstGeom>
            <a:solidFill>
              <a:srgbClr val="FFFFFF"/>
            </a:solidFill>
            <a:ln w="12700">
              <a:solidFill>
                <a:srgbClr val="000000">
                  <a:alpha val="10000"/>
                </a:srgbClr>
              </a:solidFill>
              <a:prstDash val="solid"/>
            </a:ln>
          </p:spPr>
        </p:sp>
        <p:sp>
          <p:nvSpPr>
            <p:cNvPr id="49" name="Text 43"/>
            <p:cNvSpPr txBox="1"/>
            <p:nvPr/>
          </p:nvSpPr>
          <p:spPr>
            <a:xfrm>
              <a:off x="9637256" y="3934342"/>
              <a:ext cx="810158" cy="21945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00" tIns="25400" rIns="76200" bIns="2540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7C3AE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Tensor Ops</a:t>
              </a:r>
              <a:endParaRPr lang="en-US" sz="800" dirty="0"/>
            </a:p>
          </p:txBody>
        </p:sp>
      </p:grpSp>
      <p:grpSp>
        <p:nvGrpSpPr>
          <p:cNvPr id="78" name="그룹 77"/>
          <p:cNvGrpSpPr/>
          <p:nvPr/>
        </p:nvGrpSpPr>
        <p:grpSpPr>
          <a:xfrm>
            <a:off x="10414101" y="4020419"/>
            <a:ext cx="876910" cy="219456"/>
            <a:chOff x="10405251" y="3929024"/>
            <a:chExt cx="876910" cy="219456"/>
          </a:xfrm>
        </p:grpSpPr>
        <p:sp>
          <p:nvSpPr>
            <p:cNvPr id="50" name="Shape 44"/>
            <p:cNvSpPr/>
            <p:nvPr/>
          </p:nvSpPr>
          <p:spPr>
            <a:xfrm>
              <a:off x="10413491" y="3929024"/>
              <a:ext cx="819302" cy="219456"/>
            </a:xfrm>
            <a:prstGeom prst="roundRect">
              <a:avLst>
                <a:gd name="adj" fmla="val 144928"/>
              </a:avLst>
            </a:prstGeom>
            <a:solidFill>
              <a:srgbClr val="FFFFFF"/>
            </a:solidFill>
            <a:ln w="12700">
              <a:solidFill>
                <a:srgbClr val="000000">
                  <a:alpha val="10000"/>
                </a:srgbClr>
              </a:solidFill>
              <a:prstDash val="solid"/>
            </a:ln>
          </p:spPr>
        </p:sp>
        <p:sp>
          <p:nvSpPr>
            <p:cNvPr id="51" name="Text 45"/>
            <p:cNvSpPr txBox="1"/>
            <p:nvPr/>
          </p:nvSpPr>
          <p:spPr>
            <a:xfrm>
              <a:off x="10405251" y="3929024"/>
              <a:ext cx="876910" cy="21945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00" tIns="25400" rIns="76200" bIns="2540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7C3AE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Embeddings</a:t>
              </a:r>
              <a:endParaRPr lang="en-US" sz="800" dirty="0"/>
            </a:p>
          </p:txBody>
        </p:sp>
      </p:grpSp>
      <p:pic>
        <p:nvPicPr>
          <p:cNvPr id="53" name="Image 4" descr="preencoded.png"/>
          <p:cNvPicPr>
            <a:picLocks noChangeAspect="1"/>
          </p:cNvPicPr>
          <p:nvPr/>
        </p:nvPicPr>
        <p:blipFill>
          <a:blip r:embed="rId6"/>
          <a:srcRect l="-1773" r="-1773"/>
          <a:stretch/>
        </p:blipFill>
        <p:spPr>
          <a:xfrm>
            <a:off x="8184087" y="4848175"/>
            <a:ext cx="133502" cy="171907"/>
          </a:xfrm>
          <a:prstGeom prst="rect">
            <a:avLst/>
          </a:prstGeom>
        </p:spPr>
      </p:pic>
      <p:sp>
        <p:nvSpPr>
          <p:cNvPr id="54" name="Shape 47"/>
          <p:cNvSpPr/>
          <p:nvPr/>
        </p:nvSpPr>
        <p:spPr>
          <a:xfrm>
            <a:off x="5120639" y="5049764"/>
            <a:ext cx="6200546" cy="952805"/>
          </a:xfrm>
          <a:prstGeom prst="roundRect">
            <a:avLst>
              <a:gd name="adj" fmla="val 23033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5" name="Text 48"/>
          <p:cNvSpPr txBox="1"/>
          <p:nvPr/>
        </p:nvSpPr>
        <p:spPr>
          <a:xfrm>
            <a:off x="7334402" y="5264201"/>
            <a:ext cx="21314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Unified Storage (DB RAG)</a:t>
            </a:r>
            <a:endParaRPr lang="en-US" sz="1200" dirty="0"/>
          </a:p>
        </p:txBody>
      </p:sp>
      <p:sp>
        <p:nvSpPr>
          <p:cNvPr id="56" name="Text 49"/>
          <p:cNvSpPr txBox="1"/>
          <p:nvPr/>
        </p:nvSpPr>
        <p:spPr>
          <a:xfrm>
            <a:off x="6424574" y="5492801"/>
            <a:ext cx="360913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Structured Data + Vector Embeddings Hybrid Search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7114032" y="5742432"/>
            <a:ext cx="923544" cy="219456"/>
          </a:xfrm>
          <a:prstGeom prst="roundRect">
            <a:avLst>
              <a:gd name="adj" fmla="val 144928"/>
            </a:avLst>
          </a:prstGeom>
          <a:solidFill>
            <a:srgbClr val="FFFFFF"/>
          </a:solidFill>
          <a:ln w="12700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58" name="Text 51"/>
          <p:cNvSpPr txBox="1"/>
          <p:nvPr/>
        </p:nvSpPr>
        <p:spPr>
          <a:xfrm>
            <a:off x="7114032" y="5742432"/>
            <a:ext cx="981151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18</a:t>
            </a:r>
            <a:endParaRPr lang="en-US" sz="800" dirty="0"/>
          </a:p>
        </p:txBody>
      </p:sp>
      <p:sp>
        <p:nvSpPr>
          <p:cNvPr id="59" name="Shape 52"/>
          <p:cNvSpPr/>
          <p:nvPr/>
        </p:nvSpPr>
        <p:spPr>
          <a:xfrm>
            <a:off x="8108899" y="5742432"/>
            <a:ext cx="629107" cy="219456"/>
          </a:xfrm>
          <a:prstGeom prst="roundRect">
            <a:avLst>
              <a:gd name="adj" fmla="val 144928"/>
            </a:avLst>
          </a:prstGeom>
          <a:solidFill>
            <a:srgbClr val="FFFFFF"/>
          </a:solidFill>
          <a:ln w="12700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60" name="Text 53"/>
          <p:cNvSpPr txBox="1"/>
          <p:nvPr/>
        </p:nvSpPr>
        <p:spPr>
          <a:xfrm>
            <a:off x="8108899" y="5742432"/>
            <a:ext cx="685800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pgvector</a:t>
            </a:r>
            <a:endParaRPr lang="en-US" sz="800" dirty="0"/>
          </a:p>
        </p:txBody>
      </p:sp>
      <p:sp>
        <p:nvSpPr>
          <p:cNvPr id="61" name="Shape 54"/>
          <p:cNvSpPr/>
          <p:nvPr/>
        </p:nvSpPr>
        <p:spPr>
          <a:xfrm>
            <a:off x="8811158" y="5742432"/>
            <a:ext cx="533095" cy="219456"/>
          </a:xfrm>
          <a:prstGeom prst="roundRect">
            <a:avLst>
              <a:gd name="adj" fmla="val 144928"/>
            </a:avLst>
          </a:prstGeom>
          <a:solidFill>
            <a:srgbClr val="FFFFFF"/>
          </a:solidFill>
          <a:ln w="12700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8811158" y="5742432"/>
            <a:ext cx="59070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JSONB</a:t>
            </a:r>
            <a:endParaRPr lang="en-US" sz="800" dirty="0"/>
          </a:p>
        </p:txBody>
      </p:sp>
      <p:grpSp>
        <p:nvGrpSpPr>
          <p:cNvPr id="68" name="그룹 67"/>
          <p:cNvGrpSpPr/>
          <p:nvPr/>
        </p:nvGrpSpPr>
        <p:grpSpPr>
          <a:xfrm>
            <a:off x="10091318" y="1771598"/>
            <a:ext cx="1922069" cy="321922"/>
            <a:chOff x="9555730" y="1756510"/>
            <a:chExt cx="1922069" cy="321922"/>
          </a:xfrm>
        </p:grpSpPr>
        <p:sp>
          <p:nvSpPr>
            <p:cNvPr id="63" name="Shape 56"/>
            <p:cNvSpPr/>
            <p:nvPr/>
          </p:nvSpPr>
          <p:spPr>
            <a:xfrm>
              <a:off x="9577426" y="1763878"/>
              <a:ext cx="1848002" cy="314554"/>
            </a:xfrm>
            <a:prstGeom prst="roundRect">
              <a:avLst>
                <a:gd name="adj" fmla="val 290697"/>
              </a:avLst>
            </a:prstGeom>
            <a:solidFill>
              <a:srgbClr val="1E3A8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64" name="Text 57"/>
            <p:cNvSpPr/>
            <p:nvPr/>
          </p:nvSpPr>
          <p:spPr>
            <a:xfrm>
              <a:off x="9555730" y="1756510"/>
              <a:ext cx="1922069" cy="31455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52400" tIns="63500" rIns="152400" bIns="6350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Data Flow &amp; Processing</a:t>
              </a:r>
              <a:endParaRPr lang="en-US" sz="1000" dirty="0"/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A4_Project_2AI1_SA_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엄재민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A05E57DE-5A6F-45D7-4E2A-5D927146D8AB}"/>
              </a:ext>
            </a:extLst>
          </p:cNvPr>
          <p:cNvGrpSpPr/>
          <p:nvPr/>
        </p:nvGrpSpPr>
        <p:grpSpPr>
          <a:xfrm>
            <a:off x="5111494" y="2844552"/>
            <a:ext cx="3010205" cy="1943100"/>
            <a:chOff x="5111494" y="2844552"/>
            <a:chExt cx="3010205" cy="1943100"/>
          </a:xfrm>
        </p:grpSpPr>
        <p:sp>
          <p:nvSpPr>
            <p:cNvPr id="30" name="Shape 26"/>
            <p:cNvSpPr/>
            <p:nvPr/>
          </p:nvSpPr>
          <p:spPr>
            <a:xfrm>
              <a:off x="5111494" y="2844552"/>
              <a:ext cx="3010205" cy="1943100"/>
            </a:xfrm>
            <a:prstGeom prst="roundRect">
              <a:avLst>
                <a:gd name="adj" fmla="val 5536"/>
              </a:avLst>
            </a:prstGeom>
            <a:solidFill>
              <a:srgbClr val="FFF7ED"/>
            </a:solidFill>
            <a:ln w="25400">
              <a:solidFill>
                <a:srgbClr val="F97316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33" name="Text 28"/>
            <p:cNvSpPr txBox="1"/>
            <p:nvPr/>
          </p:nvSpPr>
          <p:spPr>
            <a:xfrm>
              <a:off x="6183239" y="3429586"/>
              <a:ext cx="94914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2410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CPU Worker</a:t>
              </a:r>
              <a:endParaRPr lang="en-US" sz="1200" dirty="0"/>
            </a:p>
          </p:txBody>
        </p:sp>
        <p:sp>
          <p:nvSpPr>
            <p:cNvPr id="34" name="Text 29"/>
            <p:cNvSpPr txBox="1"/>
            <p:nvPr/>
          </p:nvSpPr>
          <p:spPr>
            <a:xfrm>
              <a:off x="5976359" y="3682573"/>
              <a:ext cx="1303934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I/O Intensive Tasks</a:t>
              </a:r>
              <a:endParaRPr lang="en-US" sz="900" dirty="0"/>
            </a:p>
          </p:txBody>
        </p:sp>
        <p:grpSp>
          <p:nvGrpSpPr>
            <p:cNvPr id="70" name="그룹 69"/>
            <p:cNvGrpSpPr/>
            <p:nvPr/>
          </p:nvGrpSpPr>
          <p:grpSpPr>
            <a:xfrm>
              <a:off x="6744932" y="4188880"/>
              <a:ext cx="997106" cy="223711"/>
              <a:chOff x="6729828" y="4066454"/>
              <a:chExt cx="997106" cy="223711"/>
            </a:xfrm>
          </p:grpSpPr>
          <p:sp>
            <p:nvSpPr>
              <p:cNvPr id="37" name="Shape 32"/>
              <p:cNvSpPr/>
              <p:nvPr/>
            </p:nvSpPr>
            <p:spPr>
              <a:xfrm>
                <a:off x="6729828" y="4066454"/>
                <a:ext cx="914400" cy="219456"/>
              </a:xfrm>
              <a:prstGeom prst="roundRect">
                <a:avLst>
                  <a:gd name="adj" fmla="val 144928"/>
                </a:avLst>
              </a:prstGeom>
              <a:solidFill>
                <a:srgbClr val="FFFFFF"/>
              </a:solidFill>
              <a:ln w="12700">
                <a:solidFill>
                  <a:srgbClr val="000000">
                    <a:alpha val="10000"/>
                  </a:srgbClr>
                </a:solidFill>
                <a:prstDash val="solid"/>
              </a:ln>
            </p:spPr>
          </p:sp>
          <p:sp>
            <p:nvSpPr>
              <p:cNvPr id="38" name="Text 33"/>
              <p:cNvSpPr txBox="1"/>
              <p:nvPr/>
            </p:nvSpPr>
            <p:spPr>
              <a:xfrm>
                <a:off x="6754927" y="4070709"/>
                <a:ext cx="972007" cy="219456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76200" tIns="25400" rIns="76200" bIns="25400" rtlCol="0" anchor="ctr"/>
              <a:lstStyle/>
              <a:p>
                <a:pPr marL="0" indent="0" algn="l">
                  <a:buNone/>
                </a:pPr>
                <a:r>
                  <a:rPr lang="en-US" sz="800" b="1" dirty="0">
                    <a:solidFill>
                      <a:srgbClr val="00000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Audio Convert</a:t>
                </a:r>
                <a:endParaRPr lang="en-US" sz="800" dirty="0"/>
              </a:p>
            </p:txBody>
          </p:sp>
        </p:grpSp>
        <p:grpSp>
          <p:nvGrpSpPr>
            <p:cNvPr id="69" name="그룹 68"/>
            <p:cNvGrpSpPr/>
            <p:nvPr/>
          </p:nvGrpSpPr>
          <p:grpSpPr>
            <a:xfrm>
              <a:off x="6189884" y="3916524"/>
              <a:ext cx="977179" cy="225220"/>
              <a:chOff x="6152299" y="3950534"/>
              <a:chExt cx="977179" cy="225220"/>
            </a:xfrm>
          </p:grpSpPr>
          <p:sp>
            <p:nvSpPr>
              <p:cNvPr id="39" name="Shape 34"/>
              <p:cNvSpPr/>
              <p:nvPr/>
            </p:nvSpPr>
            <p:spPr>
              <a:xfrm>
                <a:off x="6152299" y="3956298"/>
                <a:ext cx="895198" cy="219456"/>
              </a:xfrm>
              <a:prstGeom prst="roundRect">
                <a:avLst>
                  <a:gd name="adj" fmla="val 144928"/>
                </a:avLst>
              </a:prstGeom>
              <a:solidFill>
                <a:srgbClr val="FFFFFF"/>
              </a:solidFill>
              <a:ln w="12700">
                <a:solidFill>
                  <a:srgbClr val="000000">
                    <a:alpha val="10000"/>
                  </a:srgbClr>
                </a:solidFill>
                <a:prstDash val="solid"/>
              </a:ln>
            </p:spPr>
          </p:sp>
          <p:sp>
            <p:nvSpPr>
              <p:cNvPr id="40" name="Text 35"/>
              <p:cNvSpPr txBox="1"/>
              <p:nvPr/>
            </p:nvSpPr>
            <p:spPr>
              <a:xfrm>
                <a:off x="6176673" y="3950534"/>
                <a:ext cx="952805" cy="219456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76200" tIns="25400" rIns="76200" bIns="25400" rtlCol="0" anchor="ctr"/>
              <a:lstStyle/>
              <a:p>
                <a:pPr marL="0" indent="0" algn="l">
                  <a:buNone/>
                </a:pPr>
                <a:r>
                  <a:rPr lang="en-US" sz="800" b="1" dirty="0">
                    <a:solidFill>
                      <a:srgbClr val="00000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STT (Whisper)</a:t>
                </a:r>
                <a:endParaRPr lang="en-US" sz="800" dirty="0"/>
              </a:p>
            </p:txBody>
          </p:sp>
        </p:grpSp>
        <p:grpSp>
          <p:nvGrpSpPr>
            <p:cNvPr id="65" name="그룹 64"/>
            <p:cNvGrpSpPr/>
            <p:nvPr/>
          </p:nvGrpSpPr>
          <p:grpSpPr>
            <a:xfrm>
              <a:off x="5410898" y="4184526"/>
              <a:ext cx="1036403" cy="236931"/>
              <a:chOff x="5049712" y="3211731"/>
              <a:chExt cx="1036403" cy="236931"/>
            </a:xfrm>
          </p:grpSpPr>
          <p:sp>
            <p:nvSpPr>
              <p:cNvPr id="35" name="Shape 30"/>
              <p:cNvSpPr/>
              <p:nvPr/>
            </p:nvSpPr>
            <p:spPr>
              <a:xfrm>
                <a:off x="5049712" y="3211731"/>
                <a:ext cx="1000354" cy="219456"/>
              </a:xfrm>
              <a:prstGeom prst="roundRect">
                <a:avLst>
                  <a:gd name="adj" fmla="val 144928"/>
                </a:avLst>
              </a:prstGeom>
              <a:solidFill>
                <a:srgbClr val="FFFFFF"/>
              </a:solidFill>
              <a:ln w="12700">
                <a:solidFill>
                  <a:srgbClr val="000000">
                    <a:alpha val="10000"/>
                  </a:srgbClr>
                </a:solidFill>
                <a:prstDash val="solid"/>
              </a:ln>
            </p:spPr>
          </p:sp>
          <p:sp>
            <p:nvSpPr>
              <p:cNvPr id="36" name="Text 31"/>
              <p:cNvSpPr txBox="1"/>
              <p:nvPr/>
            </p:nvSpPr>
            <p:spPr>
              <a:xfrm>
                <a:off x="5100113" y="3229206"/>
                <a:ext cx="986002" cy="219456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76200" tIns="25400" rIns="76200" bIns="25400" rtlCol="0" anchor="ctr"/>
              <a:lstStyle/>
              <a:p>
                <a:pPr marL="0" indent="0" algn="l">
                  <a:buNone/>
                </a:pPr>
                <a:r>
                  <a:rPr lang="en-US" sz="800" b="1" dirty="0">
                    <a:solidFill>
                      <a:srgbClr val="00000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Resume Parsing</a:t>
                </a:r>
                <a:endParaRPr lang="en-US" sz="800" dirty="0"/>
              </a:p>
            </p:txBody>
          </p:sp>
        </p:grpSp>
        <p:grpSp>
          <p:nvGrpSpPr>
            <p:cNvPr id="74" name="그룹 73"/>
            <p:cNvGrpSpPr/>
            <p:nvPr/>
          </p:nvGrpSpPr>
          <p:grpSpPr>
            <a:xfrm>
              <a:off x="6425943" y="3071464"/>
              <a:ext cx="381305" cy="406310"/>
              <a:chOff x="6120984" y="1287869"/>
              <a:chExt cx="381305" cy="406310"/>
            </a:xfrm>
          </p:grpSpPr>
          <p:sp>
            <p:nvSpPr>
              <p:cNvPr id="31" name="Shape 27"/>
              <p:cNvSpPr/>
              <p:nvPr/>
            </p:nvSpPr>
            <p:spPr>
              <a:xfrm>
                <a:off x="6120984" y="1312874"/>
                <a:ext cx="381305" cy="381305"/>
              </a:xfrm>
              <a:prstGeom prst="roundRect">
                <a:avLst>
                  <a:gd name="adj" fmla="val 119904"/>
                </a:avLst>
              </a:prstGeom>
              <a:solidFill>
                <a:srgbClr val="FFF7ED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pic>
            <p:nvPicPr>
              <p:cNvPr id="32" name="Image 2" descr="preencoded.png"/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6209829" y="1287869"/>
                <a:ext cx="190195" cy="190195"/>
              </a:xfrm>
              <a:prstGeom prst="rect">
                <a:avLst/>
              </a:prstGeom>
            </p:spPr>
          </p:pic>
        </p:grp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AC1F3317-7D6C-2C0B-AE17-A6AEC9A0691F}"/>
                </a:ext>
              </a:extLst>
            </p:cNvPr>
            <p:cNvGrpSpPr/>
            <p:nvPr/>
          </p:nvGrpSpPr>
          <p:grpSpPr>
            <a:xfrm>
              <a:off x="6036679" y="4446760"/>
              <a:ext cx="1622000" cy="275298"/>
              <a:chOff x="6729828" y="4037911"/>
              <a:chExt cx="1272552" cy="260614"/>
            </a:xfrm>
          </p:grpSpPr>
          <p:sp>
            <p:nvSpPr>
              <p:cNvPr id="73" name="Shape 32">
                <a:extLst>
                  <a:ext uri="{FF2B5EF4-FFF2-40B4-BE49-F238E27FC236}">
                    <a16:creationId xmlns:a16="http://schemas.microsoft.com/office/drawing/2014/main" id="{4B06631F-6B26-2612-EAED-3B7C933F4F02}"/>
                  </a:ext>
                </a:extLst>
              </p:cNvPr>
              <p:cNvSpPr/>
              <p:nvPr/>
            </p:nvSpPr>
            <p:spPr>
              <a:xfrm>
                <a:off x="6729828" y="4066454"/>
                <a:ext cx="914400" cy="219456"/>
              </a:xfrm>
              <a:prstGeom prst="roundRect">
                <a:avLst>
                  <a:gd name="adj" fmla="val 144928"/>
                </a:avLst>
              </a:prstGeom>
              <a:solidFill>
                <a:srgbClr val="FFFFFF"/>
              </a:solidFill>
              <a:ln w="12700">
                <a:solidFill>
                  <a:srgbClr val="000000">
                    <a:alpha val="10000"/>
                  </a:srgbClr>
                </a:solidFill>
                <a:prstDash val="solid"/>
              </a:ln>
            </p:spPr>
          </p:sp>
          <p:sp>
            <p:nvSpPr>
              <p:cNvPr id="82" name="Text 33">
                <a:extLst>
                  <a:ext uri="{FF2B5EF4-FFF2-40B4-BE49-F238E27FC236}">
                    <a16:creationId xmlns:a16="http://schemas.microsoft.com/office/drawing/2014/main" id="{2057FBBE-1D21-77B4-4618-C701B84C55BD}"/>
                  </a:ext>
                </a:extLst>
              </p:cNvPr>
              <p:cNvSpPr txBox="1"/>
              <p:nvPr/>
            </p:nvSpPr>
            <p:spPr>
              <a:xfrm>
                <a:off x="6745492" y="4037911"/>
                <a:ext cx="1256888" cy="26061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76200" tIns="25400" rIns="76200" bIns="25400" rtlCol="0" anchor="ctr"/>
              <a:lstStyle/>
              <a:p>
                <a:pPr marL="0" indent="0" algn="l">
                  <a:buNone/>
                </a:pPr>
                <a:r>
                  <a:rPr lang="en-US" sz="1200" b="1" dirty="0"/>
                  <a:t>RAM 12~16GM</a:t>
                </a:r>
              </a:p>
            </p:txBody>
          </p:sp>
        </p:grp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E46997BB-530B-8267-19E6-7AC0D7EBDF4E}"/>
              </a:ext>
            </a:extLst>
          </p:cNvPr>
          <p:cNvGrpSpPr/>
          <p:nvPr/>
        </p:nvGrpSpPr>
        <p:grpSpPr>
          <a:xfrm>
            <a:off x="9645412" y="4336871"/>
            <a:ext cx="714147" cy="265229"/>
            <a:chOff x="10405251" y="3929024"/>
            <a:chExt cx="876910" cy="219456"/>
          </a:xfrm>
        </p:grpSpPr>
        <p:sp>
          <p:nvSpPr>
            <p:cNvPr id="89" name="Shape 44">
              <a:extLst>
                <a:ext uri="{FF2B5EF4-FFF2-40B4-BE49-F238E27FC236}">
                  <a16:creationId xmlns:a16="http://schemas.microsoft.com/office/drawing/2014/main" id="{69EB0F49-6308-0833-F006-551EAE816B98}"/>
                </a:ext>
              </a:extLst>
            </p:cNvPr>
            <p:cNvSpPr/>
            <p:nvPr/>
          </p:nvSpPr>
          <p:spPr>
            <a:xfrm>
              <a:off x="10413491" y="3929024"/>
              <a:ext cx="819302" cy="219456"/>
            </a:xfrm>
            <a:prstGeom prst="roundRect">
              <a:avLst>
                <a:gd name="adj" fmla="val 144928"/>
              </a:avLst>
            </a:prstGeom>
            <a:solidFill>
              <a:srgbClr val="FFFFFF"/>
            </a:solidFill>
            <a:ln w="12700">
              <a:solidFill>
                <a:srgbClr val="000000">
                  <a:alpha val="10000"/>
                </a:srgbClr>
              </a:solidFill>
              <a:prstDash val="solid"/>
            </a:ln>
          </p:spPr>
        </p:sp>
        <p:sp>
          <p:nvSpPr>
            <p:cNvPr id="92" name="Text 45">
              <a:extLst>
                <a:ext uri="{FF2B5EF4-FFF2-40B4-BE49-F238E27FC236}">
                  <a16:creationId xmlns:a16="http://schemas.microsoft.com/office/drawing/2014/main" id="{EA59F6A2-E1D7-119A-0D05-23E042DD30EE}"/>
                </a:ext>
              </a:extLst>
            </p:cNvPr>
            <p:cNvSpPr txBox="1"/>
            <p:nvPr/>
          </p:nvSpPr>
          <p:spPr>
            <a:xfrm>
              <a:off x="10405251" y="3929024"/>
              <a:ext cx="876910" cy="21945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00" tIns="25400" rIns="76200" bIns="2540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7C3AED"/>
                  </a:solidFill>
                  <a:latin typeface="Noto Sans KR" pitchFamily="34" charset="0"/>
                  <a:ea typeface="Noto Sans KR" pitchFamily="34" charset="-122"/>
                </a:rPr>
                <a:t>VRAM 6GB</a:t>
              </a:r>
              <a:endParaRPr lang="en-US" sz="800" dirty="0"/>
            </a:p>
          </p:txBody>
        </p:sp>
      </p:grpSp>
      <p:sp>
        <p:nvSpPr>
          <p:cNvPr id="2" name="Shape 13">
            <a:extLst>
              <a:ext uri="{FF2B5EF4-FFF2-40B4-BE49-F238E27FC236}">
                <a16:creationId xmlns:a16="http://schemas.microsoft.com/office/drawing/2014/main" id="{76D78676-BE83-0E7A-C97A-D47404F9E71F}"/>
              </a:ext>
            </a:extLst>
          </p:cNvPr>
          <p:cNvSpPr/>
          <p:nvPr/>
        </p:nvSpPr>
        <p:spPr>
          <a:xfrm>
            <a:off x="528710" y="5129342"/>
            <a:ext cx="4005545" cy="1284103"/>
          </a:xfrm>
          <a:prstGeom prst="roundRect">
            <a:avLst>
              <a:gd name="adj" fmla="val 9481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3" name="Text 16">
            <a:extLst>
              <a:ext uri="{FF2B5EF4-FFF2-40B4-BE49-F238E27FC236}">
                <a16:creationId xmlns:a16="http://schemas.microsoft.com/office/drawing/2014/main" id="{D8D10723-B280-27B5-ADE5-3B53D3A61762}"/>
              </a:ext>
            </a:extLst>
          </p:cNvPr>
          <p:cNvSpPr txBox="1"/>
          <p:nvPr/>
        </p:nvSpPr>
        <p:spPr>
          <a:xfrm>
            <a:off x="1309609" y="5214340"/>
            <a:ext cx="3118670" cy="349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최소 권장 사양</a:t>
            </a:r>
            <a:endParaRPr lang="en-US" sz="1500" dirty="0"/>
          </a:p>
        </p:txBody>
      </p:sp>
      <p:sp>
        <p:nvSpPr>
          <p:cNvPr id="93" name="Text 18">
            <a:extLst>
              <a:ext uri="{FF2B5EF4-FFF2-40B4-BE49-F238E27FC236}">
                <a16:creationId xmlns:a16="http://schemas.microsoft.com/office/drawing/2014/main" id="{6B27CEEB-C982-F15A-201E-C3C1DDF2AEDF}"/>
              </a:ext>
            </a:extLst>
          </p:cNvPr>
          <p:cNvSpPr txBox="1"/>
          <p:nvPr/>
        </p:nvSpPr>
        <p:spPr>
          <a:xfrm>
            <a:off x="1007990" y="5832997"/>
            <a:ext cx="3445725" cy="43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- RAM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16GB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이상</a:t>
            </a:r>
          </a:p>
          <a:p>
            <a:r>
              <a:rPr lang="en-US" altLang="ko-KR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GPU: NVIDIA GPU (VRAM 8GB+) </a:t>
            </a:r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권장</a:t>
            </a:r>
            <a:endParaRPr lang="en-US" altLang="ko-KR" sz="12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  GPU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없이도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CPU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모드로 동작 </a:t>
            </a:r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가능 </a:t>
            </a:r>
            <a:endParaRPr lang="en-US" altLang="ko-KR" sz="12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디스크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최소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50GB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이상 여유 공간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(LLM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모델 포함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0" indent="0" algn="l">
              <a:buNone/>
            </a:pP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5" name="Shape 6"/>
          <p:cNvSpPr/>
          <p:nvPr/>
        </p:nvSpPr>
        <p:spPr>
          <a:xfrm>
            <a:off x="529654" y="5108462"/>
            <a:ext cx="60024" cy="1304984"/>
          </a:xfrm>
          <a:prstGeom prst="roundRect">
            <a:avLst>
              <a:gd name="adj" fmla="val 251455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96" name="Shape 15"/>
          <p:cNvSpPr/>
          <p:nvPr/>
        </p:nvSpPr>
        <p:spPr>
          <a:xfrm>
            <a:off x="793017" y="5211422"/>
            <a:ext cx="395164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pic>
        <p:nvPicPr>
          <p:cNvPr id="97" name="Image 4" descr="preencoded.png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3B82F6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912758" y="5307032"/>
            <a:ext cx="190464" cy="19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06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A2EC8717-AE02-E210-7DFC-7D9E1EFB6824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DAB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B040B868-22D0-ED10-85F3-AAB6B8BA08A3}"/>
                </a:ext>
              </a:extLst>
            </p:cNvPr>
            <p:cNvSpPr/>
            <p:nvPr/>
          </p:nvSpPr>
          <p:spPr>
            <a:xfrm>
              <a:off x="7905902" y="0"/>
              <a:ext cx="4285793" cy="3809390"/>
            </a:xfrm>
            <a:custGeom>
              <a:avLst/>
              <a:gdLst>
                <a:gd name="connsiteX0" fmla="*/ 479189 w 4285793"/>
                <a:gd name="connsiteY0" fmla="*/ 0 h 3809390"/>
                <a:gd name="connsiteX1" fmla="*/ 4283008 w 4285793"/>
                <a:gd name="connsiteY1" fmla="*/ 0 h 3809390"/>
                <a:gd name="connsiteX2" fmla="*/ 4285793 w 4285793"/>
                <a:gd name="connsiteY2" fmla="*/ 3725 h 3809390"/>
                <a:gd name="connsiteX3" fmla="*/ 4285793 w 4285793"/>
                <a:gd name="connsiteY3" fmla="*/ 2852861 h 3809390"/>
                <a:gd name="connsiteX4" fmla="*/ 4218469 w 4285793"/>
                <a:gd name="connsiteY4" fmla="*/ 2942892 h 3809390"/>
                <a:gd name="connsiteX5" fmla="*/ 2624551 w 4285793"/>
                <a:gd name="connsiteY5" fmla="*/ 3797098 h 3809390"/>
                <a:gd name="connsiteX6" fmla="*/ 2381118 w 4285793"/>
                <a:gd name="connsiteY6" fmla="*/ 3809390 h 3809390"/>
                <a:gd name="connsiteX7" fmla="*/ 2381078 w 4285793"/>
                <a:gd name="connsiteY7" fmla="*/ 3809390 h 3809390"/>
                <a:gd name="connsiteX8" fmla="*/ 2137645 w 4285793"/>
                <a:gd name="connsiteY8" fmla="*/ 3797098 h 3809390"/>
                <a:gd name="connsiteX9" fmla="*/ 0 w 4285793"/>
                <a:gd name="connsiteY9" fmla="*/ 1428293 h 3809390"/>
                <a:gd name="connsiteX10" fmla="*/ 406655 w 4285793"/>
                <a:gd name="connsiteY10" fmla="*/ 96999 h 3809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85793" h="3809390">
                  <a:moveTo>
                    <a:pt x="479189" y="0"/>
                  </a:moveTo>
                  <a:lnTo>
                    <a:pt x="4283008" y="0"/>
                  </a:lnTo>
                  <a:lnTo>
                    <a:pt x="4285793" y="3725"/>
                  </a:lnTo>
                  <a:lnTo>
                    <a:pt x="4285793" y="2852861"/>
                  </a:lnTo>
                  <a:lnTo>
                    <a:pt x="4218469" y="2942892"/>
                  </a:lnTo>
                  <a:cubicBezTo>
                    <a:pt x="3830266" y="3413286"/>
                    <a:pt x="3264916" y="3732065"/>
                    <a:pt x="2624551" y="3797098"/>
                  </a:cubicBezTo>
                  <a:lnTo>
                    <a:pt x="2381118" y="3809390"/>
                  </a:lnTo>
                  <a:lnTo>
                    <a:pt x="2381078" y="3809390"/>
                  </a:lnTo>
                  <a:lnTo>
                    <a:pt x="2137645" y="3797098"/>
                  </a:lnTo>
                  <a:cubicBezTo>
                    <a:pt x="936962" y="3675162"/>
                    <a:pt x="0" y="2661147"/>
                    <a:pt x="0" y="1428293"/>
                  </a:cubicBezTo>
                  <a:cubicBezTo>
                    <a:pt x="0" y="935152"/>
                    <a:pt x="149914" y="477024"/>
                    <a:pt x="406655" y="96999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8D041F4F-998C-2D1B-ADF0-78DE73646BC5}"/>
                </a:ext>
              </a:extLst>
            </p:cNvPr>
            <p:cNvSpPr/>
            <p:nvPr/>
          </p:nvSpPr>
          <p:spPr>
            <a:xfrm>
              <a:off x="0" y="3810305"/>
              <a:ext cx="3048610" cy="3047695"/>
            </a:xfrm>
            <a:custGeom>
              <a:avLst/>
              <a:gdLst>
                <a:gd name="connsiteX0" fmla="*/ 1143458 w 3048610"/>
                <a:gd name="connsiteY0" fmla="*/ 0 h 3047695"/>
                <a:gd name="connsiteX1" fmla="*/ 3038775 w 3048610"/>
                <a:gd name="connsiteY1" fmla="*/ 1710362 h 3047695"/>
                <a:gd name="connsiteX2" fmla="*/ 3048610 w 3048610"/>
                <a:gd name="connsiteY2" fmla="*/ 1905133 h 3047695"/>
                <a:gd name="connsiteX3" fmla="*/ 3048610 w 3048610"/>
                <a:gd name="connsiteY3" fmla="*/ 1905173 h 3047695"/>
                <a:gd name="connsiteX4" fmla="*/ 3038775 w 3048610"/>
                <a:gd name="connsiteY4" fmla="*/ 2099944 h 3047695"/>
                <a:gd name="connsiteX5" fmla="*/ 2723241 w 3048610"/>
                <a:gd name="connsiteY5" fmla="*/ 2970342 h 3047695"/>
                <a:gd name="connsiteX6" fmla="*/ 2665398 w 3048610"/>
                <a:gd name="connsiteY6" fmla="*/ 3047695 h 3047695"/>
                <a:gd name="connsiteX7" fmla="*/ 0 w 3048610"/>
                <a:gd name="connsiteY7" fmla="*/ 3047695 h 3047695"/>
                <a:gd name="connsiteX8" fmla="*/ 0 w 3048610"/>
                <a:gd name="connsiteY8" fmla="*/ 383899 h 3047695"/>
                <a:gd name="connsiteX9" fmla="*/ 78269 w 3048610"/>
                <a:gd name="connsiteY9" fmla="*/ 325370 h 3047695"/>
                <a:gd name="connsiteX10" fmla="*/ 1143458 w 3048610"/>
                <a:gd name="connsiteY10" fmla="*/ 0 h 30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48610" h="3047695">
                  <a:moveTo>
                    <a:pt x="1143458" y="0"/>
                  </a:moveTo>
                  <a:cubicBezTo>
                    <a:pt x="2129883" y="0"/>
                    <a:pt x="2941212" y="749677"/>
                    <a:pt x="3038775" y="1710362"/>
                  </a:cubicBezTo>
                  <a:lnTo>
                    <a:pt x="3048610" y="1905133"/>
                  </a:lnTo>
                  <a:lnTo>
                    <a:pt x="3048610" y="1905173"/>
                  </a:lnTo>
                  <a:lnTo>
                    <a:pt x="3038775" y="2099944"/>
                  </a:lnTo>
                  <a:cubicBezTo>
                    <a:pt x="3006254" y="2420172"/>
                    <a:pt x="2894426" y="2716955"/>
                    <a:pt x="2723241" y="2970342"/>
                  </a:cubicBezTo>
                  <a:lnTo>
                    <a:pt x="2665398" y="3047695"/>
                  </a:lnTo>
                  <a:lnTo>
                    <a:pt x="0" y="3047695"/>
                  </a:lnTo>
                  <a:lnTo>
                    <a:pt x="0" y="383899"/>
                  </a:lnTo>
                  <a:lnTo>
                    <a:pt x="78269" y="325370"/>
                  </a:lnTo>
                  <a:cubicBezTo>
                    <a:pt x="382333" y="119949"/>
                    <a:pt x="748888" y="0"/>
                    <a:pt x="1143458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</p:grpSp>
      <p:sp>
        <p:nvSpPr>
          <p:cNvPr id="6" name="Shape 4"/>
          <p:cNvSpPr/>
          <p:nvPr/>
        </p:nvSpPr>
        <p:spPr>
          <a:xfrm>
            <a:off x="571500" y="476402"/>
            <a:ext cx="75895" cy="80924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5995" y="476402"/>
            <a:ext cx="11049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구현 과정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875995" y="992124"/>
            <a:ext cx="69540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PoC부터 MSA 리팩토링, 최종 안정화까지의 단계별 진화 과정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3071470" y="3811219"/>
            <a:ext cx="142646" cy="22860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6024982" y="3811219"/>
            <a:ext cx="142646" cy="22860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8977579" y="3811219"/>
            <a:ext cx="142646" cy="22860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 l="-6" r="-6"/>
          <a:stretch/>
        </p:blipFill>
        <p:spPr>
          <a:xfrm>
            <a:off x="571500" y="1659636"/>
            <a:ext cx="2190902" cy="453176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2014423" y="1811426"/>
            <a:ext cx="638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3600" dirty="0"/>
          </a:p>
        </p:txBody>
      </p:sp>
      <p:sp>
        <p:nvSpPr>
          <p:cNvPr id="14" name="Shape 8"/>
          <p:cNvSpPr/>
          <p:nvPr/>
        </p:nvSpPr>
        <p:spPr>
          <a:xfrm>
            <a:off x="800100" y="1944929"/>
            <a:ext cx="533095" cy="533095"/>
          </a:xfrm>
          <a:prstGeom prst="roundRect">
            <a:avLst>
              <a:gd name="adj" fmla="val 98015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2805" y="2097634"/>
            <a:ext cx="228600" cy="22860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00100" y="2630729"/>
            <a:ext cx="1733702" cy="276149"/>
          </a:xfrm>
          <a:prstGeom prst="roundRect">
            <a:avLst>
              <a:gd name="adj" fmla="val 13701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800100" y="2630729"/>
            <a:ext cx="1803197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Phase</a:t>
            </a:r>
            <a:endParaRPr lang="en-US" sz="1000" dirty="0"/>
          </a:p>
        </p:txBody>
      </p:sp>
      <p:sp>
        <p:nvSpPr>
          <p:cNvPr id="18" name="Text 11"/>
          <p:cNvSpPr txBox="1"/>
          <p:nvPr/>
        </p:nvSpPr>
        <p:spPr>
          <a:xfrm>
            <a:off x="800100" y="3059582"/>
            <a:ext cx="187269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프로토타이핑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800100" y="3506724"/>
            <a:ext cx="57607" cy="57607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952805" y="3421685"/>
            <a:ext cx="1645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모놀리식(Monolithic) 단일 컨테이너 기반 구조 설계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800100" y="4269334"/>
            <a:ext cx="57607" cy="57607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952805" y="4183380"/>
            <a:ext cx="1645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기능 검증을 위한 단순 아키텍처 채택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3524098" y="1659636"/>
            <a:ext cx="2190902" cy="453176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967935" y="1811426"/>
            <a:ext cx="638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EE2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3600" dirty="0"/>
          </a:p>
        </p:txBody>
      </p:sp>
      <p:sp>
        <p:nvSpPr>
          <p:cNvPr id="25" name="Shape 17"/>
          <p:cNvSpPr/>
          <p:nvPr/>
        </p:nvSpPr>
        <p:spPr>
          <a:xfrm>
            <a:off x="3752698" y="1944929"/>
            <a:ext cx="533095" cy="533095"/>
          </a:xfrm>
          <a:prstGeom prst="roundRect">
            <a:avLst>
              <a:gd name="adj" fmla="val 98015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905402" y="2097634"/>
            <a:ext cx="228600" cy="22860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3752698" y="2630729"/>
            <a:ext cx="1733702" cy="276149"/>
          </a:xfrm>
          <a:prstGeom prst="roundRect">
            <a:avLst>
              <a:gd name="adj" fmla="val 137017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3752698" y="2630729"/>
            <a:ext cx="1803197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Bottleneck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3752698" y="3059582"/>
            <a:ext cx="187269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 및 문제 직면</a:t>
            </a:r>
            <a:endParaRPr lang="en-US" sz="1500" dirty="0"/>
          </a:p>
        </p:txBody>
      </p:sp>
      <p:sp>
        <p:nvSpPr>
          <p:cNvPr id="30" name="Shape 21"/>
          <p:cNvSpPr/>
          <p:nvPr/>
        </p:nvSpPr>
        <p:spPr>
          <a:xfrm>
            <a:off x="3752698" y="3506724"/>
            <a:ext cx="57607" cy="57607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3905402" y="3421685"/>
            <a:ext cx="1645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동기식 호출로 인한 API 응답 지연 및 병목 현상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3752698" y="4040734"/>
            <a:ext cx="57607" cy="57607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3905402" y="3954780"/>
            <a:ext cx="1645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워커 자원 충돌로 인한 OOM(메모리 부족) 폭발</a:t>
            </a:r>
            <a:endParaRPr lang="en-US" sz="11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rcRect l="-6" r="-6"/>
          <a:stretch/>
        </p:blipFill>
        <p:spPr>
          <a:xfrm>
            <a:off x="6476695" y="1659636"/>
            <a:ext cx="2190902" cy="453176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920533" y="1811426"/>
            <a:ext cx="638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FF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600" dirty="0"/>
          </a:p>
        </p:txBody>
      </p:sp>
      <p:sp>
        <p:nvSpPr>
          <p:cNvPr id="36" name="Shape 26"/>
          <p:cNvSpPr/>
          <p:nvPr/>
        </p:nvSpPr>
        <p:spPr>
          <a:xfrm>
            <a:off x="6705295" y="1944929"/>
            <a:ext cx="533095" cy="533095"/>
          </a:xfrm>
          <a:prstGeom prst="roundRect">
            <a:avLst>
              <a:gd name="adj" fmla="val 9801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6872630" y="2097634"/>
            <a:ext cx="200254" cy="228600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6705295" y="2630729"/>
            <a:ext cx="1733702" cy="276149"/>
          </a:xfrm>
          <a:prstGeom prst="roundRect">
            <a:avLst>
              <a:gd name="adj" fmla="val 137017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6705295" y="2630729"/>
            <a:ext cx="1803197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MSA Refactoring</a:t>
            </a:r>
            <a:endParaRPr lang="en-US" sz="1000" dirty="0"/>
          </a:p>
        </p:txBody>
      </p:sp>
      <p:sp>
        <p:nvSpPr>
          <p:cNvPr id="40" name="Text 29"/>
          <p:cNvSpPr txBox="1"/>
          <p:nvPr/>
        </p:nvSpPr>
        <p:spPr>
          <a:xfrm>
            <a:off x="6705295" y="3059582"/>
            <a:ext cx="187269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 리팩토링</a:t>
            </a:r>
            <a:endParaRPr lang="en-US" sz="1500" dirty="0"/>
          </a:p>
        </p:txBody>
      </p:sp>
      <p:sp>
        <p:nvSpPr>
          <p:cNvPr id="41" name="Shape 30"/>
          <p:cNvSpPr/>
          <p:nvPr/>
        </p:nvSpPr>
        <p:spPr>
          <a:xfrm>
            <a:off x="6705295" y="3506724"/>
            <a:ext cx="57607" cy="57607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1"/>
          <p:cNvSpPr txBox="1"/>
          <p:nvPr/>
        </p:nvSpPr>
        <p:spPr>
          <a:xfrm>
            <a:off x="6858000" y="3421685"/>
            <a:ext cx="1645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컨테이너 분리 및 결합도 완화 (MSA 전환)</a:t>
            </a:r>
            <a:endParaRPr lang="en-US" sz="1100" dirty="0"/>
          </a:p>
        </p:txBody>
      </p:sp>
      <p:sp>
        <p:nvSpPr>
          <p:cNvPr id="43" name="Shape 32"/>
          <p:cNvSpPr/>
          <p:nvPr/>
        </p:nvSpPr>
        <p:spPr>
          <a:xfrm>
            <a:off x="6705295" y="4040734"/>
            <a:ext cx="57607" cy="57607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6858000" y="3954780"/>
            <a:ext cx="1645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Redis+Celery 기반 비동기 이벤트 코어 구축</a:t>
            </a:r>
            <a:endParaRPr lang="en-US" sz="11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0"/>
          <a:srcRect l="-6" r="-6"/>
          <a:stretch/>
        </p:blipFill>
        <p:spPr>
          <a:xfrm>
            <a:off x="9430207" y="1659636"/>
            <a:ext cx="2190902" cy="4531766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10873130" y="1811426"/>
            <a:ext cx="638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CFD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3600" dirty="0"/>
          </a:p>
        </p:txBody>
      </p:sp>
      <p:sp>
        <p:nvSpPr>
          <p:cNvPr id="47" name="Shape 35"/>
          <p:cNvSpPr/>
          <p:nvPr/>
        </p:nvSpPr>
        <p:spPr>
          <a:xfrm>
            <a:off x="9658807" y="1944929"/>
            <a:ext cx="533095" cy="533095"/>
          </a:xfrm>
          <a:prstGeom prst="roundRect">
            <a:avLst>
              <a:gd name="adj" fmla="val 98015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9825228" y="2097634"/>
            <a:ext cx="200254" cy="228600"/>
          </a:xfrm>
          <a:prstGeom prst="rect">
            <a:avLst/>
          </a:prstGeom>
        </p:spPr>
      </p:pic>
      <p:sp>
        <p:nvSpPr>
          <p:cNvPr id="49" name="Shape 36"/>
          <p:cNvSpPr/>
          <p:nvPr/>
        </p:nvSpPr>
        <p:spPr>
          <a:xfrm>
            <a:off x="9658807" y="2630729"/>
            <a:ext cx="1733702" cy="276149"/>
          </a:xfrm>
          <a:prstGeom prst="roundRect">
            <a:avLst>
              <a:gd name="adj" fmla="val 13701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37"/>
          <p:cNvSpPr txBox="1"/>
          <p:nvPr/>
        </p:nvSpPr>
        <p:spPr>
          <a:xfrm>
            <a:off x="9658807" y="2630729"/>
            <a:ext cx="1803197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Stabilization</a:t>
            </a:r>
            <a:endParaRPr lang="en-US" sz="1000" dirty="0"/>
          </a:p>
        </p:txBody>
      </p:sp>
      <p:sp>
        <p:nvSpPr>
          <p:cNvPr id="51" name="Text 38"/>
          <p:cNvSpPr txBox="1"/>
          <p:nvPr/>
        </p:nvSpPr>
        <p:spPr>
          <a:xfrm>
            <a:off x="9658807" y="3059582"/>
            <a:ext cx="187269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및 안정화</a:t>
            </a:r>
            <a:endParaRPr lang="en-US" sz="1500" dirty="0"/>
          </a:p>
        </p:txBody>
      </p:sp>
      <p:sp>
        <p:nvSpPr>
          <p:cNvPr id="52" name="Shape 39"/>
          <p:cNvSpPr/>
          <p:nvPr/>
        </p:nvSpPr>
        <p:spPr>
          <a:xfrm>
            <a:off x="9658807" y="3506724"/>
            <a:ext cx="57607" cy="57607"/>
          </a:xfrm>
          <a:prstGeom prst="ellipse">
            <a:avLst/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0"/>
          <p:cNvSpPr txBox="1"/>
          <p:nvPr/>
        </p:nvSpPr>
        <p:spPr>
          <a:xfrm>
            <a:off x="9810598" y="3421685"/>
            <a:ext cx="1645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스키마 100% 동기화 및 시스템 통합</a:t>
            </a:r>
            <a:endParaRPr lang="en-US" sz="1100" dirty="0"/>
          </a:p>
        </p:txBody>
      </p:sp>
      <p:sp>
        <p:nvSpPr>
          <p:cNvPr id="54" name="Shape 41"/>
          <p:cNvSpPr/>
          <p:nvPr/>
        </p:nvSpPr>
        <p:spPr>
          <a:xfrm>
            <a:off x="9658807" y="4040734"/>
            <a:ext cx="57607" cy="57607"/>
          </a:xfrm>
          <a:prstGeom prst="ellipse">
            <a:avLst/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2"/>
          <p:cNvSpPr txBox="1"/>
          <p:nvPr/>
        </p:nvSpPr>
        <p:spPr>
          <a:xfrm>
            <a:off x="9810598" y="3954780"/>
            <a:ext cx="1645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SAD 및 'Docs as Code' 기반 문서화 정립 완료</a:t>
            </a:r>
            <a:endParaRPr lang="en-US" sz="1100" dirty="0"/>
          </a:p>
        </p:txBody>
      </p:sp>
      <p:sp>
        <p:nvSpPr>
          <p:cNvPr id="58" name="TextBox 57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A4_Project_2AI1_SA_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엄재민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5652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A04DF0E-8A52-CA5D-D134-BEC14C8C3389}"/>
              </a:ext>
            </a:extLst>
          </p:cNvPr>
          <p:cNvGrpSpPr/>
          <p:nvPr/>
        </p:nvGrpSpPr>
        <p:grpSpPr>
          <a:xfrm>
            <a:off x="0" y="0"/>
            <a:ext cx="12191695" cy="6868058"/>
            <a:chOff x="0" y="0"/>
            <a:chExt cx="12191695" cy="6868058"/>
          </a:xfrm>
        </p:grpSpPr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DAB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E2D3EC52-2E41-DB16-719A-4BB3FEA077FD}"/>
                </a:ext>
              </a:extLst>
            </p:cNvPr>
            <p:cNvSpPr/>
            <p:nvPr/>
          </p:nvSpPr>
          <p:spPr>
            <a:xfrm>
              <a:off x="8382305" y="0"/>
              <a:ext cx="3800247" cy="3809390"/>
            </a:xfrm>
            <a:custGeom>
              <a:avLst/>
              <a:gdLst>
                <a:gd name="connsiteX0" fmla="*/ 479188 w 3800247"/>
                <a:gd name="connsiteY0" fmla="*/ 0 h 3809390"/>
                <a:gd name="connsiteX1" fmla="*/ 3800247 w 3800247"/>
                <a:gd name="connsiteY1" fmla="*/ 0 h 3809390"/>
                <a:gd name="connsiteX2" fmla="*/ 3800247 w 3800247"/>
                <a:gd name="connsiteY2" fmla="*/ 3337041 h 3809390"/>
                <a:gd name="connsiteX3" fmla="*/ 3712392 w 3800247"/>
                <a:gd name="connsiteY3" fmla="*/ 3402737 h 3809390"/>
                <a:gd name="connsiteX4" fmla="*/ 2624551 w 3800247"/>
                <a:gd name="connsiteY4" fmla="*/ 3797098 h 3809390"/>
                <a:gd name="connsiteX5" fmla="*/ 2381118 w 3800247"/>
                <a:gd name="connsiteY5" fmla="*/ 3809390 h 3809390"/>
                <a:gd name="connsiteX6" fmla="*/ 2381078 w 3800247"/>
                <a:gd name="connsiteY6" fmla="*/ 3809390 h 3809390"/>
                <a:gd name="connsiteX7" fmla="*/ 2137645 w 3800247"/>
                <a:gd name="connsiteY7" fmla="*/ 3797098 h 3809390"/>
                <a:gd name="connsiteX8" fmla="*/ 0 w 3800247"/>
                <a:gd name="connsiteY8" fmla="*/ 1428293 h 3809390"/>
                <a:gd name="connsiteX9" fmla="*/ 406654 w 3800247"/>
                <a:gd name="connsiteY9" fmla="*/ 96999 h 3809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00247" h="3809390">
                  <a:moveTo>
                    <a:pt x="479188" y="0"/>
                  </a:moveTo>
                  <a:lnTo>
                    <a:pt x="3800247" y="0"/>
                  </a:lnTo>
                  <a:lnTo>
                    <a:pt x="3800247" y="3337041"/>
                  </a:lnTo>
                  <a:lnTo>
                    <a:pt x="3712392" y="3402737"/>
                  </a:lnTo>
                  <a:cubicBezTo>
                    <a:pt x="3395704" y="3616687"/>
                    <a:pt x="3024779" y="3756452"/>
                    <a:pt x="2624551" y="3797098"/>
                  </a:cubicBezTo>
                  <a:lnTo>
                    <a:pt x="2381118" y="3809390"/>
                  </a:lnTo>
                  <a:lnTo>
                    <a:pt x="2381078" y="3809390"/>
                  </a:lnTo>
                  <a:lnTo>
                    <a:pt x="2137645" y="3797098"/>
                  </a:lnTo>
                  <a:cubicBezTo>
                    <a:pt x="936962" y="3675162"/>
                    <a:pt x="0" y="2661147"/>
                    <a:pt x="0" y="1428293"/>
                  </a:cubicBezTo>
                  <a:cubicBezTo>
                    <a:pt x="0" y="935152"/>
                    <a:pt x="149914" y="477024"/>
                    <a:pt x="406654" y="96999"/>
                  </a:cubicBez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5A2DBE10-649A-ED6D-EC80-6BE7A438EB85}"/>
                </a:ext>
              </a:extLst>
            </p:cNvPr>
            <p:cNvSpPr/>
            <p:nvPr/>
          </p:nvSpPr>
          <p:spPr>
            <a:xfrm>
              <a:off x="0" y="4476902"/>
              <a:ext cx="2381098" cy="2391156"/>
            </a:xfrm>
            <a:custGeom>
              <a:avLst/>
              <a:gdLst>
                <a:gd name="connsiteX0" fmla="*/ 952348 w 2381098"/>
                <a:gd name="connsiteY0" fmla="*/ 0 h 2391156"/>
                <a:gd name="connsiteX1" fmla="*/ 2381098 w 2381098"/>
                <a:gd name="connsiteY1" fmla="*/ 1428750 h 2391156"/>
                <a:gd name="connsiteX2" fmla="*/ 2054841 w 2381098"/>
                <a:gd name="connsiteY2" fmla="*/ 2337568 h 2391156"/>
                <a:gd name="connsiteX3" fmla="*/ 2006137 w 2381098"/>
                <a:gd name="connsiteY3" fmla="*/ 2391156 h 2391156"/>
                <a:gd name="connsiteX4" fmla="*/ 0 w 2381098"/>
                <a:gd name="connsiteY4" fmla="*/ 2391156 h 2391156"/>
                <a:gd name="connsiteX5" fmla="*/ 0 w 2381098"/>
                <a:gd name="connsiteY5" fmla="*/ 365820 h 2391156"/>
                <a:gd name="connsiteX6" fmla="*/ 43530 w 2381098"/>
                <a:gd name="connsiteY6" fmla="*/ 326257 h 2391156"/>
                <a:gd name="connsiteX7" fmla="*/ 952348 w 2381098"/>
                <a:gd name="connsiteY7" fmla="*/ 0 h 23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81098" h="2391156">
                  <a:moveTo>
                    <a:pt x="952348" y="0"/>
                  </a:moveTo>
                  <a:cubicBezTo>
                    <a:pt x="1741425" y="0"/>
                    <a:pt x="2381098" y="639673"/>
                    <a:pt x="2381098" y="1428750"/>
                  </a:cubicBezTo>
                  <a:cubicBezTo>
                    <a:pt x="2381098" y="1773971"/>
                    <a:pt x="2258661" y="2090596"/>
                    <a:pt x="2054841" y="2337568"/>
                  </a:cubicBezTo>
                  <a:lnTo>
                    <a:pt x="2006137" y="2391156"/>
                  </a:lnTo>
                  <a:lnTo>
                    <a:pt x="0" y="2391156"/>
                  </a:lnTo>
                  <a:lnTo>
                    <a:pt x="0" y="365820"/>
                  </a:lnTo>
                  <a:lnTo>
                    <a:pt x="43530" y="326257"/>
                  </a:lnTo>
                  <a:cubicBezTo>
                    <a:pt x="290503" y="122438"/>
                    <a:pt x="607127" y="0"/>
                    <a:pt x="952348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</p:grpSp>
      <p:sp>
        <p:nvSpPr>
          <p:cNvPr id="6" name="Shape 4"/>
          <p:cNvSpPr/>
          <p:nvPr/>
        </p:nvSpPr>
        <p:spPr>
          <a:xfrm>
            <a:off x="571500" y="476402"/>
            <a:ext cx="75895" cy="80924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5995" y="476402"/>
            <a:ext cx="11049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 및 현상 분석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875995" y="992124"/>
            <a:ext cx="10935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안정성과 데이터 신뢰도를 저해하는 핵심 이슈 도출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563624"/>
            <a:ext cx="5410505" cy="2391156"/>
          </a:xfrm>
          <a:prstGeom prst="roundRect">
            <a:avLst>
              <a:gd name="adj" fmla="val 4875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" y="1563624"/>
            <a:ext cx="57607" cy="2391156"/>
          </a:xfrm>
          <a:prstGeom prst="roundRect">
            <a:avLst>
              <a:gd name="adj" fmla="val 202366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7707" y="1792224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461" r="-461"/>
          <a:stretch/>
        </p:blipFill>
        <p:spPr>
          <a:xfrm>
            <a:off x="966521" y="1916582"/>
            <a:ext cx="237744" cy="20939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049317" y="1792224"/>
            <a:ext cx="705002" cy="237744"/>
          </a:xfrm>
          <a:prstGeom prst="roundRect">
            <a:avLst>
              <a:gd name="adj" fmla="val 384615"/>
            </a:avLst>
          </a:prstGeom>
          <a:solidFill>
            <a:srgbClr val="FCA5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0970" y="1792224"/>
            <a:ext cx="7626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857707" y="2363724"/>
            <a:ext cx="5010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VRAM 자원 고갈 (OOM) 충돌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57707" y="2725826"/>
            <a:ext cx="49725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단일 AI 워커 내에서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STT(CPU/GPU)와 LLM 스레드가 동시 실행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되며 메모리를 과점, Linux 커널에 의해 시스템 강제 종료(Kill) 발생. 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57707" y="3307385"/>
            <a:ext cx="4895698" cy="418795"/>
          </a:xfrm>
          <a:prstGeom prst="roundRect">
            <a:avLst>
              <a:gd name="adj" fmla="val 79397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2007" y="3452774"/>
            <a:ext cx="123444" cy="12344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190549" y="3307385"/>
            <a:ext cx="20674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Crash &amp; Service Downtime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210605" y="1563624"/>
            <a:ext cx="5410505" cy="2391156"/>
          </a:xfrm>
          <a:prstGeom prst="roundRect">
            <a:avLst>
              <a:gd name="adj" fmla="val 4875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0605" y="1563624"/>
            <a:ext cx="57607" cy="2391156"/>
          </a:xfrm>
          <a:prstGeom prst="roundRect">
            <a:avLst>
              <a:gd name="adj" fmla="val 202366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95898" y="1792224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l="-1004" r="-1004"/>
          <a:stretch/>
        </p:blipFill>
        <p:spPr>
          <a:xfrm>
            <a:off x="6590995" y="1916582"/>
            <a:ext cx="267005" cy="209398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0386670" y="1792224"/>
            <a:ext cx="1009498" cy="237744"/>
          </a:xfrm>
          <a:prstGeom prst="roundRect">
            <a:avLst>
              <a:gd name="adj" fmla="val 384615"/>
            </a:avLst>
          </a:prstGeom>
          <a:solidFill>
            <a:srgbClr val="FDBA7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0358323" y="1792224"/>
            <a:ext cx="10671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7C2D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Latency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6495898" y="2363724"/>
            <a:ext cx="5010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블로킹 및 데드락 (504 Error)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6495898" y="2725826"/>
            <a:ext cx="49725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동기식(Sync) LLM 요청 시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GIL 한계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FastAPI 스레드가 최대 20초간 멈추며 전체 시스템 타임아웃 발생. 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495898" y="3307385"/>
            <a:ext cx="4895698" cy="418795"/>
          </a:xfrm>
          <a:prstGeom prst="roundRect">
            <a:avLst>
              <a:gd name="adj" fmla="val 79397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10198" y="3452774"/>
            <a:ext cx="123444" cy="12344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829654" y="3307385"/>
            <a:ext cx="23911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504 Gateway Timeout &amp; Request Failure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71500" y="4178808"/>
            <a:ext cx="5410505" cy="2391156"/>
          </a:xfrm>
          <a:prstGeom prst="roundRect">
            <a:avLst>
              <a:gd name="adj" fmla="val 4875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571500" y="4178808"/>
            <a:ext cx="57607" cy="2391156"/>
          </a:xfrm>
          <a:prstGeom prst="roundRect">
            <a:avLst>
              <a:gd name="adj" fmla="val 202366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57707" y="4407408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t="-600" b="-600"/>
          <a:stretch/>
        </p:blipFill>
        <p:spPr>
          <a:xfrm>
            <a:off x="995782" y="4530852"/>
            <a:ext cx="181051" cy="209398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4719218" y="4407408"/>
            <a:ext cx="1037844" cy="237744"/>
          </a:xfrm>
          <a:prstGeom prst="roundRect">
            <a:avLst>
              <a:gd name="adj" fmla="val 384615"/>
            </a:avLst>
          </a:prstGeom>
          <a:solidFill>
            <a:srgbClr val="FCD3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690872" y="4407408"/>
            <a:ext cx="109545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37" name="Text 30"/>
          <p:cNvSpPr txBox="1"/>
          <p:nvPr/>
        </p:nvSpPr>
        <p:spPr>
          <a:xfrm>
            <a:off x="857707" y="4978908"/>
            <a:ext cx="5010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렌더링 렉 (Frame Drop)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857707" y="5341010"/>
            <a:ext cx="49725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구형 오디오 노드가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 메인 스레드를 점유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실시간 파형 렌더링 중 화면이 15 FPS 이하로 끊기는 현상. 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857707" y="5921654"/>
            <a:ext cx="4895698" cy="418795"/>
          </a:xfrm>
          <a:prstGeom prst="roundRect">
            <a:avLst>
              <a:gd name="adj" fmla="val 79397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72007" y="6067044"/>
            <a:ext cx="123444" cy="123444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190549" y="5921654"/>
            <a:ext cx="153619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Poor UX (Laggy Interface)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6210605" y="4178808"/>
            <a:ext cx="5410505" cy="2391156"/>
          </a:xfrm>
          <a:prstGeom prst="roundRect">
            <a:avLst>
              <a:gd name="adj" fmla="val 4875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210605" y="4178808"/>
            <a:ext cx="57607" cy="2391156"/>
          </a:xfrm>
          <a:prstGeom prst="roundRect">
            <a:avLst>
              <a:gd name="adj" fmla="val 202366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6495898" y="4407408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rcRect t="-600" b="-600"/>
          <a:stretch/>
        </p:blipFill>
        <p:spPr>
          <a:xfrm>
            <a:off x="6633972" y="4530852"/>
            <a:ext cx="181051" cy="209398"/>
          </a:xfrm>
          <a:prstGeom prst="rect">
            <a:avLst/>
          </a:prstGeom>
        </p:spPr>
      </p:pic>
      <p:sp>
        <p:nvSpPr>
          <p:cNvPr id="46" name="Shape 37"/>
          <p:cNvSpPr/>
          <p:nvPr/>
        </p:nvSpPr>
        <p:spPr>
          <a:xfrm>
            <a:off x="10547604" y="4407408"/>
            <a:ext cx="847649" cy="237744"/>
          </a:xfrm>
          <a:prstGeom prst="roundRect">
            <a:avLst>
              <a:gd name="adj" fmla="val 384615"/>
            </a:avLst>
          </a:prstGeom>
          <a:solidFill>
            <a:srgbClr val="C4B5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10518343" y="4407408"/>
            <a:ext cx="9052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4C1D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Workflow</a:t>
            </a:r>
            <a:endParaRPr lang="en-US" sz="800" dirty="0"/>
          </a:p>
        </p:txBody>
      </p:sp>
      <p:sp>
        <p:nvSpPr>
          <p:cNvPr id="48" name="Text 39"/>
          <p:cNvSpPr txBox="1"/>
          <p:nvPr/>
        </p:nvSpPr>
        <p:spPr>
          <a:xfrm>
            <a:off x="6495898" y="4978908"/>
            <a:ext cx="5010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형상 관리 엉킴 (Merge Conflict)</a:t>
            </a:r>
            <a:endParaRPr lang="en-US" sz="1500" dirty="0"/>
          </a:p>
        </p:txBody>
      </p:sp>
      <p:sp>
        <p:nvSpPr>
          <p:cNvPr id="49" name="Text 40"/>
          <p:cNvSpPr txBox="1"/>
          <p:nvPr/>
        </p:nvSpPr>
        <p:spPr>
          <a:xfrm>
            <a:off x="6495898" y="5341010"/>
            <a:ext cx="49725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단일 모노레포(Monorepo) 내 4개 서비스 병렬 개발 중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Git 병합 충돌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발생으로 CI/CD 파이프라인 붕괴 위험 노출. </a:t>
            </a:r>
            <a:endParaRPr lang="en-US" sz="1100" dirty="0"/>
          </a:p>
        </p:txBody>
      </p:sp>
      <p:sp>
        <p:nvSpPr>
          <p:cNvPr id="50" name="Shape 41"/>
          <p:cNvSpPr/>
          <p:nvPr/>
        </p:nvSpPr>
        <p:spPr>
          <a:xfrm>
            <a:off x="6495898" y="5921654"/>
            <a:ext cx="4895698" cy="418795"/>
          </a:xfrm>
          <a:prstGeom prst="roundRect">
            <a:avLst>
              <a:gd name="adj" fmla="val 79397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10198" y="6067044"/>
            <a:ext cx="123444" cy="123444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6829654" y="5921654"/>
            <a:ext cx="182331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Failure &amp; Code Loss Risk</a:t>
            </a:r>
            <a:endParaRPr lang="en-US" sz="900" dirty="0"/>
          </a:p>
        </p:txBody>
      </p:sp>
      <p:sp>
        <p:nvSpPr>
          <p:cNvPr id="58" name="TextBox 57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A4_Project_2AI1_SA_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엄재민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4110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A64759DF-74F0-25A2-9CFC-A0A250DA1F9E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DAB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9DAFF858-F98B-0663-D7FF-FEA4E24D9450}"/>
                </a:ext>
              </a:extLst>
            </p:cNvPr>
            <p:cNvSpPr/>
            <p:nvPr/>
          </p:nvSpPr>
          <p:spPr>
            <a:xfrm>
              <a:off x="8858707" y="0"/>
              <a:ext cx="3332988" cy="2857500"/>
            </a:xfrm>
            <a:custGeom>
              <a:avLst/>
              <a:gdLst>
                <a:gd name="connsiteX0" fmla="*/ 256818 w 3332988"/>
                <a:gd name="connsiteY0" fmla="*/ 0 h 2857500"/>
                <a:gd name="connsiteX1" fmla="*/ 3332988 w 3332988"/>
                <a:gd name="connsiteY1" fmla="*/ 0 h 2857500"/>
                <a:gd name="connsiteX2" fmla="*/ 3332988 w 3332988"/>
                <a:gd name="connsiteY2" fmla="*/ 2210715 h 2857500"/>
                <a:gd name="connsiteX3" fmla="*/ 3252300 w 3332988"/>
                <a:gd name="connsiteY3" fmla="*/ 2299495 h 2857500"/>
                <a:gd name="connsiteX4" fmla="*/ 2099944 w 3332988"/>
                <a:gd name="connsiteY4" fmla="*/ 2847665 h 2857500"/>
                <a:gd name="connsiteX5" fmla="*/ 1905173 w 3332988"/>
                <a:gd name="connsiteY5" fmla="*/ 2857500 h 2857500"/>
                <a:gd name="connsiteX6" fmla="*/ 1905133 w 3332988"/>
                <a:gd name="connsiteY6" fmla="*/ 2857500 h 2857500"/>
                <a:gd name="connsiteX7" fmla="*/ 1710362 w 3332988"/>
                <a:gd name="connsiteY7" fmla="*/ 2847665 h 2857500"/>
                <a:gd name="connsiteX8" fmla="*/ 0 w 3332988"/>
                <a:gd name="connsiteY8" fmla="*/ 952348 h 2857500"/>
                <a:gd name="connsiteX9" fmla="*/ 229942 w 3332988"/>
                <a:gd name="connsiteY9" fmla="*/ 44239 h 285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2988" h="2857500">
                  <a:moveTo>
                    <a:pt x="256818" y="0"/>
                  </a:moveTo>
                  <a:lnTo>
                    <a:pt x="3332988" y="0"/>
                  </a:lnTo>
                  <a:lnTo>
                    <a:pt x="3332988" y="2210715"/>
                  </a:lnTo>
                  <a:lnTo>
                    <a:pt x="3252300" y="2299495"/>
                  </a:lnTo>
                  <a:cubicBezTo>
                    <a:pt x="2950630" y="2601164"/>
                    <a:pt x="2548264" y="2802136"/>
                    <a:pt x="2099944" y="2847665"/>
                  </a:cubicBezTo>
                  <a:lnTo>
                    <a:pt x="1905173" y="2857500"/>
                  </a:lnTo>
                  <a:lnTo>
                    <a:pt x="1905133" y="2857500"/>
                  </a:lnTo>
                  <a:lnTo>
                    <a:pt x="1710362" y="2847665"/>
                  </a:lnTo>
                  <a:cubicBezTo>
                    <a:pt x="749677" y="2750102"/>
                    <a:pt x="0" y="1938773"/>
                    <a:pt x="0" y="952348"/>
                  </a:cubicBezTo>
                  <a:cubicBezTo>
                    <a:pt x="0" y="623540"/>
                    <a:pt x="83297" y="314186"/>
                    <a:pt x="229942" y="44239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D8A2E02C-46C5-8669-0275-2040BB3A86A0}"/>
                </a:ext>
              </a:extLst>
            </p:cNvPr>
            <p:cNvSpPr/>
            <p:nvPr/>
          </p:nvSpPr>
          <p:spPr>
            <a:xfrm>
              <a:off x="0" y="4476902"/>
              <a:ext cx="2381098" cy="2381098"/>
            </a:xfrm>
            <a:custGeom>
              <a:avLst/>
              <a:gdLst>
                <a:gd name="connsiteX0" fmla="*/ 952348 w 2381098"/>
                <a:gd name="connsiteY0" fmla="*/ 0 h 2381098"/>
                <a:gd name="connsiteX1" fmla="*/ 2381098 w 2381098"/>
                <a:gd name="connsiteY1" fmla="*/ 1428750 h 2381098"/>
                <a:gd name="connsiteX2" fmla="*/ 2054841 w 2381098"/>
                <a:gd name="connsiteY2" fmla="*/ 2337568 h 2381098"/>
                <a:gd name="connsiteX3" fmla="*/ 2015278 w 2381098"/>
                <a:gd name="connsiteY3" fmla="*/ 2381098 h 2381098"/>
                <a:gd name="connsiteX4" fmla="*/ 0 w 2381098"/>
                <a:gd name="connsiteY4" fmla="*/ 2381098 h 2381098"/>
                <a:gd name="connsiteX5" fmla="*/ 0 w 2381098"/>
                <a:gd name="connsiteY5" fmla="*/ 365820 h 2381098"/>
                <a:gd name="connsiteX6" fmla="*/ 43530 w 2381098"/>
                <a:gd name="connsiteY6" fmla="*/ 326257 h 2381098"/>
                <a:gd name="connsiteX7" fmla="*/ 952348 w 2381098"/>
                <a:gd name="connsiteY7" fmla="*/ 0 h 2381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81098" h="2381098">
                  <a:moveTo>
                    <a:pt x="952348" y="0"/>
                  </a:moveTo>
                  <a:cubicBezTo>
                    <a:pt x="1741425" y="0"/>
                    <a:pt x="2381098" y="639673"/>
                    <a:pt x="2381098" y="1428750"/>
                  </a:cubicBezTo>
                  <a:cubicBezTo>
                    <a:pt x="2381098" y="1773971"/>
                    <a:pt x="2258661" y="2090596"/>
                    <a:pt x="2054841" y="2337568"/>
                  </a:cubicBezTo>
                  <a:lnTo>
                    <a:pt x="2015278" y="2381098"/>
                  </a:lnTo>
                  <a:lnTo>
                    <a:pt x="0" y="2381098"/>
                  </a:lnTo>
                  <a:lnTo>
                    <a:pt x="0" y="365820"/>
                  </a:lnTo>
                  <a:lnTo>
                    <a:pt x="43530" y="326257"/>
                  </a:lnTo>
                  <a:cubicBezTo>
                    <a:pt x="290503" y="122438"/>
                    <a:pt x="607127" y="0"/>
                    <a:pt x="952348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</p:grpSp>
      <p:sp>
        <p:nvSpPr>
          <p:cNvPr id="6" name="Shape 4"/>
          <p:cNvSpPr/>
          <p:nvPr/>
        </p:nvSpPr>
        <p:spPr>
          <a:xfrm>
            <a:off x="571500" y="476402"/>
            <a:ext cx="75895" cy="80924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5995" y="476402"/>
            <a:ext cx="800191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 err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r>
              <a:rPr lang="en-US" sz="31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전략1— Git 병합 무결성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875995" y="992124"/>
            <a:ext cx="10935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병목을 해소하는 8단계 무결성 병합 프로세스 및 형상 관리 전략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4071823" y="3939235"/>
            <a:ext cx="142646" cy="22860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7977226" y="3939235"/>
            <a:ext cx="142646" cy="22860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571500" y="1659636"/>
            <a:ext cx="3238805" cy="478779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772107" y="2020824"/>
            <a:ext cx="838505" cy="247802"/>
          </a:xfrm>
          <a:prstGeom prst="roundRect">
            <a:avLst>
              <a:gd name="adj" fmla="val 369004"/>
            </a:avLst>
          </a:prstGeom>
          <a:solidFill>
            <a:srgbClr val="FCA5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742846" y="2020824"/>
            <a:ext cx="89611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886407" y="2382926"/>
            <a:ext cx="609905" cy="609905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l="-881" r="-881"/>
          <a:stretch/>
        </p:blipFill>
        <p:spPr>
          <a:xfrm>
            <a:off x="2072030" y="2554834"/>
            <a:ext cx="237744" cy="26700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27709" y="3145536"/>
            <a:ext cx="17337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모노레포 병렬 개발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충돌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800100" y="3918204"/>
            <a:ext cx="2781605" cy="657454"/>
          </a:xfrm>
          <a:prstGeom prst="roundRect">
            <a:avLst>
              <a:gd name="adj" fmla="val 40314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rcRect l="-2512" r="-2512"/>
          <a:stretch/>
        </p:blipFill>
        <p:spPr>
          <a:xfrm>
            <a:off x="914400" y="4090111"/>
            <a:ext cx="105156" cy="13350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175918" y="4040526"/>
            <a:ext cx="21625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4개 서비스 병렬 개발 중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Merge 충돌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발생 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800100" y="4728362"/>
            <a:ext cx="2781605" cy="657454"/>
          </a:xfrm>
          <a:prstGeom prst="roundRect">
            <a:avLst>
              <a:gd name="adj" fmla="val 40314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rcRect l="-2512" r="-2512"/>
          <a:stretch/>
        </p:blipFill>
        <p:spPr>
          <a:xfrm>
            <a:off x="914400" y="4899355"/>
            <a:ext cx="105156" cy="133502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148487" y="4832604"/>
            <a:ext cx="21625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타 도메인 코드 침범으로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파이프라인 붕괴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800100" y="5537606"/>
            <a:ext cx="2781605" cy="448056"/>
          </a:xfrm>
          <a:prstGeom prst="roundRect">
            <a:avLst>
              <a:gd name="adj" fmla="val 86843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7"/>
          <a:srcRect l="-2512" r="-2512"/>
          <a:stretch/>
        </p:blipFill>
        <p:spPr>
          <a:xfrm>
            <a:off x="914400" y="5709514"/>
            <a:ext cx="105156" cy="133502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201494" y="5651906"/>
            <a:ext cx="19696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속도 급감 및 잦은 핫픽스</a:t>
            </a:r>
            <a:endParaRPr lang="en-US" sz="11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8"/>
          <a:srcRect l="-8" r="-8"/>
          <a:stretch/>
        </p:blipFill>
        <p:spPr>
          <a:xfrm>
            <a:off x="4476902" y="1659636"/>
            <a:ext cx="3238805" cy="4787798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5657393" y="2020824"/>
            <a:ext cx="886054" cy="247802"/>
          </a:xfrm>
          <a:prstGeom prst="roundRect">
            <a:avLst>
              <a:gd name="adj" fmla="val 369004"/>
            </a:avLst>
          </a:prstGeom>
          <a:solidFill>
            <a:srgbClr val="BFDB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17"/>
          <p:cNvSpPr/>
          <p:nvPr/>
        </p:nvSpPr>
        <p:spPr>
          <a:xfrm>
            <a:off x="5629046" y="2020824"/>
            <a:ext cx="9436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9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2926"/>
            <a:ext cx="609905" cy="609905"/>
          </a:xfrm>
          <a:prstGeom prst="rect">
            <a:avLst/>
          </a:prstGeom>
        </p:spPr>
      </p:pic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62802" y="2554834"/>
            <a:ext cx="267005" cy="267005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5266944" y="3145536"/>
            <a:ext cx="166420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8단계 무결성 병합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 Git Flow</a:t>
            </a:r>
            <a:endParaRPr lang="en-US" sz="1600" dirty="0"/>
          </a:p>
        </p:txBody>
      </p:sp>
      <p:sp>
        <p:nvSpPr>
          <p:cNvPr id="32" name="Shape 19"/>
          <p:cNvSpPr/>
          <p:nvPr/>
        </p:nvSpPr>
        <p:spPr>
          <a:xfrm>
            <a:off x="4705502" y="3918204"/>
            <a:ext cx="2781605" cy="657454"/>
          </a:xfrm>
          <a:prstGeom prst="roundRect">
            <a:avLst>
              <a:gd name="adj" fmla="val 40314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4819802" y="4090111"/>
            <a:ext cx="114300" cy="133502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5006340" y="4007210"/>
            <a:ext cx="240030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아키텍트 주관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엄격한 8단계 병합 룰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강제 </a:t>
            </a:r>
            <a:endParaRPr lang="en-US" sz="1100" dirty="0"/>
          </a:p>
        </p:txBody>
      </p:sp>
      <p:sp>
        <p:nvSpPr>
          <p:cNvPr id="35" name="Shape 21"/>
          <p:cNvSpPr/>
          <p:nvPr/>
        </p:nvSpPr>
        <p:spPr>
          <a:xfrm>
            <a:off x="4725620" y="4664664"/>
            <a:ext cx="2781605" cy="448056"/>
          </a:xfrm>
          <a:prstGeom prst="roundRect">
            <a:avLst>
              <a:gd name="adj" fmla="val 86843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4819802" y="4899355"/>
            <a:ext cx="114300" cy="133502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5041089" y="4804301"/>
            <a:ext cx="25017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인프라 파일 수정 시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독립 브랜치 격리</a:t>
            </a:r>
            <a:endParaRPr lang="en-US" sz="1100" dirty="0"/>
          </a:p>
        </p:txBody>
      </p:sp>
      <p:sp>
        <p:nvSpPr>
          <p:cNvPr id="38" name="Shape 23"/>
          <p:cNvSpPr/>
          <p:nvPr/>
        </p:nvSpPr>
        <p:spPr>
          <a:xfrm>
            <a:off x="4705502" y="5323637"/>
            <a:ext cx="2781605" cy="448056"/>
          </a:xfrm>
          <a:prstGeom prst="roundRect">
            <a:avLst>
              <a:gd name="adj" fmla="val 86843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4819802" y="5494630"/>
            <a:ext cx="114300" cy="133502"/>
          </a:xfrm>
          <a:prstGeom prst="rect">
            <a:avLst/>
          </a:prstGeom>
        </p:spPr>
      </p:pic>
      <p:sp>
        <p:nvSpPr>
          <p:cNvPr id="40" name="Text 24"/>
          <p:cNvSpPr txBox="1"/>
          <p:nvPr/>
        </p:nvSpPr>
        <p:spPr>
          <a:xfrm>
            <a:off x="5130423" y="542787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아키텍트 필수 승인 거버넌스 이식</a:t>
            </a:r>
            <a:endParaRPr lang="en-US" sz="110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2"/>
          <a:srcRect l="-8" r="-8"/>
          <a:stretch/>
        </p:blipFill>
        <p:spPr>
          <a:xfrm>
            <a:off x="8382305" y="1659636"/>
            <a:ext cx="3238805" cy="4787798"/>
          </a:xfrm>
          <a:prstGeom prst="rect">
            <a:avLst/>
          </a:prstGeom>
        </p:spPr>
      </p:pic>
      <p:sp>
        <p:nvSpPr>
          <p:cNvPr id="42" name="Shape 25"/>
          <p:cNvSpPr/>
          <p:nvPr/>
        </p:nvSpPr>
        <p:spPr>
          <a:xfrm>
            <a:off x="9655150" y="2020824"/>
            <a:ext cx="694944" cy="247802"/>
          </a:xfrm>
          <a:prstGeom prst="roundRect">
            <a:avLst>
              <a:gd name="adj" fmla="val 369004"/>
            </a:avLst>
          </a:prstGeom>
          <a:solidFill>
            <a:srgbClr val="6EE7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26"/>
          <p:cNvSpPr/>
          <p:nvPr/>
        </p:nvSpPr>
        <p:spPr>
          <a:xfrm>
            <a:off x="9626803" y="2020824"/>
            <a:ext cx="7525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Effect</a:t>
            </a:r>
            <a:endParaRPr lang="en-US" sz="900" dirty="0"/>
          </a:p>
        </p:txBody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696298" y="2382926"/>
            <a:ext cx="609905" cy="609905"/>
          </a:xfrm>
          <a:prstGeom prst="rect">
            <a:avLst/>
          </a:prstGeom>
        </p:spPr>
      </p:pic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868205" y="2554834"/>
            <a:ext cx="267005" cy="267005"/>
          </a:xfrm>
          <a:prstGeom prst="rect">
            <a:avLst/>
          </a:prstGeom>
        </p:spPr>
      </p:pic>
      <p:sp>
        <p:nvSpPr>
          <p:cNvPr id="46" name="Text 27"/>
          <p:cNvSpPr txBox="1"/>
          <p:nvPr/>
        </p:nvSpPr>
        <p:spPr>
          <a:xfrm>
            <a:off x="9093708" y="3145536"/>
            <a:ext cx="182331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충돌률 69.2% 감소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안정성</a:t>
            </a:r>
            <a:endParaRPr lang="en-US" sz="1600" dirty="0"/>
          </a:p>
        </p:txBody>
      </p:sp>
      <p:sp>
        <p:nvSpPr>
          <p:cNvPr id="47" name="Shape 28"/>
          <p:cNvSpPr/>
          <p:nvPr/>
        </p:nvSpPr>
        <p:spPr>
          <a:xfrm>
            <a:off x="8610905" y="3918204"/>
            <a:ext cx="2781605" cy="657454"/>
          </a:xfrm>
          <a:prstGeom prst="roundRect">
            <a:avLst>
              <a:gd name="adj" fmla="val 40314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17" descr="preencoded.png"/>
          <p:cNvPicPr>
            <a:picLocks noChangeAspect="1"/>
          </p:cNvPicPr>
          <p:nvPr/>
        </p:nvPicPr>
        <p:blipFill>
          <a:blip r:embed="rId15"/>
          <a:srcRect l="-837" r="-837"/>
          <a:stretch/>
        </p:blipFill>
        <p:spPr>
          <a:xfrm>
            <a:off x="8725205" y="4090111"/>
            <a:ext cx="152705" cy="133502"/>
          </a:xfrm>
          <a:prstGeom prst="rect">
            <a:avLst/>
          </a:prstGeom>
        </p:spPr>
      </p:pic>
      <p:sp>
        <p:nvSpPr>
          <p:cNvPr id="49" name="Text 29"/>
          <p:cNvSpPr txBox="1"/>
          <p:nvPr/>
        </p:nvSpPr>
        <p:spPr>
          <a:xfrm>
            <a:off x="9072159" y="3987698"/>
            <a:ext cx="21150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대규모 코드 덮어쓰기 참사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 근절</a:t>
            </a:r>
            <a:endParaRPr lang="en-US" sz="1100" dirty="0"/>
          </a:p>
        </p:txBody>
      </p:sp>
      <p:sp>
        <p:nvSpPr>
          <p:cNvPr id="50" name="Shape 30"/>
          <p:cNvSpPr/>
          <p:nvPr/>
        </p:nvSpPr>
        <p:spPr>
          <a:xfrm>
            <a:off x="8610905" y="4823460"/>
            <a:ext cx="2781605" cy="952805"/>
          </a:xfrm>
          <a:prstGeom prst="roundRect">
            <a:avLst>
              <a:gd name="adj" fmla="val 2303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6"/>
          <a:srcRect t="-25" b="-25"/>
          <a:stretch/>
        </p:blipFill>
        <p:spPr>
          <a:xfrm>
            <a:off x="8844077" y="4832604"/>
            <a:ext cx="1028700" cy="609905"/>
          </a:xfrm>
          <a:prstGeom prst="rect">
            <a:avLst/>
          </a:prstGeom>
        </p:spPr>
      </p:pic>
      <p:sp>
        <p:nvSpPr>
          <p:cNvPr id="52" name="Text 31"/>
          <p:cNvSpPr txBox="1"/>
          <p:nvPr/>
        </p:nvSpPr>
        <p:spPr>
          <a:xfrm>
            <a:off x="8805672" y="4642409"/>
            <a:ext cx="1105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13건</a:t>
            </a:r>
            <a:endParaRPr lang="en-US" sz="1000" dirty="0"/>
          </a:p>
        </p:txBody>
      </p:sp>
      <p:sp>
        <p:nvSpPr>
          <p:cNvPr id="53" name="Text 32"/>
          <p:cNvSpPr txBox="1"/>
          <p:nvPr/>
        </p:nvSpPr>
        <p:spPr>
          <a:xfrm>
            <a:off x="9173261" y="5499202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900" dirty="0"/>
          </a:p>
        </p:txBody>
      </p:sp>
      <p:pic>
        <p:nvPicPr>
          <p:cNvPr id="54" name="Image 19" descr="preencoded.png"/>
          <p:cNvPicPr>
            <a:picLocks noChangeAspect="1"/>
          </p:cNvPicPr>
          <p:nvPr/>
        </p:nvPicPr>
        <p:blipFill>
          <a:blip r:embed="rId17"/>
          <a:srcRect l="-36" r="-36"/>
          <a:stretch/>
        </p:blipFill>
        <p:spPr>
          <a:xfrm>
            <a:off x="10129723" y="5233111"/>
            <a:ext cx="1028700" cy="209398"/>
          </a:xfrm>
          <a:prstGeom prst="rect">
            <a:avLst/>
          </a:prstGeom>
        </p:spPr>
      </p:pic>
      <p:sp>
        <p:nvSpPr>
          <p:cNvPr id="55" name="Text 33"/>
          <p:cNvSpPr txBox="1"/>
          <p:nvPr/>
        </p:nvSpPr>
        <p:spPr>
          <a:xfrm>
            <a:off x="10091318" y="5042002"/>
            <a:ext cx="1105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4건</a:t>
            </a:r>
            <a:endParaRPr lang="en-US" sz="1000" dirty="0"/>
          </a:p>
        </p:txBody>
      </p:sp>
      <p:sp>
        <p:nvSpPr>
          <p:cNvPr id="56" name="Text 34"/>
          <p:cNvSpPr txBox="1"/>
          <p:nvPr/>
        </p:nvSpPr>
        <p:spPr>
          <a:xfrm>
            <a:off x="10506456" y="5499202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900" dirty="0"/>
          </a:p>
        </p:txBody>
      </p:sp>
      <p:sp>
        <p:nvSpPr>
          <p:cNvPr id="57" name="Text 35"/>
          <p:cNvSpPr txBox="1"/>
          <p:nvPr/>
        </p:nvSpPr>
        <p:spPr>
          <a:xfrm>
            <a:off x="8515807" y="5975604"/>
            <a:ext cx="2971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충돌 발생률 급감</a:t>
            </a:r>
            <a:endParaRPr lang="en-US" sz="900" dirty="0"/>
          </a:p>
        </p:txBody>
      </p:sp>
      <p:sp>
        <p:nvSpPr>
          <p:cNvPr id="60" name="TextBox 59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A4_Project_2AI1_SA_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엄재민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9785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CF650FA3-10CC-9570-18D0-FD0B71FC6ECD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DAB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8FCFE1A5-03ED-F6C8-2AA7-087A4628A5A4}"/>
                </a:ext>
              </a:extLst>
            </p:cNvPr>
            <p:cNvSpPr/>
            <p:nvPr/>
          </p:nvSpPr>
          <p:spPr>
            <a:xfrm>
              <a:off x="8858707" y="0"/>
              <a:ext cx="3333293" cy="2857500"/>
            </a:xfrm>
            <a:custGeom>
              <a:avLst/>
              <a:gdLst>
                <a:gd name="connsiteX0" fmla="*/ 256818 w 3333293"/>
                <a:gd name="connsiteY0" fmla="*/ 0 h 2857500"/>
                <a:gd name="connsiteX1" fmla="*/ 3333293 w 3333293"/>
                <a:gd name="connsiteY1" fmla="*/ 0 h 2857500"/>
                <a:gd name="connsiteX2" fmla="*/ 3333293 w 3333293"/>
                <a:gd name="connsiteY2" fmla="*/ 2210380 h 2857500"/>
                <a:gd name="connsiteX3" fmla="*/ 3252300 w 3333293"/>
                <a:gd name="connsiteY3" fmla="*/ 2299495 h 2857500"/>
                <a:gd name="connsiteX4" fmla="*/ 2099944 w 3333293"/>
                <a:gd name="connsiteY4" fmla="*/ 2847665 h 2857500"/>
                <a:gd name="connsiteX5" fmla="*/ 1905173 w 3333293"/>
                <a:gd name="connsiteY5" fmla="*/ 2857500 h 2857500"/>
                <a:gd name="connsiteX6" fmla="*/ 1905133 w 3333293"/>
                <a:gd name="connsiteY6" fmla="*/ 2857500 h 2857500"/>
                <a:gd name="connsiteX7" fmla="*/ 1710362 w 3333293"/>
                <a:gd name="connsiteY7" fmla="*/ 2847665 h 2857500"/>
                <a:gd name="connsiteX8" fmla="*/ 0 w 3333293"/>
                <a:gd name="connsiteY8" fmla="*/ 952348 h 2857500"/>
                <a:gd name="connsiteX9" fmla="*/ 229942 w 3333293"/>
                <a:gd name="connsiteY9" fmla="*/ 44239 h 285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293" h="2857500">
                  <a:moveTo>
                    <a:pt x="256818" y="0"/>
                  </a:moveTo>
                  <a:lnTo>
                    <a:pt x="3333293" y="0"/>
                  </a:lnTo>
                  <a:lnTo>
                    <a:pt x="3333293" y="2210380"/>
                  </a:lnTo>
                  <a:lnTo>
                    <a:pt x="3252300" y="2299495"/>
                  </a:lnTo>
                  <a:cubicBezTo>
                    <a:pt x="2950630" y="2601164"/>
                    <a:pt x="2548264" y="2802136"/>
                    <a:pt x="2099944" y="2847665"/>
                  </a:cubicBezTo>
                  <a:lnTo>
                    <a:pt x="1905173" y="2857500"/>
                  </a:lnTo>
                  <a:lnTo>
                    <a:pt x="1905133" y="2857500"/>
                  </a:lnTo>
                  <a:lnTo>
                    <a:pt x="1710362" y="2847665"/>
                  </a:lnTo>
                  <a:cubicBezTo>
                    <a:pt x="749677" y="2750102"/>
                    <a:pt x="0" y="1938773"/>
                    <a:pt x="0" y="952348"/>
                  </a:cubicBezTo>
                  <a:cubicBezTo>
                    <a:pt x="0" y="623540"/>
                    <a:pt x="83297" y="314186"/>
                    <a:pt x="229942" y="44239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8F8EA215-63B4-FEFA-967F-B727E4C2819B}"/>
                </a:ext>
              </a:extLst>
            </p:cNvPr>
            <p:cNvSpPr/>
            <p:nvPr/>
          </p:nvSpPr>
          <p:spPr>
            <a:xfrm>
              <a:off x="0" y="4476902"/>
              <a:ext cx="2381098" cy="2381098"/>
            </a:xfrm>
            <a:custGeom>
              <a:avLst/>
              <a:gdLst>
                <a:gd name="connsiteX0" fmla="*/ 952348 w 2381098"/>
                <a:gd name="connsiteY0" fmla="*/ 0 h 2381098"/>
                <a:gd name="connsiteX1" fmla="*/ 2381098 w 2381098"/>
                <a:gd name="connsiteY1" fmla="*/ 1428750 h 2381098"/>
                <a:gd name="connsiteX2" fmla="*/ 2054841 w 2381098"/>
                <a:gd name="connsiteY2" fmla="*/ 2337568 h 2381098"/>
                <a:gd name="connsiteX3" fmla="*/ 2015278 w 2381098"/>
                <a:gd name="connsiteY3" fmla="*/ 2381098 h 2381098"/>
                <a:gd name="connsiteX4" fmla="*/ 0 w 2381098"/>
                <a:gd name="connsiteY4" fmla="*/ 2381098 h 2381098"/>
                <a:gd name="connsiteX5" fmla="*/ 0 w 2381098"/>
                <a:gd name="connsiteY5" fmla="*/ 365820 h 2381098"/>
                <a:gd name="connsiteX6" fmla="*/ 43530 w 2381098"/>
                <a:gd name="connsiteY6" fmla="*/ 326257 h 2381098"/>
                <a:gd name="connsiteX7" fmla="*/ 952348 w 2381098"/>
                <a:gd name="connsiteY7" fmla="*/ 0 h 2381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81098" h="2381098">
                  <a:moveTo>
                    <a:pt x="952348" y="0"/>
                  </a:moveTo>
                  <a:cubicBezTo>
                    <a:pt x="1741425" y="0"/>
                    <a:pt x="2381098" y="639673"/>
                    <a:pt x="2381098" y="1428750"/>
                  </a:cubicBezTo>
                  <a:cubicBezTo>
                    <a:pt x="2381098" y="1773971"/>
                    <a:pt x="2258661" y="2090596"/>
                    <a:pt x="2054841" y="2337568"/>
                  </a:cubicBezTo>
                  <a:lnTo>
                    <a:pt x="2015278" y="2381098"/>
                  </a:lnTo>
                  <a:lnTo>
                    <a:pt x="0" y="2381098"/>
                  </a:lnTo>
                  <a:lnTo>
                    <a:pt x="0" y="365820"/>
                  </a:lnTo>
                  <a:lnTo>
                    <a:pt x="43530" y="326257"/>
                  </a:lnTo>
                  <a:cubicBezTo>
                    <a:pt x="290503" y="122438"/>
                    <a:pt x="607127" y="0"/>
                    <a:pt x="952348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</p:grpSp>
      <p:sp>
        <p:nvSpPr>
          <p:cNvPr id="6" name="Shape 4"/>
          <p:cNvSpPr/>
          <p:nvPr/>
        </p:nvSpPr>
        <p:spPr>
          <a:xfrm>
            <a:off x="571500" y="476402"/>
            <a:ext cx="75895" cy="80924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5995" y="476402"/>
            <a:ext cx="109353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 err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r>
              <a:rPr lang="en-US" sz="31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전략2 — 비동기 RPC·자원 분리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875995" y="992124"/>
            <a:ext cx="10935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동기식 블로킹 및 하드웨어 자원 경합을 해소하는 고성능 비동기 아키텍처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4071823" y="3848710"/>
            <a:ext cx="142646" cy="22860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7977226" y="3848710"/>
            <a:ext cx="142646" cy="22860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571500" y="1659636"/>
            <a:ext cx="3238805" cy="460674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772107" y="2020824"/>
            <a:ext cx="838505" cy="247802"/>
          </a:xfrm>
          <a:prstGeom prst="roundRect">
            <a:avLst>
              <a:gd name="adj" fmla="val 369004"/>
            </a:avLst>
          </a:prstGeom>
          <a:solidFill>
            <a:srgbClr val="FCA5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742846" y="2020824"/>
            <a:ext cx="89611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886407" y="2382926"/>
            <a:ext cx="609905" cy="609905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57400" y="2554834"/>
            <a:ext cx="267005" cy="26700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56970" y="3145536"/>
            <a:ext cx="167426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Sync 블로킹 및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VRAM Lock 충돌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800100" y="3918204"/>
            <a:ext cx="2781605" cy="657454"/>
          </a:xfrm>
          <a:prstGeom prst="roundRect">
            <a:avLst>
              <a:gd name="adj" fmla="val 40314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rcRect l="-2512" r="-2512"/>
          <a:stretch/>
        </p:blipFill>
        <p:spPr>
          <a:xfrm>
            <a:off x="914400" y="4090111"/>
            <a:ext cx="105156" cy="13350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133856" y="4023273"/>
            <a:ext cx="21625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 응답 대기 중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웹소켓 단절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연쇄 장애 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800100" y="4728362"/>
            <a:ext cx="2781605" cy="657454"/>
          </a:xfrm>
          <a:prstGeom prst="roundRect">
            <a:avLst>
              <a:gd name="adj" fmla="val 40314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rcRect l="-2512" r="-2512"/>
          <a:stretch/>
        </p:blipFill>
        <p:spPr>
          <a:xfrm>
            <a:off x="914400" y="4899355"/>
            <a:ext cx="105156" cy="133502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137548" y="4842662"/>
            <a:ext cx="21625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메모리 과점으로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OOM Killer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컨테이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너 강종 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800100" y="5537606"/>
            <a:ext cx="2781605" cy="448056"/>
          </a:xfrm>
          <a:prstGeom prst="roundRect">
            <a:avLst>
              <a:gd name="adj" fmla="val 86843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7"/>
          <a:srcRect l="-2512" r="-2512"/>
          <a:stretch/>
        </p:blipFill>
        <p:spPr>
          <a:xfrm>
            <a:off x="914400" y="5709514"/>
            <a:ext cx="105156" cy="133502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192378" y="5625164"/>
            <a:ext cx="18214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워커 내 자원 경합 발생</a:t>
            </a:r>
            <a:endParaRPr lang="en-US" sz="11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8"/>
          <a:srcRect l="-9" r="-9"/>
          <a:stretch/>
        </p:blipFill>
        <p:spPr>
          <a:xfrm>
            <a:off x="4476902" y="1659636"/>
            <a:ext cx="3238805" cy="4606747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5657393" y="2020824"/>
            <a:ext cx="886054" cy="247802"/>
          </a:xfrm>
          <a:prstGeom prst="roundRect">
            <a:avLst>
              <a:gd name="adj" fmla="val 369004"/>
            </a:avLst>
          </a:prstGeom>
          <a:solidFill>
            <a:srgbClr val="BFDB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17"/>
          <p:cNvSpPr/>
          <p:nvPr/>
        </p:nvSpPr>
        <p:spPr>
          <a:xfrm>
            <a:off x="5629046" y="2020824"/>
            <a:ext cx="9436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9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2926"/>
            <a:ext cx="609905" cy="609905"/>
          </a:xfrm>
          <a:prstGeom prst="rect">
            <a:avLst/>
          </a:prstGeom>
        </p:spPr>
      </p:pic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28970" y="2554834"/>
            <a:ext cx="333756" cy="267005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5223053" y="3145536"/>
            <a:ext cx="1753819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GPU/CPU 큐 분리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 Async RPC(Remote Procedure Call)</a:t>
            </a:r>
            <a:endParaRPr lang="en-US" sz="1600" dirty="0"/>
          </a:p>
        </p:txBody>
      </p:sp>
      <p:sp>
        <p:nvSpPr>
          <p:cNvPr id="32" name="Shape 19"/>
          <p:cNvSpPr/>
          <p:nvPr/>
        </p:nvSpPr>
        <p:spPr>
          <a:xfrm>
            <a:off x="4705502" y="3918204"/>
            <a:ext cx="2781605" cy="657454"/>
          </a:xfrm>
          <a:prstGeom prst="roundRect">
            <a:avLst>
              <a:gd name="adj" fmla="val 40314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4819802" y="4090111"/>
            <a:ext cx="114300" cy="133502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5067760" y="4005987"/>
            <a:ext cx="215249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워커를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GPU/CPU 전담 </a:t>
            </a:r>
            <a:r>
              <a:rPr lang="en-US" sz="1100" b="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큐</a:t>
            </a:r>
            <a:r>
              <a:rPr lang="en-US" sz="11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물리적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분리 </a:t>
            </a:r>
            <a:endParaRPr lang="en-US" sz="1100" dirty="0"/>
          </a:p>
        </p:txBody>
      </p:sp>
      <p:sp>
        <p:nvSpPr>
          <p:cNvPr id="35" name="Shape 21"/>
          <p:cNvSpPr/>
          <p:nvPr/>
        </p:nvSpPr>
        <p:spPr>
          <a:xfrm>
            <a:off x="4705502" y="4728362"/>
            <a:ext cx="2781605" cy="448056"/>
          </a:xfrm>
          <a:prstGeom prst="roundRect">
            <a:avLst>
              <a:gd name="adj" fmla="val 86843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4819802" y="4899355"/>
            <a:ext cx="114300" cy="133502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5048402" y="4856378"/>
            <a:ext cx="2416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Redis/Celery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 RPC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전면 도입 </a:t>
            </a:r>
            <a:endParaRPr lang="en-US" sz="1100" dirty="0"/>
          </a:p>
        </p:txBody>
      </p:sp>
      <p:sp>
        <p:nvSpPr>
          <p:cNvPr id="38" name="Shape 23"/>
          <p:cNvSpPr/>
          <p:nvPr/>
        </p:nvSpPr>
        <p:spPr>
          <a:xfrm>
            <a:off x="4705502" y="5323637"/>
            <a:ext cx="2781605" cy="448056"/>
          </a:xfrm>
          <a:prstGeom prst="roundRect">
            <a:avLst>
              <a:gd name="adj" fmla="val 86843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4819802" y="5494630"/>
            <a:ext cx="114300" cy="133502"/>
          </a:xfrm>
          <a:prstGeom prst="rect">
            <a:avLst/>
          </a:prstGeom>
        </p:spPr>
      </p:pic>
      <p:sp>
        <p:nvSpPr>
          <p:cNvPr id="40" name="Text 24"/>
          <p:cNvSpPr txBox="1"/>
          <p:nvPr/>
        </p:nvSpPr>
        <p:spPr>
          <a:xfrm>
            <a:off x="5099152" y="5457139"/>
            <a:ext cx="22649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 호출 제거 및 서비스 디커플링</a:t>
            </a:r>
            <a:endParaRPr lang="en-US" sz="110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2"/>
          <a:srcRect l="-9" r="-9"/>
          <a:stretch/>
        </p:blipFill>
        <p:spPr>
          <a:xfrm>
            <a:off x="8382305" y="1659636"/>
            <a:ext cx="3238805" cy="4606747"/>
          </a:xfrm>
          <a:prstGeom prst="rect">
            <a:avLst/>
          </a:prstGeom>
        </p:spPr>
      </p:pic>
      <p:sp>
        <p:nvSpPr>
          <p:cNvPr id="42" name="Shape 25"/>
          <p:cNvSpPr/>
          <p:nvPr/>
        </p:nvSpPr>
        <p:spPr>
          <a:xfrm>
            <a:off x="9655150" y="2020824"/>
            <a:ext cx="694944" cy="247802"/>
          </a:xfrm>
          <a:prstGeom prst="roundRect">
            <a:avLst>
              <a:gd name="adj" fmla="val 369004"/>
            </a:avLst>
          </a:prstGeom>
          <a:solidFill>
            <a:srgbClr val="6EE7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26"/>
          <p:cNvSpPr/>
          <p:nvPr/>
        </p:nvSpPr>
        <p:spPr>
          <a:xfrm>
            <a:off x="9626803" y="2020824"/>
            <a:ext cx="7525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Effect</a:t>
            </a:r>
            <a:endParaRPr lang="en-US" sz="900" dirty="0"/>
          </a:p>
        </p:txBody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696298" y="2382926"/>
            <a:ext cx="609905" cy="609905"/>
          </a:xfrm>
          <a:prstGeom prst="rect">
            <a:avLst/>
          </a:prstGeom>
        </p:spPr>
      </p:pic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868205" y="2554834"/>
            <a:ext cx="267005" cy="267005"/>
          </a:xfrm>
          <a:prstGeom prst="rect">
            <a:avLst/>
          </a:prstGeom>
        </p:spPr>
      </p:pic>
      <p:sp>
        <p:nvSpPr>
          <p:cNvPr id="46" name="Text 27"/>
          <p:cNvSpPr txBox="1"/>
          <p:nvPr/>
        </p:nvSpPr>
        <p:spPr>
          <a:xfrm>
            <a:off x="9275674" y="3145536"/>
            <a:ext cx="14575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충돌 Zero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응답속도 0.05s</a:t>
            </a:r>
            <a:endParaRPr lang="en-US" sz="1600" dirty="0"/>
          </a:p>
        </p:txBody>
      </p:sp>
      <p:sp>
        <p:nvSpPr>
          <p:cNvPr id="47" name="Shape 28"/>
          <p:cNvSpPr/>
          <p:nvPr/>
        </p:nvSpPr>
        <p:spPr>
          <a:xfrm>
            <a:off x="8610905" y="3918204"/>
            <a:ext cx="2781605" cy="448056"/>
          </a:xfrm>
          <a:prstGeom prst="roundRect">
            <a:avLst>
              <a:gd name="adj" fmla="val 86843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17" descr="preencoded.png"/>
          <p:cNvPicPr>
            <a:picLocks noChangeAspect="1"/>
          </p:cNvPicPr>
          <p:nvPr/>
        </p:nvPicPr>
        <p:blipFill>
          <a:blip r:embed="rId15"/>
          <a:srcRect l="-837" r="-837"/>
          <a:stretch/>
        </p:blipFill>
        <p:spPr>
          <a:xfrm>
            <a:off x="8725205" y="4090111"/>
            <a:ext cx="152705" cy="133502"/>
          </a:xfrm>
          <a:prstGeom prst="rect">
            <a:avLst/>
          </a:prstGeom>
        </p:spPr>
      </p:pic>
      <p:sp>
        <p:nvSpPr>
          <p:cNvPr id="49" name="Text 29"/>
          <p:cNvSpPr txBox="1"/>
          <p:nvPr/>
        </p:nvSpPr>
        <p:spPr>
          <a:xfrm>
            <a:off x="8992210" y="4032504"/>
            <a:ext cx="2413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하드웨어 자원 충돌 에러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완벽 제로화</a:t>
            </a:r>
            <a:endParaRPr lang="en-US" sz="1100" dirty="0"/>
          </a:p>
        </p:txBody>
      </p:sp>
      <p:sp>
        <p:nvSpPr>
          <p:cNvPr id="50" name="Shape 30"/>
          <p:cNvSpPr/>
          <p:nvPr/>
        </p:nvSpPr>
        <p:spPr>
          <a:xfrm>
            <a:off x="8610905" y="4609490"/>
            <a:ext cx="2781605" cy="952805"/>
          </a:xfrm>
          <a:prstGeom prst="roundRect">
            <a:avLst>
              <a:gd name="adj" fmla="val 2303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6"/>
          <a:srcRect t="-25" b="-25"/>
          <a:stretch/>
        </p:blipFill>
        <p:spPr>
          <a:xfrm>
            <a:off x="8844077" y="4618634"/>
            <a:ext cx="1028700" cy="609905"/>
          </a:xfrm>
          <a:prstGeom prst="rect">
            <a:avLst/>
          </a:prstGeom>
        </p:spPr>
      </p:pic>
      <p:sp>
        <p:nvSpPr>
          <p:cNvPr id="52" name="Text 31"/>
          <p:cNvSpPr txBox="1"/>
          <p:nvPr/>
        </p:nvSpPr>
        <p:spPr>
          <a:xfrm>
            <a:off x="8805672" y="4428439"/>
            <a:ext cx="1105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20s+</a:t>
            </a:r>
            <a:endParaRPr lang="en-US" sz="1000" dirty="0"/>
          </a:p>
        </p:txBody>
      </p:sp>
      <p:sp>
        <p:nvSpPr>
          <p:cNvPr id="53" name="Text 32"/>
          <p:cNvSpPr txBox="1"/>
          <p:nvPr/>
        </p:nvSpPr>
        <p:spPr>
          <a:xfrm>
            <a:off x="9222638" y="5285232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Sync</a:t>
            </a:r>
            <a:endParaRPr lang="en-US" sz="900" dirty="0"/>
          </a:p>
        </p:txBody>
      </p:sp>
      <p:pic>
        <p:nvPicPr>
          <p:cNvPr id="54" name="Image 19" descr="preencoded.png"/>
          <p:cNvPicPr>
            <a:picLocks noChangeAspect="1"/>
          </p:cNvPicPr>
          <p:nvPr/>
        </p:nvPicPr>
        <p:blipFill>
          <a:blip r:embed="rId17"/>
          <a:srcRect t="-200" b="-200"/>
          <a:stretch/>
        </p:blipFill>
        <p:spPr>
          <a:xfrm>
            <a:off x="10129723" y="5144414"/>
            <a:ext cx="1028700" cy="84125"/>
          </a:xfrm>
          <a:prstGeom prst="rect">
            <a:avLst/>
          </a:prstGeom>
        </p:spPr>
      </p:pic>
      <p:sp>
        <p:nvSpPr>
          <p:cNvPr id="55" name="Text 33"/>
          <p:cNvSpPr txBox="1"/>
          <p:nvPr/>
        </p:nvSpPr>
        <p:spPr>
          <a:xfrm>
            <a:off x="10091318" y="4954219"/>
            <a:ext cx="1105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0.05s</a:t>
            </a:r>
            <a:endParaRPr lang="en-US" sz="1000" dirty="0"/>
          </a:p>
        </p:txBody>
      </p:sp>
      <p:sp>
        <p:nvSpPr>
          <p:cNvPr id="56" name="Text 34"/>
          <p:cNvSpPr txBox="1"/>
          <p:nvPr/>
        </p:nvSpPr>
        <p:spPr>
          <a:xfrm>
            <a:off x="10479024" y="5285232"/>
            <a:ext cx="4096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Async</a:t>
            </a:r>
            <a:endParaRPr lang="en-US" sz="900" dirty="0"/>
          </a:p>
        </p:txBody>
      </p:sp>
      <p:sp>
        <p:nvSpPr>
          <p:cNvPr id="57" name="Text 35"/>
          <p:cNvSpPr txBox="1"/>
          <p:nvPr/>
        </p:nvSpPr>
        <p:spPr>
          <a:xfrm>
            <a:off x="8555126" y="5761634"/>
            <a:ext cx="28931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504 Timeout 완전 퇴출</a:t>
            </a:r>
            <a:endParaRPr lang="en-US" sz="900" dirty="0"/>
          </a:p>
        </p:txBody>
      </p:sp>
      <p:sp>
        <p:nvSpPr>
          <p:cNvPr id="60" name="TextBox 59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A4_Project_2AI1_SA_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엄재민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6918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A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자유형: 도형 58">
            <a:extLst>
              <a:ext uri="{FF2B5EF4-FFF2-40B4-BE49-F238E27FC236}">
                <a16:creationId xmlns:a16="http://schemas.microsoft.com/office/drawing/2014/main" id="{6742AAE9-D162-42E6-0326-00E0396BD48B}"/>
              </a:ext>
            </a:extLst>
          </p:cNvPr>
          <p:cNvSpPr/>
          <p:nvPr/>
        </p:nvSpPr>
        <p:spPr>
          <a:xfrm>
            <a:off x="8858707" y="0"/>
            <a:ext cx="3333293" cy="2857500"/>
          </a:xfrm>
          <a:custGeom>
            <a:avLst/>
            <a:gdLst>
              <a:gd name="connsiteX0" fmla="*/ 256818 w 3333293"/>
              <a:gd name="connsiteY0" fmla="*/ 0 h 2857500"/>
              <a:gd name="connsiteX1" fmla="*/ 3333293 w 3333293"/>
              <a:gd name="connsiteY1" fmla="*/ 0 h 2857500"/>
              <a:gd name="connsiteX2" fmla="*/ 3333293 w 3333293"/>
              <a:gd name="connsiteY2" fmla="*/ 2210380 h 2857500"/>
              <a:gd name="connsiteX3" fmla="*/ 3252300 w 3333293"/>
              <a:gd name="connsiteY3" fmla="*/ 2299495 h 2857500"/>
              <a:gd name="connsiteX4" fmla="*/ 2099944 w 3333293"/>
              <a:gd name="connsiteY4" fmla="*/ 2847665 h 2857500"/>
              <a:gd name="connsiteX5" fmla="*/ 1905173 w 3333293"/>
              <a:gd name="connsiteY5" fmla="*/ 2857500 h 2857500"/>
              <a:gd name="connsiteX6" fmla="*/ 1905133 w 3333293"/>
              <a:gd name="connsiteY6" fmla="*/ 2857500 h 2857500"/>
              <a:gd name="connsiteX7" fmla="*/ 1710362 w 3333293"/>
              <a:gd name="connsiteY7" fmla="*/ 2847665 h 2857500"/>
              <a:gd name="connsiteX8" fmla="*/ 0 w 3333293"/>
              <a:gd name="connsiteY8" fmla="*/ 952348 h 2857500"/>
              <a:gd name="connsiteX9" fmla="*/ 229942 w 3333293"/>
              <a:gd name="connsiteY9" fmla="*/ 44239 h 285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33293" h="2857500">
                <a:moveTo>
                  <a:pt x="256818" y="0"/>
                </a:moveTo>
                <a:lnTo>
                  <a:pt x="3333293" y="0"/>
                </a:lnTo>
                <a:lnTo>
                  <a:pt x="3333293" y="2210380"/>
                </a:lnTo>
                <a:lnTo>
                  <a:pt x="3252300" y="2299495"/>
                </a:lnTo>
                <a:cubicBezTo>
                  <a:pt x="2950630" y="2601164"/>
                  <a:pt x="2548264" y="2802136"/>
                  <a:pt x="2099944" y="2847665"/>
                </a:cubicBezTo>
                <a:lnTo>
                  <a:pt x="1905173" y="2857500"/>
                </a:lnTo>
                <a:lnTo>
                  <a:pt x="1905133" y="2857500"/>
                </a:lnTo>
                <a:lnTo>
                  <a:pt x="1710362" y="2847665"/>
                </a:lnTo>
                <a:cubicBezTo>
                  <a:pt x="749677" y="2750102"/>
                  <a:pt x="0" y="1938773"/>
                  <a:pt x="0" y="952348"/>
                </a:cubicBezTo>
                <a:cubicBezTo>
                  <a:pt x="0" y="623540"/>
                  <a:pt x="83297" y="314186"/>
                  <a:pt x="229942" y="44239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자유형: 도형 60">
            <a:extLst>
              <a:ext uri="{FF2B5EF4-FFF2-40B4-BE49-F238E27FC236}">
                <a16:creationId xmlns:a16="http://schemas.microsoft.com/office/drawing/2014/main" id="{8277373B-43A4-051F-9E00-6A6723FF3DD8}"/>
              </a:ext>
            </a:extLst>
          </p:cNvPr>
          <p:cNvSpPr/>
          <p:nvPr/>
        </p:nvSpPr>
        <p:spPr>
          <a:xfrm>
            <a:off x="0" y="4476903"/>
            <a:ext cx="2381098" cy="2365553"/>
          </a:xfrm>
          <a:custGeom>
            <a:avLst/>
            <a:gdLst>
              <a:gd name="connsiteX0" fmla="*/ 952348 w 2381098"/>
              <a:gd name="connsiteY0" fmla="*/ 0 h 2365553"/>
              <a:gd name="connsiteX1" fmla="*/ 2381098 w 2381098"/>
              <a:gd name="connsiteY1" fmla="*/ 1428750 h 2365553"/>
              <a:gd name="connsiteX2" fmla="*/ 2054841 w 2381098"/>
              <a:gd name="connsiteY2" fmla="*/ 2337568 h 2365553"/>
              <a:gd name="connsiteX3" fmla="*/ 2029406 w 2381098"/>
              <a:gd name="connsiteY3" fmla="*/ 2365553 h 2365553"/>
              <a:gd name="connsiteX4" fmla="*/ 0 w 2381098"/>
              <a:gd name="connsiteY4" fmla="*/ 2365553 h 2365553"/>
              <a:gd name="connsiteX5" fmla="*/ 0 w 2381098"/>
              <a:gd name="connsiteY5" fmla="*/ 365820 h 2365553"/>
              <a:gd name="connsiteX6" fmla="*/ 43530 w 2381098"/>
              <a:gd name="connsiteY6" fmla="*/ 326257 h 2365553"/>
              <a:gd name="connsiteX7" fmla="*/ 952348 w 2381098"/>
              <a:gd name="connsiteY7" fmla="*/ 0 h 2365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1098" h="2365553">
                <a:moveTo>
                  <a:pt x="952348" y="0"/>
                </a:moveTo>
                <a:cubicBezTo>
                  <a:pt x="1741425" y="0"/>
                  <a:pt x="2381098" y="639673"/>
                  <a:pt x="2381098" y="1428750"/>
                </a:cubicBezTo>
                <a:cubicBezTo>
                  <a:pt x="2381098" y="1773971"/>
                  <a:pt x="2258661" y="2090596"/>
                  <a:pt x="2054841" y="2337568"/>
                </a:cubicBezTo>
                <a:lnTo>
                  <a:pt x="2029406" y="2365553"/>
                </a:lnTo>
                <a:lnTo>
                  <a:pt x="0" y="2365553"/>
                </a:lnTo>
                <a:lnTo>
                  <a:pt x="0" y="365820"/>
                </a:lnTo>
                <a:lnTo>
                  <a:pt x="43530" y="326257"/>
                </a:lnTo>
                <a:cubicBezTo>
                  <a:pt x="290503" y="122438"/>
                  <a:pt x="607127" y="0"/>
                  <a:pt x="95234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476402"/>
            <a:ext cx="75895" cy="80924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5995" y="476402"/>
            <a:ext cx="109353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 err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r>
              <a:rPr lang="en-US" sz="31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전략3 — AudioWorklet 마이그레이션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875995" y="992124"/>
            <a:ext cx="10935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스레드 데드락을 방지하고 안정적인 60 FPS를 보장하는 오디오 처리 구조 혁신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4071823" y="3955694"/>
            <a:ext cx="142646" cy="22860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7977226" y="3955694"/>
            <a:ext cx="142646" cy="22860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571500" y="1659636"/>
            <a:ext cx="3238805" cy="482163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772107" y="2020824"/>
            <a:ext cx="838505" cy="247802"/>
          </a:xfrm>
          <a:prstGeom prst="roundRect">
            <a:avLst>
              <a:gd name="adj" fmla="val 369004"/>
            </a:avLst>
          </a:prstGeom>
          <a:solidFill>
            <a:srgbClr val="FCA5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742846" y="2020824"/>
            <a:ext cx="89611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886407" y="2382926"/>
            <a:ext cx="609905" cy="609905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57400" y="2554834"/>
            <a:ext cx="267005" cy="26700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27709" y="3145536"/>
            <a:ext cx="17337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스레드 데드락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 캔버스 렉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800100" y="3918204"/>
            <a:ext cx="2781605" cy="657454"/>
          </a:xfrm>
          <a:prstGeom prst="roundRect">
            <a:avLst>
              <a:gd name="adj" fmla="val 40314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rcRect l="-2512" r="-2512"/>
          <a:stretch/>
        </p:blipFill>
        <p:spPr>
          <a:xfrm>
            <a:off x="914400" y="4090111"/>
            <a:ext cx="105156" cy="13350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208009" y="4048049"/>
            <a:ext cx="21625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오디오 처리 연산이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스레드를 과점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화면 멈춤 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800100" y="4728362"/>
            <a:ext cx="2781605" cy="657454"/>
          </a:xfrm>
          <a:prstGeom prst="roundRect">
            <a:avLst>
              <a:gd name="adj" fmla="val 40314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rcRect l="-2512" r="-2512"/>
          <a:stretch/>
        </p:blipFill>
        <p:spPr>
          <a:xfrm>
            <a:off x="914400" y="4899355"/>
            <a:ext cx="105156" cy="133502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208009" y="4842662"/>
            <a:ext cx="21625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프론트 캔버스 애니메이션 </a:t>
            </a:r>
            <a:r>
              <a:rPr lang="en-US" sz="1100" b="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렌더링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b="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지연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(Lagging)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발생 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800100" y="5537606"/>
            <a:ext cx="2781605" cy="657454"/>
          </a:xfrm>
          <a:prstGeom prst="roundRect">
            <a:avLst>
              <a:gd name="adj" fmla="val 40314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7"/>
          <a:srcRect l="-2512" r="-2512"/>
          <a:stretch/>
        </p:blipFill>
        <p:spPr>
          <a:xfrm>
            <a:off x="914400" y="5709514"/>
            <a:ext cx="105156" cy="133502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204317" y="5642935"/>
            <a:ext cx="21625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프레임 15 FPS 이하로 뚝 끊기는 현상</a:t>
            </a:r>
            <a:endParaRPr lang="en-US" sz="11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8"/>
          <a:srcRect l="-3" r="-3"/>
          <a:stretch/>
        </p:blipFill>
        <p:spPr>
          <a:xfrm>
            <a:off x="4476902" y="1659636"/>
            <a:ext cx="3238805" cy="4821631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5657393" y="2020824"/>
            <a:ext cx="886054" cy="247802"/>
          </a:xfrm>
          <a:prstGeom prst="roundRect">
            <a:avLst>
              <a:gd name="adj" fmla="val 369004"/>
            </a:avLst>
          </a:prstGeom>
          <a:solidFill>
            <a:srgbClr val="BFDB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17"/>
          <p:cNvSpPr/>
          <p:nvPr/>
        </p:nvSpPr>
        <p:spPr>
          <a:xfrm>
            <a:off x="5629046" y="2020824"/>
            <a:ext cx="9436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9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2926"/>
            <a:ext cx="609905" cy="609905"/>
          </a:xfrm>
          <a:prstGeom prst="rect">
            <a:avLst/>
          </a:prstGeom>
        </p:spPr>
      </p:pic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62802" y="2554834"/>
            <a:ext cx="267005" cy="267005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4807001" y="3145536"/>
            <a:ext cx="258409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AudioWorkletProcessor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 Worker 분리</a:t>
            </a:r>
            <a:endParaRPr lang="en-US" sz="1600" dirty="0"/>
          </a:p>
        </p:txBody>
      </p:sp>
      <p:sp>
        <p:nvSpPr>
          <p:cNvPr id="32" name="Shape 19"/>
          <p:cNvSpPr/>
          <p:nvPr/>
        </p:nvSpPr>
        <p:spPr>
          <a:xfrm>
            <a:off x="4705502" y="3918204"/>
            <a:ext cx="2781605" cy="657454"/>
          </a:xfrm>
          <a:prstGeom prst="roundRect">
            <a:avLst>
              <a:gd name="adj" fmla="val 40314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4819802" y="4090111"/>
            <a:ext cx="114300" cy="133502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5048402" y="4008272"/>
            <a:ext cx="228600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레거시 API 폐기 및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모던 규격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도입 </a:t>
            </a:r>
            <a:endParaRPr lang="en-US" sz="1100" dirty="0"/>
          </a:p>
        </p:txBody>
      </p:sp>
      <p:sp>
        <p:nvSpPr>
          <p:cNvPr id="35" name="Shape 21"/>
          <p:cNvSpPr/>
          <p:nvPr/>
        </p:nvSpPr>
        <p:spPr>
          <a:xfrm>
            <a:off x="4705502" y="4728362"/>
            <a:ext cx="2781605" cy="657454"/>
          </a:xfrm>
          <a:prstGeom prst="roundRect">
            <a:avLst>
              <a:gd name="adj" fmla="val 40314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4819802" y="4899355"/>
            <a:ext cx="114300" cy="133502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5107199" y="4834416"/>
            <a:ext cx="215249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오디오 연산을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백그라운드 스레드로 격리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처리 </a:t>
            </a:r>
            <a:endParaRPr lang="en-US" sz="1100" dirty="0"/>
          </a:p>
        </p:txBody>
      </p:sp>
      <p:sp>
        <p:nvSpPr>
          <p:cNvPr id="38" name="Shape 23"/>
          <p:cNvSpPr/>
          <p:nvPr/>
        </p:nvSpPr>
        <p:spPr>
          <a:xfrm>
            <a:off x="4705502" y="5537606"/>
            <a:ext cx="2781605" cy="657454"/>
          </a:xfrm>
          <a:prstGeom prst="roundRect">
            <a:avLst>
              <a:gd name="adj" fmla="val 40314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4819802" y="5709514"/>
            <a:ext cx="114300" cy="133502"/>
          </a:xfrm>
          <a:prstGeom prst="rect">
            <a:avLst/>
          </a:prstGeom>
        </p:spPr>
      </p:pic>
      <p:sp>
        <p:nvSpPr>
          <p:cNvPr id="40" name="Text 24"/>
          <p:cNvSpPr txBox="1"/>
          <p:nvPr/>
        </p:nvSpPr>
        <p:spPr>
          <a:xfrm>
            <a:off x="5162702" y="5642305"/>
            <a:ext cx="215249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UI와 무거운 연산 로직을 물리적으로 분리</a:t>
            </a:r>
            <a:endParaRPr lang="en-US" sz="110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2"/>
          <a:srcRect l="-3" r="-3"/>
          <a:stretch/>
        </p:blipFill>
        <p:spPr>
          <a:xfrm>
            <a:off x="8382305" y="1659636"/>
            <a:ext cx="3238805" cy="4821631"/>
          </a:xfrm>
          <a:prstGeom prst="rect">
            <a:avLst/>
          </a:prstGeom>
        </p:spPr>
      </p:pic>
      <p:sp>
        <p:nvSpPr>
          <p:cNvPr id="42" name="Shape 25"/>
          <p:cNvSpPr/>
          <p:nvPr/>
        </p:nvSpPr>
        <p:spPr>
          <a:xfrm>
            <a:off x="9655150" y="2020824"/>
            <a:ext cx="694944" cy="247802"/>
          </a:xfrm>
          <a:prstGeom prst="roundRect">
            <a:avLst>
              <a:gd name="adj" fmla="val 369004"/>
            </a:avLst>
          </a:prstGeom>
          <a:solidFill>
            <a:srgbClr val="6EE7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26"/>
          <p:cNvSpPr/>
          <p:nvPr/>
        </p:nvSpPr>
        <p:spPr>
          <a:xfrm>
            <a:off x="9626803" y="2020824"/>
            <a:ext cx="7525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Effect</a:t>
            </a:r>
            <a:endParaRPr lang="en-US" sz="900" dirty="0"/>
          </a:p>
        </p:txBody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696298" y="2382926"/>
            <a:ext cx="609905" cy="609905"/>
          </a:xfrm>
          <a:prstGeom prst="rect">
            <a:avLst/>
          </a:prstGeom>
        </p:spPr>
      </p:pic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868205" y="2554834"/>
            <a:ext cx="267005" cy="267005"/>
          </a:xfrm>
          <a:prstGeom prst="rect">
            <a:avLst/>
          </a:prstGeom>
        </p:spPr>
      </p:pic>
      <p:sp>
        <p:nvSpPr>
          <p:cNvPr id="46" name="Text 27"/>
          <p:cNvSpPr txBox="1"/>
          <p:nvPr/>
        </p:nvSpPr>
        <p:spPr>
          <a:xfrm>
            <a:off x="9198864" y="3145536"/>
            <a:ext cx="161483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점유율 60% 감소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 FPS 유지</a:t>
            </a:r>
            <a:endParaRPr lang="en-US" sz="1600" dirty="0"/>
          </a:p>
        </p:txBody>
      </p:sp>
      <p:sp>
        <p:nvSpPr>
          <p:cNvPr id="47" name="Shape 28"/>
          <p:cNvSpPr/>
          <p:nvPr/>
        </p:nvSpPr>
        <p:spPr>
          <a:xfrm>
            <a:off x="8610905" y="3918204"/>
            <a:ext cx="2781605" cy="657454"/>
          </a:xfrm>
          <a:prstGeom prst="roundRect">
            <a:avLst>
              <a:gd name="adj" fmla="val 40314"/>
            </a:avLst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17" descr="preencoded.png"/>
          <p:cNvPicPr>
            <a:picLocks noChangeAspect="1"/>
          </p:cNvPicPr>
          <p:nvPr/>
        </p:nvPicPr>
        <p:blipFill>
          <a:blip r:embed="rId15"/>
          <a:srcRect l="-837" r="-837"/>
          <a:stretch/>
        </p:blipFill>
        <p:spPr>
          <a:xfrm>
            <a:off x="8725205" y="4090111"/>
            <a:ext cx="152705" cy="133502"/>
          </a:xfrm>
          <a:prstGeom prst="rect">
            <a:avLst/>
          </a:prstGeom>
        </p:spPr>
      </p:pic>
      <p:sp>
        <p:nvSpPr>
          <p:cNvPr id="49" name="Text 29"/>
          <p:cNvSpPr txBox="1"/>
          <p:nvPr/>
        </p:nvSpPr>
        <p:spPr>
          <a:xfrm>
            <a:off x="9043416" y="4022903"/>
            <a:ext cx="21150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10분 연속 음성 캡처에도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끊김 없는 성능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증명 </a:t>
            </a:r>
            <a:endParaRPr lang="en-US" sz="1100" dirty="0"/>
          </a:p>
        </p:txBody>
      </p:sp>
      <p:sp>
        <p:nvSpPr>
          <p:cNvPr id="50" name="Shape 30"/>
          <p:cNvSpPr/>
          <p:nvPr/>
        </p:nvSpPr>
        <p:spPr>
          <a:xfrm>
            <a:off x="8610905" y="4823460"/>
            <a:ext cx="2781605" cy="952805"/>
          </a:xfrm>
          <a:prstGeom prst="roundRect">
            <a:avLst>
              <a:gd name="adj" fmla="val 2303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6"/>
          <a:srcRect l="-36" r="-36"/>
          <a:stretch/>
        </p:blipFill>
        <p:spPr>
          <a:xfrm>
            <a:off x="8844077" y="5233111"/>
            <a:ext cx="1028700" cy="209398"/>
          </a:xfrm>
          <a:prstGeom prst="rect">
            <a:avLst/>
          </a:prstGeom>
        </p:spPr>
      </p:pic>
      <p:sp>
        <p:nvSpPr>
          <p:cNvPr id="52" name="Text 31"/>
          <p:cNvSpPr txBox="1"/>
          <p:nvPr/>
        </p:nvSpPr>
        <p:spPr>
          <a:xfrm>
            <a:off x="8805672" y="5042002"/>
            <a:ext cx="1105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 FPS</a:t>
            </a:r>
            <a:endParaRPr lang="en-US" sz="1000" dirty="0"/>
          </a:p>
        </p:txBody>
      </p:sp>
      <p:sp>
        <p:nvSpPr>
          <p:cNvPr id="53" name="Text 32"/>
          <p:cNvSpPr txBox="1"/>
          <p:nvPr/>
        </p:nvSpPr>
        <p:spPr>
          <a:xfrm>
            <a:off x="9173261" y="5499202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900" dirty="0"/>
          </a:p>
        </p:txBody>
      </p:sp>
      <p:pic>
        <p:nvPicPr>
          <p:cNvPr id="54" name="Image 19" descr="preencoded.png"/>
          <p:cNvPicPr>
            <a:picLocks noChangeAspect="1"/>
          </p:cNvPicPr>
          <p:nvPr/>
        </p:nvPicPr>
        <p:blipFill>
          <a:blip r:embed="rId17"/>
          <a:srcRect t="-25" b="-25"/>
          <a:stretch/>
        </p:blipFill>
        <p:spPr>
          <a:xfrm>
            <a:off x="10129723" y="4832604"/>
            <a:ext cx="1028700" cy="609905"/>
          </a:xfrm>
          <a:prstGeom prst="rect">
            <a:avLst/>
          </a:prstGeom>
        </p:spPr>
      </p:pic>
      <p:sp>
        <p:nvSpPr>
          <p:cNvPr id="55" name="Text 33"/>
          <p:cNvSpPr txBox="1"/>
          <p:nvPr/>
        </p:nvSpPr>
        <p:spPr>
          <a:xfrm>
            <a:off x="10091318" y="4642409"/>
            <a:ext cx="1105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 FPS</a:t>
            </a:r>
            <a:endParaRPr lang="en-US" sz="1000" dirty="0"/>
          </a:p>
        </p:txBody>
      </p:sp>
      <p:sp>
        <p:nvSpPr>
          <p:cNvPr id="56" name="Text 34"/>
          <p:cNvSpPr txBox="1"/>
          <p:nvPr/>
        </p:nvSpPr>
        <p:spPr>
          <a:xfrm>
            <a:off x="10506456" y="5499202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900" dirty="0"/>
          </a:p>
        </p:txBody>
      </p:sp>
      <p:sp>
        <p:nvSpPr>
          <p:cNvPr id="57" name="Text 35"/>
          <p:cNvSpPr txBox="1"/>
          <p:nvPr/>
        </p:nvSpPr>
        <p:spPr>
          <a:xfrm>
            <a:off x="8515807" y="5975604"/>
            <a:ext cx="2971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주사율 완벽 동기화</a:t>
            </a:r>
            <a:endParaRPr lang="en-US" sz="900" dirty="0"/>
          </a:p>
        </p:txBody>
      </p:sp>
      <p:sp>
        <p:nvSpPr>
          <p:cNvPr id="58" name="TextBox 57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A4_Project_2AI1_SA_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엄재민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3028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/>
        </p:blipFill>
        <p:spPr>
          <a:xfrm>
            <a:off x="-381305" y="4190695"/>
            <a:ext cx="3047695" cy="3047695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691518" y="6362395"/>
            <a:ext cx="2770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300" dirty="0"/>
          </a:p>
        </p:txBody>
      </p:sp>
      <p:sp>
        <p:nvSpPr>
          <p:cNvPr id="8" name="Text 2"/>
          <p:cNvSpPr txBox="1"/>
          <p:nvPr/>
        </p:nvSpPr>
        <p:spPr>
          <a:xfrm>
            <a:off x="942746" y="495605"/>
            <a:ext cx="6404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200" b="1" kern="0" spc="-9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</a:t>
            </a:r>
            <a:r>
              <a:rPr lang="en-US" sz="3200" b="1" kern="0" spc="-90" dirty="0" err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</a:t>
            </a:r>
            <a:r>
              <a:rPr lang="en-US" sz="3200" b="1" kern="0" spc="-9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 및 시나리오</a:t>
            </a:r>
            <a:endParaRPr lang="en-US" sz="3200" dirty="0"/>
          </a:p>
        </p:txBody>
      </p:sp>
      <p:sp>
        <p:nvSpPr>
          <p:cNvPr id="9" name="Text 3"/>
          <p:cNvSpPr txBox="1"/>
          <p:nvPr/>
        </p:nvSpPr>
        <p:spPr>
          <a:xfrm>
            <a:off x="914400" y="1067105"/>
            <a:ext cx="476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인터랙션 흐름과 멀티모달 AI 분석 아키텍처</a:t>
            </a:r>
            <a:endParaRPr lang="en-US" sz="15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/>
          <a:srcRect l="-5" r="-5"/>
          <a:stretch/>
        </p:blipFill>
        <p:spPr>
          <a:xfrm>
            <a:off x="609905" y="1413584"/>
            <a:ext cx="2673706" cy="5089551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828904" y="1852574"/>
            <a:ext cx="22000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1566289"/>
            <a:ext cx="228600" cy="228600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152601" y="1480413"/>
            <a:ext cx="134325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시나리오</a:t>
            </a:r>
            <a:endParaRPr lang="en-US" sz="15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1738002" y="2543551"/>
            <a:ext cx="114300" cy="152705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1738002" y="3274237"/>
            <a:ext cx="114300" cy="152705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1738002" y="4029721"/>
            <a:ext cx="114300" cy="152705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1729130" y="4759452"/>
            <a:ext cx="114300" cy="152705"/>
          </a:xfrm>
          <a:prstGeom prst="rect">
            <a:avLst/>
          </a:prstGeom>
        </p:spPr>
      </p:pic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1726654" y="5485618"/>
            <a:ext cx="114300" cy="152705"/>
          </a:xfrm>
          <a:prstGeom prst="rect">
            <a:avLst/>
          </a:prstGeom>
        </p:spPr>
      </p:pic>
      <p:grpSp>
        <p:nvGrpSpPr>
          <p:cNvPr id="127" name="그룹 126"/>
          <p:cNvGrpSpPr/>
          <p:nvPr/>
        </p:nvGrpSpPr>
        <p:grpSpPr>
          <a:xfrm>
            <a:off x="828904" y="1990482"/>
            <a:ext cx="2124151" cy="468000"/>
            <a:chOff x="847649" y="2533802"/>
            <a:chExt cx="2124151" cy="468000"/>
          </a:xfrm>
        </p:grpSpPr>
        <p:sp>
          <p:nvSpPr>
            <p:cNvPr id="19" name="Shape 6"/>
            <p:cNvSpPr/>
            <p:nvPr/>
          </p:nvSpPr>
          <p:spPr>
            <a:xfrm>
              <a:off x="847649" y="2533802"/>
              <a:ext cx="2124151" cy="468000"/>
            </a:xfrm>
            <a:prstGeom prst="roundRect">
              <a:avLst>
                <a:gd name="adj" fmla="val 64000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21" name="Shape 8"/>
            <p:cNvSpPr/>
            <p:nvPr/>
          </p:nvSpPr>
          <p:spPr>
            <a:xfrm>
              <a:off x="1000354" y="2593871"/>
              <a:ext cx="304495" cy="304495"/>
            </a:xfrm>
            <a:prstGeom prst="ellipse">
              <a:avLst/>
            </a:prstGeom>
            <a:solidFill>
              <a:srgbClr val="DBEAF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22" name="Image 11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1086307" y="2678910"/>
              <a:ext cx="133502" cy="133502"/>
            </a:xfrm>
            <a:prstGeom prst="rect">
              <a:avLst/>
            </a:prstGeom>
          </p:spPr>
        </p:pic>
        <p:sp>
          <p:nvSpPr>
            <p:cNvPr id="23" name="Text 9"/>
            <p:cNvSpPr txBox="1"/>
            <p:nvPr/>
          </p:nvSpPr>
          <p:spPr>
            <a:xfrm>
              <a:off x="1390802" y="2581351"/>
              <a:ext cx="125364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회원가입 / 로그인</a:t>
              </a:r>
              <a:endParaRPr lang="en-US" sz="1000" dirty="0"/>
            </a:p>
          </p:txBody>
        </p:sp>
        <p:sp>
          <p:nvSpPr>
            <p:cNvPr id="24" name="Text 10"/>
            <p:cNvSpPr txBox="1"/>
            <p:nvPr/>
          </p:nvSpPr>
          <p:spPr>
            <a:xfrm>
              <a:off x="1402882" y="2772461"/>
              <a:ext cx="1163117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사용자 인증 및 접속</a:t>
              </a:r>
              <a:endParaRPr lang="en-US" sz="900" dirty="0"/>
            </a:p>
          </p:txBody>
        </p:sp>
      </p:grpSp>
      <p:grpSp>
        <p:nvGrpSpPr>
          <p:cNvPr id="128" name="그룹 127"/>
          <p:cNvGrpSpPr/>
          <p:nvPr/>
        </p:nvGrpSpPr>
        <p:grpSpPr>
          <a:xfrm>
            <a:off x="828904" y="2754235"/>
            <a:ext cx="2124151" cy="468000"/>
            <a:chOff x="847649" y="3409798"/>
            <a:chExt cx="2124151" cy="468000"/>
          </a:xfrm>
        </p:grpSpPr>
        <p:sp>
          <p:nvSpPr>
            <p:cNvPr id="25" name="Shape 11"/>
            <p:cNvSpPr/>
            <p:nvPr/>
          </p:nvSpPr>
          <p:spPr>
            <a:xfrm>
              <a:off x="847649" y="3409798"/>
              <a:ext cx="2124151" cy="468000"/>
            </a:xfrm>
            <a:prstGeom prst="roundRect">
              <a:avLst>
                <a:gd name="adj" fmla="val 64000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26" name="Shape 12"/>
            <p:cNvSpPr/>
            <p:nvPr/>
          </p:nvSpPr>
          <p:spPr>
            <a:xfrm>
              <a:off x="847649" y="3409798"/>
              <a:ext cx="38405" cy="468000"/>
            </a:xfrm>
            <a:prstGeom prst="roundRect">
              <a:avLst>
                <a:gd name="adj" fmla="val 952376"/>
              </a:avLst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27" name="Shape 13"/>
            <p:cNvSpPr/>
            <p:nvPr/>
          </p:nvSpPr>
          <p:spPr>
            <a:xfrm>
              <a:off x="1020314" y="3485693"/>
              <a:ext cx="304495" cy="304495"/>
            </a:xfrm>
            <a:prstGeom prst="ellipse">
              <a:avLst/>
            </a:prstGeom>
            <a:solidFill>
              <a:srgbClr val="E0E7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28" name="Image 12" descr="preencoded.png"/>
            <p:cNvPicPr>
              <a:picLocks noChangeAspect="1"/>
            </p:cNvPicPr>
            <p:nvPr/>
          </p:nvPicPr>
          <p:blipFill>
            <a:blip r:embed="rId8"/>
            <a:srcRect l="-2512" r="-2512"/>
            <a:stretch/>
          </p:blipFill>
          <p:spPr>
            <a:xfrm>
              <a:off x="1119983" y="3571647"/>
              <a:ext cx="105156" cy="133502"/>
            </a:xfrm>
            <a:prstGeom prst="rect">
              <a:avLst/>
            </a:prstGeom>
          </p:spPr>
        </p:pic>
        <p:sp>
          <p:nvSpPr>
            <p:cNvPr id="29" name="Text 14"/>
            <p:cNvSpPr txBox="1"/>
            <p:nvPr/>
          </p:nvSpPr>
          <p:spPr>
            <a:xfrm>
              <a:off x="1419149" y="3468513"/>
              <a:ext cx="103967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입사 지원</a:t>
              </a:r>
              <a:endParaRPr lang="en-US" sz="1000" dirty="0"/>
            </a:p>
          </p:txBody>
        </p:sp>
        <p:sp>
          <p:nvSpPr>
            <p:cNvPr id="30" name="Text 15"/>
            <p:cNvSpPr txBox="1"/>
            <p:nvPr/>
          </p:nvSpPr>
          <p:spPr>
            <a:xfrm>
              <a:off x="1401618" y="3650479"/>
              <a:ext cx="1109167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이력서(PDF) 업로드</a:t>
              </a:r>
              <a:endParaRPr lang="en-US" sz="900" dirty="0"/>
            </a:p>
          </p:txBody>
        </p:sp>
      </p:grpSp>
      <p:grpSp>
        <p:nvGrpSpPr>
          <p:cNvPr id="129" name="그룹 128"/>
          <p:cNvGrpSpPr/>
          <p:nvPr/>
        </p:nvGrpSpPr>
        <p:grpSpPr>
          <a:xfrm>
            <a:off x="828904" y="3464994"/>
            <a:ext cx="2124151" cy="495271"/>
            <a:chOff x="847649" y="4259436"/>
            <a:chExt cx="2124151" cy="495271"/>
          </a:xfrm>
        </p:grpSpPr>
        <p:sp>
          <p:nvSpPr>
            <p:cNvPr id="31" name="Shape 16"/>
            <p:cNvSpPr/>
            <p:nvPr/>
          </p:nvSpPr>
          <p:spPr>
            <a:xfrm>
              <a:off x="847649" y="4286707"/>
              <a:ext cx="2124151" cy="468000"/>
            </a:xfrm>
            <a:prstGeom prst="roundRect">
              <a:avLst>
                <a:gd name="adj" fmla="val 64000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32" name="Shape 17"/>
            <p:cNvSpPr/>
            <p:nvPr/>
          </p:nvSpPr>
          <p:spPr>
            <a:xfrm>
              <a:off x="847649" y="4259436"/>
              <a:ext cx="38405" cy="468000"/>
            </a:xfrm>
            <a:prstGeom prst="roundRect">
              <a:avLst>
                <a:gd name="adj" fmla="val 952376"/>
              </a:avLst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33" name="Shape 18"/>
            <p:cNvSpPr/>
            <p:nvPr/>
          </p:nvSpPr>
          <p:spPr>
            <a:xfrm>
              <a:off x="1000354" y="4352544"/>
              <a:ext cx="304495" cy="304495"/>
            </a:xfrm>
            <a:prstGeom prst="ellipse">
              <a:avLst/>
            </a:prstGeom>
            <a:solidFill>
              <a:srgbClr val="EDE9F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34" name="Image 13" descr="preencoded.png"/>
            <p:cNvPicPr>
              <a:picLocks noChangeAspect="1"/>
            </p:cNvPicPr>
            <p:nvPr/>
          </p:nvPicPr>
          <p:blipFill>
            <a:blip r:embed="rId9"/>
            <a:srcRect l="-837" r="-837"/>
            <a:stretch/>
          </p:blipFill>
          <p:spPr>
            <a:xfrm>
              <a:off x="1076249" y="4438498"/>
              <a:ext cx="152705" cy="133502"/>
            </a:xfrm>
            <a:prstGeom prst="rect">
              <a:avLst/>
            </a:prstGeom>
          </p:spPr>
        </p:pic>
        <p:sp>
          <p:nvSpPr>
            <p:cNvPr id="35" name="Text 19"/>
            <p:cNvSpPr txBox="1"/>
            <p:nvPr/>
          </p:nvSpPr>
          <p:spPr>
            <a:xfrm>
              <a:off x="1419149" y="4364187"/>
              <a:ext cx="101955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면접 시작</a:t>
              </a:r>
              <a:endParaRPr lang="en-US" sz="1000" dirty="0"/>
            </a:p>
          </p:txBody>
        </p:sp>
        <p:sp>
          <p:nvSpPr>
            <p:cNvPr id="36" name="Text 20"/>
            <p:cNvSpPr txBox="1"/>
            <p:nvPr/>
          </p:nvSpPr>
          <p:spPr>
            <a:xfrm>
              <a:off x="1419149" y="4544568"/>
              <a:ext cx="1159459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환경 테스트 및 준비</a:t>
              </a:r>
              <a:endParaRPr lang="en-US" sz="900" dirty="0"/>
            </a:p>
          </p:txBody>
        </p:sp>
      </p:grpSp>
      <p:grpSp>
        <p:nvGrpSpPr>
          <p:cNvPr id="130" name="그룹 129"/>
          <p:cNvGrpSpPr/>
          <p:nvPr/>
        </p:nvGrpSpPr>
        <p:grpSpPr>
          <a:xfrm>
            <a:off x="828904" y="4229088"/>
            <a:ext cx="2124151" cy="468000"/>
            <a:chOff x="847649" y="5162702"/>
            <a:chExt cx="2124151" cy="468000"/>
          </a:xfrm>
        </p:grpSpPr>
        <p:sp>
          <p:nvSpPr>
            <p:cNvPr id="37" name="Shape 21"/>
            <p:cNvSpPr/>
            <p:nvPr/>
          </p:nvSpPr>
          <p:spPr>
            <a:xfrm>
              <a:off x="847649" y="5162702"/>
              <a:ext cx="2124151" cy="468000"/>
            </a:xfrm>
            <a:prstGeom prst="roundRect">
              <a:avLst>
                <a:gd name="adj" fmla="val 64000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38" name="Shape 22"/>
            <p:cNvSpPr/>
            <p:nvPr/>
          </p:nvSpPr>
          <p:spPr>
            <a:xfrm>
              <a:off x="847649" y="5162702"/>
              <a:ext cx="38405" cy="468000"/>
            </a:xfrm>
            <a:prstGeom prst="roundRect">
              <a:avLst>
                <a:gd name="adj" fmla="val 952376"/>
              </a:avLst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39" name="Shape 23"/>
            <p:cNvSpPr/>
            <p:nvPr/>
          </p:nvSpPr>
          <p:spPr>
            <a:xfrm>
              <a:off x="1000354" y="5250431"/>
              <a:ext cx="304495" cy="304495"/>
            </a:xfrm>
            <a:prstGeom prst="ellipse">
              <a:avLst/>
            </a:prstGeom>
            <a:solidFill>
              <a:srgbClr val="FCE7F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40" name="Image 14" descr="preencoded.png"/>
            <p:cNvPicPr>
              <a:picLocks noChangeAspect="1"/>
            </p:cNvPicPr>
            <p:nvPr/>
          </p:nvPicPr>
          <p:blipFill>
            <a:blip r:embed="rId10"/>
            <a:srcRect l="-1507" r="-1507"/>
            <a:stretch/>
          </p:blipFill>
          <p:spPr>
            <a:xfrm>
              <a:off x="1067105" y="5335470"/>
              <a:ext cx="171907" cy="133502"/>
            </a:xfrm>
            <a:prstGeom prst="rect">
              <a:avLst/>
            </a:prstGeom>
          </p:spPr>
        </p:pic>
        <p:sp>
          <p:nvSpPr>
            <p:cNvPr id="41" name="Text 24"/>
            <p:cNvSpPr txBox="1"/>
            <p:nvPr/>
          </p:nvSpPr>
          <p:spPr>
            <a:xfrm>
              <a:off x="1392174" y="5239915"/>
              <a:ext cx="89154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AI 질문 응답</a:t>
              </a:r>
              <a:endParaRPr lang="en-US" sz="1000" dirty="0"/>
            </a:p>
          </p:txBody>
        </p:sp>
        <p:sp>
          <p:nvSpPr>
            <p:cNvPr id="42" name="Text 25"/>
            <p:cNvSpPr txBox="1"/>
            <p:nvPr/>
          </p:nvSpPr>
          <p:spPr>
            <a:xfrm>
              <a:off x="1392174" y="5402221"/>
              <a:ext cx="89885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실시간 인터랙션</a:t>
              </a:r>
              <a:endParaRPr lang="en-US" sz="900" dirty="0"/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828904" y="4949516"/>
            <a:ext cx="2124151" cy="468000"/>
            <a:chOff x="847649" y="6038698"/>
            <a:chExt cx="2124151" cy="468000"/>
          </a:xfrm>
        </p:grpSpPr>
        <p:sp>
          <p:nvSpPr>
            <p:cNvPr id="43" name="Shape 26"/>
            <p:cNvSpPr/>
            <p:nvPr/>
          </p:nvSpPr>
          <p:spPr>
            <a:xfrm>
              <a:off x="847649" y="6038698"/>
              <a:ext cx="2124151" cy="468000"/>
            </a:xfrm>
            <a:prstGeom prst="roundRect">
              <a:avLst>
                <a:gd name="adj" fmla="val 64000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44" name="Shape 27"/>
            <p:cNvSpPr/>
            <p:nvPr/>
          </p:nvSpPr>
          <p:spPr>
            <a:xfrm>
              <a:off x="847649" y="6038698"/>
              <a:ext cx="38405" cy="468000"/>
            </a:xfrm>
            <a:prstGeom prst="roundRect">
              <a:avLst>
                <a:gd name="adj" fmla="val 952376"/>
              </a:avLst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45" name="Shape 28"/>
            <p:cNvSpPr/>
            <p:nvPr/>
          </p:nvSpPr>
          <p:spPr>
            <a:xfrm>
              <a:off x="953720" y="6127393"/>
              <a:ext cx="304495" cy="304495"/>
            </a:xfrm>
            <a:prstGeom prst="ellipse">
              <a:avLst/>
            </a:prstGeom>
            <a:solidFill>
              <a:srgbClr val="D1FAE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46" name="Image 15" descr="preencoded.png"/>
            <p:cNvPicPr>
              <a:picLocks noChangeAspect="1"/>
            </p:cNvPicPr>
            <p:nvPr/>
          </p:nvPicPr>
          <p:blipFill>
            <a:blip r:embed="rId11"/>
            <a:srcRect t="-1100" b="-1100"/>
            <a:stretch/>
          </p:blipFill>
          <p:spPr>
            <a:xfrm>
              <a:off x="1057504" y="6222491"/>
              <a:ext cx="114300" cy="133502"/>
            </a:xfrm>
            <a:prstGeom prst="rect">
              <a:avLst/>
            </a:prstGeom>
          </p:spPr>
        </p:pic>
        <p:sp>
          <p:nvSpPr>
            <p:cNvPr id="47" name="Text 29"/>
            <p:cNvSpPr txBox="1"/>
            <p:nvPr/>
          </p:nvSpPr>
          <p:spPr>
            <a:xfrm>
              <a:off x="1334859" y="6107527"/>
              <a:ext cx="101955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면접 종료</a:t>
              </a:r>
              <a:endParaRPr lang="en-US" sz="1000" dirty="0"/>
            </a:p>
          </p:txBody>
        </p:sp>
        <p:sp>
          <p:nvSpPr>
            <p:cNvPr id="48" name="Text 30"/>
            <p:cNvSpPr txBox="1"/>
            <p:nvPr/>
          </p:nvSpPr>
          <p:spPr>
            <a:xfrm>
              <a:off x="1319480" y="6271221"/>
              <a:ext cx="1159459" cy="160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 저장 및 분석</a:t>
              </a:r>
              <a:endParaRPr lang="en-US" sz="900" dirty="0"/>
            </a:p>
          </p:txBody>
        </p:sp>
      </p:grpSp>
      <p:grpSp>
        <p:nvGrpSpPr>
          <p:cNvPr id="132" name="그룹 131"/>
          <p:cNvGrpSpPr/>
          <p:nvPr/>
        </p:nvGrpSpPr>
        <p:grpSpPr>
          <a:xfrm>
            <a:off x="828904" y="5725672"/>
            <a:ext cx="2124151" cy="468000"/>
            <a:chOff x="847649" y="6915607"/>
            <a:chExt cx="2124151" cy="468000"/>
          </a:xfrm>
        </p:grpSpPr>
        <p:sp>
          <p:nvSpPr>
            <p:cNvPr id="49" name="Shape 31"/>
            <p:cNvSpPr/>
            <p:nvPr/>
          </p:nvSpPr>
          <p:spPr>
            <a:xfrm>
              <a:off x="847649" y="6915607"/>
              <a:ext cx="2124151" cy="468000"/>
            </a:xfrm>
            <a:prstGeom prst="roundRect">
              <a:avLst>
                <a:gd name="adj" fmla="val 64000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50" name="Shape 32"/>
            <p:cNvSpPr/>
            <p:nvPr/>
          </p:nvSpPr>
          <p:spPr>
            <a:xfrm>
              <a:off x="847649" y="6915607"/>
              <a:ext cx="38405" cy="468000"/>
            </a:xfrm>
            <a:prstGeom prst="roundRect">
              <a:avLst>
                <a:gd name="adj" fmla="val 952376"/>
              </a:avLst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  <p:sp>
          <p:nvSpPr>
            <p:cNvPr id="51" name="Shape 33"/>
            <p:cNvSpPr/>
            <p:nvPr/>
          </p:nvSpPr>
          <p:spPr>
            <a:xfrm>
              <a:off x="1000354" y="7008843"/>
              <a:ext cx="304495" cy="304495"/>
            </a:xfrm>
            <a:prstGeom prst="ellipse">
              <a:avLst/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52" name="Image 16" descr="preencoded.png"/>
            <p:cNvPicPr>
              <a:picLocks noChangeAspect="1"/>
            </p:cNvPicPr>
            <p:nvPr/>
          </p:nvPicPr>
          <p:blipFill>
            <a:blip r:embed="rId12"/>
            <a:srcRect l="-837" r="-837"/>
            <a:stretch/>
          </p:blipFill>
          <p:spPr>
            <a:xfrm>
              <a:off x="1076249" y="7094797"/>
              <a:ext cx="152705" cy="133502"/>
            </a:xfrm>
            <a:prstGeom prst="rect">
              <a:avLst/>
            </a:prstGeom>
          </p:spPr>
        </p:pic>
        <p:sp>
          <p:nvSpPr>
            <p:cNvPr id="53" name="Text 34"/>
            <p:cNvSpPr txBox="1"/>
            <p:nvPr/>
          </p:nvSpPr>
          <p:spPr>
            <a:xfrm>
              <a:off x="1399946" y="7010247"/>
              <a:ext cx="84856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결과 확인</a:t>
              </a:r>
              <a:endParaRPr lang="en-US" sz="1000" dirty="0"/>
            </a:p>
          </p:txBody>
        </p:sp>
        <p:sp>
          <p:nvSpPr>
            <p:cNvPr id="54" name="Text 35"/>
            <p:cNvSpPr txBox="1"/>
            <p:nvPr/>
          </p:nvSpPr>
          <p:spPr>
            <a:xfrm>
              <a:off x="1410271" y="7172552"/>
              <a:ext cx="89885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대시보드 리포트</a:t>
              </a:r>
              <a:endParaRPr lang="en-US" sz="900" dirty="0"/>
            </a:p>
          </p:txBody>
        </p:sp>
      </p:grpSp>
      <p:pic>
        <p:nvPicPr>
          <p:cNvPr id="55" name="Image 17" descr="preencoded.png"/>
          <p:cNvPicPr>
            <a:picLocks noChangeAspect="1"/>
          </p:cNvPicPr>
          <p:nvPr/>
        </p:nvPicPr>
        <p:blipFill>
          <a:blip r:embed="rId13"/>
          <a:srcRect t="-4" b="-4"/>
          <a:stretch/>
        </p:blipFill>
        <p:spPr>
          <a:xfrm>
            <a:off x="3486150" y="1413584"/>
            <a:ext cx="7994599" cy="5215816"/>
          </a:xfrm>
          <a:prstGeom prst="rect">
            <a:avLst/>
          </a:prstGeom>
        </p:spPr>
      </p:pic>
      <p:pic>
        <p:nvPicPr>
          <p:cNvPr id="56" name="Image 18" descr="preencoded.png"/>
          <p:cNvPicPr>
            <a:picLocks noChangeAspect="1"/>
          </p:cNvPicPr>
          <p:nvPr/>
        </p:nvPicPr>
        <p:blipFill>
          <a:blip r:embed="rId14">
            <a:alphaModFix amt="5000"/>
          </a:blip>
          <a:srcRect l="-23" r="-23"/>
          <a:stretch/>
        </p:blipFill>
        <p:spPr>
          <a:xfrm>
            <a:off x="10733539" y="1491688"/>
            <a:ext cx="641899" cy="513288"/>
          </a:xfrm>
          <a:prstGeom prst="rect">
            <a:avLst/>
          </a:prstGeom>
        </p:spPr>
      </p:pic>
      <p:sp>
        <p:nvSpPr>
          <p:cNvPr id="58" name="Shape 36"/>
          <p:cNvSpPr/>
          <p:nvPr/>
        </p:nvSpPr>
        <p:spPr>
          <a:xfrm rot="5400000">
            <a:off x="7546543" y="3657600"/>
            <a:ext cx="75895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Shape 37"/>
          <p:cNvSpPr/>
          <p:nvPr/>
        </p:nvSpPr>
        <p:spPr>
          <a:xfrm rot="5400000">
            <a:off x="6355994" y="4466844"/>
            <a:ext cx="75895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Shape 39"/>
          <p:cNvSpPr/>
          <p:nvPr/>
        </p:nvSpPr>
        <p:spPr>
          <a:xfrm rot="5400000">
            <a:off x="7243886" y="6220483"/>
            <a:ext cx="75895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Shape 41"/>
          <p:cNvSpPr/>
          <p:nvPr/>
        </p:nvSpPr>
        <p:spPr>
          <a:xfrm>
            <a:off x="3795365" y="1789468"/>
            <a:ext cx="6730907" cy="566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68" name="Image 24" descr="preencoded.png"/>
          <p:cNvPicPr>
            <a:picLocks noChangeAspect="1"/>
          </p:cNvPicPr>
          <p:nvPr/>
        </p:nvPicPr>
        <p:blipFill>
          <a:blip r:embed="rId15"/>
          <a:srcRect t="-45" b="-45"/>
          <a:stretch/>
        </p:blipFill>
        <p:spPr>
          <a:xfrm>
            <a:off x="3819296" y="1507042"/>
            <a:ext cx="256946" cy="228600"/>
          </a:xfrm>
          <a:prstGeom prst="rect">
            <a:avLst/>
          </a:prstGeom>
        </p:spPr>
      </p:pic>
      <p:sp>
        <p:nvSpPr>
          <p:cNvPr id="69" name="Text 42"/>
          <p:cNvSpPr txBox="1"/>
          <p:nvPr/>
        </p:nvSpPr>
        <p:spPr>
          <a:xfrm>
            <a:off x="4150308" y="1450444"/>
            <a:ext cx="34582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 (System Architecture)</a:t>
            </a:r>
            <a:endParaRPr lang="en-US" sz="1500" dirty="0"/>
          </a:p>
        </p:txBody>
      </p:sp>
      <p:grpSp>
        <p:nvGrpSpPr>
          <p:cNvPr id="144" name="그룹 143"/>
          <p:cNvGrpSpPr/>
          <p:nvPr/>
        </p:nvGrpSpPr>
        <p:grpSpPr>
          <a:xfrm>
            <a:off x="3732534" y="1972113"/>
            <a:ext cx="6480000" cy="468000"/>
            <a:chOff x="6366052" y="2609698"/>
            <a:chExt cx="6480000" cy="624000"/>
          </a:xfrm>
        </p:grpSpPr>
        <p:sp>
          <p:nvSpPr>
            <p:cNvPr id="70" name="Shape 43"/>
            <p:cNvSpPr/>
            <p:nvPr/>
          </p:nvSpPr>
          <p:spPr>
            <a:xfrm>
              <a:off x="6366052" y="2609698"/>
              <a:ext cx="6480000" cy="624000"/>
            </a:xfrm>
            <a:prstGeom prst="roundRect">
              <a:avLst>
                <a:gd name="adj" fmla="val 13422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</p:sp>
        <p:pic>
          <p:nvPicPr>
            <p:cNvPr id="71" name="Image 25" descr="preencoded.png"/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6487833" y="2764297"/>
              <a:ext cx="311423" cy="311423"/>
            </a:xfrm>
            <a:prstGeom prst="rect">
              <a:avLst/>
            </a:prstGeom>
          </p:spPr>
        </p:pic>
        <p:sp>
          <p:nvSpPr>
            <p:cNvPr id="72" name="Text 44"/>
            <p:cNvSpPr txBox="1"/>
            <p:nvPr/>
          </p:nvSpPr>
          <p:spPr>
            <a:xfrm>
              <a:off x="7150389" y="2816541"/>
              <a:ext cx="1197864" cy="2002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Frontend Layer</a:t>
              </a:r>
              <a:endParaRPr lang="en-US" sz="1200" dirty="0"/>
            </a:p>
          </p:txBody>
        </p:sp>
        <p:sp>
          <p:nvSpPr>
            <p:cNvPr id="73" name="Text 45"/>
            <p:cNvSpPr txBox="1"/>
            <p:nvPr/>
          </p:nvSpPr>
          <p:spPr>
            <a:xfrm>
              <a:off x="8977159" y="2836449"/>
              <a:ext cx="1874547" cy="182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SPA Web Application</a:t>
              </a:r>
              <a:endParaRPr lang="en-US" sz="1200" dirty="0"/>
            </a:p>
          </p:txBody>
        </p:sp>
        <p:sp>
          <p:nvSpPr>
            <p:cNvPr id="74" name="Shape 46"/>
            <p:cNvSpPr/>
            <p:nvPr/>
          </p:nvSpPr>
          <p:spPr>
            <a:xfrm>
              <a:off x="11436974" y="2802582"/>
              <a:ext cx="701267" cy="302341"/>
            </a:xfrm>
            <a:prstGeom prst="roundRect">
              <a:avLst>
                <a:gd name="adj" fmla="val 212653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75" name="Text 47"/>
            <p:cNvSpPr txBox="1"/>
            <p:nvPr/>
          </p:nvSpPr>
          <p:spPr>
            <a:xfrm>
              <a:off x="11501585" y="2773377"/>
              <a:ext cx="620852" cy="33041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63500" tIns="25400" rIns="63500" bIns="2540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React</a:t>
              </a:r>
              <a:endParaRPr lang="en-US" sz="1200" dirty="0"/>
            </a:p>
          </p:txBody>
        </p:sp>
      </p:grpSp>
      <p:grpSp>
        <p:nvGrpSpPr>
          <p:cNvPr id="143" name="그룹 142"/>
          <p:cNvGrpSpPr/>
          <p:nvPr/>
        </p:nvGrpSpPr>
        <p:grpSpPr>
          <a:xfrm>
            <a:off x="3732534" y="2547766"/>
            <a:ext cx="6480000" cy="468000"/>
            <a:chOff x="6596858" y="3695281"/>
            <a:chExt cx="6480000" cy="468000"/>
          </a:xfrm>
        </p:grpSpPr>
        <p:sp>
          <p:nvSpPr>
            <p:cNvPr id="76" name="Shape 48"/>
            <p:cNvSpPr/>
            <p:nvPr/>
          </p:nvSpPr>
          <p:spPr>
            <a:xfrm>
              <a:off x="6596858" y="3695281"/>
              <a:ext cx="6480000" cy="468000"/>
            </a:xfrm>
            <a:prstGeom prst="roundRect">
              <a:avLst>
                <a:gd name="adj" fmla="val 13422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</p:sp>
        <p:pic>
          <p:nvPicPr>
            <p:cNvPr id="77" name="Image 26" descr="preencoded.png"/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6752353" y="3823834"/>
              <a:ext cx="228600" cy="228600"/>
            </a:xfrm>
            <a:prstGeom prst="rect">
              <a:avLst/>
            </a:prstGeom>
          </p:spPr>
        </p:pic>
        <p:sp>
          <p:nvSpPr>
            <p:cNvPr id="78" name="Text 49"/>
            <p:cNvSpPr txBox="1"/>
            <p:nvPr/>
          </p:nvSpPr>
          <p:spPr>
            <a:xfrm>
              <a:off x="7381195" y="3829154"/>
              <a:ext cx="1250708" cy="1552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Backend Core</a:t>
              </a:r>
              <a:endParaRPr lang="en-US" sz="1200" dirty="0"/>
            </a:p>
          </p:txBody>
        </p:sp>
        <p:sp>
          <p:nvSpPr>
            <p:cNvPr id="79" name="Text 50"/>
            <p:cNvSpPr txBox="1"/>
            <p:nvPr/>
          </p:nvSpPr>
          <p:spPr>
            <a:xfrm>
              <a:off x="9275237" y="3856797"/>
              <a:ext cx="1406352" cy="1262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API Gateway &amp; Auth</a:t>
              </a:r>
              <a:endParaRPr lang="en-US" sz="1200" dirty="0"/>
            </a:p>
          </p:txBody>
        </p:sp>
        <p:sp>
          <p:nvSpPr>
            <p:cNvPr id="80" name="Shape 51"/>
            <p:cNvSpPr/>
            <p:nvPr/>
          </p:nvSpPr>
          <p:spPr>
            <a:xfrm>
              <a:off x="11623712" y="3813691"/>
              <a:ext cx="669556" cy="239282"/>
            </a:xfrm>
            <a:prstGeom prst="roundRect">
              <a:avLst>
                <a:gd name="adj" fmla="val 212653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81" name="Text 52"/>
            <p:cNvSpPr txBox="1"/>
            <p:nvPr/>
          </p:nvSpPr>
          <p:spPr>
            <a:xfrm>
              <a:off x="11575289" y="3882552"/>
              <a:ext cx="766402" cy="11116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63500" tIns="25400" rIns="63500" bIns="2540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FastAPI</a:t>
              </a:r>
              <a:endParaRPr lang="en-US" sz="1200" dirty="0"/>
            </a:p>
          </p:txBody>
        </p:sp>
      </p:grpSp>
      <p:grpSp>
        <p:nvGrpSpPr>
          <p:cNvPr id="135" name="그룹 134"/>
          <p:cNvGrpSpPr/>
          <p:nvPr/>
        </p:nvGrpSpPr>
        <p:grpSpPr>
          <a:xfrm>
            <a:off x="3740969" y="3144578"/>
            <a:ext cx="6480000" cy="468000"/>
            <a:chOff x="4453163" y="5635011"/>
            <a:chExt cx="6480000" cy="468000"/>
          </a:xfrm>
        </p:grpSpPr>
        <p:sp>
          <p:nvSpPr>
            <p:cNvPr id="82" name="Shape 53"/>
            <p:cNvSpPr/>
            <p:nvPr/>
          </p:nvSpPr>
          <p:spPr>
            <a:xfrm>
              <a:off x="4453163" y="5635011"/>
              <a:ext cx="6480000" cy="468000"/>
            </a:xfrm>
            <a:prstGeom prst="roundRect">
              <a:avLst>
                <a:gd name="adj" fmla="val 4592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</p:sp>
        <p:pic>
          <p:nvPicPr>
            <p:cNvPr id="83" name="Image 27" descr="preencoded.png"/>
            <p:cNvPicPr>
              <a:picLocks noChangeAspect="1"/>
            </p:cNvPicPr>
            <p:nvPr/>
          </p:nvPicPr>
          <p:blipFill>
            <a:blip r:embed="rId18"/>
            <a:srcRect t="-45" b="-45"/>
            <a:stretch/>
          </p:blipFill>
          <p:spPr>
            <a:xfrm>
              <a:off x="4600223" y="5757138"/>
              <a:ext cx="256946" cy="228600"/>
            </a:xfrm>
            <a:prstGeom prst="rect">
              <a:avLst/>
            </a:prstGeom>
          </p:spPr>
        </p:pic>
        <p:sp>
          <p:nvSpPr>
            <p:cNvPr id="84" name="Text 54"/>
            <p:cNvSpPr txBox="1"/>
            <p:nvPr/>
          </p:nvSpPr>
          <p:spPr>
            <a:xfrm>
              <a:off x="5229065" y="5772898"/>
              <a:ext cx="102687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Media Server</a:t>
              </a:r>
              <a:endParaRPr lang="en-US" sz="1200" dirty="0"/>
            </a:p>
          </p:txBody>
        </p:sp>
        <p:sp>
          <p:nvSpPr>
            <p:cNvPr id="85" name="Text 55"/>
            <p:cNvSpPr txBox="1"/>
            <p:nvPr/>
          </p:nvSpPr>
          <p:spPr>
            <a:xfrm>
              <a:off x="6829530" y="5816471"/>
              <a:ext cx="1624450" cy="11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Real-time Streaming</a:t>
              </a:r>
              <a:endParaRPr lang="en-US" sz="1200" dirty="0"/>
            </a:p>
          </p:txBody>
        </p:sp>
        <p:sp>
          <p:nvSpPr>
            <p:cNvPr id="86" name="Shape 56"/>
            <p:cNvSpPr/>
            <p:nvPr/>
          </p:nvSpPr>
          <p:spPr>
            <a:xfrm>
              <a:off x="9249457" y="5752335"/>
              <a:ext cx="1268492" cy="220817"/>
            </a:xfrm>
            <a:prstGeom prst="roundRect">
              <a:avLst>
                <a:gd name="adj" fmla="val 212653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87" name="Text 57"/>
            <p:cNvSpPr txBox="1"/>
            <p:nvPr/>
          </p:nvSpPr>
          <p:spPr>
            <a:xfrm>
              <a:off x="9170427" y="5809165"/>
              <a:ext cx="1468981" cy="11572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63500" tIns="25400" rIns="63500" bIns="2540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WebRTC / aiortc</a:t>
              </a:r>
              <a:endParaRPr lang="en-US" sz="1200" dirty="0"/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3732534" y="5356407"/>
            <a:ext cx="6480000" cy="468000"/>
            <a:chOff x="4917642" y="4233672"/>
            <a:chExt cx="6480000" cy="468000"/>
          </a:xfrm>
        </p:grpSpPr>
        <p:sp>
          <p:nvSpPr>
            <p:cNvPr id="115" name="Shape 80"/>
            <p:cNvSpPr/>
            <p:nvPr/>
          </p:nvSpPr>
          <p:spPr>
            <a:xfrm>
              <a:off x="4917642" y="4233672"/>
              <a:ext cx="6480000" cy="468000"/>
            </a:xfrm>
            <a:prstGeom prst="roundRect">
              <a:avLst>
                <a:gd name="adj" fmla="val 13422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</p:sp>
        <p:pic>
          <p:nvPicPr>
            <p:cNvPr id="116" name="Image 33" descr="preencoded.png"/>
            <p:cNvPicPr>
              <a:picLocks noChangeAspect="1"/>
            </p:cNvPicPr>
            <p:nvPr/>
          </p:nvPicPr>
          <p:blipFill>
            <a:blip r:embed="rId19"/>
            <a:srcRect l="-57" r="-57"/>
            <a:stretch/>
          </p:blipFill>
          <p:spPr>
            <a:xfrm>
              <a:off x="5107995" y="4368861"/>
              <a:ext cx="200254" cy="228600"/>
            </a:xfrm>
            <a:prstGeom prst="rect">
              <a:avLst/>
            </a:prstGeom>
          </p:spPr>
        </p:pic>
        <p:sp>
          <p:nvSpPr>
            <p:cNvPr id="117" name="Text 81"/>
            <p:cNvSpPr txBox="1"/>
            <p:nvPr/>
          </p:nvSpPr>
          <p:spPr>
            <a:xfrm>
              <a:off x="5678533" y="4399024"/>
              <a:ext cx="931028" cy="1527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Database</a:t>
              </a:r>
              <a:endParaRPr lang="en-US" sz="1200" dirty="0"/>
            </a:p>
          </p:txBody>
        </p:sp>
        <p:sp>
          <p:nvSpPr>
            <p:cNvPr id="118" name="Text 82"/>
            <p:cNvSpPr txBox="1"/>
            <p:nvPr/>
          </p:nvSpPr>
          <p:spPr>
            <a:xfrm>
              <a:off x="7121206" y="4391401"/>
              <a:ext cx="1970056" cy="1241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Structured &amp; Vector Data</a:t>
              </a:r>
              <a:endParaRPr lang="en-US" sz="1200" dirty="0"/>
            </a:p>
          </p:txBody>
        </p:sp>
        <p:sp>
          <p:nvSpPr>
            <p:cNvPr id="119" name="Shape 83"/>
            <p:cNvSpPr/>
            <p:nvPr/>
          </p:nvSpPr>
          <p:spPr>
            <a:xfrm>
              <a:off x="9410861" y="4370772"/>
              <a:ext cx="1650216" cy="187425"/>
            </a:xfrm>
            <a:prstGeom prst="roundRect">
              <a:avLst>
                <a:gd name="adj" fmla="val 212653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20" name="Text 84"/>
            <p:cNvSpPr txBox="1"/>
            <p:nvPr/>
          </p:nvSpPr>
          <p:spPr>
            <a:xfrm>
              <a:off x="9146258" y="4358306"/>
              <a:ext cx="2251384" cy="19989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63500" tIns="25400" rIns="63500" bIns="2540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PostgreSQL + pgvector</a:t>
              </a:r>
              <a:endParaRPr lang="en-US" sz="1200" dirty="0"/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3726023" y="5971155"/>
            <a:ext cx="6480000" cy="468000"/>
            <a:chOff x="7813547" y="4233672"/>
            <a:chExt cx="6480000" cy="468000"/>
          </a:xfrm>
        </p:grpSpPr>
        <p:sp>
          <p:nvSpPr>
            <p:cNvPr id="121" name="Shape 85"/>
            <p:cNvSpPr/>
            <p:nvPr/>
          </p:nvSpPr>
          <p:spPr>
            <a:xfrm>
              <a:off x="7813547" y="4233672"/>
              <a:ext cx="6480000" cy="468000"/>
            </a:xfrm>
            <a:prstGeom prst="roundRect">
              <a:avLst>
                <a:gd name="adj" fmla="val 13422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</p:sp>
        <p:pic>
          <p:nvPicPr>
            <p:cNvPr id="122" name="Image 34" descr="preencoded.png"/>
            <p:cNvPicPr>
              <a:picLocks noChangeAspect="1"/>
            </p:cNvPicPr>
            <p:nvPr/>
          </p:nvPicPr>
          <p:blipFill>
            <a:blip r:embed="rId20"/>
            <a:srcRect/>
            <a:stretch/>
          </p:blipFill>
          <p:spPr>
            <a:xfrm>
              <a:off x="8021963" y="4339752"/>
              <a:ext cx="228600" cy="228600"/>
            </a:xfrm>
            <a:prstGeom prst="rect">
              <a:avLst/>
            </a:prstGeom>
          </p:spPr>
        </p:pic>
        <p:sp>
          <p:nvSpPr>
            <p:cNvPr id="123" name="Text 86"/>
            <p:cNvSpPr txBox="1"/>
            <p:nvPr/>
          </p:nvSpPr>
          <p:spPr>
            <a:xfrm>
              <a:off x="8445050" y="4397547"/>
              <a:ext cx="1327451" cy="1869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Dashboard</a:t>
              </a:r>
              <a:endParaRPr lang="en-US" sz="1200" dirty="0"/>
            </a:p>
          </p:txBody>
        </p:sp>
        <p:sp>
          <p:nvSpPr>
            <p:cNvPr id="124" name="Text 87"/>
            <p:cNvSpPr txBox="1"/>
            <p:nvPr/>
          </p:nvSpPr>
          <p:spPr>
            <a:xfrm>
              <a:off x="10202161" y="4394083"/>
              <a:ext cx="1640002" cy="190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Analytics &amp; Report</a:t>
              </a:r>
              <a:endParaRPr lang="en-US" sz="1200" dirty="0"/>
            </a:p>
          </p:txBody>
        </p:sp>
        <p:sp>
          <p:nvSpPr>
            <p:cNvPr id="125" name="Shape 88"/>
            <p:cNvSpPr/>
            <p:nvPr/>
          </p:nvSpPr>
          <p:spPr>
            <a:xfrm>
              <a:off x="12446082" y="4386180"/>
              <a:ext cx="1388025" cy="191917"/>
            </a:xfrm>
            <a:prstGeom prst="roundRect">
              <a:avLst>
                <a:gd name="adj" fmla="val 212653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26" name="Text 89"/>
            <p:cNvSpPr txBox="1"/>
            <p:nvPr/>
          </p:nvSpPr>
          <p:spPr>
            <a:xfrm>
              <a:off x="12313277" y="4448569"/>
              <a:ext cx="1701461" cy="6713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63500" tIns="25400" rIns="63500" bIns="2540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Analytics / Report</a:t>
              </a:r>
              <a:endParaRPr lang="en-US" sz="1200" dirty="0"/>
            </a:p>
          </p:txBody>
        </p:sp>
      </p:grpSp>
      <p:grpSp>
        <p:nvGrpSpPr>
          <p:cNvPr id="152" name="그룹 151"/>
          <p:cNvGrpSpPr/>
          <p:nvPr/>
        </p:nvGrpSpPr>
        <p:grpSpPr>
          <a:xfrm>
            <a:off x="3781031" y="3679897"/>
            <a:ext cx="6492247" cy="1506506"/>
            <a:chOff x="3983220" y="5103449"/>
            <a:chExt cx="6492247" cy="1506506"/>
          </a:xfrm>
        </p:grpSpPr>
        <p:grpSp>
          <p:nvGrpSpPr>
            <p:cNvPr id="151" name="그룹 150"/>
            <p:cNvGrpSpPr/>
            <p:nvPr/>
          </p:nvGrpSpPr>
          <p:grpSpPr>
            <a:xfrm>
              <a:off x="3983220" y="5241106"/>
              <a:ext cx="6492247" cy="1368849"/>
              <a:chOff x="3728721" y="4916217"/>
              <a:chExt cx="6492247" cy="1233029"/>
            </a:xfrm>
          </p:grpSpPr>
          <p:sp>
            <p:nvSpPr>
              <p:cNvPr id="88" name="Shape 58"/>
              <p:cNvSpPr/>
              <p:nvPr/>
            </p:nvSpPr>
            <p:spPr>
              <a:xfrm>
                <a:off x="3728721" y="4916217"/>
                <a:ext cx="6492247" cy="1233029"/>
              </a:xfrm>
              <a:prstGeom prst="roundRect">
                <a:avLst>
                  <a:gd name="adj" fmla="val 2424"/>
                </a:avLst>
              </a:prstGeom>
              <a:solidFill>
                <a:srgbClr val="FFFFFF">
                  <a:alpha val="30000"/>
                </a:srgbClr>
              </a:solidFill>
              <a:ln w="25400">
                <a:solidFill>
                  <a:srgbClr val="CBD5E1"/>
                </a:solidFill>
                <a:prstDash val="solid"/>
              </a:ln>
            </p:spPr>
          </p:sp>
          <p:grpSp>
            <p:nvGrpSpPr>
              <p:cNvPr id="150" name="그룹 149"/>
              <p:cNvGrpSpPr/>
              <p:nvPr/>
            </p:nvGrpSpPr>
            <p:grpSpPr>
              <a:xfrm>
                <a:off x="3911975" y="5112801"/>
                <a:ext cx="1067105" cy="914400"/>
                <a:chOff x="7894227" y="3265447"/>
                <a:chExt cx="1067105" cy="914400"/>
              </a:xfrm>
            </p:grpSpPr>
            <p:sp>
              <p:nvSpPr>
                <p:cNvPr id="90" name="Shape 60"/>
                <p:cNvSpPr/>
                <p:nvPr/>
              </p:nvSpPr>
              <p:spPr>
                <a:xfrm>
                  <a:off x="7894227" y="3265447"/>
                  <a:ext cx="1067105" cy="9144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FFFFFF"/>
                </a:solidFill>
                <a:ln w="12700">
                  <a:solidFill>
                    <a:srgbClr val="E5E7EB"/>
                  </a:solidFill>
                  <a:prstDash val="solid"/>
                </a:ln>
                <a:effectLst>
                  <a:outerShdw blurRad="63500" dist="38100" dir="16200000" algn="bl" rotWithShape="0">
                    <a:srgbClr val="000000">
                      <a:alpha val="5000"/>
                    </a:srgbClr>
                  </a:outerShdw>
                </a:effectLst>
              </p:spPr>
            </p:sp>
            <p:pic>
              <p:nvPicPr>
                <p:cNvPr id="91" name="Image 28" descr="preencoded.png"/>
                <p:cNvPicPr>
                  <a:picLocks noChangeAspect="1"/>
                </p:cNvPicPr>
                <p:nvPr/>
              </p:nvPicPr>
              <p:blipFill>
                <a:blip r:embed="rId21"/>
                <a:srcRect t="-100" b="-100"/>
                <a:stretch/>
              </p:blipFill>
              <p:spPr>
                <a:xfrm>
                  <a:off x="8370629" y="3417237"/>
                  <a:ext cx="114300" cy="152705"/>
                </a:xfrm>
                <a:prstGeom prst="rect">
                  <a:avLst/>
                </a:prstGeom>
              </p:spPr>
            </p:pic>
            <p:sp>
              <p:nvSpPr>
                <p:cNvPr id="92" name="Text 61"/>
                <p:cNvSpPr txBox="1"/>
                <p:nvPr/>
              </p:nvSpPr>
              <p:spPr>
                <a:xfrm>
                  <a:off x="8266387" y="3608347"/>
                  <a:ext cx="324612" cy="15270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000" b="1" dirty="0">
                      <a:solidFill>
                        <a:srgbClr val="1F2937"/>
                      </a:solidFill>
                      <a:latin typeface="Noto Sans KR" pitchFamily="34" charset="0"/>
                      <a:ea typeface="Noto Sans KR" pitchFamily="34" charset="-122"/>
                      <a:cs typeface="Noto Sans KR" pitchFamily="34" charset="-120"/>
                    </a:rPr>
                    <a:t>STT</a:t>
                  </a:r>
                  <a:endParaRPr lang="en-US" sz="1000" dirty="0"/>
                </a:p>
              </p:txBody>
            </p:sp>
            <p:sp>
              <p:nvSpPr>
                <p:cNvPr id="93" name="Shape 62"/>
                <p:cNvSpPr/>
                <p:nvPr/>
              </p:nvSpPr>
              <p:spPr>
                <a:xfrm>
                  <a:off x="8190492" y="3836947"/>
                  <a:ext cx="476402" cy="190195"/>
                </a:xfrm>
                <a:prstGeom prst="roundRect">
                  <a:avLst>
                    <a:gd name="adj" fmla="val 192308"/>
                  </a:avLst>
                </a:prstGeom>
                <a:solidFill>
                  <a:srgbClr val="F3F4F6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94" name="Text 63"/>
                <p:cNvSpPr txBox="1"/>
                <p:nvPr/>
              </p:nvSpPr>
              <p:spPr>
                <a:xfrm>
                  <a:off x="8163679" y="3880267"/>
                  <a:ext cx="553212" cy="129006"/>
                </a:xfrm>
                <a:prstGeom prst="rect">
                  <a:avLst/>
                </a:prstGeom>
                <a:solidFill>
                  <a:srgbClr val="FFFFFF">
                    <a:alpha val="0"/>
                  </a:srgbClr>
                </a:solidFill>
                <a:ln>
                  <a:solidFill>
                    <a:srgbClr val="FFFFFF">
                      <a:alpha val="0"/>
                    </a:srgbClr>
                  </a:solidFill>
                </a:ln>
              </p:spPr>
              <p:txBody>
                <a:bodyPr wrap="square" lIns="63500" tIns="25400" rIns="63500" bIns="25400" rtlCol="0" anchor="ctr"/>
                <a:lstStyle/>
                <a:p>
                  <a:pPr marL="0" indent="0" algn="ctr">
                    <a:buNone/>
                  </a:pPr>
                  <a:r>
                    <a:rPr lang="en-US" sz="800" dirty="0">
                      <a:solidFill>
                        <a:srgbClr val="4B5563"/>
                      </a:solidFill>
                      <a:latin typeface="Noto Sans KR" pitchFamily="34" charset="0"/>
                      <a:ea typeface="Noto Sans KR" pitchFamily="34" charset="-122"/>
                      <a:cs typeface="Noto Sans KR" pitchFamily="34" charset="-120"/>
                    </a:rPr>
                    <a:t>Whisper</a:t>
                  </a:r>
                  <a:endParaRPr lang="en-US" sz="800" dirty="0"/>
                </a:p>
              </p:txBody>
            </p:sp>
          </p:grpSp>
          <p:grpSp>
            <p:nvGrpSpPr>
              <p:cNvPr id="149" name="그룹 148"/>
              <p:cNvGrpSpPr/>
              <p:nvPr/>
            </p:nvGrpSpPr>
            <p:grpSpPr>
              <a:xfrm>
                <a:off x="5173093" y="5123964"/>
                <a:ext cx="1067105" cy="914400"/>
                <a:chOff x="9075631" y="3265447"/>
                <a:chExt cx="1067105" cy="914400"/>
              </a:xfrm>
            </p:grpSpPr>
            <p:sp>
              <p:nvSpPr>
                <p:cNvPr id="95" name="Shape 64"/>
                <p:cNvSpPr/>
                <p:nvPr/>
              </p:nvSpPr>
              <p:spPr>
                <a:xfrm>
                  <a:off x="9075631" y="3265447"/>
                  <a:ext cx="1067105" cy="9144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FFFFFF"/>
                </a:solidFill>
                <a:ln w="12700">
                  <a:solidFill>
                    <a:srgbClr val="E5E7EB"/>
                  </a:solidFill>
                  <a:prstDash val="solid"/>
                </a:ln>
                <a:effectLst>
                  <a:outerShdw blurRad="63500" dist="38100" dir="16200000" algn="bl" rotWithShape="0">
                    <a:srgbClr val="000000">
                      <a:alpha val="5000"/>
                    </a:srgbClr>
                  </a:outerShdw>
                </a:effectLst>
              </p:spPr>
            </p:sp>
            <p:pic>
              <p:nvPicPr>
                <p:cNvPr id="96" name="Image 29" descr="preencoded.png"/>
                <p:cNvPicPr>
                  <a:picLocks noChangeAspect="1"/>
                </p:cNvPicPr>
                <p:nvPr/>
              </p:nvPicPr>
              <p:blipFill>
                <a:blip r:embed="rId22"/>
                <a:srcRect l="-33" r="-33"/>
                <a:stretch/>
              </p:blipFill>
              <p:spPr>
                <a:xfrm>
                  <a:off x="9523687" y="3417237"/>
                  <a:ext cx="171907" cy="152705"/>
                </a:xfrm>
                <a:prstGeom prst="rect">
                  <a:avLst/>
                </a:prstGeom>
              </p:spPr>
            </p:pic>
            <p:sp>
              <p:nvSpPr>
                <p:cNvPr id="97" name="Text 65"/>
                <p:cNvSpPr txBox="1"/>
                <p:nvPr/>
              </p:nvSpPr>
              <p:spPr>
                <a:xfrm>
                  <a:off x="9370983" y="3608347"/>
                  <a:ext cx="476402" cy="15270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000" b="1" dirty="0">
                      <a:solidFill>
                        <a:srgbClr val="1F2937"/>
                      </a:solidFill>
                      <a:latin typeface="Noto Sans KR" pitchFamily="34" charset="0"/>
                      <a:ea typeface="Noto Sans KR" pitchFamily="34" charset="-122"/>
                      <a:cs typeface="Noto Sans KR" pitchFamily="34" charset="-120"/>
                    </a:rPr>
                    <a:t>Vision</a:t>
                  </a:r>
                  <a:endParaRPr lang="en-US" sz="1000" dirty="0"/>
                </a:p>
              </p:txBody>
            </p:sp>
            <p:sp>
              <p:nvSpPr>
                <p:cNvPr id="98" name="Shape 66"/>
                <p:cNvSpPr/>
                <p:nvPr/>
              </p:nvSpPr>
              <p:spPr>
                <a:xfrm>
                  <a:off x="9317947" y="3836947"/>
                  <a:ext cx="590702" cy="190195"/>
                </a:xfrm>
                <a:prstGeom prst="roundRect">
                  <a:avLst>
                    <a:gd name="adj" fmla="val 192308"/>
                  </a:avLst>
                </a:prstGeom>
                <a:solidFill>
                  <a:srgbClr val="F3F4F6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99" name="Text 67"/>
                <p:cNvSpPr txBox="1"/>
                <p:nvPr/>
              </p:nvSpPr>
              <p:spPr>
                <a:xfrm>
                  <a:off x="9234123" y="3824260"/>
                  <a:ext cx="735672" cy="210405"/>
                </a:xfrm>
                <a:prstGeom prst="rect">
                  <a:avLst/>
                </a:prstGeom>
                <a:solidFill>
                  <a:srgbClr val="FFFFFF">
                    <a:alpha val="0"/>
                  </a:srgbClr>
                </a:solidFill>
                <a:ln>
                  <a:solidFill>
                    <a:srgbClr val="FFFFFF">
                      <a:alpha val="0"/>
                    </a:srgbClr>
                  </a:solidFill>
                </a:ln>
              </p:spPr>
              <p:txBody>
                <a:bodyPr wrap="square" lIns="63500" tIns="25400" rIns="63500" bIns="25400" rtlCol="0" anchor="ctr"/>
                <a:lstStyle/>
                <a:p>
                  <a:pPr marL="0" indent="0" algn="ctr">
                    <a:buNone/>
                  </a:pPr>
                  <a:r>
                    <a:rPr lang="en-US" sz="800" dirty="0">
                      <a:solidFill>
                        <a:srgbClr val="4B5563"/>
                      </a:solidFill>
                      <a:latin typeface="Noto Sans KR" pitchFamily="34" charset="0"/>
                      <a:ea typeface="Noto Sans KR" pitchFamily="34" charset="-122"/>
                      <a:cs typeface="Noto Sans KR" pitchFamily="34" charset="-120"/>
                    </a:rPr>
                    <a:t>MediaPipe</a:t>
                  </a:r>
                  <a:endParaRPr lang="en-US" sz="800" dirty="0"/>
                </a:p>
              </p:txBody>
            </p:sp>
          </p:grpSp>
          <p:grpSp>
            <p:nvGrpSpPr>
              <p:cNvPr id="148" name="그룹 147"/>
              <p:cNvGrpSpPr/>
              <p:nvPr/>
            </p:nvGrpSpPr>
            <p:grpSpPr>
              <a:xfrm>
                <a:off x="6457301" y="5133309"/>
                <a:ext cx="1067105" cy="914400"/>
                <a:chOff x="7894227" y="4294147"/>
                <a:chExt cx="1067105" cy="914400"/>
              </a:xfrm>
            </p:grpSpPr>
            <p:sp>
              <p:nvSpPr>
                <p:cNvPr id="63" name="Shape 38"/>
                <p:cNvSpPr/>
                <p:nvPr/>
              </p:nvSpPr>
              <p:spPr>
                <a:xfrm rot="5400000">
                  <a:off x="8738006" y="4466844"/>
                  <a:ext cx="75895" cy="114300"/>
                </a:xfrm>
                <a:prstGeom prst="rect">
                  <a:avLst/>
                </a:prstGeom>
                <a:noFill/>
                <a:ln w="76200">
                  <a:solidFill>
                    <a:srgbClr val="000000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100" name="Shape 68"/>
                <p:cNvSpPr/>
                <p:nvPr/>
              </p:nvSpPr>
              <p:spPr>
                <a:xfrm>
                  <a:off x="7894227" y="4294147"/>
                  <a:ext cx="1067105" cy="9144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FFFFFF"/>
                </a:solidFill>
                <a:ln w="12700">
                  <a:solidFill>
                    <a:srgbClr val="E5E7EB"/>
                  </a:solidFill>
                  <a:prstDash val="solid"/>
                </a:ln>
                <a:effectLst>
                  <a:outerShdw blurRad="63500" dist="38100" dir="16200000" algn="bl" rotWithShape="0">
                    <a:srgbClr val="000000">
                      <a:alpha val="5000"/>
                    </a:srgbClr>
                  </a:outerShdw>
                </a:effectLst>
              </p:spPr>
            </p:sp>
            <p:pic>
              <p:nvPicPr>
                <p:cNvPr id="101" name="Image 30" descr="preencoded.png"/>
                <p:cNvPicPr>
                  <a:picLocks noChangeAspect="1"/>
                </p:cNvPicPr>
                <p:nvPr/>
              </p:nvPicPr>
              <p:blipFill>
                <a:blip r:embed="rId23"/>
                <a:srcRect/>
                <a:stretch/>
              </p:blipFill>
              <p:spPr>
                <a:xfrm>
                  <a:off x="8351427" y="4445937"/>
                  <a:ext cx="152705" cy="152705"/>
                </a:xfrm>
                <a:prstGeom prst="rect">
                  <a:avLst/>
                </a:prstGeom>
              </p:spPr>
            </p:pic>
            <p:sp>
              <p:nvSpPr>
                <p:cNvPr id="102" name="Text 69"/>
                <p:cNvSpPr txBox="1"/>
                <p:nvPr/>
              </p:nvSpPr>
              <p:spPr>
                <a:xfrm>
                  <a:off x="8255415" y="4637047"/>
                  <a:ext cx="352958" cy="15270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000" b="1" dirty="0">
                      <a:solidFill>
                        <a:srgbClr val="1F2937"/>
                      </a:solidFill>
                      <a:latin typeface="Noto Sans KR" pitchFamily="34" charset="0"/>
                      <a:ea typeface="Noto Sans KR" pitchFamily="34" charset="-122"/>
                      <a:cs typeface="Noto Sans KR" pitchFamily="34" charset="-120"/>
                    </a:rPr>
                    <a:t>RAG</a:t>
                  </a:r>
                  <a:endParaRPr lang="en-US" sz="1000" dirty="0"/>
                </a:p>
              </p:txBody>
            </p:sp>
            <p:sp>
              <p:nvSpPr>
                <p:cNvPr id="103" name="Shape 70"/>
                <p:cNvSpPr/>
                <p:nvPr/>
              </p:nvSpPr>
              <p:spPr>
                <a:xfrm>
                  <a:off x="8064305" y="4865647"/>
                  <a:ext cx="733349" cy="190195"/>
                </a:xfrm>
                <a:prstGeom prst="roundRect">
                  <a:avLst>
                    <a:gd name="adj" fmla="val 192308"/>
                  </a:avLst>
                </a:prstGeom>
                <a:solidFill>
                  <a:srgbClr val="F3F4F6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104" name="Text 71"/>
                <p:cNvSpPr txBox="1"/>
                <p:nvPr/>
              </p:nvSpPr>
              <p:spPr>
                <a:xfrm>
                  <a:off x="8035206" y="4860603"/>
                  <a:ext cx="810158" cy="191110"/>
                </a:xfrm>
                <a:prstGeom prst="rect">
                  <a:avLst/>
                </a:prstGeom>
                <a:solidFill>
                  <a:srgbClr val="FFFFFF">
                    <a:alpha val="0"/>
                  </a:srgbClr>
                </a:solidFill>
                <a:ln>
                  <a:solidFill>
                    <a:srgbClr val="FFFFFF">
                      <a:alpha val="0"/>
                    </a:srgbClr>
                  </a:solidFill>
                </a:ln>
              </p:spPr>
              <p:txBody>
                <a:bodyPr wrap="square" lIns="63500" tIns="25400" rIns="63500" bIns="25400" rtlCol="0" anchor="ctr"/>
                <a:lstStyle/>
                <a:p>
                  <a:pPr marL="0" indent="0" algn="ctr">
                    <a:buNone/>
                  </a:pPr>
                  <a:r>
                    <a:rPr lang="en-US" sz="800" dirty="0">
                      <a:solidFill>
                        <a:srgbClr val="4B5563"/>
                      </a:solidFill>
                      <a:latin typeface="Noto Sans KR" pitchFamily="34" charset="0"/>
                      <a:ea typeface="Noto Sans KR" pitchFamily="34" charset="-122"/>
                      <a:cs typeface="Noto Sans KR" pitchFamily="34" charset="-120"/>
                    </a:rPr>
                    <a:t>Vector Search</a:t>
                  </a:r>
                  <a:endParaRPr lang="en-US" sz="800" dirty="0"/>
                </a:p>
              </p:txBody>
            </p:sp>
          </p:grpSp>
          <p:grpSp>
            <p:nvGrpSpPr>
              <p:cNvPr id="147" name="그룹 146"/>
              <p:cNvGrpSpPr/>
              <p:nvPr/>
            </p:nvGrpSpPr>
            <p:grpSpPr>
              <a:xfrm>
                <a:off x="7744495" y="5124354"/>
                <a:ext cx="1067105" cy="914400"/>
                <a:chOff x="9075631" y="4294147"/>
                <a:chExt cx="1067105" cy="914400"/>
              </a:xfrm>
            </p:grpSpPr>
            <p:sp>
              <p:nvSpPr>
                <p:cNvPr id="105" name="Shape 72"/>
                <p:cNvSpPr/>
                <p:nvPr/>
              </p:nvSpPr>
              <p:spPr>
                <a:xfrm>
                  <a:off x="9075631" y="4294147"/>
                  <a:ext cx="1067105" cy="9144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FFFFFF"/>
                </a:solidFill>
                <a:ln w="12700">
                  <a:solidFill>
                    <a:srgbClr val="E5E7EB"/>
                  </a:solidFill>
                  <a:prstDash val="solid"/>
                </a:ln>
                <a:effectLst>
                  <a:outerShdw blurRad="63500" dist="38100" dir="16200000" algn="bl" rotWithShape="0">
                    <a:srgbClr val="000000">
                      <a:alpha val="5000"/>
                    </a:srgbClr>
                  </a:outerShdw>
                </a:effectLst>
              </p:spPr>
            </p:sp>
            <p:pic>
              <p:nvPicPr>
                <p:cNvPr id="106" name="Image 31" descr="preencoded.png"/>
                <p:cNvPicPr>
                  <a:picLocks noChangeAspect="1"/>
                </p:cNvPicPr>
                <p:nvPr/>
              </p:nvPicPr>
              <p:blipFill>
                <a:blip r:embed="rId24"/>
                <a:srcRect/>
                <a:stretch/>
              </p:blipFill>
              <p:spPr>
                <a:xfrm>
                  <a:off x="9532831" y="4445937"/>
                  <a:ext cx="152705" cy="152705"/>
                </a:xfrm>
                <a:prstGeom prst="rect">
                  <a:avLst/>
                </a:prstGeom>
              </p:spPr>
            </p:pic>
            <p:sp>
              <p:nvSpPr>
                <p:cNvPr id="107" name="Text 73"/>
                <p:cNvSpPr txBox="1"/>
                <p:nvPr/>
              </p:nvSpPr>
              <p:spPr>
                <a:xfrm>
                  <a:off x="9436819" y="4637047"/>
                  <a:ext cx="352958" cy="15270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000" b="1" dirty="0">
                      <a:solidFill>
                        <a:srgbClr val="1F2937"/>
                      </a:solidFill>
                      <a:latin typeface="Noto Sans KR" pitchFamily="34" charset="0"/>
                      <a:ea typeface="Noto Sans KR" pitchFamily="34" charset="-122"/>
                      <a:cs typeface="Noto Sans KR" pitchFamily="34" charset="-120"/>
                    </a:rPr>
                    <a:t>LLM</a:t>
                  </a:r>
                  <a:endParaRPr lang="en-US" sz="1000" dirty="0"/>
                </a:p>
              </p:txBody>
            </p:sp>
            <p:sp>
              <p:nvSpPr>
                <p:cNvPr id="108" name="Shape 74"/>
                <p:cNvSpPr/>
                <p:nvPr/>
              </p:nvSpPr>
              <p:spPr>
                <a:xfrm>
                  <a:off x="9370068" y="4865647"/>
                  <a:ext cx="485546" cy="190195"/>
                </a:xfrm>
                <a:prstGeom prst="roundRect">
                  <a:avLst>
                    <a:gd name="adj" fmla="val 192308"/>
                  </a:avLst>
                </a:prstGeom>
                <a:solidFill>
                  <a:srgbClr val="F3F4F6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136" name="Text 75"/>
                <p:cNvSpPr txBox="1"/>
                <p:nvPr/>
              </p:nvSpPr>
              <p:spPr>
                <a:xfrm>
                  <a:off x="9331663" y="4872821"/>
                  <a:ext cx="562356" cy="191110"/>
                </a:xfrm>
                <a:prstGeom prst="rect">
                  <a:avLst/>
                </a:prstGeom>
                <a:solidFill>
                  <a:srgbClr val="FFFFFF">
                    <a:alpha val="0"/>
                  </a:srgbClr>
                </a:solidFill>
                <a:ln>
                  <a:solidFill>
                    <a:srgbClr val="FFFFFF">
                      <a:alpha val="0"/>
                    </a:srgbClr>
                  </a:solidFill>
                </a:ln>
              </p:spPr>
              <p:txBody>
                <a:bodyPr wrap="square" lIns="63500" tIns="25400" rIns="63500" bIns="25400" rtlCol="0" anchor="ctr"/>
                <a:lstStyle/>
                <a:p>
                  <a:pPr marL="0" indent="0" algn="ctr">
                    <a:buNone/>
                  </a:pPr>
                  <a:r>
                    <a:rPr lang="en-US" sz="800" dirty="0">
                      <a:solidFill>
                        <a:srgbClr val="4B5563"/>
                      </a:solidFill>
                      <a:latin typeface="Noto Sans KR" pitchFamily="34" charset="0"/>
                      <a:ea typeface="Noto Sans KR" pitchFamily="34" charset="-122"/>
                      <a:cs typeface="Noto Sans KR" pitchFamily="34" charset="-120"/>
                    </a:rPr>
                    <a:t>EXAONE</a:t>
                  </a:r>
                  <a:endParaRPr lang="en-US" sz="800" dirty="0"/>
                </a:p>
              </p:txBody>
            </p:sp>
          </p:grpSp>
          <p:grpSp>
            <p:nvGrpSpPr>
              <p:cNvPr id="146" name="그룹 145"/>
              <p:cNvGrpSpPr/>
              <p:nvPr/>
            </p:nvGrpSpPr>
            <p:grpSpPr>
              <a:xfrm>
                <a:off x="9013959" y="5113900"/>
                <a:ext cx="1067105" cy="914400"/>
                <a:chOff x="8602385" y="5332268"/>
                <a:chExt cx="1067105" cy="914400"/>
              </a:xfrm>
            </p:grpSpPr>
            <p:sp>
              <p:nvSpPr>
                <p:cNvPr id="137" name="Shape 76"/>
                <p:cNvSpPr/>
                <p:nvPr/>
              </p:nvSpPr>
              <p:spPr>
                <a:xfrm>
                  <a:off x="8602385" y="5332268"/>
                  <a:ext cx="1067105" cy="9144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FFFFFF"/>
                </a:solidFill>
                <a:ln w="12700">
                  <a:solidFill>
                    <a:srgbClr val="E5E7EB"/>
                  </a:solidFill>
                  <a:prstDash val="solid"/>
                </a:ln>
                <a:effectLst>
                  <a:outerShdw blurRad="63500" dist="38100" dir="16200000" algn="bl" rotWithShape="0">
                    <a:srgbClr val="000000">
                      <a:alpha val="5000"/>
                    </a:srgbClr>
                  </a:outerShdw>
                </a:effectLst>
              </p:spPr>
            </p:sp>
            <p:pic>
              <p:nvPicPr>
                <p:cNvPr id="138" name="Image 32" descr="preencoded.png"/>
                <p:cNvPicPr>
                  <a:picLocks noChangeAspect="1"/>
                </p:cNvPicPr>
                <p:nvPr/>
              </p:nvPicPr>
              <p:blipFill>
                <a:blip r:embed="rId25"/>
                <a:srcRect t="-180" b="-180"/>
                <a:stretch/>
              </p:blipFill>
              <p:spPr>
                <a:xfrm>
                  <a:off x="9040839" y="5494117"/>
                  <a:ext cx="190195" cy="152705"/>
                </a:xfrm>
                <a:prstGeom prst="rect">
                  <a:avLst/>
                </a:prstGeom>
              </p:spPr>
            </p:pic>
            <p:sp>
              <p:nvSpPr>
                <p:cNvPr id="139" name="Text 77"/>
                <p:cNvSpPr txBox="1"/>
                <p:nvPr/>
              </p:nvSpPr>
              <p:spPr>
                <a:xfrm>
                  <a:off x="8958087" y="5675168"/>
                  <a:ext cx="324612" cy="15270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000" b="1" dirty="0">
                      <a:solidFill>
                        <a:srgbClr val="1F2937"/>
                      </a:solidFill>
                      <a:latin typeface="Noto Sans KR" pitchFamily="34" charset="0"/>
                      <a:ea typeface="Noto Sans KR" pitchFamily="34" charset="-122"/>
                      <a:cs typeface="Noto Sans KR" pitchFamily="34" charset="-120"/>
                    </a:rPr>
                    <a:t>TTS</a:t>
                  </a:r>
                  <a:endParaRPr lang="en-US" sz="1000" dirty="0"/>
                </a:p>
              </p:txBody>
            </p:sp>
            <p:sp>
              <p:nvSpPr>
                <p:cNvPr id="140" name="Shape 78"/>
                <p:cNvSpPr/>
                <p:nvPr/>
              </p:nvSpPr>
              <p:spPr>
                <a:xfrm>
                  <a:off x="8859787" y="5884565"/>
                  <a:ext cx="552298" cy="190195"/>
                </a:xfrm>
                <a:prstGeom prst="roundRect">
                  <a:avLst>
                    <a:gd name="adj" fmla="val 192308"/>
                  </a:avLst>
                </a:prstGeom>
                <a:solidFill>
                  <a:srgbClr val="F3F4F6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141" name="Text 79"/>
                <p:cNvSpPr txBox="1"/>
                <p:nvPr/>
              </p:nvSpPr>
              <p:spPr>
                <a:xfrm>
                  <a:off x="8852565" y="5883792"/>
                  <a:ext cx="629107" cy="209072"/>
                </a:xfrm>
                <a:prstGeom prst="rect">
                  <a:avLst/>
                </a:prstGeom>
                <a:solidFill>
                  <a:srgbClr val="FFFFFF">
                    <a:alpha val="0"/>
                  </a:srgbClr>
                </a:solidFill>
                <a:ln>
                  <a:solidFill>
                    <a:srgbClr val="FFFFFF">
                      <a:alpha val="0"/>
                    </a:srgbClr>
                  </a:solidFill>
                </a:ln>
              </p:spPr>
              <p:txBody>
                <a:bodyPr wrap="square" lIns="63500" tIns="25400" rIns="63500" bIns="25400" rtlCol="0" anchor="ctr"/>
                <a:lstStyle/>
                <a:p>
                  <a:pPr marL="0" indent="0" algn="ctr">
                    <a:buNone/>
                  </a:pPr>
                  <a:r>
                    <a:rPr lang="en-US" sz="800" dirty="0">
                      <a:solidFill>
                        <a:srgbClr val="4B5563"/>
                      </a:solidFill>
                      <a:latin typeface="Noto Sans KR" pitchFamily="34" charset="0"/>
                      <a:ea typeface="Noto Sans KR" pitchFamily="34" charset="-122"/>
                      <a:cs typeface="Noto Sans KR" pitchFamily="34" charset="-120"/>
                    </a:rPr>
                    <a:t>StyleTTS2</a:t>
                  </a:r>
                  <a:endParaRPr lang="en-US" sz="800" dirty="0"/>
                </a:p>
              </p:txBody>
            </p:sp>
          </p:grpSp>
        </p:grpSp>
        <p:sp>
          <p:nvSpPr>
            <p:cNvPr id="89" name="Text 59"/>
            <p:cNvSpPr txBox="1"/>
            <p:nvPr/>
          </p:nvSpPr>
          <p:spPr>
            <a:xfrm>
              <a:off x="4107388" y="5103449"/>
              <a:ext cx="876166" cy="233302"/>
            </a:xfrm>
            <a:prstGeom prst="rect">
              <a:avLst/>
            </a:prstGeom>
            <a:solidFill>
              <a:srgbClr val="F9A001"/>
            </a:solidFill>
            <a:ln>
              <a:solidFill>
                <a:srgbClr val="FFB9DA">
                  <a:alpha val="0"/>
                </a:srgbClr>
              </a:solidFill>
            </a:ln>
          </p:spPr>
          <p:txBody>
            <a:bodyPr wrap="square" lIns="101600" tIns="0" rIns="10160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AI Worker</a:t>
              </a:r>
              <a:endParaRPr lang="en-US" sz="1000" dirty="0"/>
            </a:p>
          </p:txBody>
        </p:sp>
      </p:grpSp>
      <p:sp>
        <p:nvSpPr>
          <p:cNvPr id="153" name="Shape 12"/>
          <p:cNvSpPr/>
          <p:nvPr/>
        </p:nvSpPr>
        <p:spPr>
          <a:xfrm>
            <a:off x="812139" y="2008561"/>
            <a:ext cx="38405" cy="468000"/>
          </a:xfrm>
          <a:prstGeom prst="roundRect">
            <a:avLst>
              <a:gd name="adj" fmla="val 952376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2" name="Shape 4"/>
          <p:cNvSpPr/>
          <p:nvPr/>
        </p:nvSpPr>
        <p:spPr>
          <a:xfrm>
            <a:off x="571500" y="476402"/>
            <a:ext cx="75895" cy="80924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145" name="TextBox 144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A4_Project_2AI1_SA_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엄재민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3745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12C7D0B-3A50-F116-7F53-87EDC0B17417}"/>
              </a:ext>
            </a:extLst>
          </p:cNvPr>
          <p:cNvGrpSpPr/>
          <p:nvPr/>
        </p:nvGrpSpPr>
        <p:grpSpPr>
          <a:xfrm>
            <a:off x="0" y="0"/>
            <a:ext cx="12211814" cy="6858000"/>
            <a:chOff x="0" y="0"/>
            <a:chExt cx="12211814" cy="6858000"/>
          </a:xfrm>
        </p:grpSpPr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DAB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44" name="자유형: 도형 43">
              <a:extLst>
                <a:ext uri="{FF2B5EF4-FFF2-40B4-BE49-F238E27FC236}">
                  <a16:creationId xmlns:a16="http://schemas.microsoft.com/office/drawing/2014/main" id="{EB07ADED-6C40-690F-9BA3-9C03D0C6E641}"/>
                </a:ext>
              </a:extLst>
            </p:cNvPr>
            <p:cNvSpPr/>
            <p:nvPr/>
          </p:nvSpPr>
          <p:spPr>
            <a:xfrm>
              <a:off x="7429501" y="0"/>
              <a:ext cx="4782313" cy="4272078"/>
            </a:xfrm>
            <a:custGeom>
              <a:avLst/>
              <a:gdLst>
                <a:gd name="connsiteX0" fmla="*/ 385126 w 4782313"/>
                <a:gd name="connsiteY0" fmla="*/ 0 h 4272078"/>
                <a:gd name="connsiteX1" fmla="*/ 4782313 w 4782313"/>
                <a:gd name="connsiteY1" fmla="*/ 0 h 4272078"/>
                <a:gd name="connsiteX2" fmla="*/ 4782313 w 4782313"/>
                <a:gd name="connsiteY2" fmla="*/ 3535870 h 4272078"/>
                <a:gd name="connsiteX3" fmla="*/ 4675135 w 4782313"/>
                <a:gd name="connsiteY3" fmla="*/ 3633279 h 4272078"/>
                <a:gd name="connsiteX4" fmla="*/ 3149663 w 4782313"/>
                <a:gd name="connsiteY4" fmla="*/ 4271040 h 4272078"/>
                <a:gd name="connsiteX5" fmla="*/ 3129108 w 4782313"/>
                <a:gd name="connsiteY5" fmla="*/ 4272078 h 4272078"/>
                <a:gd name="connsiteX6" fmla="*/ 2585892 w 4782313"/>
                <a:gd name="connsiteY6" fmla="*/ 4272078 h 4272078"/>
                <a:gd name="connsiteX7" fmla="*/ 2565337 w 4782313"/>
                <a:gd name="connsiteY7" fmla="*/ 4271040 h 4272078"/>
                <a:gd name="connsiteX8" fmla="*/ 0 w 4782313"/>
                <a:gd name="connsiteY8" fmla="*/ 1428293 h 4272078"/>
                <a:gd name="connsiteX9" fmla="*/ 344885 w 4782313"/>
                <a:gd name="connsiteY9" fmla="*/ 66239 h 427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82313" h="4272078">
                  <a:moveTo>
                    <a:pt x="385126" y="0"/>
                  </a:moveTo>
                  <a:lnTo>
                    <a:pt x="4782313" y="0"/>
                  </a:lnTo>
                  <a:lnTo>
                    <a:pt x="4782313" y="3535870"/>
                  </a:lnTo>
                  <a:lnTo>
                    <a:pt x="4675135" y="3633279"/>
                  </a:lnTo>
                  <a:cubicBezTo>
                    <a:pt x="4251755" y="3982684"/>
                    <a:pt x="3726028" y="4212507"/>
                    <a:pt x="3149663" y="4271040"/>
                  </a:cubicBezTo>
                  <a:lnTo>
                    <a:pt x="3129108" y="4272078"/>
                  </a:lnTo>
                  <a:lnTo>
                    <a:pt x="2585892" y="4272078"/>
                  </a:lnTo>
                  <a:lnTo>
                    <a:pt x="2565337" y="4271040"/>
                  </a:lnTo>
                  <a:cubicBezTo>
                    <a:pt x="1124425" y="4124708"/>
                    <a:pt x="0" y="2907813"/>
                    <a:pt x="0" y="1428293"/>
                  </a:cubicBezTo>
                  <a:cubicBezTo>
                    <a:pt x="0" y="935120"/>
                    <a:pt x="124936" y="471127"/>
                    <a:pt x="344885" y="66239"/>
                  </a:cubicBez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CA17B098-3E6A-300C-5B61-85E87484F8D0}"/>
                </a:ext>
              </a:extLst>
            </p:cNvPr>
            <p:cNvSpPr/>
            <p:nvPr/>
          </p:nvSpPr>
          <p:spPr>
            <a:xfrm>
              <a:off x="0" y="3810305"/>
              <a:ext cx="3048610" cy="3041295"/>
            </a:xfrm>
            <a:custGeom>
              <a:avLst/>
              <a:gdLst>
                <a:gd name="connsiteX0" fmla="*/ 1143458 w 3048610"/>
                <a:gd name="connsiteY0" fmla="*/ 0 h 3041295"/>
                <a:gd name="connsiteX1" fmla="*/ 3038775 w 3048610"/>
                <a:gd name="connsiteY1" fmla="*/ 1710362 h 3041295"/>
                <a:gd name="connsiteX2" fmla="*/ 3048610 w 3048610"/>
                <a:gd name="connsiteY2" fmla="*/ 1905133 h 3041295"/>
                <a:gd name="connsiteX3" fmla="*/ 3048610 w 3048610"/>
                <a:gd name="connsiteY3" fmla="*/ 1905173 h 3041295"/>
                <a:gd name="connsiteX4" fmla="*/ 3038775 w 3048610"/>
                <a:gd name="connsiteY4" fmla="*/ 2099944 h 3041295"/>
                <a:gd name="connsiteX5" fmla="*/ 2723241 w 3048610"/>
                <a:gd name="connsiteY5" fmla="*/ 2970342 h 3041295"/>
                <a:gd name="connsiteX6" fmla="*/ 2670183 w 3048610"/>
                <a:gd name="connsiteY6" fmla="*/ 3041295 h 3041295"/>
                <a:gd name="connsiteX7" fmla="*/ 0 w 3048610"/>
                <a:gd name="connsiteY7" fmla="*/ 3041295 h 3041295"/>
                <a:gd name="connsiteX8" fmla="*/ 0 w 3048610"/>
                <a:gd name="connsiteY8" fmla="*/ 383899 h 3041295"/>
                <a:gd name="connsiteX9" fmla="*/ 78269 w 3048610"/>
                <a:gd name="connsiteY9" fmla="*/ 325370 h 3041295"/>
                <a:gd name="connsiteX10" fmla="*/ 1143458 w 3048610"/>
                <a:gd name="connsiteY10" fmla="*/ 0 h 3041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48610" h="3041295">
                  <a:moveTo>
                    <a:pt x="1143458" y="0"/>
                  </a:moveTo>
                  <a:cubicBezTo>
                    <a:pt x="2129883" y="0"/>
                    <a:pt x="2941212" y="749677"/>
                    <a:pt x="3038775" y="1710362"/>
                  </a:cubicBezTo>
                  <a:lnTo>
                    <a:pt x="3048610" y="1905133"/>
                  </a:lnTo>
                  <a:lnTo>
                    <a:pt x="3048610" y="1905173"/>
                  </a:lnTo>
                  <a:lnTo>
                    <a:pt x="3038775" y="2099944"/>
                  </a:lnTo>
                  <a:cubicBezTo>
                    <a:pt x="3006254" y="2420172"/>
                    <a:pt x="2894426" y="2716955"/>
                    <a:pt x="2723241" y="2970342"/>
                  </a:cubicBezTo>
                  <a:lnTo>
                    <a:pt x="2670183" y="3041295"/>
                  </a:lnTo>
                  <a:lnTo>
                    <a:pt x="0" y="3041295"/>
                  </a:lnTo>
                  <a:lnTo>
                    <a:pt x="0" y="383899"/>
                  </a:lnTo>
                  <a:lnTo>
                    <a:pt x="78269" y="325370"/>
                  </a:lnTo>
                  <a:cubicBezTo>
                    <a:pt x="382333" y="119949"/>
                    <a:pt x="748888" y="0"/>
                    <a:pt x="1143458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</p:grpSp>
      <p:sp>
        <p:nvSpPr>
          <p:cNvPr id="6" name="Shape 4"/>
          <p:cNvSpPr/>
          <p:nvPr/>
        </p:nvSpPr>
        <p:spPr>
          <a:xfrm>
            <a:off x="571500" y="476402"/>
            <a:ext cx="75895" cy="80924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5995" y="476402"/>
            <a:ext cx="11049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결론 및 구현 성과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875995" y="992124"/>
            <a:ext cx="10935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한계를 넘어선 고성능·고가용성 엔터프라이즈 인프라 구축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571500" y="1563624"/>
            <a:ext cx="3530498" cy="349575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003450" y="1925726"/>
            <a:ext cx="666598" cy="66659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2203704" y="2106778"/>
            <a:ext cx="267005" cy="3044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15161" y="2783434"/>
            <a:ext cx="164683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초저지연 네트워크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442923" y="3154680"/>
            <a:ext cx="17949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150</a:t>
            </a:r>
            <a:r>
              <a:rPr lang="en-US" sz="18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</a:t>
            </a:r>
            <a:endParaRPr lang="en-US" sz="3600" dirty="0"/>
          </a:p>
        </p:txBody>
      </p:sp>
      <p:sp>
        <p:nvSpPr>
          <p:cNvPr id="14" name="Shape 10"/>
          <p:cNvSpPr/>
          <p:nvPr/>
        </p:nvSpPr>
        <p:spPr>
          <a:xfrm>
            <a:off x="857707" y="3764585"/>
            <a:ext cx="2962656" cy="705002"/>
          </a:xfrm>
          <a:prstGeom prst="roundRect">
            <a:avLst>
              <a:gd name="adj" fmla="val 42065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72007" y="3878885"/>
            <a:ext cx="876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WebRTC RTT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2786177" y="3878885"/>
            <a:ext cx="9427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150 ~ 300ms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959206" y="4155034"/>
            <a:ext cx="635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적용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2936138" y="4155034"/>
            <a:ext cx="7717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UDP 홀펀칭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330598" y="1563624"/>
            <a:ext cx="3530498" cy="3495751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762549" y="1925726"/>
            <a:ext cx="666598" cy="666598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5962802" y="2106778"/>
            <a:ext cx="267005" cy="3044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189220" y="2783434"/>
            <a:ext cx="18196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리드타임 최적화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437937" y="3154680"/>
            <a:ext cx="13249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1.2</a:t>
            </a:r>
            <a:r>
              <a:rPr lang="en-US" sz="18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</a:t>
            </a:r>
            <a:endParaRPr lang="en-US" sz="3600" dirty="0"/>
          </a:p>
        </p:txBody>
      </p:sp>
      <p:sp>
        <p:nvSpPr>
          <p:cNvPr id="24" name="Shape 18"/>
          <p:cNvSpPr/>
          <p:nvPr/>
        </p:nvSpPr>
        <p:spPr>
          <a:xfrm>
            <a:off x="4616806" y="3764585"/>
            <a:ext cx="2962656" cy="705002"/>
          </a:xfrm>
          <a:prstGeom prst="roundRect">
            <a:avLst>
              <a:gd name="adj" fmla="val 42065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4668012" y="3878885"/>
            <a:ext cx="12582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추론 (Chunk)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6741871" y="3878885"/>
            <a:ext cx="7488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1.2 ~ 1.8s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4723790" y="4155034"/>
            <a:ext cx="10799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→ LLM E2E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6790334" y="4155034"/>
            <a:ext cx="69220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7.5 ~ 12s</a:t>
            </a:r>
            <a:endParaRPr lang="en-US" sz="10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t="-3" b="-3"/>
          <a:stretch/>
        </p:blipFill>
        <p:spPr>
          <a:xfrm>
            <a:off x="8089697" y="1563624"/>
            <a:ext cx="3530498" cy="3495751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521647" y="1925726"/>
            <a:ext cx="666598" cy="666598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702698" y="2106778"/>
            <a:ext cx="304495" cy="30449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71762" y="2783434"/>
            <a:ext cx="157551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인프라 성과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957462" y="3154680"/>
            <a:ext cx="1803197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Production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Ready</a:t>
            </a:r>
            <a:endParaRPr lang="en-US" sz="2400" dirty="0"/>
          </a:p>
        </p:txBody>
      </p:sp>
      <p:sp>
        <p:nvSpPr>
          <p:cNvPr id="34" name="Shape 26"/>
          <p:cNvSpPr/>
          <p:nvPr/>
        </p:nvSpPr>
        <p:spPr>
          <a:xfrm>
            <a:off x="8375904" y="4069080"/>
            <a:ext cx="2962656" cy="705002"/>
          </a:xfrm>
          <a:prstGeom prst="roundRect">
            <a:avLst>
              <a:gd name="adj" fmla="val 42065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8477402" y="4183380"/>
            <a:ext cx="635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효율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9680753" y="4183380"/>
            <a:ext cx="163311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GPU 동시 트래픽 방어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8490204" y="4459529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가용성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10000793" y="4459529"/>
            <a:ext cx="13085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모놀리식 한계 타파</a:t>
            </a:r>
            <a:endParaRPr lang="en-US" sz="10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 l="-14" r="-14"/>
          <a:stretch/>
        </p:blipFill>
        <p:spPr>
          <a:xfrm>
            <a:off x="571500" y="5287975"/>
            <a:ext cx="11048695" cy="1102766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447495" y="5479085"/>
            <a:ext cx="6324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평가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1447495" y="5774436"/>
            <a:ext cx="62106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제한된 하드웨어 자원(1 GPU) 내에서도 </a:t>
            </a: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동시성 제어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</a:t>
            </a: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 파이프라인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통해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상용 서비스 수준의 응답 속도와 안정성을 확보한 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Production-Ready 아키텍처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완성했습니다. </a:t>
            </a:r>
            <a:endParaRPr lang="en-US" sz="12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 l="-743" r="-743"/>
          <a:stretch/>
        </p:blipFill>
        <p:spPr>
          <a:xfrm>
            <a:off x="914400" y="5692140"/>
            <a:ext cx="304495" cy="3429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A4_Project_2AI1_SA_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엄재민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0776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2AE9B7C-A71B-AD65-B841-1CFFD29540BA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DAB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47" name="자유형: 도형 46">
              <a:extLst>
                <a:ext uri="{FF2B5EF4-FFF2-40B4-BE49-F238E27FC236}">
                  <a16:creationId xmlns:a16="http://schemas.microsoft.com/office/drawing/2014/main" id="{DD76E60A-D053-EE72-DD42-BE78CA165239}"/>
                </a:ext>
              </a:extLst>
            </p:cNvPr>
            <p:cNvSpPr/>
            <p:nvPr/>
          </p:nvSpPr>
          <p:spPr>
            <a:xfrm>
              <a:off x="8382305" y="0"/>
              <a:ext cx="3809390" cy="3312871"/>
            </a:xfrm>
            <a:custGeom>
              <a:avLst/>
              <a:gdLst>
                <a:gd name="connsiteX0" fmla="*/ 361300 w 3809390"/>
                <a:gd name="connsiteY0" fmla="*/ 0 h 3312871"/>
                <a:gd name="connsiteX1" fmla="*/ 3809390 w 3809390"/>
                <a:gd name="connsiteY1" fmla="*/ 0 h 3312871"/>
                <a:gd name="connsiteX2" fmla="*/ 3809390 w 3809390"/>
                <a:gd name="connsiteY2" fmla="*/ 2537714 h 3312871"/>
                <a:gd name="connsiteX3" fmla="*/ 3797270 w 3809390"/>
                <a:gd name="connsiteY3" fmla="*/ 2553921 h 3312871"/>
                <a:gd name="connsiteX4" fmla="*/ 2575315 w 3809390"/>
                <a:gd name="connsiteY4" fmla="*/ 3290358 h 3312871"/>
                <a:gd name="connsiteX5" fmla="*/ 2427801 w 3809390"/>
                <a:gd name="connsiteY5" fmla="*/ 3312871 h 3312871"/>
                <a:gd name="connsiteX6" fmla="*/ 1858907 w 3809390"/>
                <a:gd name="connsiteY6" fmla="*/ 3312871 h 3312871"/>
                <a:gd name="connsiteX7" fmla="*/ 1711393 w 3809390"/>
                <a:gd name="connsiteY7" fmla="*/ 3290358 h 3312871"/>
                <a:gd name="connsiteX8" fmla="*/ 0 w 3809390"/>
                <a:gd name="connsiteY8" fmla="*/ 1190549 h 3312871"/>
                <a:gd name="connsiteX9" fmla="*/ 258691 w 3809390"/>
                <a:gd name="connsiteY9" fmla="*/ 168899 h 33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09390" h="3312871">
                  <a:moveTo>
                    <a:pt x="361300" y="0"/>
                  </a:moveTo>
                  <a:lnTo>
                    <a:pt x="3809390" y="0"/>
                  </a:lnTo>
                  <a:lnTo>
                    <a:pt x="3809390" y="2537714"/>
                  </a:lnTo>
                  <a:lnTo>
                    <a:pt x="3797270" y="2553921"/>
                  </a:lnTo>
                  <a:cubicBezTo>
                    <a:pt x="3491508" y="2924419"/>
                    <a:pt x="3063660" y="3190428"/>
                    <a:pt x="2575315" y="3290358"/>
                  </a:cubicBezTo>
                  <a:lnTo>
                    <a:pt x="2427801" y="3312871"/>
                  </a:lnTo>
                  <a:lnTo>
                    <a:pt x="1858907" y="3312871"/>
                  </a:lnTo>
                  <a:lnTo>
                    <a:pt x="1711393" y="3290358"/>
                  </a:lnTo>
                  <a:cubicBezTo>
                    <a:pt x="734703" y="3090498"/>
                    <a:pt x="0" y="2226323"/>
                    <a:pt x="0" y="1190549"/>
                  </a:cubicBezTo>
                  <a:cubicBezTo>
                    <a:pt x="0" y="820630"/>
                    <a:pt x="93712" y="472598"/>
                    <a:pt x="258691" y="168899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692AC0CB-10D0-18DE-BA7C-387B618AD98F}"/>
                </a:ext>
              </a:extLst>
            </p:cNvPr>
            <p:cNvSpPr/>
            <p:nvPr/>
          </p:nvSpPr>
          <p:spPr>
            <a:xfrm>
              <a:off x="0" y="4000500"/>
              <a:ext cx="2857500" cy="2857500"/>
            </a:xfrm>
            <a:custGeom>
              <a:avLst/>
              <a:gdLst>
                <a:gd name="connsiteX0" fmla="*/ 1190549 w 2857500"/>
                <a:gd name="connsiteY0" fmla="*/ 0 h 2857500"/>
                <a:gd name="connsiteX1" fmla="*/ 2857500 w 2857500"/>
                <a:gd name="connsiteY1" fmla="*/ 1666951 h 2857500"/>
                <a:gd name="connsiteX2" fmla="*/ 2369262 w 2857500"/>
                <a:gd name="connsiteY2" fmla="*/ 2845664 h 2857500"/>
                <a:gd name="connsiteX3" fmla="*/ 2356238 w 2857500"/>
                <a:gd name="connsiteY3" fmla="*/ 2857500 h 2857500"/>
                <a:gd name="connsiteX4" fmla="*/ 24860 w 2857500"/>
                <a:gd name="connsiteY4" fmla="*/ 2857500 h 2857500"/>
                <a:gd name="connsiteX5" fmla="*/ 11837 w 2857500"/>
                <a:gd name="connsiteY5" fmla="*/ 2845664 h 2857500"/>
                <a:gd name="connsiteX6" fmla="*/ 0 w 2857500"/>
                <a:gd name="connsiteY6" fmla="*/ 2832640 h 2857500"/>
                <a:gd name="connsiteX7" fmla="*/ 0 w 2857500"/>
                <a:gd name="connsiteY7" fmla="*/ 501262 h 2857500"/>
                <a:gd name="connsiteX8" fmla="*/ 11837 w 2857500"/>
                <a:gd name="connsiteY8" fmla="*/ 488239 h 2857500"/>
                <a:gd name="connsiteX9" fmla="*/ 1190549 w 2857500"/>
                <a:gd name="connsiteY9" fmla="*/ 0 h 285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57500" h="2857500">
                  <a:moveTo>
                    <a:pt x="1190549" y="0"/>
                  </a:moveTo>
                  <a:cubicBezTo>
                    <a:pt x="2111181" y="0"/>
                    <a:pt x="2857500" y="746319"/>
                    <a:pt x="2857500" y="1666951"/>
                  </a:cubicBezTo>
                  <a:cubicBezTo>
                    <a:pt x="2857500" y="2127267"/>
                    <a:pt x="2670920" y="2544005"/>
                    <a:pt x="2369262" y="2845664"/>
                  </a:cubicBezTo>
                  <a:lnTo>
                    <a:pt x="2356238" y="2857500"/>
                  </a:lnTo>
                  <a:lnTo>
                    <a:pt x="24860" y="2857500"/>
                  </a:lnTo>
                  <a:lnTo>
                    <a:pt x="11837" y="2845664"/>
                  </a:lnTo>
                  <a:lnTo>
                    <a:pt x="0" y="2832640"/>
                  </a:lnTo>
                  <a:lnTo>
                    <a:pt x="0" y="501262"/>
                  </a:lnTo>
                  <a:lnTo>
                    <a:pt x="11837" y="488239"/>
                  </a:lnTo>
                  <a:cubicBezTo>
                    <a:pt x="313495" y="186580"/>
                    <a:pt x="730233" y="0"/>
                    <a:pt x="119054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</p:grpSp>
      <p:sp>
        <p:nvSpPr>
          <p:cNvPr id="6" name="Shape 4"/>
          <p:cNvSpPr/>
          <p:nvPr/>
        </p:nvSpPr>
        <p:spPr>
          <a:xfrm>
            <a:off x="571500" y="476402"/>
            <a:ext cx="75895" cy="80924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5995" y="476402"/>
            <a:ext cx="11049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</a:t>
            </a:r>
            <a:r>
              <a:rPr lang="en-US" sz="3100" b="1" dirty="0" err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소감</a:t>
            </a:r>
            <a:r>
              <a:rPr lang="en-US" sz="31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875995" y="992124"/>
            <a:ext cx="10935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성장과 아키텍처 설계에 대한 고찰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17" b="-17"/>
          <a:stretch/>
        </p:blipFill>
        <p:spPr>
          <a:xfrm>
            <a:off x="571500" y="5429707"/>
            <a:ext cx="11048695" cy="952805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857707" y="5753405"/>
            <a:ext cx="267005" cy="3044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52398" y="5650078"/>
            <a:ext cx="723290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“기술적 난제는 유연한 설계와 철저한 표준화로 극복할 수 있습니다.”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352398" y="5960974"/>
            <a:ext cx="61822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견고한 인프라 엔지니어링이 딥러닝 혁신을 뒷받침하는 핵심 근간임을 깊이 깨달았습니다.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1516075"/>
            <a:ext cx="3556102" cy="372252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0100" y="2297887"/>
            <a:ext cx="3105302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00100" y="180228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5198" y="1897380"/>
            <a:ext cx="190195" cy="19019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95705" y="1835201"/>
            <a:ext cx="206380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배운 점 (Learned)</a:t>
            </a:r>
            <a:endParaRPr lang="en-US" sz="16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l="-33200" r="-33200"/>
          <a:stretch/>
        </p:blipFill>
        <p:spPr>
          <a:xfrm>
            <a:off x="800100" y="2497226"/>
            <a:ext cx="190195" cy="1143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67105" y="2459736"/>
            <a:ext cx="29151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MSA 비동기 구조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확립을 통한 복잡한 트래픽 문제 해결 경험 축적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rcRect l="-33200" r="-33200"/>
          <a:stretch/>
        </p:blipFill>
        <p:spPr>
          <a:xfrm>
            <a:off x="800100" y="3040380"/>
            <a:ext cx="190195" cy="1143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67105" y="3001975"/>
            <a:ext cx="29151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Docs as Code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도입으로 팀 커뮤니케이션 비용 및 지체 시간 40% 단축</a:t>
            </a:r>
            <a:endParaRPr lang="en-US" sz="1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l="-33200" r="-33200"/>
          <a:stretch/>
        </p:blipFill>
        <p:spPr>
          <a:xfrm>
            <a:off x="800100" y="3583534"/>
            <a:ext cx="190195" cy="1143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067105" y="3545129"/>
            <a:ext cx="30367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문서화 기반의 </a:t>
            </a:r>
            <a:r>
              <a:rPr lang="en-US" sz="1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부채 관리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중요성 체감</a:t>
            </a:r>
            <a:endParaRPr lang="en-US" sz="11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rcRect t="-2" b="-2"/>
          <a:stretch/>
        </p:blipFill>
        <p:spPr>
          <a:xfrm>
            <a:off x="4317797" y="1516075"/>
            <a:ext cx="3556102" cy="3722522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4546397" y="2297887"/>
            <a:ext cx="3105302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6" name="Shape 16"/>
          <p:cNvSpPr/>
          <p:nvPr/>
        </p:nvSpPr>
        <p:spPr>
          <a:xfrm>
            <a:off x="4546397" y="180228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641494" y="1897380"/>
            <a:ext cx="190195" cy="190195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5042002" y="1835201"/>
            <a:ext cx="170078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잘한 점 (Good)</a:t>
            </a:r>
            <a:endParaRPr lang="en-US" sz="16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0"/>
          <a:srcRect l="-33200" r="-33200"/>
          <a:stretch/>
        </p:blipFill>
        <p:spPr>
          <a:xfrm>
            <a:off x="4546397" y="2497226"/>
            <a:ext cx="190195" cy="11430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4813402" y="2459736"/>
            <a:ext cx="29151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제한된 GPU(6GB VRAM) 환경에서 </a:t>
            </a:r>
            <a:r>
              <a:rPr lang="en-US" sz="11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가용성 확보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메모리 효율 통제</a:t>
            </a:r>
            <a:endParaRPr lang="en-US" sz="11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0"/>
          <a:srcRect l="-33200" r="-33200"/>
          <a:stretch/>
        </p:blipFill>
        <p:spPr>
          <a:xfrm>
            <a:off x="4546397" y="3040380"/>
            <a:ext cx="190195" cy="11430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4813402" y="3001975"/>
            <a:ext cx="29151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CUDA 병렬 추론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최적화로 응답 속도 목표치 달성</a:t>
            </a:r>
            <a:endParaRPr lang="en-US" sz="11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0"/>
          <a:srcRect l="-33200" r="-33200"/>
          <a:stretch/>
        </p:blipFill>
        <p:spPr>
          <a:xfrm>
            <a:off x="4546397" y="3583534"/>
            <a:ext cx="190195" cy="11430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4813402" y="3545129"/>
            <a:ext cx="30367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실전형 </a:t>
            </a:r>
            <a:r>
              <a:rPr lang="en-US" sz="11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복구 시나리오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사전 검증 완료</a:t>
            </a:r>
            <a:endParaRPr lang="en-US" sz="110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064094" y="1516075"/>
            <a:ext cx="3556102" cy="3722522"/>
          </a:xfrm>
          <a:prstGeom prst="rect">
            <a:avLst/>
          </a:prstGeom>
        </p:spPr>
      </p:pic>
      <p:sp>
        <p:nvSpPr>
          <p:cNvPr id="36" name="Shape 21"/>
          <p:cNvSpPr/>
          <p:nvPr/>
        </p:nvSpPr>
        <p:spPr>
          <a:xfrm>
            <a:off x="8292694" y="2297887"/>
            <a:ext cx="3105302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7" name="Shape 22"/>
          <p:cNvSpPr/>
          <p:nvPr/>
        </p:nvSpPr>
        <p:spPr>
          <a:xfrm>
            <a:off x="8292694" y="180228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388706" y="1897380"/>
            <a:ext cx="190195" cy="190195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8788298" y="1835201"/>
            <a:ext cx="175747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아쉬운 점 (Bad)</a:t>
            </a:r>
            <a:endParaRPr lang="en-US" sz="160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13"/>
          <a:srcRect l="-33200" r="-33200"/>
          <a:stretch/>
        </p:blipFill>
        <p:spPr>
          <a:xfrm>
            <a:off x="8292694" y="2497226"/>
            <a:ext cx="190195" cy="114300"/>
          </a:xfrm>
          <a:prstGeom prst="rect">
            <a:avLst/>
          </a:prstGeom>
        </p:spPr>
      </p:pic>
      <p:sp>
        <p:nvSpPr>
          <p:cNvPr id="41" name="Text 24"/>
          <p:cNvSpPr txBox="1"/>
          <p:nvPr/>
        </p:nvSpPr>
        <p:spPr>
          <a:xfrm>
            <a:off x="8559698" y="2459736"/>
            <a:ext cx="29151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</a:t>
            </a: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결과 도출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매몰되어 인프라 충돌 경험</a:t>
            </a:r>
            <a:endParaRPr lang="en-US" sz="1100" dirty="0"/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13"/>
          <a:srcRect l="-33200" r="-33200"/>
          <a:stretch/>
        </p:blipFill>
        <p:spPr>
          <a:xfrm>
            <a:off x="8292694" y="3040380"/>
            <a:ext cx="190195" cy="114300"/>
          </a:xfrm>
          <a:prstGeom prst="rect">
            <a:avLst/>
          </a:prstGeom>
        </p:spPr>
      </p:pic>
      <p:sp>
        <p:nvSpPr>
          <p:cNvPr id="43" name="Text 25"/>
          <p:cNvSpPr txBox="1"/>
          <p:nvPr/>
        </p:nvSpPr>
        <p:spPr>
          <a:xfrm>
            <a:off x="8559698" y="3001975"/>
            <a:ext cx="29151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</a:t>
            </a: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MSA 리팩토링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인한 일정 지연 발생</a:t>
            </a:r>
            <a:endParaRPr lang="en-US" sz="1100" dirty="0"/>
          </a:p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13"/>
          <a:srcRect l="-33200" r="-33200"/>
          <a:stretch/>
        </p:blipFill>
        <p:spPr>
          <a:xfrm>
            <a:off x="8292694" y="3583534"/>
            <a:ext cx="190195" cy="114300"/>
          </a:xfrm>
          <a:prstGeom prst="rect">
            <a:avLst/>
          </a:prstGeom>
        </p:spPr>
      </p:pic>
      <p:sp>
        <p:nvSpPr>
          <p:cNvPr id="45" name="Text 26"/>
          <p:cNvSpPr txBox="1"/>
          <p:nvPr/>
        </p:nvSpPr>
        <p:spPr>
          <a:xfrm>
            <a:off x="8559698" y="3545129"/>
            <a:ext cx="29151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초반 설계 단계의 </a:t>
            </a: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리소스 산정 미흡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대한 아쉬움</a:t>
            </a:r>
            <a:endParaRPr lang="en-US" sz="1100" dirty="0"/>
          </a:p>
        </p:txBody>
      </p:sp>
      <p:sp>
        <p:nvSpPr>
          <p:cNvPr id="48" name="TextBox 47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A4_Project_2AI1_SA_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엄재민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3306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-1858518" y="-2535380"/>
            <a:ext cx="6191402" cy="6191402"/>
          </a:xfrm>
          <a:prstGeom prst="ellipse">
            <a:avLst/>
          </a:prstGeom>
          <a:solidFill>
            <a:srgbClr val="B8C5D1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30778" y="2566860"/>
            <a:ext cx="7144207" cy="7144207"/>
          </a:xfrm>
          <a:prstGeom prst="ellipse">
            <a:avLst/>
          </a:prstGeom>
          <a:solidFill>
            <a:srgbClr val="F0E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/>
        </p:blipFill>
        <p:spPr>
          <a:xfrm>
            <a:off x="5568239" y="100584"/>
            <a:ext cx="5238598" cy="523859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 t="-1" b="-1"/>
          <a:stretch/>
        </p:blipFill>
        <p:spPr>
          <a:xfrm>
            <a:off x="-678444" y="804009"/>
            <a:ext cx="12191695" cy="6858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642349" y="1528914"/>
            <a:ext cx="7061524" cy="760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7200" b="1" kern="0" spc="-18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r>
              <a:rPr lang="en-US" dirty="0" smtClean="0"/>
              <a:t>       Data </a:t>
            </a:r>
            <a:r>
              <a:rPr lang="en-US" dirty="0"/>
              <a:t>Architecture</a:t>
            </a:r>
          </a:p>
        </p:txBody>
      </p:sp>
      <p:sp>
        <p:nvSpPr>
          <p:cNvPr id="9" name="Shape 5"/>
          <p:cNvSpPr/>
          <p:nvPr/>
        </p:nvSpPr>
        <p:spPr>
          <a:xfrm>
            <a:off x="2886761" y="4110228"/>
            <a:ext cx="6420002" cy="609905"/>
          </a:xfrm>
          <a:prstGeom prst="roundRect">
            <a:avLst>
              <a:gd name="adj" fmla="val 117129"/>
            </a:avLst>
          </a:prstGeom>
          <a:solidFill>
            <a:schemeClr val="bg1">
              <a:lumMod val="85000"/>
              <a:alpha val="6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3267151" y="4328770"/>
            <a:ext cx="219456" cy="17190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498036" y="429086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권준호</a:t>
            </a: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760" r="-760"/>
          <a:stretch/>
        </p:blipFill>
        <p:spPr>
          <a:xfrm>
            <a:off x="4873752" y="4328770"/>
            <a:ext cx="152705" cy="171907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998110" y="4300423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2026.01 </a:t>
            </a: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- 2026.02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t="-842" b="-842"/>
          <a:stretch/>
        </p:blipFill>
        <p:spPr>
          <a:xfrm>
            <a:off x="6856171" y="4328770"/>
            <a:ext cx="190195" cy="171907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971386" y="4300423"/>
            <a:ext cx="21314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A4_Project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8046" y="5005426"/>
            <a:ext cx="1019556" cy="33375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108046" y="5005426"/>
            <a:ext cx="1019556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#VectorDB</a:t>
            </a:r>
            <a:endParaRPr lang="en-US" sz="10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6415" y="5005426"/>
            <a:ext cx="685800" cy="33375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236415" y="5005426"/>
            <a:ext cx="685800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#LLM</a:t>
            </a:r>
            <a:endParaRPr lang="en-US" sz="10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1943" y="5005426"/>
            <a:ext cx="1067105" cy="33375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031943" y="5005426"/>
            <a:ext cx="1067105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#품질 루브릭</a:t>
            </a:r>
            <a:endParaRPr lang="en-US" sz="10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4204" y="5005426"/>
            <a:ext cx="1429207" cy="333756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204204" y="5005426"/>
            <a:ext cx="1429207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#전처리 파이프라인</a:t>
            </a:r>
            <a:endParaRPr lang="en-US" sz="10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44968" y="5005426"/>
            <a:ext cx="1343254" cy="333756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7744968" y="5005426"/>
            <a:ext cx="1343254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#데이터 품질 관리</a:t>
            </a:r>
            <a:endParaRPr lang="en-US" sz="1000" dirty="0"/>
          </a:p>
        </p:txBody>
      </p:sp>
      <p:sp>
        <p:nvSpPr>
          <p:cNvPr id="26" name="Text 14"/>
          <p:cNvSpPr txBox="1"/>
          <p:nvPr/>
        </p:nvSpPr>
        <p:spPr>
          <a:xfrm>
            <a:off x="2781789" y="3128254"/>
            <a:ext cx="66714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C2C2C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모의면접 데이터 </a:t>
            </a:r>
            <a:r>
              <a:rPr lang="en-US" sz="2200" dirty="0" err="1">
                <a:solidFill>
                  <a:srgbClr val="2C2C2C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수집·품질·전처리</a:t>
            </a:r>
            <a:r>
              <a:rPr lang="en-US" sz="2200" dirty="0">
                <a:solidFill>
                  <a:srgbClr val="2C2C2C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2200" dirty="0" smtClean="0">
              <a:solidFill>
                <a:srgbClr val="2C2C2C">
                  <a:alpha val="85000"/>
                </a:srgbClr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ctr">
              <a:buNone/>
            </a:pPr>
            <a:r>
              <a:rPr lang="ko-KR" altLang="en-US" sz="2200" dirty="0" smtClean="0">
                <a:solidFill>
                  <a:srgbClr val="2C2C2C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진행 과정 및 </a:t>
            </a:r>
            <a:r>
              <a:rPr lang="en-US" sz="2200" dirty="0" err="1" smtClean="0">
                <a:solidFill>
                  <a:srgbClr val="2C2C2C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</a:t>
            </a:r>
            <a:r>
              <a:rPr lang="en-US" sz="2200" dirty="0" smtClean="0">
                <a:solidFill>
                  <a:srgbClr val="2C2C2C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ko-KR" altLang="en-US" sz="2200" dirty="0" smtClean="0">
                <a:solidFill>
                  <a:srgbClr val="2C2C2C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보고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69022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609905" y="800100"/>
            <a:ext cx="5248656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배경과 목표</a:t>
            </a:r>
            <a:endParaRPr 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09905" y="1645920"/>
            <a:ext cx="502005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IT 직무별·산업별 면접 Q/A DB의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필요성 증대와 체계적 시스템 구축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609905" y="2636215"/>
            <a:ext cx="4937760" cy="2447849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972007" y="2941625"/>
            <a:ext cx="200254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4051" y="2941625"/>
            <a:ext cx="4114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프로젝트 배경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1324051" y="3284525"/>
            <a:ext cx="4000500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기존의 단편적인 면접 질문 데이터는 실제 기업의 인재상과 직무별 특성을 반영하지 못하는 한계가 있었습니다. 이에 IT 분야를 중심으로 세부 직무 데이터를 체계적으로 수집하고, 실질적인 모의면접을 제공하는 </a:t>
            </a:r>
            <a:r>
              <a:rPr lang="en-US" sz="1200" dirty="0" err="1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시스템이</a:t>
            </a: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200" dirty="0" err="1" smtClean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필요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72007" y="4427525"/>
            <a:ext cx="42766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72007" y="4589374"/>
            <a:ext cx="190195" cy="19019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76502" y="4427525"/>
            <a:ext cx="26106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성과 지표: 정확성 · 일관성 · 확장성 · 리드타임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6956755" y="1452982"/>
            <a:ext cx="48198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실질적 모의면접 구현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956755" y="1824228"/>
            <a:ext cx="51105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기업 인재상과 직무별 특성을 반영하여 실제 면접과 유사한 환경 제공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6956755" y="2443277"/>
            <a:ext cx="48198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대규모 데이터 확보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6930695" y="2618841"/>
            <a:ext cx="53154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6000</a:t>
            </a:r>
            <a:r>
              <a:rPr lang="ko-KR" altLang="en-US" sz="1200" dirty="0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건 이상의</a:t>
            </a:r>
            <a:r>
              <a:rPr lang="en-US" sz="1200" dirty="0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(</a:t>
            </a:r>
            <a:r>
              <a:rPr lang="en-US" sz="1200" dirty="0" err="1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기본</a:t>
            </a:r>
            <a:r>
              <a:rPr 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200" dirty="0" err="1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직무</a:t>
            </a:r>
            <a:r>
              <a:rPr lang="en-US" sz="1200" dirty="0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ko-KR" altLang="en-US" sz="1200" dirty="0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질문</a:t>
            </a:r>
            <a:r>
              <a:rPr lang="en-US" sz="1200" dirty="0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 </a:t>
            </a:r>
            <a:r>
              <a:rPr 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+ </a:t>
            </a:r>
            <a:r>
              <a:rPr lang="en-US" sz="1200" dirty="0" err="1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산업별</a:t>
            </a:r>
            <a:r>
              <a:rPr lang="en-US" sz="1200" dirty="0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ko-KR" altLang="en-US" sz="1200" dirty="0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질문</a:t>
            </a:r>
            <a:r>
              <a:rPr lang="en-US" sz="1200" dirty="0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)</a:t>
            </a:r>
            <a:r>
              <a:rPr 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의 </a:t>
            </a:r>
            <a:r>
              <a:rPr lang="en-US" sz="1200" dirty="0" err="1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방대한</a:t>
            </a:r>
            <a:r>
              <a:rPr 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200" dirty="0" err="1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질문</a:t>
            </a:r>
            <a:r>
              <a:rPr lang="ko-KR" altLang="en-US" sz="1200" dirty="0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과 모범답안</a:t>
            </a:r>
            <a:r>
              <a:rPr lang="en-US" altLang="ko-KR" sz="1200" dirty="0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,</a:t>
            </a:r>
          </a:p>
          <a:p>
            <a:pPr marL="0" indent="0" algn="l">
              <a:buNone/>
            </a:pPr>
            <a:r>
              <a:rPr lang="ko-KR" altLang="en-US" sz="1200" dirty="0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기업별 인재상 데이터 </a:t>
            </a:r>
            <a:r>
              <a:rPr lang="en-US" sz="1200" dirty="0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DB </a:t>
            </a:r>
            <a:r>
              <a:rPr 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구축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6956755" y="3433572"/>
            <a:ext cx="48198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데이터 포맷 표준화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6956755" y="3804818"/>
            <a:ext cx="54397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데이터 수집 시 </a:t>
            </a:r>
            <a:r>
              <a:rPr lang="en-US" altLang="ko-KR" sz="1200" dirty="0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J</a:t>
            </a:r>
            <a:r>
              <a:rPr lang="en-US" sz="1200" dirty="0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SON </a:t>
            </a:r>
            <a:r>
              <a:rPr 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형식 통일 및 Key 값 표준화를 </a:t>
            </a:r>
            <a:r>
              <a:rPr lang="en-US" sz="1200" dirty="0" err="1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통한</a:t>
            </a:r>
            <a:r>
              <a:rPr 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endParaRPr lang="en-US" sz="1200" dirty="0" smtClean="0">
              <a:solidFill>
                <a:srgbClr val="5555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1200" dirty="0" err="1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데이터</a:t>
            </a:r>
            <a:r>
              <a:rPr lang="en-US" sz="1200" dirty="0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일관성 및 확장성 확보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6956755" y="4424782"/>
            <a:ext cx="48198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하이브리드 검색 지원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6956755" y="4796028"/>
            <a:ext cx="5289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VectorDB(의미 기반 검색)와 RDB(구조화된 조회) 동시 지원 체계 마련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>
            <a:alphaModFix amt="50000"/>
          </a:blip>
          <a:srcRect l="-360" r="-360"/>
          <a:stretch/>
        </p:blipFill>
        <p:spPr>
          <a:xfrm>
            <a:off x="6423660" y="2057400"/>
            <a:ext cx="19202" cy="381305"/>
          </a:xfrm>
          <a:prstGeom prst="rect">
            <a:avLst/>
          </a:prstGeom>
        </p:spPr>
      </p:pic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>
            <a:alphaModFix amt="50000"/>
          </a:blip>
          <a:srcRect l="-360" r="-360"/>
          <a:stretch/>
        </p:blipFill>
        <p:spPr>
          <a:xfrm>
            <a:off x="6423660" y="3047695"/>
            <a:ext cx="19202" cy="381305"/>
          </a:xfrm>
          <a:prstGeom prst="rect">
            <a:avLst/>
          </a:prstGeom>
        </p:spPr>
      </p:pic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>
            <a:alphaModFix amt="50000"/>
          </a:blip>
          <a:srcRect l="-360" r="-360"/>
          <a:stretch/>
        </p:blipFill>
        <p:spPr>
          <a:xfrm>
            <a:off x="6423660" y="4038905"/>
            <a:ext cx="19202" cy="381305"/>
          </a:xfrm>
          <a:prstGeom prst="rect">
            <a:avLst/>
          </a:prstGeom>
        </p:spPr>
      </p:pic>
      <p:sp>
        <p:nvSpPr>
          <p:cNvPr id="35" name="타원 34"/>
          <p:cNvSpPr/>
          <p:nvPr/>
        </p:nvSpPr>
        <p:spPr>
          <a:xfrm>
            <a:off x="6151386" y="1453527"/>
            <a:ext cx="608400" cy="6084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6147212" y="2428195"/>
            <a:ext cx="608400" cy="6084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6142423" y="3430505"/>
            <a:ext cx="608400" cy="6084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6147212" y="4416228"/>
            <a:ext cx="608400" cy="6084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A4_Project_2AI1_DA_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권준호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780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603322" y="360408"/>
            <a:ext cx="112782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데이터 아키텍처 설계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03322" y="1161159"/>
            <a:ext cx="591288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면접 질문과 기업 정보를 체계적으로 관리하기 위한 스키마 및 포맷 표준화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613381" y="1772386"/>
            <a:ext cx="6107606" cy="486400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79176" y="1966101"/>
            <a:ext cx="57726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C2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면접 테이블 (Interview Table) 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004" r="-1004"/>
          <a:stretch/>
        </p:blipFill>
        <p:spPr>
          <a:xfrm>
            <a:off x="760578" y="2025037"/>
            <a:ext cx="213135" cy="167151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991124"/>
              </p:ext>
            </p:extLst>
          </p:nvPr>
        </p:nvGraphicFramePr>
        <p:xfrm>
          <a:off x="603322" y="2438934"/>
          <a:ext cx="6117665" cy="1641944"/>
        </p:xfrm>
        <a:graphic>
          <a:graphicData uri="http://schemas.openxmlformats.org/drawingml/2006/table">
            <a:tbl>
              <a:tblPr/>
              <a:tblGrid>
                <a:gridCol w="1834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2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컬럼명</a:t>
                      </a:r>
                      <a:endParaRPr 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Inter" charset="0"/>
                      </a:endParaRPr>
                    </a:p>
                  </a:txBody>
                  <a:tcPr marL="152705" marR="152705" marT="0" marB="0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설명 및 역할</a:t>
                      </a:r>
                      <a:endParaRPr 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Inter" charset="0"/>
                      </a:endParaRPr>
                    </a:p>
                  </a:txBody>
                  <a:tcPr marL="152705" marR="152705" marT="0" marB="0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 err="1" smtClean="0">
                          <a:solidFill>
                            <a:srgbClr val="555555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질문ID</a:t>
                      </a:r>
                      <a:r>
                        <a:rPr lang="en-US" sz="1125" dirty="0" smtClean="0">
                          <a:solidFill>
                            <a:srgbClr val="555555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(PK)</a:t>
                      </a:r>
                      <a:endParaRPr 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52705" marR="152705" marT="0" marB="0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555555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각 질문의 고유 식별자 (Unique Identifier)</a:t>
                      </a:r>
                      <a:endParaRPr lang="en-US" sz="1125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Inter" charset="0"/>
                      </a:endParaRPr>
                    </a:p>
                  </a:txBody>
                  <a:tcPr marL="152705" marR="152705" marT="0" marB="0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555555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질문 (Question)</a:t>
                      </a:r>
                      <a:endParaRPr lang="en-US" sz="1125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Inter" charset="0"/>
                      </a:endParaRPr>
                    </a:p>
                  </a:txBody>
                  <a:tcPr marL="152705" marR="152705" marT="0" marB="0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555555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실제 면접 질문 텍스트 데이터</a:t>
                      </a:r>
                      <a:endParaRPr lang="en-US" sz="1125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Inte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555555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직무 (Job)</a:t>
                      </a:r>
                      <a:endParaRPr lang="en-US" sz="1125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Inter" charset="0"/>
                      </a:endParaRPr>
                    </a:p>
                  </a:txBody>
                  <a:tcPr marL="152705" marR="152705" marT="0" marB="0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555555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해당 질문이 속한 직무 카테고리 분류</a:t>
                      </a:r>
                      <a:endParaRPr lang="en-US" sz="1125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Inter" charset="0"/>
                      </a:endParaRPr>
                    </a:p>
                  </a:txBody>
                  <a:tcPr marL="152705" marR="152705" marT="0" marB="0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555555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답변 (Answer)</a:t>
                      </a:r>
                      <a:endParaRPr lang="en-US" sz="1125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Inter" charset="0"/>
                      </a:endParaRPr>
                    </a:p>
                  </a:txBody>
                  <a:tcPr marL="152705" marR="152705" marT="0" marB="0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555555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질문에 대응하는 전문가 검수 모범 답안</a:t>
                      </a:r>
                      <a:endParaRPr lang="en-US" sz="1125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Inter" charset="0"/>
                      </a:endParaRPr>
                    </a:p>
                  </a:txBody>
                  <a:tcPr marL="152705" marR="152705" marT="0" marB="0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987863" y="4309147"/>
            <a:ext cx="58777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C2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기업 테이블 (Company Table) 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1528" r="-1528"/>
          <a:stretch/>
        </p:blipFill>
        <p:spPr>
          <a:xfrm>
            <a:off x="759263" y="4338933"/>
            <a:ext cx="161849" cy="209398"/>
          </a:xfrm>
          <a:prstGeom prst="rect">
            <a:avLst/>
          </a:prstGeom>
        </p:spPr>
      </p:pic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499454"/>
              </p:ext>
            </p:extLst>
          </p:nvPr>
        </p:nvGraphicFramePr>
        <p:xfrm>
          <a:off x="609905" y="4849471"/>
          <a:ext cx="6112185" cy="1369004"/>
        </p:xfrm>
        <a:graphic>
          <a:graphicData uri="http://schemas.openxmlformats.org/drawingml/2006/table">
            <a:tbl>
              <a:tblPr/>
              <a:tblGrid>
                <a:gridCol w="1833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8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2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컬럼명</a:t>
                      </a:r>
                      <a:endParaRPr 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Inte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설명 및 역할</a:t>
                      </a:r>
                      <a:endParaRPr 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Inte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2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 err="1" smtClean="0">
                          <a:solidFill>
                            <a:srgbClr val="555555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기업ID</a:t>
                      </a:r>
                      <a:r>
                        <a:rPr lang="en-US" sz="1125" dirty="0" smtClean="0">
                          <a:solidFill>
                            <a:srgbClr val="555555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(PK)</a:t>
                      </a:r>
                      <a:endParaRPr 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555555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각 기업 고유 식별자</a:t>
                      </a:r>
                      <a:endParaRPr lang="en-US" sz="1125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Inte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2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555555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기업명</a:t>
                      </a:r>
                      <a:endParaRPr lang="en-US" sz="1125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Inte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555555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기업 공식 명칭</a:t>
                      </a:r>
                      <a:endParaRPr lang="en-US" sz="1125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Inte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2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555555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기업인재상</a:t>
                      </a:r>
                      <a:endParaRPr lang="en-US" sz="1125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Inte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555555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 pitchFamily="34" charset="-120"/>
                        </a:rPr>
                        <a:t>기업이 추구하는 인재상 및 핵심 가치 (VectorDB 연계)</a:t>
                      </a:r>
                      <a:endParaRPr lang="en-US" sz="1125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Inter" charset="0"/>
                      </a:endParaRPr>
                    </a:p>
                  </a:txBody>
                  <a:tcPr marL="152705" marR="152705" marT="36000" marB="36000" anchor="ctr">
                    <a:lnL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8"/>
          <p:cNvSpPr/>
          <p:nvPr/>
        </p:nvSpPr>
        <p:spPr>
          <a:xfrm>
            <a:off x="7573975" y="2115007"/>
            <a:ext cx="4009644" cy="2190902"/>
          </a:xfrm>
          <a:prstGeom prst="roundRect">
            <a:avLst>
              <a:gd name="adj" fmla="val 2903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6" name="Shape 9"/>
          <p:cNvSpPr/>
          <p:nvPr/>
        </p:nvSpPr>
        <p:spPr>
          <a:xfrm>
            <a:off x="7573975" y="2115007"/>
            <a:ext cx="47549" cy="2190902"/>
          </a:xfrm>
          <a:prstGeom prst="roundRect">
            <a:avLst>
              <a:gd name="adj" fmla="val 133779"/>
            </a:avLst>
          </a:prstGeom>
          <a:solidFill>
            <a:srgbClr val="D4C5D9"/>
          </a:solidFill>
          <a:ln w="12700">
            <a:solidFill>
              <a:srgbClr val="D4C5D9">
                <a:alpha val="0"/>
              </a:srgbClr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7850124" y="2343607"/>
            <a:ext cx="36960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데이터 포맷 표준화 전략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1"/>
          <p:cNvSpPr txBox="1"/>
          <p:nvPr/>
        </p:nvSpPr>
        <p:spPr>
          <a:xfrm>
            <a:off x="8087868" y="2714854"/>
            <a:ext cx="33823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저장 형식 통일: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JSON, Dictionary 타입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850124" y="2752344"/>
            <a:ext cx="142646" cy="14264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087868" y="3023921"/>
            <a:ext cx="33439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Key 명명 규칙: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전 팀원 영문 Key 통일 (question, answer)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850124" y="3062326"/>
            <a:ext cx="142646" cy="142646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8087868" y="3547872"/>
            <a:ext cx="33439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일관성 확보: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데이터 병합 및 VectorDB 적재 용이성 증대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850124" y="3586277"/>
            <a:ext cx="142646" cy="142646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573975" y="4529023"/>
            <a:ext cx="4009644" cy="1943100"/>
          </a:xfrm>
          <a:prstGeom prst="roundRect">
            <a:avLst>
              <a:gd name="adj" fmla="val 2768"/>
            </a:avLst>
          </a:prstGeom>
          <a:solidFill>
            <a:srgbClr val="2C2C2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15"/>
          <p:cNvSpPr txBox="1"/>
          <p:nvPr/>
        </p:nvSpPr>
        <p:spPr>
          <a:xfrm>
            <a:off x="7765085" y="4719218"/>
            <a:ext cx="3743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// 데이터 포맷 표준화 예시 (JSON)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16"/>
          <p:cNvSpPr txBox="1"/>
          <p:nvPr/>
        </p:nvSpPr>
        <p:spPr>
          <a:xfrm>
            <a:off x="7765085" y="4981651"/>
            <a:ext cx="3743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0E0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[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 17"/>
          <p:cNvSpPr txBox="1"/>
          <p:nvPr/>
        </p:nvSpPr>
        <p:spPr>
          <a:xfrm>
            <a:off x="7765085" y="5167274"/>
            <a:ext cx="3743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0E0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{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18"/>
          <p:cNvSpPr txBox="1"/>
          <p:nvPr/>
        </p:nvSpPr>
        <p:spPr>
          <a:xfrm>
            <a:off x="7765085" y="5352898"/>
            <a:ext cx="3743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080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"question"</a:t>
            </a:r>
            <a:r>
              <a:rPr lang="en-US" sz="900" dirty="0">
                <a:solidFill>
                  <a:srgbClr val="E0E0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: </a:t>
            </a:r>
            <a:r>
              <a:rPr lang="en-US" sz="900" dirty="0">
                <a:solidFill>
                  <a:srgbClr val="98C37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"운영체제 커널 분석 경험이 있나요?"</a:t>
            </a:r>
            <a:r>
              <a:rPr lang="en-US" sz="900" dirty="0">
                <a:solidFill>
                  <a:srgbClr val="E0E0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,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19"/>
          <p:cNvSpPr txBox="1"/>
          <p:nvPr/>
        </p:nvSpPr>
        <p:spPr>
          <a:xfrm>
            <a:off x="7765085" y="5538521"/>
            <a:ext cx="3743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080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"answer"</a:t>
            </a:r>
            <a:r>
              <a:rPr lang="en-US" sz="900" dirty="0">
                <a:solidFill>
                  <a:srgbClr val="E0E0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: </a:t>
            </a:r>
            <a:r>
              <a:rPr lang="en-US" sz="900" dirty="0">
                <a:solidFill>
                  <a:srgbClr val="98C37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"네, 리눅스 시스템 콜을 분석했습니다."</a:t>
            </a:r>
            <a:r>
              <a:rPr lang="en-US" sz="900" dirty="0">
                <a:solidFill>
                  <a:srgbClr val="E0E0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,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0"/>
          <p:cNvSpPr txBox="1"/>
          <p:nvPr/>
        </p:nvSpPr>
        <p:spPr>
          <a:xfrm>
            <a:off x="7765085" y="5724144"/>
            <a:ext cx="3743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080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"job_category"</a:t>
            </a:r>
            <a:r>
              <a:rPr lang="en-US" sz="900" dirty="0">
                <a:solidFill>
                  <a:srgbClr val="E0E0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: </a:t>
            </a:r>
            <a:r>
              <a:rPr lang="en-US" sz="900" dirty="0">
                <a:solidFill>
                  <a:srgbClr val="98C37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"System Engineer"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1"/>
          <p:cNvSpPr txBox="1"/>
          <p:nvPr/>
        </p:nvSpPr>
        <p:spPr>
          <a:xfrm>
            <a:off x="7765085" y="5910682"/>
            <a:ext cx="3743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0E0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}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22"/>
          <p:cNvSpPr txBox="1"/>
          <p:nvPr/>
        </p:nvSpPr>
        <p:spPr>
          <a:xfrm>
            <a:off x="7765085" y="6096305"/>
            <a:ext cx="3743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0E0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]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A4_Project_2AI1_DA_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권준호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4465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 txBox="1"/>
          <p:nvPr/>
        </p:nvSpPr>
        <p:spPr>
          <a:xfrm>
            <a:off x="514806" y="476125"/>
            <a:ext cx="5455233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데이터 </a:t>
            </a:r>
            <a:r>
              <a:rPr lang="en-US" sz="3600" b="1" dirty="0" err="1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수집</a:t>
            </a:r>
            <a:r>
              <a:rPr lang="en-US" sz="36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3600" b="1" dirty="0" err="1" smtClean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과정</a:t>
            </a:r>
            <a:r>
              <a:rPr lang="en-US" sz="3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3600" b="1" dirty="0" smtClean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및 </a:t>
            </a:r>
            <a:r>
              <a:rPr lang="en-US" sz="36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규모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252299" y="1341252"/>
            <a:ext cx="4105522" cy="1152144"/>
            <a:chOff x="544304" y="3252188"/>
            <a:chExt cx="4336670" cy="1152144"/>
          </a:xfrm>
        </p:grpSpPr>
        <p:sp>
          <p:nvSpPr>
            <p:cNvPr id="9" name="Shape 6"/>
            <p:cNvSpPr/>
            <p:nvPr/>
          </p:nvSpPr>
          <p:spPr>
            <a:xfrm>
              <a:off x="544304" y="3252188"/>
              <a:ext cx="4336670" cy="1152144"/>
            </a:xfrm>
            <a:prstGeom prst="roundRect">
              <a:avLst>
                <a:gd name="adj" fmla="val 10495"/>
              </a:avLst>
            </a:prstGeom>
            <a:solidFill>
              <a:srgbClr val="FFFFFF">
                <a:alpha val="7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39700" dist="38100" dir="16200000" algn="bl" rotWithShape="0">
                <a:srgbClr val="000000">
                  <a:alpha val="3000"/>
                </a:srgbClr>
              </a:outerShdw>
            </a:effectLst>
          </p:spPr>
        </p:sp>
        <p:sp>
          <p:nvSpPr>
            <p:cNvPr id="10" name="Shape 7"/>
            <p:cNvSpPr/>
            <p:nvPr/>
          </p:nvSpPr>
          <p:spPr>
            <a:xfrm>
              <a:off x="783350" y="3626472"/>
              <a:ext cx="399415" cy="378000"/>
            </a:xfrm>
            <a:prstGeom prst="roundRect">
              <a:avLst>
                <a:gd name="adj" fmla="val 46065"/>
              </a:avLst>
            </a:prstGeom>
            <a:solidFill>
              <a:srgbClr val="B8C5D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2" name="Text 8"/>
            <p:cNvSpPr txBox="1"/>
            <p:nvPr/>
          </p:nvSpPr>
          <p:spPr>
            <a:xfrm>
              <a:off x="1346509" y="3415728"/>
              <a:ext cx="2895905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2C2C2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팀 구성 및 역할 분담</a:t>
              </a:r>
              <a:endParaRPr lang="en-US" sz="13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" name="Text 9"/>
            <p:cNvSpPr txBox="1"/>
            <p:nvPr/>
          </p:nvSpPr>
          <p:spPr>
            <a:xfrm>
              <a:off x="1353491" y="3724253"/>
              <a:ext cx="3411912" cy="5292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12명의 인원이 병렬로 수집 진행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0" indent="0" algn="l">
                <a:buNone/>
              </a:pPr>
              <a:r>
                <a:rPr 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기본 직무팀 &amp; 산업별 질문팀으로 </a:t>
              </a:r>
              <a:r>
                <a:rPr lang="en-US" sz="1100" dirty="0" err="1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이원화</a:t>
              </a:r>
              <a:r>
                <a:rPr 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 </a:t>
              </a:r>
              <a:r>
                <a:rPr lang="en-US" sz="1100" dirty="0" err="1" smtClean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운영</a:t>
              </a:r>
              <a:endParaRPr lang="en-US" sz="1100" dirty="0" smtClean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endParaRPr>
            </a:p>
            <a:p>
              <a:pPr marL="0" indent="0" algn="l">
                <a:buNone/>
              </a:pPr>
              <a:r>
                <a:rPr lang="ko-KR" altLang="en-US" sz="1100" dirty="0" smtClean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기업별 인재상 자동 수집 </a:t>
              </a:r>
              <a:r>
                <a:rPr lang="en-US" altLang="ko-KR" sz="1100" dirty="0" smtClean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&amp; </a:t>
              </a:r>
              <a:r>
                <a:rPr lang="ko-KR" altLang="en-US" sz="1100" dirty="0" smtClean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수동 수집 동시 진행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244682" y="2638661"/>
            <a:ext cx="4113139" cy="1152144"/>
            <a:chOff x="564072" y="4598297"/>
            <a:chExt cx="4313078" cy="1152144"/>
          </a:xfrm>
        </p:grpSpPr>
        <p:sp>
          <p:nvSpPr>
            <p:cNvPr id="14" name="Shape 10"/>
            <p:cNvSpPr/>
            <p:nvPr/>
          </p:nvSpPr>
          <p:spPr>
            <a:xfrm>
              <a:off x="564072" y="4598297"/>
              <a:ext cx="4313078" cy="1152144"/>
            </a:xfrm>
            <a:prstGeom prst="roundRect">
              <a:avLst>
                <a:gd name="adj" fmla="val 10495"/>
              </a:avLst>
            </a:prstGeom>
            <a:solidFill>
              <a:srgbClr val="FFFFFF">
                <a:alpha val="7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39700" dist="38100" dir="16200000" algn="bl" rotWithShape="0">
                <a:srgbClr val="000000">
                  <a:alpha val="3000"/>
                </a:srgbClr>
              </a:outerShdw>
            </a:effectLst>
          </p:spPr>
        </p:sp>
        <p:sp>
          <p:nvSpPr>
            <p:cNvPr id="15" name="Shape 11"/>
            <p:cNvSpPr/>
            <p:nvPr/>
          </p:nvSpPr>
          <p:spPr>
            <a:xfrm>
              <a:off x="838505" y="5004402"/>
              <a:ext cx="396375" cy="378000"/>
            </a:xfrm>
            <a:prstGeom prst="roundRect">
              <a:avLst>
                <a:gd name="adj" fmla="val 46065"/>
              </a:avLst>
            </a:prstGeom>
            <a:solidFill>
              <a:srgbClr val="E4BEC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7" name="Text 12"/>
            <p:cNvSpPr txBox="1"/>
            <p:nvPr/>
          </p:nvSpPr>
          <p:spPr>
            <a:xfrm>
              <a:off x="1505102" y="4816145"/>
              <a:ext cx="2762402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300" b="1" dirty="0" smtClean="0">
                  <a:solidFill>
                    <a:srgbClr val="2C2C2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답변 수집 </a:t>
              </a:r>
              <a:r>
                <a:rPr lang="en-US" sz="1300" b="1" dirty="0" err="1" smtClean="0">
                  <a:solidFill>
                    <a:srgbClr val="2C2C2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운영</a:t>
              </a:r>
              <a:r>
                <a:rPr lang="en-US" sz="1300" b="1" dirty="0" smtClean="0">
                  <a:solidFill>
                    <a:srgbClr val="2C2C2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 </a:t>
              </a:r>
              <a:r>
                <a:rPr lang="en-US" sz="1300" b="1" dirty="0">
                  <a:solidFill>
                    <a:srgbClr val="2C2C2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방식</a:t>
              </a:r>
              <a:endParaRPr lang="en-US" sz="13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8" name="Text 13"/>
            <p:cNvSpPr txBox="1"/>
            <p:nvPr/>
          </p:nvSpPr>
          <p:spPr>
            <a:xfrm>
              <a:off x="1505102" y="5111496"/>
              <a:ext cx="2935054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ko-KR" alt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대화형 </a:t>
              </a:r>
              <a:r>
                <a:rPr lang="ko-KR" altLang="en-US" sz="1100" dirty="0" smtClean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인터페이스 </a:t>
              </a:r>
              <a:r>
                <a:rPr lang="ko-KR" altLang="en-US" sz="1100" dirty="0" err="1" smtClean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생성형</a:t>
              </a:r>
              <a:r>
                <a:rPr lang="ko-KR" altLang="en-US" sz="1100" dirty="0" smtClean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  </a:t>
              </a:r>
              <a:r>
                <a:rPr lang="en-US" altLang="ko-KR" sz="1100" dirty="0" smtClean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AI</a:t>
              </a:r>
              <a:r>
                <a:rPr lang="en-US" sz="1100" dirty="0" smtClean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 </a:t>
              </a:r>
              <a:r>
                <a:rPr 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기반 초기 생성 후 </a:t>
              </a:r>
              <a:r>
                <a:rPr lang="ko-KR" altLang="en-US" sz="1100" dirty="0" smtClean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프롬프트를 통한 실시간</a:t>
              </a:r>
              <a:r>
                <a:rPr lang="en-US" sz="1100" dirty="0" smtClean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 </a:t>
              </a:r>
              <a:r>
                <a:rPr lang="ko-KR" altLang="en-US" sz="1100" dirty="0" smtClean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평가</a:t>
              </a:r>
              <a:endPara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sz="1100" dirty="0" err="1" smtClean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공통</a:t>
              </a:r>
              <a:r>
                <a:rPr lang="en-US" sz="1100" dirty="0" smtClean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 </a:t>
              </a:r>
              <a:r>
                <a:rPr 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프롬프트 사용으로 데이터 일관성 유지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8494787" y="1341251"/>
            <a:ext cx="3432944" cy="3205957"/>
            <a:chOff x="5777174" y="970036"/>
            <a:chExt cx="4590938" cy="4033955"/>
          </a:xfrm>
        </p:grpSpPr>
        <p:pic>
          <p:nvPicPr>
            <p:cNvPr id="19" name="Image 3" descr="preencoded.png"/>
            <p:cNvPicPr>
              <a:picLocks noChangeAspect="1"/>
            </p:cNvPicPr>
            <p:nvPr/>
          </p:nvPicPr>
          <p:blipFill>
            <a:blip r:embed="rId3"/>
            <a:srcRect t="-1" b="-1"/>
            <a:stretch/>
          </p:blipFill>
          <p:spPr>
            <a:xfrm>
              <a:off x="5777174" y="970036"/>
              <a:ext cx="4590938" cy="4033955"/>
            </a:xfrm>
            <a:prstGeom prst="rect">
              <a:avLst/>
            </a:prstGeom>
          </p:spPr>
        </p:pic>
        <p:pic>
          <p:nvPicPr>
            <p:cNvPr id="22" name="Image 5" descr="preencoded.png"/>
            <p:cNvPicPr>
              <a:picLocks noChangeAspect="1"/>
            </p:cNvPicPr>
            <p:nvPr/>
          </p:nvPicPr>
          <p:blipFill>
            <a:blip r:embed="rId4"/>
            <a:srcRect t="-1" b="-1"/>
            <a:stretch/>
          </p:blipFill>
          <p:spPr>
            <a:xfrm>
              <a:off x="6092053" y="1238938"/>
              <a:ext cx="4086484" cy="3496152"/>
            </a:xfrm>
            <a:prstGeom prst="rect">
              <a:avLst/>
            </a:prstGeom>
          </p:spPr>
        </p:pic>
      </p:grpSp>
      <p:grpSp>
        <p:nvGrpSpPr>
          <p:cNvPr id="35" name="그룹 34"/>
          <p:cNvGrpSpPr/>
          <p:nvPr/>
        </p:nvGrpSpPr>
        <p:grpSpPr>
          <a:xfrm>
            <a:off x="252299" y="5312696"/>
            <a:ext cx="4108221" cy="1152144"/>
            <a:chOff x="564072" y="4598297"/>
            <a:chExt cx="4313078" cy="1152144"/>
          </a:xfrm>
        </p:grpSpPr>
        <p:sp>
          <p:nvSpPr>
            <p:cNvPr id="36" name="Shape 10"/>
            <p:cNvSpPr/>
            <p:nvPr/>
          </p:nvSpPr>
          <p:spPr>
            <a:xfrm>
              <a:off x="564072" y="4598297"/>
              <a:ext cx="4313078" cy="1152144"/>
            </a:xfrm>
            <a:prstGeom prst="roundRect">
              <a:avLst>
                <a:gd name="adj" fmla="val 10495"/>
              </a:avLst>
            </a:prstGeom>
            <a:solidFill>
              <a:srgbClr val="FFFFFF">
                <a:alpha val="7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39700" dist="38100" dir="16200000" algn="bl" rotWithShape="0">
                <a:srgbClr val="000000">
                  <a:alpha val="3000"/>
                </a:srgbClr>
              </a:outerShdw>
            </a:effectLst>
          </p:spPr>
        </p:sp>
        <p:sp>
          <p:nvSpPr>
            <p:cNvPr id="38" name="Text 12"/>
            <p:cNvSpPr txBox="1"/>
            <p:nvPr/>
          </p:nvSpPr>
          <p:spPr>
            <a:xfrm>
              <a:off x="1505102" y="4816145"/>
              <a:ext cx="2762402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300" b="1" dirty="0" smtClean="0">
                  <a:solidFill>
                    <a:srgbClr val="2C2C2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데이터 확장</a:t>
              </a:r>
              <a:endParaRPr lang="en-US" sz="13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9" name="Text 13"/>
            <p:cNvSpPr txBox="1"/>
            <p:nvPr/>
          </p:nvSpPr>
          <p:spPr>
            <a:xfrm>
              <a:off x="1505102" y="5111496"/>
              <a:ext cx="2762402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ko-KR" altLang="en-US" sz="1100" dirty="0" err="1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초개인화</a:t>
              </a:r>
              <a:r>
                <a:rPr lang="ko-KR" alt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 구현 및 </a:t>
              </a:r>
              <a:r>
                <a:rPr lang="en-US" altLang="ko-KR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RAG </a:t>
              </a:r>
              <a:r>
                <a:rPr lang="ko-KR" alt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정밀도 강화를 위해 </a:t>
              </a:r>
              <a:r>
                <a:rPr lang="ko-KR" altLang="en-US" sz="1100" dirty="0" err="1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상화작용</a:t>
              </a:r>
              <a:r>
                <a:rPr lang="ko-KR" alt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 가능한 맞춤 데이터 </a:t>
              </a:r>
              <a:endParaRPr lang="en-US" altLang="ko-KR" sz="11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endParaRPr>
            </a:p>
            <a:p>
              <a:r>
                <a:rPr lang="en-US" altLang="ko-KR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7,203</a:t>
              </a:r>
              <a:r>
                <a:rPr lang="ko-KR" alt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건 추가 확장으로 총 </a:t>
              </a:r>
              <a:r>
                <a:rPr lang="en-US" altLang="ko-KR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13,316</a:t>
              </a:r>
              <a:r>
                <a:rPr lang="ko-KR" alt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건 확보</a:t>
              </a:r>
              <a:endParaRPr lang="en-US" sz="11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endParaRP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4597905" y="1343231"/>
            <a:ext cx="3741866" cy="3203978"/>
            <a:chOff x="5085362" y="1433349"/>
            <a:chExt cx="5139293" cy="4347176"/>
          </a:xfrm>
        </p:grpSpPr>
        <p:grpSp>
          <p:nvGrpSpPr>
            <p:cNvPr id="53" name="그룹 52"/>
            <p:cNvGrpSpPr/>
            <p:nvPr/>
          </p:nvGrpSpPr>
          <p:grpSpPr>
            <a:xfrm>
              <a:off x="5085362" y="1433349"/>
              <a:ext cx="5139293" cy="4347176"/>
              <a:chOff x="607121" y="710694"/>
              <a:chExt cx="6595238" cy="5098023"/>
            </a:xfrm>
          </p:grpSpPr>
          <p:sp>
            <p:nvSpPr>
              <p:cNvPr id="52" name="모서리가 둥근 직사각형 51"/>
              <p:cNvSpPr/>
              <p:nvPr/>
            </p:nvSpPr>
            <p:spPr>
              <a:xfrm>
                <a:off x="607121" y="710694"/>
                <a:ext cx="6595238" cy="5098023"/>
              </a:xfrm>
              <a:prstGeom prst="roundRect">
                <a:avLst>
                  <a:gd name="adj" fmla="val 2661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grpSp>
            <p:nvGrpSpPr>
              <p:cNvPr id="51" name="그룹 50"/>
              <p:cNvGrpSpPr/>
              <p:nvPr/>
            </p:nvGrpSpPr>
            <p:grpSpPr>
              <a:xfrm>
                <a:off x="1074051" y="1056906"/>
                <a:ext cx="5495558" cy="4538493"/>
                <a:chOff x="9516670" y="2053038"/>
                <a:chExt cx="5495558" cy="4538493"/>
              </a:xfrm>
            </p:grpSpPr>
            <p:graphicFrame>
              <p:nvGraphicFramePr>
                <p:cNvPr id="43" name="차트 42"/>
                <p:cNvGraphicFramePr/>
                <p:nvPr>
                  <p:extLst/>
                </p:nvPr>
              </p:nvGraphicFramePr>
              <p:xfrm>
                <a:off x="9516670" y="2053038"/>
                <a:ext cx="5495558" cy="45384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5"/>
                </a:graphicData>
              </a:graphic>
            </p:graphicFrame>
            <p:sp>
              <p:nvSpPr>
                <p:cNvPr id="49" name="자유형 48"/>
                <p:cNvSpPr/>
                <p:nvPr/>
              </p:nvSpPr>
              <p:spPr>
                <a:xfrm>
                  <a:off x="10832943" y="3293121"/>
                  <a:ext cx="1238400" cy="2844000"/>
                </a:xfrm>
                <a:custGeom>
                  <a:avLst/>
                  <a:gdLst>
                    <a:gd name="connsiteX0" fmla="*/ 78385 w 1224000"/>
                    <a:gd name="connsiteY0" fmla="*/ 0 h 1176198"/>
                    <a:gd name="connsiteX1" fmla="*/ 1145615 w 1224000"/>
                    <a:gd name="connsiteY1" fmla="*/ 0 h 1176198"/>
                    <a:gd name="connsiteX2" fmla="*/ 1224000 w 1224000"/>
                    <a:gd name="connsiteY2" fmla="*/ 78385 h 1176198"/>
                    <a:gd name="connsiteX3" fmla="*/ 1224000 w 1224000"/>
                    <a:gd name="connsiteY3" fmla="*/ 1176198 h 1176198"/>
                    <a:gd name="connsiteX4" fmla="*/ 0 w 1224000"/>
                    <a:gd name="connsiteY4" fmla="*/ 1176198 h 1176198"/>
                    <a:gd name="connsiteX5" fmla="*/ 0 w 1224000"/>
                    <a:gd name="connsiteY5" fmla="*/ 78385 h 1176198"/>
                    <a:gd name="connsiteX6" fmla="*/ 78385 w 1224000"/>
                    <a:gd name="connsiteY6" fmla="*/ 0 h 1176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24000" h="1176198">
                      <a:moveTo>
                        <a:pt x="78385" y="0"/>
                      </a:moveTo>
                      <a:lnTo>
                        <a:pt x="1145615" y="0"/>
                      </a:lnTo>
                      <a:cubicBezTo>
                        <a:pt x="1188906" y="0"/>
                        <a:pt x="1224000" y="35094"/>
                        <a:pt x="1224000" y="78385"/>
                      </a:cubicBezTo>
                      <a:lnTo>
                        <a:pt x="1224000" y="1176198"/>
                      </a:lnTo>
                      <a:lnTo>
                        <a:pt x="0" y="1176198"/>
                      </a:lnTo>
                      <a:lnTo>
                        <a:pt x="0" y="78385"/>
                      </a:lnTo>
                      <a:cubicBezTo>
                        <a:pt x="0" y="35094"/>
                        <a:pt x="35094" y="0"/>
                        <a:pt x="78385" y="0"/>
                      </a:cubicBezTo>
                      <a:close/>
                    </a:path>
                  </a:pathLst>
                </a:custGeom>
                <a:solidFill>
                  <a:srgbClr val="C8D3B1"/>
                </a:solidFill>
                <a:ln>
                  <a:solidFill>
                    <a:srgbClr val="C8D3B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  <p:sp>
              <p:nvSpPr>
                <p:cNvPr id="47" name="자유형 46"/>
                <p:cNvSpPr/>
                <p:nvPr/>
              </p:nvSpPr>
              <p:spPr>
                <a:xfrm>
                  <a:off x="12925275" y="4960923"/>
                  <a:ext cx="1224000" cy="1176198"/>
                </a:xfrm>
                <a:custGeom>
                  <a:avLst/>
                  <a:gdLst>
                    <a:gd name="connsiteX0" fmla="*/ 78385 w 1224000"/>
                    <a:gd name="connsiteY0" fmla="*/ 0 h 1176198"/>
                    <a:gd name="connsiteX1" fmla="*/ 1145615 w 1224000"/>
                    <a:gd name="connsiteY1" fmla="*/ 0 h 1176198"/>
                    <a:gd name="connsiteX2" fmla="*/ 1224000 w 1224000"/>
                    <a:gd name="connsiteY2" fmla="*/ 78385 h 1176198"/>
                    <a:gd name="connsiteX3" fmla="*/ 1224000 w 1224000"/>
                    <a:gd name="connsiteY3" fmla="*/ 1176198 h 1176198"/>
                    <a:gd name="connsiteX4" fmla="*/ 0 w 1224000"/>
                    <a:gd name="connsiteY4" fmla="*/ 1176198 h 1176198"/>
                    <a:gd name="connsiteX5" fmla="*/ 0 w 1224000"/>
                    <a:gd name="connsiteY5" fmla="*/ 78385 h 1176198"/>
                    <a:gd name="connsiteX6" fmla="*/ 78385 w 1224000"/>
                    <a:gd name="connsiteY6" fmla="*/ 0 h 1176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24000" h="1176198">
                      <a:moveTo>
                        <a:pt x="78385" y="0"/>
                      </a:moveTo>
                      <a:lnTo>
                        <a:pt x="1145615" y="0"/>
                      </a:lnTo>
                      <a:cubicBezTo>
                        <a:pt x="1188906" y="0"/>
                        <a:pt x="1224000" y="35094"/>
                        <a:pt x="1224000" y="78385"/>
                      </a:cubicBezTo>
                      <a:lnTo>
                        <a:pt x="1224000" y="1176198"/>
                      </a:lnTo>
                      <a:lnTo>
                        <a:pt x="0" y="1176198"/>
                      </a:lnTo>
                      <a:lnTo>
                        <a:pt x="0" y="78385"/>
                      </a:lnTo>
                      <a:cubicBezTo>
                        <a:pt x="0" y="35094"/>
                        <a:pt x="35094" y="0"/>
                        <a:pt x="78385" y="0"/>
                      </a:cubicBezTo>
                      <a:close/>
                    </a:path>
                  </a:pathLst>
                </a:custGeom>
                <a:solidFill>
                  <a:srgbClr val="F0F6BC"/>
                </a:solidFill>
                <a:ln>
                  <a:solidFill>
                    <a:srgbClr val="F0F6B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</p:grpSp>
        </p:grpSp>
        <p:sp>
          <p:nvSpPr>
            <p:cNvPr id="54" name="TextBox 53"/>
            <p:cNvSpPr txBox="1"/>
            <p:nvPr/>
          </p:nvSpPr>
          <p:spPr>
            <a:xfrm>
              <a:off x="6474911" y="1742106"/>
              <a:ext cx="2391999" cy="375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기업별 인재상 수집 방법</a:t>
              </a:r>
              <a:endPara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579072" y="2456577"/>
              <a:ext cx="860853" cy="375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112</a:t>
              </a:r>
              <a:r>
                <a:rPr lang="ko-KR" altLang="en-US" sz="12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개</a:t>
              </a:r>
              <a:endPara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222213" y="3867486"/>
              <a:ext cx="836926" cy="375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103</a:t>
              </a:r>
              <a:r>
                <a:rPr lang="ko-KR" altLang="en-US" sz="12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개</a:t>
              </a:r>
              <a:endPara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895057" y="5274077"/>
              <a:ext cx="1761908" cy="344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담당자 직접 수집</a:t>
              </a:r>
              <a:endParaRPr lang="ko-KR" altLang="en-US" sz="105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265681" y="5278428"/>
              <a:ext cx="1693090" cy="344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 b="1" dirty="0" err="1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웹크롤링</a:t>
              </a:r>
              <a:r>
                <a:rPr lang="ko-KR" altLang="en-US" sz="105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자동 수집</a:t>
              </a:r>
              <a:endParaRPr lang="ko-KR" altLang="en-US" sz="105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239026" y="3979913"/>
            <a:ext cx="4108221" cy="1152144"/>
            <a:chOff x="564072" y="4598297"/>
            <a:chExt cx="4313078" cy="1152144"/>
          </a:xfrm>
        </p:grpSpPr>
        <p:sp>
          <p:nvSpPr>
            <p:cNvPr id="61" name="Shape 10"/>
            <p:cNvSpPr/>
            <p:nvPr/>
          </p:nvSpPr>
          <p:spPr>
            <a:xfrm>
              <a:off x="564072" y="4598297"/>
              <a:ext cx="4313078" cy="1152144"/>
            </a:xfrm>
            <a:prstGeom prst="roundRect">
              <a:avLst>
                <a:gd name="adj" fmla="val 10495"/>
              </a:avLst>
            </a:prstGeom>
            <a:solidFill>
              <a:srgbClr val="FFFFFF">
                <a:alpha val="7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39700" dist="38100" dir="16200000" algn="bl" rotWithShape="0">
                <a:srgbClr val="000000">
                  <a:alpha val="3000"/>
                </a:srgbClr>
              </a:outerShdw>
            </a:effectLst>
          </p:spPr>
        </p:sp>
        <p:sp>
          <p:nvSpPr>
            <p:cNvPr id="63" name="Text 12"/>
            <p:cNvSpPr txBox="1"/>
            <p:nvPr/>
          </p:nvSpPr>
          <p:spPr>
            <a:xfrm>
              <a:off x="1505102" y="4816145"/>
              <a:ext cx="2762402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300" b="1" dirty="0" smtClean="0">
                  <a:solidFill>
                    <a:srgbClr val="2C2C2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수집 데이터 품질 검사</a:t>
              </a:r>
              <a:endParaRPr lang="en-US" sz="13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65" name="Shape 11"/>
          <p:cNvSpPr/>
          <p:nvPr/>
        </p:nvSpPr>
        <p:spPr>
          <a:xfrm>
            <a:off x="517725" y="4370589"/>
            <a:ext cx="378000" cy="378000"/>
          </a:xfrm>
          <a:prstGeom prst="roundRect">
            <a:avLst>
              <a:gd name="adj" fmla="val 46065"/>
            </a:avLst>
          </a:prstGeom>
          <a:solidFill>
            <a:srgbClr val="F7E3BB"/>
          </a:solidFill>
          <a:ln w="12700">
            <a:solidFill>
              <a:srgbClr val="F7E3BB">
                <a:alpha val="0"/>
              </a:srgbClr>
            </a:solidFill>
            <a:prstDash val="solid"/>
          </a:ln>
        </p:spPr>
      </p:sp>
      <p:sp>
        <p:nvSpPr>
          <p:cNvPr id="66" name="Shape 11"/>
          <p:cNvSpPr/>
          <p:nvPr/>
        </p:nvSpPr>
        <p:spPr>
          <a:xfrm>
            <a:off x="514806" y="5659474"/>
            <a:ext cx="378000" cy="378000"/>
          </a:xfrm>
          <a:prstGeom prst="roundRect">
            <a:avLst>
              <a:gd name="adj" fmla="val 46065"/>
            </a:avLst>
          </a:prstGeom>
          <a:solidFill>
            <a:srgbClr val="C8D3B1"/>
          </a:solidFill>
          <a:ln w="12700">
            <a:solidFill>
              <a:srgbClr val="C8D3B1">
                <a:alpha val="0"/>
              </a:srgbClr>
            </a:solidFill>
            <a:prstDash val="solid"/>
          </a:ln>
        </p:spPr>
      </p:sp>
      <p:grpSp>
        <p:nvGrpSpPr>
          <p:cNvPr id="77" name="그룹 76"/>
          <p:cNvGrpSpPr/>
          <p:nvPr/>
        </p:nvGrpSpPr>
        <p:grpSpPr>
          <a:xfrm>
            <a:off x="4761477" y="4832374"/>
            <a:ext cx="2205977" cy="1654200"/>
            <a:chOff x="4604675" y="4832374"/>
            <a:chExt cx="2205977" cy="1654200"/>
          </a:xfrm>
        </p:grpSpPr>
        <p:sp>
          <p:nvSpPr>
            <p:cNvPr id="71" name="Shape 10"/>
            <p:cNvSpPr/>
            <p:nvPr/>
          </p:nvSpPr>
          <p:spPr>
            <a:xfrm>
              <a:off x="4604675" y="4832374"/>
              <a:ext cx="2174702" cy="1654200"/>
            </a:xfrm>
            <a:prstGeom prst="roundRect">
              <a:avLst>
                <a:gd name="adj" fmla="val 6587"/>
              </a:avLst>
            </a:prstGeom>
            <a:solidFill>
              <a:srgbClr val="FFFFFF">
                <a:alpha val="7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39700" dist="38100" dir="16200000" algn="bl" rotWithShape="0">
                <a:srgbClr val="000000">
                  <a:alpha val="3000"/>
                </a:srgbClr>
              </a:outerShdw>
            </a:effectLst>
          </p:spPr>
        </p:sp>
        <p:sp>
          <p:nvSpPr>
            <p:cNvPr id="73" name="모서리가 둥근 직사각형 72"/>
            <p:cNvSpPr/>
            <p:nvPr/>
          </p:nvSpPr>
          <p:spPr>
            <a:xfrm>
              <a:off x="4876233" y="5044816"/>
              <a:ext cx="216000" cy="216000"/>
            </a:xfrm>
            <a:prstGeom prst="roundRect">
              <a:avLst/>
            </a:prstGeom>
            <a:solidFill>
              <a:srgbClr val="E4BEC3"/>
            </a:solidFill>
            <a:ln>
              <a:solidFill>
                <a:srgbClr val="E4BE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5111805" y="5005273"/>
              <a:ext cx="16931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질문 수집 결과</a:t>
              </a:r>
              <a:endPara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4717699" y="5294679"/>
              <a:ext cx="208720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Total</a:t>
              </a:r>
              <a:r>
                <a:rPr lang="en-US" altLang="ko-KR" sz="28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– </a:t>
              </a:r>
              <a:r>
                <a:rPr lang="en-US" altLang="ko-KR" sz="20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13,316</a:t>
              </a:r>
              <a:endPara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4796812" y="5815724"/>
              <a:ext cx="20138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err="1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자동화율</a:t>
              </a:r>
              <a:r>
                <a:rPr lang="ko-KR" altLang="en-US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 </a:t>
              </a:r>
              <a:r>
                <a:rPr lang="en-US" altLang="ko-KR" sz="2800" b="1" dirty="0">
                  <a:solidFill>
                    <a:srgbClr val="0070C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7</a:t>
              </a:r>
              <a:r>
                <a:rPr lang="en-US" altLang="ko-KR" sz="2800" b="1" dirty="0" smtClean="0">
                  <a:solidFill>
                    <a:srgbClr val="0070C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0%</a:t>
              </a:r>
              <a:endParaRPr lang="ko-KR" altLang="en-US" sz="28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78" name="그룹 77"/>
          <p:cNvGrpSpPr/>
          <p:nvPr/>
        </p:nvGrpSpPr>
        <p:grpSpPr>
          <a:xfrm>
            <a:off x="9671519" y="4810640"/>
            <a:ext cx="2174702" cy="1654200"/>
            <a:chOff x="4622023" y="4810640"/>
            <a:chExt cx="2174702" cy="1654200"/>
          </a:xfrm>
        </p:grpSpPr>
        <p:sp>
          <p:nvSpPr>
            <p:cNvPr id="79" name="Shape 10"/>
            <p:cNvSpPr/>
            <p:nvPr/>
          </p:nvSpPr>
          <p:spPr>
            <a:xfrm>
              <a:off x="4622023" y="4810640"/>
              <a:ext cx="2174702" cy="1654200"/>
            </a:xfrm>
            <a:prstGeom prst="roundRect">
              <a:avLst>
                <a:gd name="adj" fmla="val 6587"/>
              </a:avLst>
            </a:prstGeom>
            <a:solidFill>
              <a:srgbClr val="FFFFFF">
                <a:alpha val="7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39700" dist="38100" dir="16200000" algn="bl" rotWithShape="0">
                <a:srgbClr val="000000">
                  <a:alpha val="3000"/>
                </a:srgbClr>
              </a:outerShdw>
            </a:effectLst>
          </p:spPr>
        </p:sp>
        <p:sp>
          <p:nvSpPr>
            <p:cNvPr id="80" name="모서리가 둥근 직사각형 79"/>
            <p:cNvSpPr/>
            <p:nvPr/>
          </p:nvSpPr>
          <p:spPr>
            <a:xfrm>
              <a:off x="4876233" y="5044816"/>
              <a:ext cx="216000" cy="216000"/>
            </a:xfrm>
            <a:prstGeom prst="roundRect">
              <a:avLst/>
            </a:prstGeom>
            <a:solidFill>
              <a:srgbClr val="F7E3BB"/>
            </a:solidFill>
            <a:ln>
              <a:solidFill>
                <a:srgbClr val="F7E3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103622" y="4999859"/>
              <a:ext cx="16931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답변 수집 결과</a:t>
              </a:r>
              <a:endPara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815120" y="5400579"/>
              <a:ext cx="19204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Total – 6,113</a:t>
              </a:r>
              <a:endPara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782884" y="5817899"/>
              <a:ext cx="20138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err="1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자동화율</a:t>
              </a:r>
              <a:r>
                <a:rPr lang="ko-KR" altLang="en-US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 </a:t>
              </a:r>
              <a:r>
                <a:rPr lang="en-US" altLang="ko-KR" sz="2800" b="1" dirty="0" smtClean="0">
                  <a:solidFill>
                    <a:srgbClr val="0070C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50%</a:t>
              </a:r>
              <a:endParaRPr lang="ko-KR" altLang="en-US" sz="28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86" name="그룹 85"/>
          <p:cNvGrpSpPr/>
          <p:nvPr/>
        </p:nvGrpSpPr>
        <p:grpSpPr>
          <a:xfrm>
            <a:off x="7212887" y="4832374"/>
            <a:ext cx="2493617" cy="1654200"/>
            <a:chOff x="4599808" y="4810640"/>
            <a:chExt cx="2493617" cy="1654200"/>
          </a:xfrm>
        </p:grpSpPr>
        <p:sp>
          <p:nvSpPr>
            <p:cNvPr id="87" name="Shape 10"/>
            <p:cNvSpPr/>
            <p:nvPr/>
          </p:nvSpPr>
          <p:spPr>
            <a:xfrm>
              <a:off x="4622023" y="4810640"/>
              <a:ext cx="2174702" cy="1654200"/>
            </a:xfrm>
            <a:prstGeom prst="roundRect">
              <a:avLst>
                <a:gd name="adj" fmla="val 6587"/>
              </a:avLst>
            </a:prstGeom>
            <a:solidFill>
              <a:srgbClr val="FFFFFF">
                <a:alpha val="7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39700" dist="38100" dir="16200000" algn="bl" rotWithShape="0">
                <a:srgbClr val="000000">
                  <a:alpha val="3000"/>
                </a:srgbClr>
              </a:outerShdw>
            </a:effectLst>
          </p:spPr>
        </p:sp>
        <p:sp>
          <p:nvSpPr>
            <p:cNvPr id="88" name="모서리가 둥근 직사각형 87"/>
            <p:cNvSpPr/>
            <p:nvPr/>
          </p:nvSpPr>
          <p:spPr>
            <a:xfrm>
              <a:off x="4876233" y="5044816"/>
              <a:ext cx="216000" cy="216000"/>
            </a:xfrm>
            <a:prstGeom prst="roundRect">
              <a:avLst/>
            </a:prstGeom>
            <a:solidFill>
              <a:srgbClr val="C8D3B1"/>
            </a:solidFill>
            <a:ln>
              <a:solidFill>
                <a:srgbClr val="C8D3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129153" y="5009053"/>
              <a:ext cx="16931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인재상 수집 결과</a:t>
              </a:r>
              <a:endPara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4876233" y="5383089"/>
              <a:ext cx="16118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Total – 215</a:t>
              </a:r>
              <a:endPara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4599808" y="5783199"/>
              <a:ext cx="24936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err="1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자동화율</a:t>
              </a:r>
              <a:r>
                <a:rPr lang="ko-KR" altLang="en-US" b="1" dirty="0" smtClean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 </a:t>
              </a:r>
              <a:r>
                <a:rPr lang="en-US" altLang="ko-KR" sz="2800" b="1" dirty="0" smtClean="0">
                  <a:solidFill>
                    <a:srgbClr val="0070C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51.6%</a:t>
              </a:r>
              <a:endParaRPr lang="ko-KR" altLang="en-US" sz="28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62" name="Text 13"/>
          <p:cNvSpPr txBox="1"/>
          <p:nvPr/>
        </p:nvSpPr>
        <p:spPr>
          <a:xfrm>
            <a:off x="1145519" y="4493112"/>
            <a:ext cx="279556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>
              <a:defRPr sz="110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독립형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Stateless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사용으로 사용자 영향 배제하여 검사 중립성을 확보하여  품질 기준 기반 검사 후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정답화</a:t>
            </a:r>
            <a:endParaRPr 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A4_Project_2AI1_DA_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권준호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708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457200" y="609905"/>
            <a:ext cx="112782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품질 검사 문제 분석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14807" y="1410005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초기 데이터 생성 및 검증 과정에서 발생한 주요 품질 이슈 현황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120" b="-120"/>
          <a:stretch/>
        </p:blipFill>
        <p:spPr>
          <a:xfrm>
            <a:off x="5976518" y="3972154"/>
            <a:ext cx="237744" cy="381305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609905" y="2076602"/>
            <a:ext cx="4986223" cy="417240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95198" y="2894990"/>
            <a:ext cx="4419295" cy="19202"/>
          </a:xfrm>
          <a:prstGeom prst="rect">
            <a:avLst/>
          </a:prstGeom>
          <a:solidFill>
            <a:srgbClr val="F5E6E8"/>
          </a:solidFill>
          <a:ln w="12700">
            <a:solidFill>
              <a:srgbClr val="F5E6E8">
                <a:alpha val="0"/>
              </a:srgbClr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198" y="2376526"/>
            <a:ext cx="724205" cy="31455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5198" y="2376526"/>
            <a:ext cx="724205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1차 검사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1733702" y="2361895"/>
            <a:ext cx="17538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초기 생성 단계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895198" y="3143707"/>
            <a:ext cx="4419295" cy="942746"/>
          </a:xfrm>
          <a:prstGeom prst="roundRect">
            <a:avLst>
              <a:gd name="adj" fmla="val 11757"/>
            </a:avLst>
          </a:prstGeom>
          <a:solidFill>
            <a:srgbClr val="FAF8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65606" y="3295498"/>
            <a:ext cx="22219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합격률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1006754" y="3534156"/>
            <a:ext cx="213969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5393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73.3%</a:t>
            </a:r>
            <a:endParaRPr lang="en-US" sz="2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3097987" y="3295498"/>
            <a:ext cx="9144" cy="638251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024835" y="3295498"/>
            <a:ext cx="22219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부적합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3065983" y="3534156"/>
            <a:ext cx="213969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1,632건</a:t>
            </a:r>
            <a:endParaRPr lang="en-US" sz="2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895198" y="4315054"/>
            <a:ext cx="381305" cy="381305"/>
          </a:xfrm>
          <a:prstGeom prst="ellipse">
            <a:avLst/>
          </a:prstGeom>
          <a:solidFill>
            <a:srgbClr val="F5E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1019556" y="4429354"/>
            <a:ext cx="133502" cy="1527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90802" y="4315054"/>
            <a:ext cx="4114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C2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심각한 분량 미달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1390802" y="4610405"/>
            <a:ext cx="40005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부적합 사유의 97.2% 차지. 3문장 이하의 단답형 답변으로 논리적 깊이와 설득력 부족.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895198" y="5191049"/>
            <a:ext cx="381305" cy="381305"/>
          </a:xfrm>
          <a:prstGeom prst="ellipse">
            <a:avLst/>
          </a:prstGeom>
          <a:solidFill>
            <a:srgbClr val="F5E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9498" y="5305349"/>
            <a:ext cx="152705" cy="1527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90802" y="5191049"/>
            <a:ext cx="4114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C2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검수 오류 발생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1390802" y="5486400"/>
            <a:ext cx="40005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영어 답변이나 자기소개 형식을 '정의 누락'으로 오인하여 잘못된 판정 내리는 시스템 오류.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6596482" y="2076602"/>
            <a:ext cx="4986223" cy="4172407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881774" y="2894990"/>
            <a:ext cx="4419295" cy="19202"/>
          </a:xfrm>
          <a:prstGeom prst="rect">
            <a:avLst/>
          </a:prstGeom>
          <a:solidFill>
            <a:srgbClr val="F5E6E8"/>
          </a:solidFill>
          <a:ln w="12700">
            <a:solidFill>
              <a:srgbClr val="F5E6E8">
                <a:alpha val="0"/>
              </a:srgbClr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1774" y="2376526"/>
            <a:ext cx="752551" cy="31455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881774" y="2376526"/>
            <a:ext cx="75255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2차 검사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23"/>
          <p:cNvSpPr txBox="1"/>
          <p:nvPr/>
        </p:nvSpPr>
        <p:spPr>
          <a:xfrm>
            <a:off x="7746797" y="2361895"/>
            <a:ext cx="17538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구조 개선 단계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Shape 24"/>
          <p:cNvSpPr/>
          <p:nvPr/>
        </p:nvSpPr>
        <p:spPr>
          <a:xfrm>
            <a:off x="6881774" y="3143707"/>
            <a:ext cx="4419295" cy="942746"/>
          </a:xfrm>
          <a:prstGeom prst="roundRect">
            <a:avLst>
              <a:gd name="adj" fmla="val 11757"/>
            </a:avLst>
          </a:prstGeom>
          <a:solidFill>
            <a:srgbClr val="FAF8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6952183" y="3295498"/>
            <a:ext cx="22219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합격률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26"/>
          <p:cNvSpPr txBox="1"/>
          <p:nvPr/>
        </p:nvSpPr>
        <p:spPr>
          <a:xfrm>
            <a:off x="6993331" y="3534156"/>
            <a:ext cx="213969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B8C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71.4%</a:t>
            </a:r>
            <a:endParaRPr lang="en-US" sz="2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Shape 27"/>
          <p:cNvSpPr/>
          <p:nvPr/>
        </p:nvSpPr>
        <p:spPr>
          <a:xfrm>
            <a:off x="9084564" y="3295498"/>
            <a:ext cx="9144" cy="638251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>
                <a:alpha val="0"/>
              </a:srgbClr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9011412" y="3295498"/>
            <a:ext cx="22219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정성 점수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 29"/>
          <p:cNvSpPr txBox="1"/>
          <p:nvPr/>
        </p:nvSpPr>
        <p:spPr>
          <a:xfrm>
            <a:off x="9052560" y="3534156"/>
            <a:ext cx="213969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74.7점</a:t>
            </a:r>
            <a:endParaRPr lang="en-US" sz="2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Shape 30"/>
          <p:cNvSpPr/>
          <p:nvPr/>
        </p:nvSpPr>
        <p:spPr>
          <a:xfrm>
            <a:off x="6881774" y="4315054"/>
            <a:ext cx="381305" cy="381305"/>
          </a:xfrm>
          <a:prstGeom prst="ellipse">
            <a:avLst/>
          </a:prstGeom>
          <a:solidFill>
            <a:srgbClr val="E0E0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96074" y="4429354"/>
            <a:ext cx="152705" cy="15270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377379" y="4315054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C2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청크 붕괴 (Chunk Decay)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 32"/>
          <p:cNvSpPr txBox="1"/>
          <p:nvPr/>
        </p:nvSpPr>
        <p:spPr>
          <a:xfrm>
            <a:off x="7377379" y="4610405"/>
            <a:ext cx="40005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LLM Context Window 한계로 후반부 문항(400번대 이후) 답변 길이가 급격히 감소하는 현상.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Shape 33"/>
          <p:cNvSpPr/>
          <p:nvPr/>
        </p:nvSpPr>
        <p:spPr>
          <a:xfrm>
            <a:off x="6881774" y="5191049"/>
            <a:ext cx="381305" cy="381305"/>
          </a:xfrm>
          <a:prstGeom prst="ellipse">
            <a:avLst/>
          </a:prstGeom>
          <a:solidFill>
            <a:srgbClr val="E0E0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0"/>
          <a:srcRect t="-180" b="-180"/>
          <a:stretch/>
        </p:blipFill>
        <p:spPr>
          <a:xfrm>
            <a:off x="6976872" y="5305349"/>
            <a:ext cx="190195" cy="15270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7377379" y="5191049"/>
            <a:ext cx="4114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C2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다국어 혼입 및 상투어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 35"/>
          <p:cNvSpPr txBox="1"/>
          <p:nvPr/>
        </p:nvSpPr>
        <p:spPr>
          <a:xfrm>
            <a:off x="7377379" y="5486400"/>
            <a:ext cx="40005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한국어 답변 중 10개국어가 갑자기 혼입되거나, "결국 ~는 핵심입니다" 같은 표현 반복.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A4_Project_2AI1_DA_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권준호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5106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771754"/>
            <a:ext cx="112782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단답형 확장 &amp; 다국어 필터링</a:t>
            </a:r>
            <a:endParaRPr lang="en-US" sz="2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14807" y="1362456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답변의 논리적 깊이 부족과 데이터 오염 문제를 해결하기 위한 품질 고도화 전략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338" y="381305"/>
            <a:ext cx="1304849" cy="31455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44338" y="381305"/>
            <a:ext cx="1305763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5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Strategy 01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09905" y="1876349"/>
            <a:ext cx="3228746" cy="4505249"/>
          </a:xfrm>
          <a:prstGeom prst="roundRect">
            <a:avLst>
              <a:gd name="adj" fmla="val 1337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9905" y="1876349"/>
            <a:ext cx="3228746" cy="57607"/>
          </a:xfrm>
          <a:prstGeom prst="roundRect">
            <a:avLst>
              <a:gd name="adj" fmla="val 74917"/>
            </a:avLst>
          </a:prstGeom>
          <a:solidFill>
            <a:srgbClr val="D81B60"/>
          </a:solidFill>
          <a:ln w="12700">
            <a:solidFill>
              <a:srgbClr val="D81B6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8505" y="3581705"/>
            <a:ext cx="2771546" cy="19202"/>
          </a:xfrm>
          <a:prstGeom prst="rect">
            <a:avLst/>
          </a:prstGeom>
          <a:solidFill>
            <a:srgbClr val="F5E6E8"/>
          </a:solidFill>
          <a:ln w="12700">
            <a:solidFill>
              <a:srgbClr val="F5E6E8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888236" y="2885846"/>
            <a:ext cx="67025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문제점</a:t>
            </a:r>
            <a:endParaRPr lang="en-US" sz="1600" dirty="0">
              <a:solidFill>
                <a:srgbClr val="D81B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1890979" y="3238805"/>
            <a:ext cx="743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2C2C2C">
                    <a:alpha val="7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PROBLEM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838505" y="3748126"/>
            <a:ext cx="2771546" cy="657454"/>
          </a:xfrm>
          <a:prstGeom prst="roundRect">
            <a:avLst>
              <a:gd name="adj" fmla="val 16125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952805" y="3862426"/>
            <a:ext cx="26197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부적합 </a:t>
            </a:r>
            <a:r>
              <a:rPr lang="en-US" sz="1100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데이터의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97.2%가 3문장 </a:t>
            </a:r>
            <a:r>
              <a:rPr lang="en-US" altLang="ko-KR" sz="1100" b="1" dirty="0" err="1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이하의</a:t>
            </a:r>
            <a:r>
              <a:rPr lang="en-US" altLang="ko-KR" sz="1100" b="1" dirty="0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 smtClean="0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단답</a:t>
            </a:r>
            <a:r>
              <a:rPr lang="en-US" altLang="ko-KR" sz="1100" b="1" dirty="0" err="1" smtClean="0">
                <a:solidFill>
                  <a:srgbClr val="C628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형</a:t>
            </a:r>
            <a:r>
              <a:rPr lang="en-US" sz="1100" dirty="0" err="1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으로</a:t>
            </a:r>
            <a:r>
              <a:rPr lang="en-US" sz="1100" dirty="0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논리적 설득력 부족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838505" y="4519879"/>
            <a:ext cx="2771546" cy="657454"/>
          </a:xfrm>
          <a:prstGeom prst="roundRect">
            <a:avLst>
              <a:gd name="adj" fmla="val 16125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52805" y="4634179"/>
            <a:ext cx="26197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LLM </a:t>
            </a:r>
            <a:r>
              <a:rPr lang="en-US" sz="1100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환각으로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100" dirty="0" err="1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인한</a:t>
            </a:r>
            <a:r>
              <a:rPr lang="en-US" sz="1100" dirty="0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다국어</a:t>
            </a:r>
            <a:r>
              <a:rPr lang="en-US" altLang="ko-KR" sz="1100" b="1" dirty="0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 smtClean="0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혼입</a:t>
            </a:r>
            <a:r>
              <a:rPr lang="en-US" sz="1100" dirty="0" smtClean="0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100" dirty="0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및 </a:t>
            </a:r>
            <a:r>
              <a:rPr lang="en-US" sz="1100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맥락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endParaRPr lang="en-US" sz="1100" dirty="0" smtClean="0">
              <a:solidFill>
                <a:srgbClr val="4A4A4A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r>
              <a:rPr lang="en-US" sz="1100" dirty="0" err="1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이탈</a:t>
            </a:r>
            <a:r>
              <a:rPr lang="en-US" sz="1100" dirty="0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발생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4483303" y="1876349"/>
            <a:ext cx="3228746" cy="4505249"/>
          </a:xfrm>
          <a:prstGeom prst="roundRect">
            <a:avLst>
              <a:gd name="adj" fmla="val 1337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83303" y="1876349"/>
            <a:ext cx="3228746" cy="57607"/>
          </a:xfrm>
          <a:prstGeom prst="roundRect">
            <a:avLst>
              <a:gd name="adj" fmla="val 74917"/>
            </a:avLst>
          </a:prstGeom>
          <a:solidFill>
            <a:srgbClr val="3862A6"/>
          </a:solidFill>
          <a:ln w="12700">
            <a:solidFill>
              <a:srgbClr val="3862A6">
                <a:alpha val="0"/>
              </a:srgbClr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711903" y="3581705"/>
            <a:ext cx="2771546" cy="19202"/>
          </a:xfrm>
          <a:prstGeom prst="rect">
            <a:avLst/>
          </a:prstGeom>
          <a:solidFill>
            <a:srgbClr val="F5E6E8"/>
          </a:solidFill>
          <a:ln w="12700">
            <a:solidFill>
              <a:srgbClr val="F5E6E8">
                <a:alpha val="0"/>
              </a:srgbClr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5762549" y="2885846"/>
            <a:ext cx="670255" cy="314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62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해결책</a:t>
            </a:r>
            <a:endParaRPr lang="en-US" sz="1600" dirty="0">
              <a:solidFill>
                <a:srgbClr val="3862A6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2"/>
          <p:cNvSpPr txBox="1"/>
          <p:nvPr/>
        </p:nvSpPr>
        <p:spPr>
          <a:xfrm>
            <a:off x="5736946" y="3238805"/>
            <a:ext cx="800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2C2C2C">
                    <a:alpha val="7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SOLUTION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Shape 23"/>
          <p:cNvSpPr/>
          <p:nvPr/>
        </p:nvSpPr>
        <p:spPr>
          <a:xfrm>
            <a:off x="4711903" y="3748126"/>
            <a:ext cx="2771546" cy="657454"/>
          </a:xfrm>
          <a:prstGeom prst="roundRect">
            <a:avLst>
              <a:gd name="adj" fmla="val 16125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4826203" y="3862426"/>
            <a:ext cx="26197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프롬프트 </a:t>
            </a:r>
            <a:r>
              <a:rPr lang="en-US" sz="1100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엔지니어링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100" dirty="0" err="1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개선으로</a:t>
            </a:r>
            <a:r>
              <a:rPr lang="en-US" sz="1100" dirty="0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 smtClean="0">
                <a:solidFill>
                  <a:srgbClr val="3862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최소</a:t>
            </a:r>
            <a:r>
              <a:rPr lang="en-US" altLang="ko-KR" sz="1100" b="1" dirty="0" smtClean="0">
                <a:solidFill>
                  <a:srgbClr val="3862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5~6</a:t>
            </a:r>
          </a:p>
          <a:p>
            <a:r>
              <a:rPr lang="en-US" altLang="ko-KR" sz="1100" b="1" dirty="0" err="1" smtClean="0">
                <a:solidFill>
                  <a:srgbClr val="3862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문장</a:t>
            </a:r>
            <a:r>
              <a:rPr lang="en-US" altLang="ko-KR" sz="1100" b="1" dirty="0" smtClean="0">
                <a:solidFill>
                  <a:srgbClr val="3862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3862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이상의</a:t>
            </a:r>
            <a:r>
              <a:rPr lang="en-US" altLang="ko-KR" sz="1100" b="1" dirty="0">
                <a:solidFill>
                  <a:srgbClr val="3862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3862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답변</a:t>
            </a:r>
            <a:r>
              <a:rPr lang="en-US" altLang="ko-KR" sz="1100" b="1" dirty="0">
                <a:solidFill>
                  <a:srgbClr val="3862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3862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생성</a:t>
            </a:r>
            <a:r>
              <a:rPr lang="en-US" altLang="ko-KR" sz="1100" b="1" dirty="0">
                <a:solidFill>
                  <a:srgbClr val="3862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3862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강제</a:t>
            </a:r>
            <a:endParaRPr lang="en-US" altLang="ko-KR" sz="1100" dirty="0">
              <a:solidFill>
                <a:srgbClr val="3862A6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4711903" y="4519879"/>
            <a:ext cx="2771546" cy="657454"/>
          </a:xfrm>
          <a:prstGeom prst="roundRect">
            <a:avLst>
              <a:gd name="adj" fmla="val 16125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4826203" y="4634179"/>
            <a:ext cx="26197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다국어 감지 및 </a:t>
            </a:r>
            <a:r>
              <a:rPr lang="en-US" altLang="ko-KR" sz="1100" b="1" dirty="0" err="1" smtClean="0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도메인</a:t>
            </a:r>
            <a:r>
              <a:rPr lang="en-US" altLang="ko-KR" sz="1100" b="1" dirty="0" smtClean="0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키워드</a:t>
            </a:r>
            <a:r>
              <a:rPr lang="en-US" altLang="ko-KR" sz="1100" b="1" dirty="0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필터링</a:t>
            </a:r>
            <a:endParaRPr lang="en-US" altLang="ko-KR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1100" dirty="0" err="1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로직</a:t>
            </a:r>
            <a:r>
              <a:rPr lang="en-US" sz="1100" dirty="0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적용으로 비정상 데이터 차단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Shape 29"/>
          <p:cNvSpPr/>
          <p:nvPr/>
        </p:nvSpPr>
        <p:spPr>
          <a:xfrm>
            <a:off x="8356702" y="1876349"/>
            <a:ext cx="3228746" cy="4505249"/>
          </a:xfrm>
          <a:prstGeom prst="roundRect">
            <a:avLst>
              <a:gd name="adj" fmla="val 1337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8356702" y="1876349"/>
            <a:ext cx="3228746" cy="57607"/>
          </a:xfrm>
          <a:prstGeom prst="roundRect">
            <a:avLst>
              <a:gd name="adj" fmla="val 74917"/>
            </a:avLst>
          </a:prstGeom>
          <a:solidFill>
            <a:srgbClr val="2E7D32"/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8585302" y="3581705"/>
            <a:ext cx="2771546" cy="19202"/>
          </a:xfrm>
          <a:prstGeom prst="rect">
            <a:avLst/>
          </a:prstGeom>
          <a:solidFill>
            <a:srgbClr val="F5E6E8"/>
          </a:solidFill>
          <a:ln w="12700">
            <a:solidFill>
              <a:srgbClr val="F5E6E8">
                <a:alpha val="0"/>
              </a:srgbClr>
            </a:solidFill>
            <a:prstDash val="solid"/>
          </a:ln>
        </p:spPr>
      </p:sp>
      <p:sp>
        <p:nvSpPr>
          <p:cNvPr id="45" name="Text 32"/>
          <p:cNvSpPr txBox="1"/>
          <p:nvPr/>
        </p:nvSpPr>
        <p:spPr>
          <a:xfrm>
            <a:off x="9738360" y="2885846"/>
            <a:ext cx="4672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효과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 33"/>
          <p:cNvSpPr txBox="1"/>
          <p:nvPr/>
        </p:nvSpPr>
        <p:spPr>
          <a:xfrm>
            <a:off x="9706356" y="3238805"/>
            <a:ext cx="609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2C2C2C">
                    <a:alpha val="7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EFFECT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Shape 34"/>
          <p:cNvSpPr/>
          <p:nvPr/>
        </p:nvSpPr>
        <p:spPr>
          <a:xfrm>
            <a:off x="8585302" y="3748126"/>
            <a:ext cx="2771546" cy="657454"/>
          </a:xfrm>
          <a:prstGeom prst="roundRect">
            <a:avLst>
              <a:gd name="adj" fmla="val 16125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5"/>
          <p:cNvSpPr txBox="1"/>
          <p:nvPr/>
        </p:nvSpPr>
        <p:spPr>
          <a:xfrm>
            <a:off x="8699602" y="3862426"/>
            <a:ext cx="26197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답변의 풍부함과 논리적 </a:t>
            </a:r>
            <a:r>
              <a:rPr lang="en-US" sz="1100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완결성을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100" dirty="0" err="1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확보하여</a:t>
            </a:r>
            <a:r>
              <a:rPr lang="en-US" sz="1100" dirty="0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면접</a:t>
            </a:r>
            <a:r>
              <a:rPr lang="en-US" altLang="ko-KR" sz="11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평가</a:t>
            </a:r>
            <a:r>
              <a:rPr lang="en-US" altLang="ko-KR" sz="11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신뢰도</a:t>
            </a:r>
            <a:r>
              <a:rPr lang="en-US" altLang="ko-KR" sz="11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상승</a:t>
            </a:r>
            <a:endParaRPr lang="en-US" altLang="ko-KR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Shape 37"/>
          <p:cNvSpPr/>
          <p:nvPr/>
        </p:nvSpPr>
        <p:spPr>
          <a:xfrm>
            <a:off x="8585302" y="4519879"/>
            <a:ext cx="2771546" cy="657454"/>
          </a:xfrm>
          <a:prstGeom prst="roundRect">
            <a:avLst>
              <a:gd name="adj" fmla="val 16125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8"/>
          <p:cNvSpPr txBox="1"/>
          <p:nvPr/>
        </p:nvSpPr>
        <p:spPr>
          <a:xfrm>
            <a:off x="8699602" y="4634179"/>
            <a:ext cx="26197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최종 품질 등급 평가에서 전 </a:t>
            </a:r>
            <a:r>
              <a:rPr lang="en-US" sz="1100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데이터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 </a:t>
            </a:r>
            <a:r>
              <a:rPr lang="en-US" altLang="ko-KR" sz="11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'</a:t>
            </a:r>
            <a:r>
              <a:rPr lang="en-US" altLang="ko-KR" sz="1100" b="1" dirty="0" err="1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A등급</a:t>
            </a:r>
            <a:r>
              <a:rPr lang="en-US" altLang="ko-KR" sz="11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(</a:t>
            </a:r>
            <a:r>
              <a:rPr lang="en-US" altLang="ko-KR" sz="1100" b="1" dirty="0" err="1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우수</a:t>
            </a:r>
            <a:r>
              <a:rPr lang="en-US" altLang="ko-KR" sz="1100" b="1" dirty="0" smtClean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)’</a:t>
            </a:r>
            <a:r>
              <a:rPr lang="en-US" sz="1100" dirty="0" err="1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달성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4026103" y="4262018"/>
            <a:ext cx="267005" cy="304495"/>
          </a:xfrm>
          <a:prstGeom prst="rect">
            <a:avLst/>
          </a:prstGeom>
        </p:spPr>
      </p:pic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7899502" y="4262018"/>
            <a:ext cx="267005" cy="304495"/>
          </a:xfrm>
          <a:prstGeom prst="rect">
            <a:avLst/>
          </a:prstGeom>
        </p:spPr>
      </p:pic>
      <p:sp>
        <p:nvSpPr>
          <p:cNvPr id="4" name="타원 3"/>
          <p:cNvSpPr/>
          <p:nvPr/>
        </p:nvSpPr>
        <p:spPr>
          <a:xfrm>
            <a:off x="1925375" y="2170926"/>
            <a:ext cx="608400" cy="608400"/>
          </a:xfrm>
          <a:prstGeom prst="ellipse">
            <a:avLst/>
          </a:prstGeom>
          <a:solidFill>
            <a:srgbClr val="D81B60"/>
          </a:solidFill>
          <a:ln>
            <a:solidFill>
              <a:srgbClr val="D81B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!</a:t>
            </a:r>
            <a:endParaRPr lang="ko-KR" altLang="en-US" sz="3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5791647" y="2149430"/>
            <a:ext cx="608400" cy="608400"/>
          </a:xfrm>
          <a:prstGeom prst="ellipse">
            <a:avLst/>
          </a:prstGeom>
          <a:solidFill>
            <a:srgbClr val="3862A6"/>
          </a:solidFill>
          <a:ln>
            <a:solidFill>
              <a:srgbClr val="3862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9707861" y="2170926"/>
            <a:ext cx="608400" cy="608400"/>
          </a:xfrm>
          <a:prstGeom prst="ellipse">
            <a:avLst/>
          </a:prstGeom>
          <a:solidFill>
            <a:srgbClr val="2E7D32"/>
          </a:solidFill>
          <a:ln>
            <a:solidFill>
              <a:srgbClr val="3862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62802" y="2319375"/>
            <a:ext cx="267005" cy="267005"/>
          </a:xfrm>
          <a:prstGeom prst="rect">
            <a:avLst/>
          </a:prstGeom>
        </p:spPr>
      </p:pic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889633" y="2333549"/>
            <a:ext cx="267005" cy="26700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A4_Project_2AI1_DA_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권준호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6356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514807" y="771754"/>
            <a:ext cx="111639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기술 오류 교정 &amp; Trade-off 구조화</a:t>
            </a:r>
            <a:endParaRPr lang="en-US" sz="2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14807" y="1362456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부정확한 기술 설명과 단순 서술형 답변을 개선하여 전문성과 신뢰성 확보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381305"/>
            <a:ext cx="1333195" cy="31455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31536" y="381305"/>
            <a:ext cx="1334110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5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Strategy 02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09905" y="1876349"/>
            <a:ext cx="3228746" cy="4505249"/>
          </a:xfrm>
          <a:prstGeom prst="roundRect">
            <a:avLst>
              <a:gd name="adj" fmla="val 1337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38505" y="3581705"/>
            <a:ext cx="2771546" cy="19202"/>
          </a:xfrm>
          <a:prstGeom prst="rect">
            <a:avLst/>
          </a:prstGeom>
          <a:solidFill>
            <a:srgbClr val="F5E6E8"/>
          </a:solidFill>
          <a:ln w="12700">
            <a:solidFill>
              <a:srgbClr val="F5E6E8">
                <a:alpha val="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89404" y="2333549"/>
            <a:ext cx="267005" cy="2670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888236" y="2885846"/>
            <a:ext cx="67025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문제점</a:t>
            </a:r>
            <a:endParaRPr lang="en-US" sz="1600" dirty="0">
              <a:solidFill>
                <a:srgbClr val="D81B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1890979" y="3238805"/>
            <a:ext cx="743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2C2C2C">
                    <a:alpha val="7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PROBLEM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838505" y="3748126"/>
            <a:ext cx="2771546" cy="657454"/>
          </a:xfrm>
          <a:prstGeom prst="roundRect">
            <a:avLst>
              <a:gd name="adj" fmla="val 16125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952805" y="3862426"/>
            <a:ext cx="26197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최신 기술에 </a:t>
            </a:r>
            <a:r>
              <a:rPr lang="en-US" sz="1100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대한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설명</a:t>
            </a:r>
            <a:r>
              <a:rPr lang="en-US" altLang="ko-KR" sz="1100" b="1" dirty="0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부정확</a:t>
            </a:r>
            <a:r>
              <a:rPr lang="en-US" altLang="ko-KR" sz="1100" b="1" dirty="0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사례</a:t>
            </a:r>
            <a:r>
              <a:rPr lang="en-US" altLang="ko-KR" sz="1100" b="1" dirty="0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32건</a:t>
            </a:r>
            <a:endParaRPr lang="en-US" altLang="ko-KR" sz="1100" dirty="0">
              <a:solidFill>
                <a:srgbClr val="D81B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1100" dirty="0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발견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838505" y="4519879"/>
            <a:ext cx="2771546" cy="657454"/>
          </a:xfrm>
          <a:prstGeom prst="roundRect">
            <a:avLst>
              <a:gd name="adj" fmla="val 16125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52805" y="4634179"/>
            <a:ext cx="26197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교육 도메인 질문에 의료 용어가 등장하는 등 </a:t>
            </a:r>
            <a:r>
              <a:rPr lang="en-US" altLang="ko-KR" sz="1100" b="1" dirty="0" err="1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도메인</a:t>
            </a:r>
            <a:r>
              <a:rPr lang="en-US" altLang="ko-KR" sz="1100" b="1" dirty="0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용어</a:t>
            </a:r>
            <a:r>
              <a:rPr lang="en-US" altLang="ko-KR" sz="1100" b="1" dirty="0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 smtClean="0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이탈</a:t>
            </a:r>
            <a:r>
              <a:rPr lang="en-US" altLang="ko-KR" sz="1100" dirty="0" smtClean="0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100" dirty="0" err="1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발생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838505" y="5290718"/>
            <a:ext cx="2771546" cy="657454"/>
          </a:xfrm>
          <a:prstGeom prst="roundRect">
            <a:avLst>
              <a:gd name="adj" fmla="val 16125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952805" y="5405018"/>
            <a:ext cx="26197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단순 나열식 </a:t>
            </a:r>
            <a:r>
              <a:rPr lang="en-US" sz="1100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답변으로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100" dirty="0" err="1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인한</a:t>
            </a:r>
            <a:r>
              <a:rPr lang="en-US" sz="1100" dirty="0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전문성</a:t>
            </a:r>
            <a:r>
              <a:rPr lang="en-US" altLang="ko-KR" sz="1100" b="1" dirty="0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및 </a:t>
            </a:r>
            <a:r>
              <a:rPr lang="en-US" altLang="ko-KR" sz="1100" b="1" dirty="0" err="1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신뢰성</a:t>
            </a:r>
            <a:r>
              <a:rPr lang="en-US" altLang="ko-KR" sz="1100" b="1" dirty="0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D81B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저하</a:t>
            </a:r>
            <a:endParaRPr lang="en-US" altLang="ko-KR" sz="1100" dirty="0">
              <a:solidFill>
                <a:srgbClr val="D81B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4483303" y="1876349"/>
            <a:ext cx="3228746" cy="4505249"/>
          </a:xfrm>
          <a:prstGeom prst="roundRect">
            <a:avLst>
              <a:gd name="adj" fmla="val 1337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711903" y="3581705"/>
            <a:ext cx="2771546" cy="19202"/>
          </a:xfrm>
          <a:prstGeom prst="rect">
            <a:avLst/>
          </a:prstGeom>
          <a:solidFill>
            <a:srgbClr val="F5E6E8"/>
          </a:solidFill>
          <a:ln w="12700">
            <a:solidFill>
              <a:srgbClr val="F5E6E8">
                <a:alpha val="0"/>
              </a:srgbClr>
            </a:solidFill>
            <a:prstDash val="solid"/>
          </a:ln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28970" y="2333549"/>
            <a:ext cx="333756" cy="26700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762549" y="2885846"/>
            <a:ext cx="67025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해결책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25"/>
          <p:cNvSpPr txBox="1"/>
          <p:nvPr/>
        </p:nvSpPr>
        <p:spPr>
          <a:xfrm>
            <a:off x="5736946" y="3238805"/>
            <a:ext cx="800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2C2C2C">
                    <a:alpha val="7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SOLUTION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Shape 29"/>
          <p:cNvSpPr/>
          <p:nvPr/>
        </p:nvSpPr>
        <p:spPr>
          <a:xfrm>
            <a:off x="4711903" y="3771900"/>
            <a:ext cx="2771546" cy="657454"/>
          </a:xfrm>
          <a:prstGeom prst="roundRect">
            <a:avLst>
              <a:gd name="adj" fmla="val 16125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0"/>
          <p:cNvSpPr txBox="1"/>
          <p:nvPr/>
        </p:nvSpPr>
        <p:spPr>
          <a:xfrm>
            <a:off x="4826203" y="3886200"/>
            <a:ext cx="26197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 err="1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식별된</a:t>
            </a:r>
            <a:r>
              <a:rPr lang="en-US" sz="1100" dirty="0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기술</a:t>
            </a:r>
            <a:r>
              <a:rPr lang="en-US" altLang="ko-KR" sz="1100" b="1" dirty="0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오류</a:t>
            </a:r>
            <a:r>
              <a:rPr lang="en-US" altLang="ko-KR" sz="1100" b="1" dirty="0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32건 </a:t>
            </a:r>
            <a:r>
              <a:rPr lang="en-US" altLang="ko-KR" sz="1100" b="1" dirty="0" err="1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전량</a:t>
            </a:r>
            <a:r>
              <a:rPr lang="en-US" altLang="ko-KR" sz="1100" b="1" dirty="0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 smtClean="0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교정</a:t>
            </a:r>
            <a:r>
              <a:rPr lang="en-US" sz="1100" dirty="0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및 </a:t>
            </a:r>
            <a:endParaRPr lang="en-US" sz="1100" dirty="0" smtClean="0">
              <a:solidFill>
                <a:srgbClr val="4A4A4A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r>
              <a:rPr lang="en-US" sz="1100" dirty="0" err="1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용어</a:t>
            </a:r>
            <a:r>
              <a:rPr lang="en-US" sz="1100" dirty="0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치환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Shape 32"/>
          <p:cNvSpPr/>
          <p:nvPr/>
        </p:nvSpPr>
        <p:spPr>
          <a:xfrm>
            <a:off x="4711903" y="4533595"/>
            <a:ext cx="2771546" cy="657454"/>
          </a:xfrm>
          <a:prstGeom prst="roundRect">
            <a:avLst>
              <a:gd name="adj" fmla="val 16125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3"/>
          <p:cNvSpPr txBox="1"/>
          <p:nvPr/>
        </p:nvSpPr>
        <p:spPr>
          <a:xfrm>
            <a:off x="4826203" y="4647895"/>
            <a:ext cx="26197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단순 서술형 </a:t>
            </a:r>
            <a:r>
              <a:rPr lang="en-US" sz="1100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답변에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Trade-off </a:t>
            </a:r>
            <a:r>
              <a:rPr lang="en-US" altLang="ko-KR" sz="1100" b="1" dirty="0" err="1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분석</a:t>
            </a:r>
            <a:r>
              <a:rPr lang="en-US" altLang="ko-KR" sz="1100" b="1" dirty="0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프레임</a:t>
            </a:r>
            <a:endParaRPr lang="en-US" altLang="ko-KR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1100" dirty="0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적용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Shape 35"/>
          <p:cNvSpPr/>
          <p:nvPr/>
        </p:nvSpPr>
        <p:spPr>
          <a:xfrm>
            <a:off x="8356702" y="1876349"/>
            <a:ext cx="3228746" cy="4505249"/>
          </a:xfrm>
          <a:prstGeom prst="roundRect">
            <a:avLst>
              <a:gd name="adj" fmla="val 1337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0" name="Shape 37"/>
          <p:cNvSpPr/>
          <p:nvPr/>
        </p:nvSpPr>
        <p:spPr>
          <a:xfrm>
            <a:off x="8585302" y="3581705"/>
            <a:ext cx="2771546" cy="19202"/>
          </a:xfrm>
          <a:prstGeom prst="rect">
            <a:avLst/>
          </a:prstGeom>
          <a:solidFill>
            <a:srgbClr val="F5E6E8"/>
          </a:solidFill>
          <a:ln w="12700">
            <a:solidFill>
              <a:srgbClr val="F5E6E8">
                <a:alpha val="0"/>
              </a:srgbClr>
            </a:solidFill>
            <a:prstDash val="solid"/>
          </a:ln>
        </p:spPr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836201" y="2333549"/>
            <a:ext cx="267005" cy="267005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9738360" y="2885846"/>
            <a:ext cx="4672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효과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Text 39"/>
          <p:cNvSpPr txBox="1"/>
          <p:nvPr/>
        </p:nvSpPr>
        <p:spPr>
          <a:xfrm>
            <a:off x="9706356" y="3238805"/>
            <a:ext cx="609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2C2C2C">
                    <a:alpha val="7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EFFECT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Shape 40"/>
          <p:cNvSpPr/>
          <p:nvPr/>
        </p:nvSpPr>
        <p:spPr>
          <a:xfrm>
            <a:off x="8585302" y="3748126"/>
            <a:ext cx="2771546" cy="657454"/>
          </a:xfrm>
          <a:prstGeom prst="roundRect">
            <a:avLst>
              <a:gd name="adj" fmla="val 16125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1"/>
          <p:cNvSpPr txBox="1"/>
          <p:nvPr/>
        </p:nvSpPr>
        <p:spPr>
          <a:xfrm>
            <a:off x="8699602" y="3886200"/>
            <a:ext cx="26197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데이터의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기술</a:t>
            </a:r>
            <a:r>
              <a:rPr lang="en-US" altLang="ko-KR" sz="11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정확성</a:t>
            </a:r>
            <a:r>
              <a:rPr lang="en-US" altLang="ko-KR" sz="11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대폭</a:t>
            </a:r>
            <a:r>
              <a:rPr lang="en-US" altLang="ko-KR" sz="11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향상</a:t>
            </a:r>
            <a:endParaRPr lang="en-US" altLang="ko-KR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1100" dirty="0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및 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무결성 확보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Shape 43"/>
          <p:cNvSpPr/>
          <p:nvPr/>
        </p:nvSpPr>
        <p:spPr>
          <a:xfrm>
            <a:off x="8585302" y="4519879"/>
            <a:ext cx="2771546" cy="448056"/>
          </a:xfrm>
          <a:prstGeom prst="roundRect">
            <a:avLst>
              <a:gd name="adj" fmla="val 34737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44"/>
          <p:cNvSpPr txBox="1"/>
          <p:nvPr/>
        </p:nvSpPr>
        <p:spPr>
          <a:xfrm>
            <a:off x="8690976" y="4634179"/>
            <a:ext cx="25310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dirty="0" smtClean="0">
              <a:solidFill>
                <a:srgbClr val="4A4A4A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r>
              <a:rPr lang="en-US" sz="1100" dirty="0" err="1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엔지니어링</a:t>
            </a:r>
            <a:r>
              <a:rPr lang="en-US" sz="1100" dirty="0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100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면접에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100" dirty="0" err="1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걸맞은</a:t>
            </a:r>
            <a:r>
              <a:rPr lang="en-US" sz="1100" dirty="0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전문성</a:t>
            </a:r>
            <a:r>
              <a:rPr lang="en-US" altLang="ko-KR" sz="11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확보</a:t>
            </a:r>
            <a:endParaRPr lang="en-US" altLang="ko-KR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Shape 46"/>
          <p:cNvSpPr/>
          <p:nvPr/>
        </p:nvSpPr>
        <p:spPr>
          <a:xfrm>
            <a:off x="8585302" y="5076749"/>
            <a:ext cx="2771546" cy="657454"/>
          </a:xfrm>
          <a:prstGeom prst="roundRect">
            <a:avLst>
              <a:gd name="adj" fmla="val 16125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47"/>
          <p:cNvSpPr txBox="1"/>
          <p:nvPr/>
        </p:nvSpPr>
        <p:spPr>
          <a:xfrm>
            <a:off x="8699602" y="5191049"/>
            <a:ext cx="26197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실무 </a:t>
            </a:r>
            <a:r>
              <a:rPr lang="en-US" sz="1100" dirty="0" err="1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관점이</a:t>
            </a:r>
            <a:r>
              <a:rPr lang="en-US" sz="1100" dirty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100" dirty="0" err="1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반영되어</a:t>
            </a:r>
            <a:r>
              <a:rPr lang="en-US" sz="1100" dirty="0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면접</a:t>
            </a:r>
            <a:r>
              <a:rPr lang="en-US" altLang="ko-KR" sz="11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평가</a:t>
            </a:r>
            <a:r>
              <a:rPr lang="en-US" altLang="ko-KR" sz="11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일관성</a:t>
            </a:r>
            <a:r>
              <a:rPr lang="en-US" altLang="ko-KR" sz="11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00" b="1" dirty="0" err="1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개선</a:t>
            </a:r>
            <a:endParaRPr lang="en-US" altLang="ko-KR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1100" dirty="0" smtClean="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7" name="Image 16" descr="preencoded.png"/>
          <p:cNvPicPr>
            <a:picLocks noChangeAspect="1"/>
          </p:cNvPicPr>
          <p:nvPr/>
        </p:nvPicPr>
        <p:blipFill>
          <a:blip r:embed="rId7"/>
          <a:srcRect l="-107" r="-107"/>
          <a:stretch/>
        </p:blipFill>
        <p:spPr>
          <a:xfrm>
            <a:off x="4026103" y="4262018"/>
            <a:ext cx="267005" cy="304495"/>
          </a:xfrm>
          <a:prstGeom prst="rect">
            <a:avLst/>
          </a:prstGeom>
        </p:spPr>
      </p:pic>
      <p:pic>
        <p:nvPicPr>
          <p:cNvPr id="68" name="Image 17" descr="preencoded.png"/>
          <p:cNvPicPr>
            <a:picLocks noChangeAspect="1"/>
          </p:cNvPicPr>
          <p:nvPr/>
        </p:nvPicPr>
        <p:blipFill>
          <a:blip r:embed="rId7"/>
          <a:srcRect l="-107" r="-107"/>
          <a:stretch/>
        </p:blipFill>
        <p:spPr>
          <a:xfrm>
            <a:off x="7899502" y="4262018"/>
            <a:ext cx="267005" cy="304495"/>
          </a:xfrm>
          <a:prstGeom prst="rect">
            <a:avLst/>
          </a:prstGeom>
        </p:spPr>
      </p:pic>
      <p:sp>
        <p:nvSpPr>
          <p:cNvPr id="57" name="Shape 8"/>
          <p:cNvSpPr/>
          <p:nvPr/>
        </p:nvSpPr>
        <p:spPr>
          <a:xfrm>
            <a:off x="609905" y="1876349"/>
            <a:ext cx="3228746" cy="57607"/>
          </a:xfrm>
          <a:prstGeom prst="roundRect">
            <a:avLst>
              <a:gd name="adj" fmla="val 74917"/>
            </a:avLst>
          </a:prstGeom>
          <a:solidFill>
            <a:srgbClr val="D81B60"/>
          </a:solidFill>
          <a:ln w="12700">
            <a:solidFill>
              <a:srgbClr val="D81B60">
                <a:alpha val="0"/>
              </a:srgbClr>
            </a:solidFill>
            <a:prstDash val="solid"/>
          </a:ln>
        </p:spPr>
      </p:sp>
      <p:sp>
        <p:nvSpPr>
          <p:cNvPr id="58" name="Shape 19"/>
          <p:cNvSpPr/>
          <p:nvPr/>
        </p:nvSpPr>
        <p:spPr>
          <a:xfrm>
            <a:off x="4483303" y="1876349"/>
            <a:ext cx="3228746" cy="57607"/>
          </a:xfrm>
          <a:prstGeom prst="roundRect">
            <a:avLst>
              <a:gd name="adj" fmla="val 74917"/>
            </a:avLst>
          </a:prstGeom>
          <a:solidFill>
            <a:srgbClr val="3862A6"/>
          </a:solidFill>
          <a:ln w="12700">
            <a:solidFill>
              <a:srgbClr val="3862A6">
                <a:alpha val="0"/>
              </a:srgbClr>
            </a:solidFill>
            <a:prstDash val="solid"/>
          </a:ln>
        </p:spPr>
      </p:sp>
      <p:sp>
        <p:nvSpPr>
          <p:cNvPr id="61" name="Shape 30"/>
          <p:cNvSpPr/>
          <p:nvPr/>
        </p:nvSpPr>
        <p:spPr>
          <a:xfrm>
            <a:off x="8356702" y="1876349"/>
            <a:ext cx="3228746" cy="57607"/>
          </a:xfrm>
          <a:prstGeom prst="roundRect">
            <a:avLst>
              <a:gd name="adj" fmla="val 74917"/>
            </a:avLst>
          </a:prstGeom>
          <a:solidFill>
            <a:srgbClr val="2E7D32"/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62" name="타원 61"/>
          <p:cNvSpPr/>
          <p:nvPr/>
        </p:nvSpPr>
        <p:spPr>
          <a:xfrm>
            <a:off x="1925375" y="2170926"/>
            <a:ext cx="608400" cy="608400"/>
          </a:xfrm>
          <a:prstGeom prst="ellipse">
            <a:avLst/>
          </a:prstGeom>
          <a:solidFill>
            <a:srgbClr val="D81B60"/>
          </a:solidFill>
          <a:ln>
            <a:solidFill>
              <a:srgbClr val="D81B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!</a:t>
            </a:r>
            <a:endParaRPr lang="ko-KR" altLang="en-US" sz="3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타원 64"/>
          <p:cNvSpPr/>
          <p:nvPr/>
        </p:nvSpPr>
        <p:spPr>
          <a:xfrm>
            <a:off x="5791647" y="2149430"/>
            <a:ext cx="608400" cy="608400"/>
          </a:xfrm>
          <a:prstGeom prst="ellipse">
            <a:avLst/>
          </a:prstGeom>
          <a:solidFill>
            <a:srgbClr val="3862A6"/>
          </a:solidFill>
          <a:ln>
            <a:solidFill>
              <a:srgbClr val="3862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9707861" y="2170926"/>
            <a:ext cx="608400" cy="608400"/>
          </a:xfrm>
          <a:prstGeom prst="ellipse">
            <a:avLst/>
          </a:prstGeom>
          <a:solidFill>
            <a:srgbClr val="2E7D32"/>
          </a:solidFill>
          <a:ln>
            <a:solidFill>
              <a:srgbClr val="3862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9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62802" y="2324405"/>
            <a:ext cx="267005" cy="267005"/>
          </a:xfrm>
          <a:prstGeom prst="rect">
            <a:avLst/>
          </a:prstGeom>
        </p:spPr>
      </p:pic>
      <p:pic>
        <p:nvPicPr>
          <p:cNvPr id="70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889633" y="2333549"/>
            <a:ext cx="267005" cy="26700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A4_Project_2AI1_DA_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권준호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987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 txBox="1"/>
          <p:nvPr/>
        </p:nvSpPr>
        <p:spPr>
          <a:xfrm>
            <a:off x="382219" y="487832"/>
            <a:ext cx="3606394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4000" b="1" dirty="0" smtClean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최종 결과</a:t>
            </a:r>
            <a:endParaRPr 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362102" y="1383944"/>
            <a:ext cx="3543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AI(Gemini</a:t>
            </a:r>
            <a:r>
              <a:rPr lang="en-US" altLang="ko-KR" sz="14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) </a:t>
            </a:r>
            <a:r>
              <a:rPr lang="ko-KR" alt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도입과 협업을 통해 작업 리드타임을 </a:t>
            </a:r>
            <a:r>
              <a:rPr lang="en-US" altLang="ko-KR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93% </a:t>
            </a:r>
            <a:r>
              <a:rPr lang="ko-KR" alt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단축하고</a:t>
            </a:r>
            <a:r>
              <a:rPr lang="en-US" altLang="ko-KR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, 100% </a:t>
            </a:r>
            <a:r>
              <a:rPr lang="ko-KR" alt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무결점</a:t>
            </a:r>
            <a:r>
              <a:rPr lang="en-US" altLang="ko-KR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(</a:t>
            </a:r>
            <a:r>
              <a:rPr lang="ko-KR" alt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전원 </a:t>
            </a:r>
            <a:r>
              <a:rPr lang="en-US" altLang="ko-KR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A</a:t>
            </a:r>
            <a:r>
              <a:rPr lang="ko-KR" alt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등급</a:t>
            </a:r>
            <a:r>
              <a:rPr lang="en-US" altLang="ko-KR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)</a:t>
            </a:r>
            <a:r>
              <a:rPr lang="ko-KR" alt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의 </a:t>
            </a:r>
            <a:r>
              <a:rPr lang="ko-KR" altLang="en-US" sz="1200" dirty="0" err="1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초개인화</a:t>
            </a:r>
            <a:r>
              <a:rPr lang="ko-KR" alt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면접 데이터 </a:t>
            </a:r>
            <a:r>
              <a:rPr lang="en-US" altLang="ko-KR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13,316</a:t>
            </a:r>
            <a:r>
              <a:rPr lang="ko-KR" alt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건을 구축하여 고도화된 </a:t>
            </a:r>
            <a:r>
              <a:rPr lang="en-US" altLang="ko-KR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AI </a:t>
            </a:r>
            <a:r>
              <a:rPr lang="ko-KR" alt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모의면접 시스템을 성공적으로 완성</a:t>
            </a:r>
            <a:r>
              <a:rPr lang="en-US" sz="1200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)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382219" y="4426610"/>
            <a:ext cx="3804819" cy="1143000"/>
            <a:chOff x="609905" y="4236415"/>
            <a:chExt cx="3804819" cy="1143000"/>
          </a:xfrm>
        </p:grpSpPr>
        <p:sp>
          <p:nvSpPr>
            <p:cNvPr id="9" name="Shape 6"/>
            <p:cNvSpPr/>
            <p:nvPr/>
          </p:nvSpPr>
          <p:spPr>
            <a:xfrm>
              <a:off x="609905" y="4236415"/>
              <a:ext cx="3804819" cy="1143000"/>
            </a:xfrm>
            <a:prstGeom prst="roundRect">
              <a:avLst>
                <a:gd name="adj" fmla="val 10667"/>
              </a:avLst>
            </a:prstGeom>
            <a:solidFill>
              <a:srgbClr val="FFFFFF">
                <a:alpha val="60000"/>
              </a:srgbClr>
            </a:solidFill>
            <a:ln/>
          </p:spPr>
        </p:sp>
        <p:sp>
          <p:nvSpPr>
            <p:cNvPr id="10" name="Shape 7"/>
            <p:cNvSpPr/>
            <p:nvPr/>
          </p:nvSpPr>
          <p:spPr>
            <a:xfrm>
              <a:off x="609905" y="4236415"/>
              <a:ext cx="38405" cy="1143000"/>
            </a:xfrm>
            <a:prstGeom prst="roundRect">
              <a:avLst>
                <a:gd name="adj" fmla="val 317459"/>
              </a:avLst>
            </a:prstGeom>
            <a:solidFill>
              <a:srgbClr val="2C2C2C"/>
            </a:solidFill>
            <a:ln w="12700">
              <a:solidFill>
                <a:srgbClr val="2C2C2C">
                  <a:alpha val="0"/>
                </a:srgbClr>
              </a:solidFill>
              <a:prstDash val="solid"/>
            </a:ln>
          </p:spPr>
        </p:sp>
        <p:sp>
          <p:nvSpPr>
            <p:cNvPr id="11" name="Text 8"/>
            <p:cNvSpPr txBox="1"/>
            <p:nvPr/>
          </p:nvSpPr>
          <p:spPr>
            <a:xfrm>
              <a:off x="875995" y="4465015"/>
              <a:ext cx="327721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 "단순 데이터 수집을 넘어,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0" indent="0" algn="l">
                <a:buNone/>
              </a:pPr>
              <a:r>
                <a:rPr lang="en-US" sz="1200" b="1" dirty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 지능형 자동화 및 멀티모달 분석 시스템으로의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0" indent="0" algn="l">
                <a:buNone/>
              </a:pPr>
              <a:r>
                <a:rPr lang="en-US" sz="1200" b="1" dirty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 </a:t>
              </a:r>
              <a:r>
                <a:rPr lang="en-US" sz="1200" b="1" dirty="0" err="1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진화를</a:t>
              </a:r>
              <a:r>
                <a:rPr lang="en-US" sz="1200" b="1" dirty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 </a:t>
              </a:r>
              <a:r>
                <a:rPr lang="en-US" sz="1200" b="1" dirty="0" err="1" smtClean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목표</a:t>
              </a:r>
              <a:r>
                <a:rPr lang="en-US" sz="1200" b="1" dirty="0" smtClean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" 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5021885" y="990295"/>
            <a:ext cx="19202" cy="487649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593385" y="164592"/>
            <a:ext cx="5991149" cy="1485900"/>
          </a:xfrm>
          <a:prstGeom prst="roundRect">
            <a:avLst>
              <a:gd name="adj" fmla="val 6312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593385" y="164592"/>
            <a:ext cx="57607" cy="1485900"/>
          </a:xfrm>
          <a:prstGeom prst="roundRect">
            <a:avLst>
              <a:gd name="adj" fmla="val 162801"/>
            </a:avLst>
          </a:prstGeom>
          <a:solidFill>
            <a:srgbClr val="B8C5D1"/>
          </a:solidFill>
          <a:ln w="12700">
            <a:solidFill>
              <a:srgbClr val="B8C5D1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878678" y="688543"/>
            <a:ext cx="56674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b="1" dirty="0" err="1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초개인화</a:t>
            </a:r>
            <a:r>
              <a:rPr lang="ko-KR" altLang="en-US" sz="15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면접 질문</a:t>
            </a:r>
            <a:r>
              <a:rPr lang="en-US" altLang="ko-KR" sz="15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-</a:t>
            </a:r>
            <a:r>
              <a:rPr lang="ko-KR" altLang="en-US" sz="15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모범답안</a:t>
            </a:r>
            <a:r>
              <a:rPr lang="en-US" altLang="ko-KR" sz="15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: </a:t>
            </a:r>
            <a:r>
              <a:rPr lang="ko-KR" altLang="en-US" sz="15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총 </a:t>
            </a:r>
            <a:r>
              <a:rPr lang="en-US" altLang="ko-KR" sz="15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13,316</a:t>
            </a:r>
            <a:r>
              <a:rPr lang="ko-KR" altLang="en-US" sz="15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건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5878678" y="1031443"/>
            <a:ext cx="55531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1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IT </a:t>
            </a:r>
            <a:r>
              <a:rPr lang="ko-KR" altLang="en-US" sz="1100" dirty="0" smtClean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직무 지식 질문 </a:t>
            </a:r>
            <a:r>
              <a:rPr lang="en-US" altLang="ko-KR" sz="1100" dirty="0" smtClean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1,229</a:t>
            </a:r>
            <a:r>
              <a:rPr lang="ko-KR" altLang="en-US" sz="1100" dirty="0" smtClean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건</a:t>
            </a:r>
            <a:endParaRPr lang="en-US" altLang="ko-KR" sz="1100" dirty="0" smtClean="0">
              <a:solidFill>
                <a:srgbClr val="666666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r>
              <a:rPr lang="ko-KR" altLang="en-US" sz="1100" dirty="0" smtClean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산업별 심층 질문 </a:t>
            </a:r>
            <a:r>
              <a:rPr lang="en-US" altLang="ko-KR" sz="1100" dirty="0" smtClean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4,884</a:t>
            </a:r>
            <a:r>
              <a:rPr lang="ko-KR" altLang="en-US" sz="1100" dirty="0" smtClean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건</a:t>
            </a:r>
            <a:endParaRPr lang="en-US" altLang="ko-KR" sz="1100" dirty="0" smtClean="0">
              <a:solidFill>
                <a:srgbClr val="666666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r>
              <a:rPr lang="ko-KR" altLang="en-US" sz="1100" dirty="0" smtClean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이력서 </a:t>
            </a:r>
            <a:r>
              <a:rPr lang="ko-KR" altLang="en-US" sz="11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연계 기반 </a:t>
            </a:r>
            <a:r>
              <a:rPr lang="ko-KR" altLang="en-US" sz="1100" dirty="0" err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초개인화</a:t>
            </a:r>
            <a:r>
              <a:rPr lang="ko-KR" altLang="en-US" sz="11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및 심층 꼬리 질문 </a:t>
            </a:r>
            <a:r>
              <a:rPr lang="en-US" altLang="ko-KR" sz="11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7,203</a:t>
            </a:r>
            <a:r>
              <a:rPr lang="ko-KR" altLang="en-US" sz="1100" dirty="0" smtClean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건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678" y="363931"/>
            <a:ext cx="733349" cy="2478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78678" y="363931"/>
            <a:ext cx="7342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Phase 1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73675" y="678485"/>
            <a:ext cx="457200" cy="457200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316322" y="821131"/>
            <a:ext cx="171907" cy="171907"/>
          </a:xfrm>
          <a:prstGeom prst="rect">
            <a:avLst/>
          </a:prstGeom>
        </p:spPr>
      </p:pic>
      <p:grpSp>
        <p:nvGrpSpPr>
          <p:cNvPr id="6" name="그룹 5"/>
          <p:cNvGrpSpPr/>
          <p:nvPr/>
        </p:nvGrpSpPr>
        <p:grpSpPr>
          <a:xfrm>
            <a:off x="5173675" y="1874304"/>
            <a:ext cx="7102145" cy="1276502"/>
            <a:chOff x="5173675" y="2000707"/>
            <a:chExt cx="7102145" cy="1276502"/>
          </a:xfrm>
        </p:grpSpPr>
        <p:sp>
          <p:nvSpPr>
            <p:cNvPr id="21" name="Shape 14"/>
            <p:cNvSpPr/>
            <p:nvPr/>
          </p:nvSpPr>
          <p:spPr>
            <a:xfrm>
              <a:off x="5554980" y="2000707"/>
              <a:ext cx="5991149" cy="1276502"/>
            </a:xfrm>
            <a:prstGeom prst="roundRect">
              <a:avLst>
                <a:gd name="adj" fmla="val 8553"/>
              </a:avLst>
            </a:prstGeom>
            <a:solidFill>
              <a:srgbClr val="FFFFFF"/>
            </a:solidFill>
            <a:ln/>
            <a:effectLst>
              <a:outerShdw blurRad="139700" dist="38100" dir="16200000" algn="bl" rotWithShape="0">
                <a:srgbClr val="000000">
                  <a:alpha val="3000"/>
                </a:srgbClr>
              </a:outerShdw>
            </a:effectLst>
          </p:spPr>
        </p:sp>
        <p:sp>
          <p:nvSpPr>
            <p:cNvPr id="22" name="Shape 15"/>
            <p:cNvSpPr/>
            <p:nvPr/>
          </p:nvSpPr>
          <p:spPr>
            <a:xfrm>
              <a:off x="5554980" y="2000707"/>
              <a:ext cx="57607" cy="1276502"/>
            </a:xfrm>
            <a:prstGeom prst="roundRect">
              <a:avLst>
                <a:gd name="adj" fmla="val 189529"/>
              </a:avLst>
            </a:prstGeom>
            <a:solidFill>
              <a:srgbClr val="D4C5D9"/>
            </a:solidFill>
            <a:ln w="12700">
              <a:solidFill>
                <a:srgbClr val="D4C5D9">
                  <a:alpha val="0"/>
                </a:srgbClr>
              </a:solidFill>
              <a:prstDash val="solid"/>
            </a:ln>
          </p:spPr>
        </p:sp>
        <p:sp>
          <p:nvSpPr>
            <p:cNvPr id="23" name="Text 16"/>
            <p:cNvSpPr txBox="1"/>
            <p:nvPr/>
          </p:nvSpPr>
          <p:spPr>
            <a:xfrm>
              <a:off x="5878678" y="2440534"/>
              <a:ext cx="5667451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500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데이터 </a:t>
              </a:r>
              <a:r>
                <a:rPr lang="ko-KR" altLang="en-US" sz="1500" b="1" dirty="0" err="1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가용률</a:t>
              </a:r>
              <a:r>
                <a:rPr lang="ko-KR" altLang="en-US" sz="1500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및 무결성 </a:t>
              </a:r>
              <a:r>
                <a:rPr lang="en-US" altLang="ko-KR" sz="1500" b="1" dirty="0" smtClean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(94.1%)</a:t>
              </a:r>
              <a:endParaRPr lang="en-US" altLang="ko-KR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endParaRPr>
            </a:p>
          </p:txBody>
        </p:sp>
        <p:sp>
          <p:nvSpPr>
            <p:cNvPr id="24" name="Text 17"/>
            <p:cNvSpPr txBox="1"/>
            <p:nvPr/>
          </p:nvSpPr>
          <p:spPr>
            <a:xfrm>
              <a:off x="5878678" y="2783434"/>
              <a:ext cx="63971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>
                <a:defRPr sz="1100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defRPr>
              </a:lvl1pPr>
            </a:lstStyle>
            <a:p>
              <a:r>
                <a:rPr lang="ko-KR" altLang="en-US" dirty="0"/>
                <a:t>모의면접 데이터 </a:t>
              </a:r>
              <a:r>
                <a:rPr lang="ko-KR" altLang="en-US" dirty="0" err="1"/>
                <a:t>가용률</a:t>
              </a:r>
              <a:r>
                <a:rPr lang="en-US" altLang="ko-KR" dirty="0"/>
                <a:t>(</a:t>
              </a:r>
              <a:r>
                <a:rPr lang="ko-KR" altLang="en-US" dirty="0"/>
                <a:t>합격률</a:t>
              </a:r>
              <a:r>
                <a:rPr lang="en-US" altLang="ko-KR" dirty="0"/>
                <a:t>): 100</a:t>
              </a:r>
              <a:r>
                <a:rPr lang="en-US" altLang="ko-KR" dirty="0" smtClean="0"/>
                <a:t>%</a:t>
              </a:r>
            </a:p>
            <a:p>
              <a:r>
                <a:rPr lang="ko-KR" altLang="en-US" dirty="0"/>
                <a:t>인재상 데이터 완성도</a:t>
              </a:r>
              <a:r>
                <a:rPr lang="en-US" altLang="ko-KR" dirty="0"/>
                <a:t>: 88.1% </a:t>
              </a:r>
              <a:endParaRPr lang="en-US" dirty="0"/>
            </a:p>
          </p:txBody>
        </p:sp>
        <p:grpSp>
          <p:nvGrpSpPr>
            <p:cNvPr id="5" name="그룹 4"/>
            <p:cNvGrpSpPr/>
            <p:nvPr/>
          </p:nvGrpSpPr>
          <p:grpSpPr>
            <a:xfrm>
              <a:off x="5873536" y="2115922"/>
              <a:ext cx="766837" cy="248716"/>
              <a:chOff x="5873536" y="2115922"/>
              <a:chExt cx="766837" cy="248716"/>
            </a:xfrm>
          </p:grpSpPr>
          <p:pic>
            <p:nvPicPr>
              <p:cNvPr id="25" name="Image 5" descr="preencoded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78678" y="2116836"/>
                <a:ext cx="761695" cy="247802"/>
              </a:xfrm>
              <a:prstGeom prst="rect">
                <a:avLst/>
              </a:prstGeom>
            </p:spPr>
          </p:pic>
          <p:sp>
            <p:nvSpPr>
              <p:cNvPr id="26" name="Text 18"/>
              <p:cNvSpPr/>
              <p:nvPr/>
            </p:nvSpPr>
            <p:spPr>
              <a:xfrm>
                <a:off x="5873536" y="2115922"/>
                <a:ext cx="762610" cy="247802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kern="0" spc="45" dirty="0">
                    <a:solidFill>
                      <a:srgbClr val="512DA8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Phase 2</a:t>
                </a:r>
                <a:endParaRPr lang="en-US" sz="900" dirty="0"/>
              </a:p>
            </p:txBody>
          </p:sp>
        </p:grpSp>
        <p:pic>
          <p:nvPicPr>
            <p:cNvPr id="27" name="Image 6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5173675" y="2324405"/>
              <a:ext cx="457200" cy="457200"/>
            </a:xfrm>
            <a:prstGeom prst="rect">
              <a:avLst/>
            </a:prstGeom>
          </p:spPr>
        </p:pic>
        <p:pic>
          <p:nvPicPr>
            <p:cNvPr id="28" name="Image 7" descr="preencoded.png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316322" y="2467051"/>
              <a:ext cx="171907" cy="171907"/>
            </a:xfrm>
            <a:prstGeom prst="rect">
              <a:avLst/>
            </a:prstGeom>
          </p:spPr>
        </p:pic>
      </p:grpSp>
      <p:grpSp>
        <p:nvGrpSpPr>
          <p:cNvPr id="46" name="그룹 45"/>
          <p:cNvGrpSpPr/>
          <p:nvPr/>
        </p:nvGrpSpPr>
        <p:grpSpPr>
          <a:xfrm>
            <a:off x="5135270" y="3407969"/>
            <a:ext cx="6410859" cy="1485900"/>
            <a:chOff x="5173675" y="3455518"/>
            <a:chExt cx="6410859" cy="1485900"/>
          </a:xfrm>
        </p:grpSpPr>
        <p:sp>
          <p:nvSpPr>
            <p:cNvPr id="29" name="Shape 19"/>
            <p:cNvSpPr/>
            <p:nvPr/>
          </p:nvSpPr>
          <p:spPr>
            <a:xfrm>
              <a:off x="5593385" y="3455518"/>
              <a:ext cx="5991149" cy="1485900"/>
            </a:xfrm>
            <a:prstGeom prst="roundRect">
              <a:avLst>
                <a:gd name="adj" fmla="val 6312"/>
              </a:avLst>
            </a:prstGeom>
            <a:solidFill>
              <a:srgbClr val="FFFFFF"/>
            </a:solidFill>
            <a:ln/>
            <a:effectLst>
              <a:outerShdw blurRad="139700" dist="38100" dir="16200000" algn="bl" rotWithShape="0">
                <a:srgbClr val="000000">
                  <a:alpha val="3000"/>
                </a:srgbClr>
              </a:outerShdw>
            </a:effectLst>
          </p:spPr>
        </p:sp>
        <p:sp>
          <p:nvSpPr>
            <p:cNvPr id="30" name="Shape 20"/>
            <p:cNvSpPr/>
            <p:nvPr/>
          </p:nvSpPr>
          <p:spPr>
            <a:xfrm>
              <a:off x="5593385" y="3455518"/>
              <a:ext cx="57607" cy="1485900"/>
            </a:xfrm>
            <a:prstGeom prst="roundRect">
              <a:avLst>
                <a:gd name="adj" fmla="val 162801"/>
              </a:avLst>
            </a:prstGeom>
            <a:solidFill>
              <a:srgbClr val="E8F0EC"/>
            </a:solidFill>
            <a:ln w="12700">
              <a:solidFill>
                <a:srgbClr val="E8F0EC">
                  <a:alpha val="0"/>
                </a:srgbClr>
              </a:solidFill>
              <a:prstDash val="solid"/>
            </a:ln>
          </p:spPr>
        </p:sp>
        <p:sp>
          <p:nvSpPr>
            <p:cNvPr id="31" name="Text 21"/>
            <p:cNvSpPr txBox="1"/>
            <p:nvPr/>
          </p:nvSpPr>
          <p:spPr>
            <a:xfrm>
              <a:off x="5878678" y="3979469"/>
              <a:ext cx="5591556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500" b="1" dirty="0">
                  <a:solidFill>
                    <a:srgbClr val="1A1A1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데이터베이스 및 구축 테이블 아키텍처 </a:t>
              </a:r>
              <a:endParaRPr lang="en-US" sz="15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2" name="Text 22"/>
            <p:cNvSpPr txBox="1"/>
            <p:nvPr/>
          </p:nvSpPr>
          <p:spPr>
            <a:xfrm>
              <a:off x="5878678" y="4322369"/>
              <a:ext cx="5553151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ko-KR" alt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의미 기반 검색을 위한 **</a:t>
              </a:r>
              <a:r>
                <a:rPr lang="en-US" altLang="ko-KR" sz="1100" dirty="0" err="1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VectorDB</a:t>
              </a:r>
              <a:r>
                <a:rPr lang="en-US" altLang="ko-KR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(1,536</a:t>
              </a:r>
              <a:r>
                <a:rPr lang="ko-KR" alt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차원 </a:t>
              </a:r>
              <a:r>
                <a:rPr lang="ko-KR" altLang="en-US" sz="1100" dirty="0" err="1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임베딩</a:t>
              </a:r>
              <a:r>
                <a:rPr lang="en-US" altLang="ko-KR" sz="1100" dirty="0" smtClean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)</a:t>
              </a:r>
              <a:r>
                <a:rPr lang="ko-KR" altLang="en-US" sz="1100" dirty="0" smtClean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와 </a:t>
              </a:r>
              <a:r>
                <a:rPr lang="ko-KR" alt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구조화 관리를 위한 </a:t>
              </a:r>
              <a:r>
                <a:rPr lang="en-US" altLang="ko-KR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RDB</a:t>
              </a:r>
              <a:r>
                <a:rPr lang="ko-KR" alt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로 연계되어 </a:t>
              </a:r>
              <a:r>
                <a:rPr lang="ko-KR" altLang="en-US" sz="1100" dirty="0" smtClean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구축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45" name="그룹 44"/>
            <p:cNvGrpSpPr/>
            <p:nvPr/>
          </p:nvGrpSpPr>
          <p:grpSpPr>
            <a:xfrm>
              <a:off x="5878678" y="3654857"/>
              <a:ext cx="762610" cy="256946"/>
              <a:chOff x="5878678" y="3654857"/>
              <a:chExt cx="762610" cy="256946"/>
            </a:xfrm>
          </p:grpSpPr>
          <p:pic>
            <p:nvPicPr>
              <p:cNvPr id="33" name="Image 8" descr="preencoded.png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78678" y="3654857"/>
                <a:ext cx="761695" cy="247802"/>
              </a:xfrm>
              <a:prstGeom prst="rect">
                <a:avLst/>
              </a:prstGeom>
            </p:spPr>
          </p:pic>
          <p:sp>
            <p:nvSpPr>
              <p:cNvPr id="34" name="Text 23"/>
              <p:cNvSpPr/>
              <p:nvPr/>
            </p:nvSpPr>
            <p:spPr>
              <a:xfrm>
                <a:off x="5878678" y="3664001"/>
                <a:ext cx="762610" cy="247802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kern="0" spc="45" dirty="0">
                    <a:solidFill>
                      <a:srgbClr val="2E7D32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Inter" pitchFamily="34" charset="-120"/>
                  </a:rPr>
                  <a:t>Phase 3</a:t>
                </a:r>
                <a:endParaRPr lang="en-US" sz="9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pic>
          <p:nvPicPr>
            <p:cNvPr id="35" name="Image 9" descr="preencoded.png"/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5173675" y="3969410"/>
              <a:ext cx="457200" cy="457200"/>
            </a:xfrm>
            <a:prstGeom prst="rect">
              <a:avLst/>
            </a:prstGeom>
          </p:spPr>
        </p:pic>
        <p:pic>
          <p:nvPicPr>
            <p:cNvPr id="36" name="Image 10" descr="preencoded.png"/>
            <p:cNvPicPr>
              <a:picLocks noChangeAspect="1"/>
            </p:cNvPicPr>
            <p:nvPr/>
          </p:nvPicPr>
          <p:blipFill>
            <a:blip r:embed="rId12"/>
            <a:srcRect l="-1064" r="-1064"/>
            <a:stretch/>
          </p:blipFill>
          <p:spPr>
            <a:xfrm>
              <a:off x="5292547" y="4112057"/>
              <a:ext cx="219456" cy="171907"/>
            </a:xfrm>
            <a:prstGeom prst="rect">
              <a:avLst/>
            </a:prstGeom>
          </p:spPr>
        </p:pic>
      </p:grpSp>
      <p:grpSp>
        <p:nvGrpSpPr>
          <p:cNvPr id="48" name="그룹 47"/>
          <p:cNvGrpSpPr/>
          <p:nvPr/>
        </p:nvGrpSpPr>
        <p:grpSpPr>
          <a:xfrm>
            <a:off x="5135270" y="5122012"/>
            <a:ext cx="6410859" cy="1485900"/>
            <a:chOff x="5173675" y="5207508"/>
            <a:chExt cx="6410859" cy="1485900"/>
          </a:xfrm>
        </p:grpSpPr>
        <p:sp>
          <p:nvSpPr>
            <p:cNvPr id="37" name="Shape 24"/>
            <p:cNvSpPr/>
            <p:nvPr/>
          </p:nvSpPr>
          <p:spPr>
            <a:xfrm>
              <a:off x="5593385" y="5207508"/>
              <a:ext cx="5991149" cy="1485900"/>
            </a:xfrm>
            <a:prstGeom prst="roundRect">
              <a:avLst>
                <a:gd name="adj" fmla="val 6312"/>
              </a:avLst>
            </a:prstGeom>
            <a:solidFill>
              <a:srgbClr val="FFFFFF"/>
            </a:solidFill>
            <a:ln/>
            <a:effectLst>
              <a:outerShdw blurRad="139700" dist="38100" dir="16200000" algn="bl" rotWithShape="0">
                <a:srgbClr val="000000">
                  <a:alpha val="3000"/>
                </a:srgbClr>
              </a:outerShdw>
            </a:effectLst>
          </p:spPr>
        </p:sp>
        <p:sp>
          <p:nvSpPr>
            <p:cNvPr id="38" name="Shape 25"/>
            <p:cNvSpPr/>
            <p:nvPr/>
          </p:nvSpPr>
          <p:spPr>
            <a:xfrm>
              <a:off x="5593385" y="5207508"/>
              <a:ext cx="57607" cy="1485900"/>
            </a:xfrm>
            <a:prstGeom prst="roundRect">
              <a:avLst>
                <a:gd name="adj" fmla="val 162801"/>
              </a:avLst>
            </a:prstGeom>
            <a:solidFill>
              <a:srgbClr val="F5E6E8"/>
            </a:solidFill>
            <a:ln w="12700">
              <a:solidFill>
                <a:srgbClr val="F5E6E8">
                  <a:alpha val="0"/>
                </a:srgbClr>
              </a:solidFill>
              <a:prstDash val="solid"/>
            </a:ln>
          </p:spPr>
        </p:sp>
        <p:sp>
          <p:nvSpPr>
            <p:cNvPr id="39" name="Text 26"/>
            <p:cNvSpPr txBox="1"/>
            <p:nvPr/>
          </p:nvSpPr>
          <p:spPr>
            <a:xfrm>
              <a:off x="5878678" y="5731459"/>
              <a:ext cx="5667451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500" b="1" dirty="0">
                  <a:solidFill>
                    <a:srgbClr val="1A1A1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총 </a:t>
              </a:r>
              <a:r>
                <a:rPr lang="en-US" altLang="ko-KR" sz="1500" b="1" dirty="0">
                  <a:solidFill>
                    <a:srgbClr val="1A1A1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4</a:t>
              </a:r>
              <a:r>
                <a:rPr lang="ko-KR" altLang="en-US" sz="1500" b="1" dirty="0">
                  <a:solidFill>
                    <a:srgbClr val="1A1A1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개의 핵심 테이블 구조</a:t>
              </a:r>
              <a:endParaRPr lang="en-US" sz="15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0" name="Text 27"/>
            <p:cNvSpPr txBox="1"/>
            <p:nvPr/>
          </p:nvSpPr>
          <p:spPr>
            <a:xfrm>
              <a:off x="5878678" y="6074359"/>
              <a:ext cx="5553151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ko-KR" alt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질문</a:t>
              </a:r>
              <a:r>
                <a:rPr lang="en-US" altLang="ko-KR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·</a:t>
              </a:r>
              <a:r>
                <a:rPr lang="ko-KR" alt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답변</a:t>
              </a:r>
              <a:r>
                <a:rPr lang="en-US" altLang="ko-KR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·</a:t>
              </a:r>
              <a:r>
                <a:rPr lang="ko-KR" alt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기업</a:t>
              </a:r>
              <a:r>
                <a:rPr lang="en-US" altLang="ko-KR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·</a:t>
              </a:r>
              <a:r>
                <a:rPr lang="ko-KR" alt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스코어의 </a:t>
              </a:r>
              <a:r>
                <a:rPr lang="en-US" altLang="ko-KR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4</a:t>
              </a:r>
              <a:r>
                <a:rPr lang="ko-KR" alt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대 핵심 테이블 구조를 바탕으로</a:t>
              </a:r>
              <a:r>
                <a:rPr lang="en-US" altLang="ko-KR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, AI </a:t>
              </a:r>
              <a:r>
                <a:rPr lang="ko-KR" altLang="en-US" sz="1100" dirty="0" err="1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라벨링을</a:t>
              </a:r>
              <a:r>
                <a:rPr lang="ko-KR" alt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 통해 기술 역량 및 중간 난이도 중심으로 세분화되어 사용자 수준별 맞춤형 </a:t>
              </a:r>
              <a:r>
                <a:rPr lang="en-US" altLang="ko-KR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AI </a:t>
              </a:r>
              <a:r>
                <a:rPr lang="ko-KR" altLang="en-US" sz="1100" dirty="0">
                  <a:solidFill>
                    <a:srgbClr val="6666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Inter" pitchFamily="34" charset="-120"/>
                </a:rPr>
                <a:t>면접과 자동 평가가 가능한 데이터베이스를 구축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47" name="그룹 46"/>
            <p:cNvGrpSpPr/>
            <p:nvPr/>
          </p:nvGrpSpPr>
          <p:grpSpPr>
            <a:xfrm>
              <a:off x="5878678" y="5407762"/>
              <a:ext cx="763877" cy="256705"/>
              <a:chOff x="5878678" y="5407762"/>
              <a:chExt cx="763877" cy="256705"/>
            </a:xfrm>
          </p:grpSpPr>
          <p:pic>
            <p:nvPicPr>
              <p:cNvPr id="41" name="Image 11" descr="preencoded.png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78678" y="5407762"/>
                <a:ext cx="761695" cy="247802"/>
              </a:xfrm>
              <a:prstGeom prst="rect">
                <a:avLst/>
              </a:prstGeom>
            </p:spPr>
          </p:pic>
          <p:sp>
            <p:nvSpPr>
              <p:cNvPr id="42" name="Text 28"/>
              <p:cNvSpPr/>
              <p:nvPr/>
            </p:nvSpPr>
            <p:spPr>
              <a:xfrm>
                <a:off x="5879945" y="5416665"/>
                <a:ext cx="762610" cy="247802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kern="0" spc="45" dirty="0">
                    <a:solidFill>
                      <a:srgbClr val="C2185B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Inter" pitchFamily="34" charset="-120"/>
                  </a:rPr>
                  <a:t>Phase 4</a:t>
                </a:r>
                <a:endParaRPr lang="en-US" sz="9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pic>
          <p:nvPicPr>
            <p:cNvPr id="43" name="Image 12" descr="preencoded.png"/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5173675" y="5722315"/>
              <a:ext cx="457200" cy="457200"/>
            </a:xfrm>
            <a:prstGeom prst="rect">
              <a:avLst/>
            </a:prstGeom>
          </p:spPr>
        </p:pic>
        <p:pic>
          <p:nvPicPr>
            <p:cNvPr id="44" name="Image 13" descr="preencoded.png"/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5316322" y="5864962"/>
              <a:ext cx="171907" cy="171907"/>
            </a:xfrm>
            <a:prstGeom prst="rect">
              <a:avLst/>
            </a:prstGeom>
          </p:spPr>
        </p:pic>
      </p:grpSp>
      <p:sp>
        <p:nvSpPr>
          <p:cNvPr id="49" name="TextBox 48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A4_Project_2AI1_DA_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권준호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4121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238244" y="1666539"/>
            <a:ext cx="3502152" cy="133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-30" dirty="0" smtClean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LLM Architecture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188" r="-188"/>
          <a:stretch/>
        </p:blipFill>
        <p:spPr>
          <a:xfrm flipV="1">
            <a:off x="4614710" y="2317206"/>
            <a:ext cx="2821190" cy="101196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3145536" y="2933395"/>
            <a:ext cx="5905195" cy="476402"/>
          </a:xfrm>
          <a:prstGeom prst="roundRect">
            <a:avLst>
              <a:gd name="adj" fmla="val 19193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3671316" y="3057754"/>
            <a:ext cx="5554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" dirty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대상 모듈:</a:t>
            </a:r>
            <a:r>
              <a:rPr lang="en-US" sz="1200" kern="0" spc="30" dirty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담당 파트: LLM 파이프라인 (설계 · 구현 · 문제해결 · 성과) 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rcRect t="-30" b="-30"/>
          <a:stretch/>
        </p:blipFill>
        <p:spPr>
          <a:xfrm>
            <a:off x="2584094" y="3866998"/>
            <a:ext cx="7023506" cy="743407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2974543" y="4048049"/>
            <a:ext cx="381305" cy="381305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rcRect l="-760" r="-760"/>
          <a:stretch/>
        </p:blipFill>
        <p:spPr>
          <a:xfrm>
            <a:off x="3088843" y="4153205"/>
            <a:ext cx="152705" cy="171907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3470148" y="4028846"/>
            <a:ext cx="6007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Author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7"/>
          <p:cNvSpPr txBox="1"/>
          <p:nvPr/>
        </p:nvSpPr>
        <p:spPr>
          <a:xfrm>
            <a:off x="3470148" y="4181551"/>
            <a:ext cx="6007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김린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rcRect t="-2127" b="-2127"/>
          <a:stretch/>
        </p:blipFill>
        <p:spPr>
          <a:xfrm>
            <a:off x="4449470" y="4048049"/>
            <a:ext cx="9144" cy="381305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4916729" y="4048049"/>
            <a:ext cx="381305" cy="381305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8"/>
          <a:srcRect l="-760" r="-760"/>
          <a:stretch/>
        </p:blipFill>
        <p:spPr>
          <a:xfrm>
            <a:off x="5031029" y="4153205"/>
            <a:ext cx="152705" cy="171907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5411419" y="4028846"/>
            <a:ext cx="991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Date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0"/>
          <p:cNvSpPr txBox="1"/>
          <p:nvPr/>
        </p:nvSpPr>
        <p:spPr>
          <a:xfrm>
            <a:off x="5411419" y="4181551"/>
            <a:ext cx="129387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2026년 3</a:t>
            </a:r>
            <a:r>
              <a:rPr lang="en-US" sz="1300" b="1" dirty="0" smtClean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월 11</a:t>
            </a:r>
            <a:r>
              <a:rPr lang="ko-KR" altLang="en-US" sz="1300" b="1" dirty="0" smtClean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일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7"/>
          <a:srcRect t="-2127" b="-2127"/>
          <a:stretch/>
        </p:blipFill>
        <p:spPr>
          <a:xfrm>
            <a:off x="6778447" y="4048049"/>
            <a:ext cx="9144" cy="381305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7245706" y="4048049"/>
            <a:ext cx="381305" cy="381305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9"/>
          <a:srcRect t="-842" b="-842"/>
          <a:stretch/>
        </p:blipFill>
        <p:spPr>
          <a:xfrm>
            <a:off x="7340803" y="4153205"/>
            <a:ext cx="190195" cy="171907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7740396" y="4028846"/>
            <a:ext cx="15526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Type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13"/>
          <p:cNvSpPr txBox="1"/>
          <p:nvPr/>
        </p:nvSpPr>
        <p:spPr>
          <a:xfrm>
            <a:off x="7740396" y="4181551"/>
            <a:ext cx="175747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LLM Pipeline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0"/>
          <a:srcRect l="-384" r="-384"/>
          <a:stretch/>
        </p:blipFill>
        <p:spPr>
          <a:xfrm>
            <a:off x="3644798" y="4990795"/>
            <a:ext cx="1009498" cy="304495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3615538" y="4990795"/>
            <a:ext cx="10671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#VectorDB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1"/>
          <a:srcRect l="-207" r="-207"/>
          <a:stretch/>
        </p:blipFill>
        <p:spPr>
          <a:xfrm>
            <a:off x="4799686" y="4990795"/>
            <a:ext cx="666598" cy="304495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4771339" y="4990795"/>
            <a:ext cx="7242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#LLM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2"/>
          <a:srcRect l="-602" r="-602"/>
          <a:stretch/>
        </p:blipFill>
        <p:spPr>
          <a:xfrm>
            <a:off x="5616245" y="4990795"/>
            <a:ext cx="676656" cy="304495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5587898" y="4990795"/>
            <a:ext cx="7342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#RAG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13"/>
          <a:srcRect l="-129" r="-129"/>
          <a:stretch/>
        </p:blipFill>
        <p:spPr>
          <a:xfrm>
            <a:off x="6438290" y="4990795"/>
            <a:ext cx="905256" cy="304495"/>
          </a:xfrm>
          <a:prstGeom prst="rect">
            <a:avLst/>
          </a:prstGeom>
        </p:spPr>
      </p:pic>
      <p:sp>
        <p:nvSpPr>
          <p:cNvPr id="33" name="Text 17"/>
          <p:cNvSpPr txBox="1"/>
          <p:nvPr/>
        </p:nvSpPr>
        <p:spPr>
          <a:xfrm>
            <a:off x="6409944" y="4990795"/>
            <a:ext cx="9628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#Pipeline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14"/>
          <a:srcRect l="-259" r="-259"/>
          <a:stretch/>
        </p:blipFill>
        <p:spPr>
          <a:xfrm>
            <a:off x="7494422" y="4990795"/>
            <a:ext cx="1057046" cy="304495"/>
          </a:xfrm>
          <a:prstGeom prst="rect">
            <a:avLst/>
          </a:prstGeom>
        </p:spPr>
      </p:pic>
      <p:sp>
        <p:nvSpPr>
          <p:cNvPr id="35" name="Text 18"/>
          <p:cNvSpPr txBox="1"/>
          <p:nvPr/>
        </p:nvSpPr>
        <p:spPr>
          <a:xfrm>
            <a:off x="7466076" y="4990795"/>
            <a:ext cx="11146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#AI-Worker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6" name="Image 15" descr="preencoded.png"/>
          <p:cNvPicPr>
            <a:picLocks noChangeAspect="1"/>
          </p:cNvPicPr>
          <p:nvPr/>
        </p:nvPicPr>
        <p:blipFill>
          <a:blip r:embed="rId15"/>
          <a:srcRect l="-33" r="-33"/>
          <a:stretch/>
        </p:blipFill>
        <p:spPr>
          <a:xfrm>
            <a:off x="3460090" y="3095244"/>
            <a:ext cx="171907" cy="152705"/>
          </a:xfrm>
          <a:prstGeom prst="rect">
            <a:avLst/>
          </a:prstGeom>
        </p:spPr>
      </p:pic>
      <p:sp>
        <p:nvSpPr>
          <p:cNvPr id="37" name="타원 36"/>
          <p:cNvSpPr/>
          <p:nvPr/>
        </p:nvSpPr>
        <p:spPr>
          <a:xfrm>
            <a:off x="8296358" y="0"/>
            <a:ext cx="1962558" cy="2083483"/>
          </a:xfrm>
          <a:prstGeom prst="ellipse">
            <a:avLst/>
          </a:prstGeom>
          <a:solidFill>
            <a:schemeClr val="accent6">
              <a:lumMod val="40000"/>
              <a:lumOff val="60000"/>
              <a:alpha val="54902"/>
            </a:schemeClr>
          </a:solidFill>
          <a:ln>
            <a:solidFill>
              <a:schemeClr val="accent6">
                <a:lumMod val="40000"/>
                <a:lumOff val="60000"/>
                <a:alpha val="56078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/>
          <p:cNvSpPr/>
          <p:nvPr/>
        </p:nvSpPr>
        <p:spPr>
          <a:xfrm>
            <a:off x="9022468" y="4393934"/>
            <a:ext cx="2937164" cy="2979059"/>
          </a:xfrm>
          <a:prstGeom prst="ellipse">
            <a:avLst/>
          </a:prstGeom>
          <a:solidFill>
            <a:srgbClr val="92D050">
              <a:alpha val="54902"/>
            </a:srgbClr>
          </a:solidFill>
          <a:ln>
            <a:solidFill>
              <a:srgbClr val="92D050">
                <a:alpha val="5607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/>
        </p:nvSpPr>
        <p:spPr>
          <a:xfrm>
            <a:off x="9305933" y="650405"/>
            <a:ext cx="3960000" cy="3960000"/>
          </a:xfrm>
          <a:prstGeom prst="ellipse">
            <a:avLst/>
          </a:prstGeom>
          <a:solidFill>
            <a:srgbClr val="385723">
              <a:alpha val="25882"/>
            </a:srgbClr>
          </a:solidFill>
          <a:ln>
            <a:solidFill>
              <a:srgbClr val="385723">
                <a:alpha val="2588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>
            <a:off x="-578406" y="4019308"/>
            <a:ext cx="3600000" cy="3600000"/>
          </a:xfrm>
          <a:prstGeom prst="ellipse">
            <a:avLst/>
          </a:prstGeom>
          <a:solidFill>
            <a:schemeClr val="accent6">
              <a:lumMod val="40000"/>
              <a:lumOff val="60000"/>
              <a:alpha val="54902"/>
            </a:schemeClr>
          </a:solidFill>
          <a:ln>
            <a:solidFill>
              <a:schemeClr val="accent6">
                <a:lumMod val="40000"/>
                <a:lumOff val="60000"/>
                <a:alpha val="56078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45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81305" y="381305"/>
            <a:ext cx="75895" cy="381305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38770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BACKGROUND &amp; GOAL</a:t>
            </a:r>
            <a:endParaRPr lang="en-US" sz="2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71500" y="838505"/>
            <a:ext cx="11430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프로젝트 배경 및 핵심 목표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4212306" y="1133856"/>
            <a:ext cx="7518197" cy="553211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481557" y="1378916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95857" y="1493216"/>
            <a:ext cx="152705" cy="152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976247" y="1416406"/>
            <a:ext cx="166420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3</a:t>
            </a:r>
            <a:r>
              <a:rPr lang="en-US" sz="1800" b="1" dirty="0" smtClean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대 </a:t>
            </a:r>
            <a:r>
              <a:rPr lang="en-US" sz="18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핵심 전략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13" b="-13"/>
          <a:stretch/>
        </p:blipFill>
        <p:spPr>
          <a:xfrm>
            <a:off x="4448556" y="2384133"/>
            <a:ext cx="7041794" cy="8193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30978" y="2544142"/>
            <a:ext cx="5340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A5D6A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01</a:t>
            </a:r>
            <a:endParaRPr lang="en-US" sz="2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5276879" y="2487449"/>
            <a:ext cx="9144" cy="49560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517032" y="2487449"/>
            <a:ext cx="57342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개인 맞춤형 질문 생성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5517032" y="2791944"/>
            <a:ext cx="5734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이력서 기반 개인 맞춤형 면접 질문 자동 생성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 t="-13" b="-13"/>
          <a:stretch/>
        </p:blipFill>
        <p:spPr>
          <a:xfrm>
            <a:off x="4448556" y="3377048"/>
            <a:ext cx="7041794" cy="8193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572000" y="3596504"/>
            <a:ext cx="5340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 smtClean="0">
                <a:solidFill>
                  <a:srgbClr val="A5D6A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02</a:t>
            </a:r>
            <a:endParaRPr lang="en-US" sz="2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Shape 16"/>
          <p:cNvSpPr/>
          <p:nvPr/>
        </p:nvSpPr>
        <p:spPr>
          <a:xfrm>
            <a:off x="5257800" y="3539811"/>
            <a:ext cx="9144" cy="49560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458054" y="3539811"/>
            <a:ext cx="57342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종합 평가 리포트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5458054" y="3844306"/>
            <a:ext cx="5734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기업 인재상을 반영한 종합 면접 평가 리포트 자동 생성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rcRect t="-13" b="-13"/>
          <a:stretch/>
        </p:blipFill>
        <p:spPr>
          <a:xfrm>
            <a:off x="4448556" y="4349055"/>
            <a:ext cx="7041794" cy="8193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572000" y="4568511"/>
            <a:ext cx="5340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 smtClean="0">
                <a:solidFill>
                  <a:srgbClr val="A5D6A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03</a:t>
            </a:r>
            <a:endParaRPr lang="en-US" sz="2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5257800" y="4510904"/>
            <a:ext cx="9144" cy="49560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5458054" y="4510904"/>
            <a:ext cx="5705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적응형 면접 시나리오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2"/>
          <p:cNvSpPr txBox="1"/>
          <p:nvPr/>
        </p:nvSpPr>
        <p:spPr>
          <a:xfrm>
            <a:off x="5458054" y="4815399"/>
            <a:ext cx="57058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전공자/비전공자 분기 처리를 통한 적응형 면접 시나리오 제공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Shape 24"/>
          <p:cNvSpPr/>
          <p:nvPr/>
        </p:nvSpPr>
        <p:spPr>
          <a:xfrm>
            <a:off x="5257800" y="5482911"/>
            <a:ext cx="9144" cy="49560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6"/>
          <a:srcRect t="-10" b="-10"/>
          <a:stretch/>
        </p:blipFill>
        <p:spPr>
          <a:xfrm>
            <a:off x="332010" y="1140257"/>
            <a:ext cx="3606394" cy="2781605"/>
          </a:xfrm>
          <a:prstGeom prst="rect">
            <a:avLst/>
          </a:prstGeom>
        </p:spPr>
      </p:pic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7">
            <a:alphaModFix amt="50000"/>
          </a:blip>
          <a:srcRect l="-27" r="-27"/>
          <a:stretch/>
        </p:blipFill>
        <p:spPr>
          <a:xfrm>
            <a:off x="2924250" y="1038758"/>
            <a:ext cx="1067105" cy="1218895"/>
          </a:xfrm>
          <a:prstGeom prst="rect">
            <a:avLst/>
          </a:prstGeom>
        </p:spPr>
      </p:pic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8"/>
          <a:srcRect t="-10" b="-10"/>
          <a:stretch/>
        </p:blipFill>
        <p:spPr>
          <a:xfrm>
            <a:off x="290863" y="3821277"/>
            <a:ext cx="3606394" cy="2781605"/>
          </a:xfrm>
          <a:prstGeom prst="rect">
            <a:avLst/>
          </a:prstGeom>
        </p:spPr>
      </p:pic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9">
            <a:alphaModFix amt="20000"/>
          </a:blip>
          <a:srcRect/>
          <a:stretch/>
        </p:blipFill>
        <p:spPr>
          <a:xfrm>
            <a:off x="11244833" y="2634668"/>
            <a:ext cx="142646" cy="190195"/>
          </a:xfrm>
          <a:prstGeom prst="rect">
            <a:avLst/>
          </a:prstGeom>
        </p:spPr>
      </p:pic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0">
            <a:alphaModFix amt="20000"/>
          </a:blip>
          <a:srcRect/>
          <a:stretch/>
        </p:blipFill>
        <p:spPr>
          <a:xfrm>
            <a:off x="11185855" y="3687030"/>
            <a:ext cx="142646" cy="190195"/>
          </a:xfrm>
          <a:prstGeom prst="rect">
            <a:avLst/>
          </a:prstGeom>
        </p:spPr>
      </p:pic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1">
            <a:alphaModFix amt="20000"/>
          </a:blip>
          <a:srcRect l="-1648" r="-1648"/>
          <a:stretch/>
        </p:blipFill>
        <p:spPr>
          <a:xfrm>
            <a:off x="11157509" y="4658122"/>
            <a:ext cx="171907" cy="190195"/>
          </a:xfrm>
          <a:prstGeom prst="rect">
            <a:avLst/>
          </a:prstGeom>
        </p:spPr>
      </p:pic>
      <p:sp>
        <p:nvSpPr>
          <p:cNvPr id="45" name="Shape 27"/>
          <p:cNvSpPr/>
          <p:nvPr/>
        </p:nvSpPr>
        <p:spPr>
          <a:xfrm>
            <a:off x="636505" y="1846174"/>
            <a:ext cx="381305" cy="381305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50805" y="1960474"/>
            <a:ext cx="152705" cy="152705"/>
          </a:xfrm>
          <a:prstGeom prst="rect">
            <a:avLst/>
          </a:prstGeom>
        </p:spPr>
      </p:pic>
      <p:sp>
        <p:nvSpPr>
          <p:cNvPr id="47" name="Text 28"/>
          <p:cNvSpPr txBox="1"/>
          <p:nvPr/>
        </p:nvSpPr>
        <p:spPr>
          <a:xfrm>
            <a:off x="1132110" y="1903781"/>
            <a:ext cx="14621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배경 및 문제점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 29"/>
          <p:cNvSpPr txBox="1"/>
          <p:nvPr/>
        </p:nvSpPr>
        <p:spPr>
          <a:xfrm>
            <a:off x="636505" y="2380184"/>
            <a:ext cx="3152851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기존 면접 준비 도구들이 단순 예상 질문 목록을 제공하는 수준에 머무르는 한계를 극복하고, 이력서 기반 개인 맞춤형 AI 파이프라인을 설계·구현하였습니다.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Shape 30"/>
          <p:cNvSpPr/>
          <p:nvPr/>
        </p:nvSpPr>
        <p:spPr>
          <a:xfrm>
            <a:off x="691257" y="4386545"/>
            <a:ext cx="381305" cy="381305"/>
          </a:xfrm>
          <a:prstGeom prst="ellipse">
            <a:avLst/>
          </a:prstGeom>
          <a:solidFill>
            <a:srgbClr val="43A0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3"/>
          <a:srcRect t="-43" b="-43"/>
          <a:stretch/>
        </p:blipFill>
        <p:spPr>
          <a:xfrm>
            <a:off x="835998" y="4513021"/>
            <a:ext cx="133502" cy="152705"/>
          </a:xfrm>
          <a:prstGeom prst="rect">
            <a:avLst/>
          </a:prstGeom>
        </p:spPr>
      </p:pic>
      <p:sp>
        <p:nvSpPr>
          <p:cNvPr id="51" name="Text 31"/>
          <p:cNvSpPr txBox="1"/>
          <p:nvPr/>
        </p:nvSpPr>
        <p:spPr>
          <a:xfrm>
            <a:off x="1169518" y="4493819"/>
            <a:ext cx="13405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프로젝트 목표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Text 32"/>
          <p:cNvSpPr txBox="1"/>
          <p:nvPr/>
        </p:nvSpPr>
        <p:spPr>
          <a:xfrm>
            <a:off x="536708" y="4972447"/>
            <a:ext cx="3152851" cy="1516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5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지원자 맞춤 질문 생성</a:t>
            </a:r>
            <a:endParaRPr lang="en-US" altLang="ko-KR" sz="1500" b="1" dirty="0" smtClean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sz="1500" b="1" dirty="0" smtClean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b="1" dirty="0" err="1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이력서</a:t>
            </a:r>
            <a:r>
              <a:rPr lang="en-US" sz="15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5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파싱 → 임베딩 → RAG → 질문생성 → 평가까지 완전한 E2E AI 면접 </a:t>
            </a:r>
            <a:r>
              <a:rPr lang="en-US" sz="15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파이프라인</a:t>
            </a:r>
            <a:r>
              <a:rPr lang="en-US" sz="15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완성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A4_Project_2AI1_LA_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김린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26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A4_Project_2AI1_LA_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김린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2074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-1" r="29326"/>
          <a:stretch/>
        </p:blipFill>
        <p:spPr>
          <a:xfrm>
            <a:off x="-541175" y="0"/>
            <a:ext cx="8770775" cy="685800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2" r="2189"/>
          <a:stretch/>
        </p:blipFill>
        <p:spPr>
          <a:xfrm>
            <a:off x="8172462" y="2733869"/>
            <a:ext cx="4019538" cy="21998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A4_Project_2AI1_LA_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김린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8520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모서리가 둥근 직사각형 67"/>
          <p:cNvSpPr/>
          <p:nvPr/>
        </p:nvSpPr>
        <p:spPr>
          <a:xfrm>
            <a:off x="419252" y="1296183"/>
            <a:ext cx="11611383" cy="5203230"/>
          </a:xfrm>
          <a:prstGeom prst="roundRect">
            <a:avLst>
              <a:gd name="adj" fmla="val 3509"/>
            </a:avLst>
          </a:prstGeom>
          <a:solidFill>
            <a:srgbClr val="FFFFFF">
              <a:alpha val="45882"/>
            </a:srgbClr>
          </a:solidFill>
          <a:ln>
            <a:solidFill>
              <a:srgbClr val="E2F0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Shape 2"/>
          <p:cNvSpPr/>
          <p:nvPr/>
        </p:nvSpPr>
        <p:spPr>
          <a:xfrm>
            <a:off x="381305" y="381305"/>
            <a:ext cx="75895" cy="381305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27340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DEVELOPMENT</a:t>
            </a:r>
            <a:endParaRPr lang="en-US" sz="2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3154562" y="479692"/>
            <a:ext cx="211567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 smtClean="0">
                <a:solidFill>
                  <a:srgbClr val="388E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면접 </a:t>
            </a:r>
            <a:r>
              <a:rPr lang="ko-KR" altLang="en-US" sz="1500" b="1" dirty="0" smtClean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시나리오</a:t>
            </a:r>
            <a:r>
              <a:rPr lang="ko-KR" altLang="en-US" sz="1500" b="1" dirty="0" smtClean="0">
                <a:solidFill>
                  <a:srgbClr val="388E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설계</a:t>
            </a:r>
            <a:endParaRPr lang="en-US" sz="1500" dirty="0"/>
          </a:p>
        </p:txBody>
      </p:sp>
      <p:sp>
        <p:nvSpPr>
          <p:cNvPr id="78" name="직사각형 77"/>
          <p:cNvSpPr/>
          <p:nvPr/>
        </p:nvSpPr>
        <p:spPr>
          <a:xfrm>
            <a:off x="381305" y="867551"/>
            <a:ext cx="59662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400"/>
              </a:spcAft>
            </a:pP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전공 전환 여부 분기 처리 및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Template–LLM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기반 </a:t>
            </a:r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이원화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질문 처리 구조</a:t>
            </a:r>
            <a:endParaRPr lang="ko-KR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A4_Project_2AI1_LA_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김린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828904" y="1868670"/>
            <a:ext cx="22000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1754" y="1475707"/>
            <a:ext cx="228600" cy="228600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1100879" y="1393277"/>
            <a:ext cx="134325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 smtClean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</a:t>
            </a:r>
            <a:r>
              <a:rPr lang="en-US" sz="1500" b="1" dirty="0" smtClean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</a:t>
            </a:r>
            <a:endParaRPr lang="en-US" sz="15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 rot="16200000">
            <a:off x="3133712" y="2069865"/>
            <a:ext cx="271212" cy="362340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701382" y="1873262"/>
            <a:ext cx="2261088" cy="828001"/>
            <a:chOff x="821588" y="1982545"/>
            <a:chExt cx="2261088" cy="828001"/>
          </a:xfrm>
        </p:grpSpPr>
        <p:grpSp>
          <p:nvGrpSpPr>
            <p:cNvPr id="20" name="그룹 19"/>
            <p:cNvGrpSpPr/>
            <p:nvPr/>
          </p:nvGrpSpPr>
          <p:grpSpPr>
            <a:xfrm>
              <a:off x="867309" y="1982546"/>
              <a:ext cx="2215367" cy="828000"/>
              <a:chOff x="847649" y="2533802"/>
              <a:chExt cx="2215367" cy="828000"/>
            </a:xfrm>
          </p:grpSpPr>
          <p:sp>
            <p:nvSpPr>
              <p:cNvPr id="21" name="Shape 6"/>
              <p:cNvSpPr/>
              <p:nvPr/>
            </p:nvSpPr>
            <p:spPr>
              <a:xfrm>
                <a:off x="847649" y="2533802"/>
                <a:ext cx="2200045" cy="828000"/>
              </a:xfrm>
              <a:prstGeom prst="roundRect">
                <a:avLst>
                  <a:gd name="adj" fmla="val 64000"/>
                </a:avLst>
              </a:prstGeom>
              <a:solidFill>
                <a:srgbClr val="FFFFFF"/>
              </a:solidFill>
              <a:ln/>
              <a:effectLst>
                <a:outerShdw blurRad="63500" dist="38100" dir="16200000" algn="bl" rotWithShape="0">
                  <a:srgbClr val="000000">
                    <a:alpha val="5000"/>
                  </a:srgbClr>
                </a:outerShdw>
              </a:effectLst>
            </p:spPr>
          </p:sp>
          <p:sp>
            <p:nvSpPr>
              <p:cNvPr id="22" name="Shape 8"/>
              <p:cNvSpPr/>
              <p:nvPr/>
            </p:nvSpPr>
            <p:spPr>
              <a:xfrm>
                <a:off x="946785" y="2747767"/>
                <a:ext cx="304495" cy="304495"/>
              </a:xfrm>
              <a:prstGeom prst="ellipse">
                <a:avLst/>
              </a:prstGeom>
              <a:solidFill>
                <a:srgbClr val="DBEAFE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24" name="Text 9"/>
              <p:cNvSpPr txBox="1"/>
              <p:nvPr/>
            </p:nvSpPr>
            <p:spPr>
              <a:xfrm>
                <a:off x="1370874" y="2680385"/>
                <a:ext cx="1656893" cy="1537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b="1" dirty="0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intro(</a:t>
                </a:r>
                <a:r>
                  <a:rPr lang="en-US" altLang="ko-KR" sz="10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Template</a:t>
                </a:r>
                <a:r>
                  <a:rPr lang="en-US" altLang="ko-KR" sz="1000" dirty="0" smtClean="0"/>
                  <a:t>)</a:t>
                </a:r>
                <a:endParaRPr lang="ko-KR" altLang="ko-KR" sz="10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5" name="Text 10"/>
              <p:cNvSpPr txBox="1"/>
              <p:nvPr/>
            </p:nvSpPr>
            <p:spPr>
              <a:xfrm>
                <a:off x="1363033" y="2724989"/>
                <a:ext cx="1699983" cy="437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900" dirty="0" smtClean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면접 소개  </a:t>
                </a:r>
                <a:r>
                  <a:rPr lang="en-US" altLang="ko-KR" sz="900" dirty="0" smtClean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&amp;</a:t>
                </a:r>
                <a:r>
                  <a:rPr lang="ko-KR" altLang="en-US" sz="900" dirty="0" smtClean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 자기소개</a:t>
                </a:r>
                <a:endParaRPr lang="ko-KR" alt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endParaRPr>
              </a:p>
            </p:txBody>
          </p:sp>
        </p:grpSp>
        <p:sp>
          <p:nvSpPr>
            <p:cNvPr id="61" name="Shape 12"/>
            <p:cNvSpPr/>
            <p:nvPr/>
          </p:nvSpPr>
          <p:spPr>
            <a:xfrm>
              <a:off x="821588" y="1982545"/>
              <a:ext cx="75600" cy="828000"/>
            </a:xfrm>
            <a:prstGeom prst="roundRect">
              <a:avLst>
                <a:gd name="adj" fmla="val 952376"/>
              </a:avLst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</p:grpSp>
      <p:grpSp>
        <p:nvGrpSpPr>
          <p:cNvPr id="88" name="그룹 87"/>
          <p:cNvGrpSpPr/>
          <p:nvPr/>
        </p:nvGrpSpPr>
        <p:grpSpPr>
          <a:xfrm>
            <a:off x="3648463" y="1876694"/>
            <a:ext cx="2242374" cy="835332"/>
            <a:chOff x="821588" y="1874722"/>
            <a:chExt cx="2242374" cy="835332"/>
          </a:xfrm>
        </p:grpSpPr>
        <p:grpSp>
          <p:nvGrpSpPr>
            <p:cNvPr id="89" name="그룹 88"/>
            <p:cNvGrpSpPr/>
            <p:nvPr/>
          </p:nvGrpSpPr>
          <p:grpSpPr>
            <a:xfrm>
              <a:off x="859388" y="1882054"/>
              <a:ext cx="2204574" cy="828000"/>
              <a:chOff x="839728" y="2433310"/>
              <a:chExt cx="2204574" cy="828000"/>
            </a:xfrm>
          </p:grpSpPr>
          <p:sp>
            <p:nvSpPr>
              <p:cNvPr id="91" name="Shape 6"/>
              <p:cNvSpPr/>
              <p:nvPr/>
            </p:nvSpPr>
            <p:spPr>
              <a:xfrm>
                <a:off x="839728" y="2433310"/>
                <a:ext cx="2200045" cy="828000"/>
              </a:xfrm>
              <a:prstGeom prst="roundRect">
                <a:avLst>
                  <a:gd name="adj" fmla="val 64000"/>
                </a:avLst>
              </a:prstGeom>
              <a:solidFill>
                <a:srgbClr val="FFFFFF"/>
              </a:solidFill>
              <a:ln/>
              <a:effectLst>
                <a:outerShdw blurRad="63500" dist="38100" dir="16200000" algn="bl" rotWithShape="0">
                  <a:srgbClr val="000000">
                    <a:alpha val="5000"/>
                  </a:srgbClr>
                </a:outerShdw>
              </a:effectLst>
            </p:spPr>
          </p:sp>
          <p:sp>
            <p:nvSpPr>
              <p:cNvPr id="92" name="Shape 8"/>
              <p:cNvSpPr/>
              <p:nvPr/>
            </p:nvSpPr>
            <p:spPr>
              <a:xfrm>
                <a:off x="963931" y="2675017"/>
                <a:ext cx="304495" cy="304495"/>
              </a:xfrm>
              <a:prstGeom prst="ellipse">
                <a:avLst/>
              </a:prstGeom>
              <a:solidFill>
                <a:srgbClr val="DBEAFE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94" name="Text 9"/>
              <p:cNvSpPr txBox="1"/>
              <p:nvPr/>
            </p:nvSpPr>
            <p:spPr>
              <a:xfrm>
                <a:off x="1355399" y="2593105"/>
                <a:ext cx="1656893" cy="1537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b="1" dirty="0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motivation(</a:t>
                </a:r>
                <a:r>
                  <a:rPr lang="en-US" altLang="ko-KR" sz="10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Template</a:t>
                </a:r>
                <a:r>
                  <a:rPr lang="en-US" altLang="ko-KR" sz="1000" dirty="0" smtClean="0"/>
                  <a:t>)</a:t>
                </a:r>
                <a:endParaRPr lang="ko-KR" altLang="ko-KR" sz="10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95" name="Text 10"/>
              <p:cNvSpPr txBox="1"/>
              <p:nvPr/>
            </p:nvSpPr>
            <p:spPr>
              <a:xfrm>
                <a:off x="1344319" y="2710315"/>
                <a:ext cx="1699983" cy="437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900" dirty="0" err="1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전환자형</a:t>
                </a:r>
                <a:r>
                  <a:rPr lang="en-US" altLang="ko-KR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: </a:t>
                </a:r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전공과 다른 직무 선택 이유를 자연스럽게 질문</a:t>
                </a:r>
              </a:p>
            </p:txBody>
          </p:sp>
        </p:grpSp>
        <p:sp>
          <p:nvSpPr>
            <p:cNvPr id="90" name="Shape 12"/>
            <p:cNvSpPr/>
            <p:nvPr/>
          </p:nvSpPr>
          <p:spPr>
            <a:xfrm>
              <a:off x="821588" y="1874722"/>
              <a:ext cx="75600" cy="828000"/>
            </a:xfrm>
            <a:prstGeom prst="roundRect">
              <a:avLst>
                <a:gd name="adj" fmla="val 952376"/>
              </a:avLst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</p:grpSp>
      <p:grpSp>
        <p:nvGrpSpPr>
          <p:cNvPr id="96" name="그룹 95"/>
          <p:cNvGrpSpPr/>
          <p:nvPr/>
        </p:nvGrpSpPr>
        <p:grpSpPr>
          <a:xfrm>
            <a:off x="6598937" y="1889217"/>
            <a:ext cx="2245766" cy="830552"/>
            <a:chOff x="821588" y="1873122"/>
            <a:chExt cx="2245766" cy="830552"/>
          </a:xfrm>
        </p:grpSpPr>
        <p:grpSp>
          <p:nvGrpSpPr>
            <p:cNvPr id="97" name="그룹 96"/>
            <p:cNvGrpSpPr/>
            <p:nvPr/>
          </p:nvGrpSpPr>
          <p:grpSpPr>
            <a:xfrm>
              <a:off x="849064" y="1873122"/>
              <a:ext cx="2218290" cy="828000"/>
              <a:chOff x="829404" y="2424378"/>
              <a:chExt cx="2218290" cy="828000"/>
            </a:xfrm>
          </p:grpSpPr>
          <p:sp>
            <p:nvSpPr>
              <p:cNvPr id="99" name="Shape 6"/>
              <p:cNvSpPr/>
              <p:nvPr/>
            </p:nvSpPr>
            <p:spPr>
              <a:xfrm>
                <a:off x="829404" y="2424378"/>
                <a:ext cx="2200045" cy="828000"/>
              </a:xfrm>
              <a:prstGeom prst="roundRect">
                <a:avLst>
                  <a:gd name="adj" fmla="val 64000"/>
                </a:avLst>
              </a:prstGeom>
              <a:solidFill>
                <a:srgbClr val="FFFFFF"/>
              </a:solidFill>
              <a:ln/>
              <a:effectLst>
                <a:outerShdw blurRad="63500" dist="38100" dir="16200000" algn="bl" rotWithShape="0">
                  <a:srgbClr val="000000">
                    <a:alpha val="5000"/>
                  </a:srgbClr>
                </a:outerShdw>
              </a:effectLst>
            </p:spPr>
          </p:sp>
          <p:sp>
            <p:nvSpPr>
              <p:cNvPr id="100" name="Shape 8"/>
              <p:cNvSpPr/>
              <p:nvPr/>
            </p:nvSpPr>
            <p:spPr>
              <a:xfrm>
                <a:off x="963931" y="2675017"/>
                <a:ext cx="304495" cy="304495"/>
              </a:xfrm>
              <a:prstGeom prst="ellipse">
                <a:avLst/>
              </a:prstGeom>
              <a:solidFill>
                <a:srgbClr val="DBEAFE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02" name="Text 9"/>
              <p:cNvSpPr txBox="1"/>
              <p:nvPr/>
            </p:nvSpPr>
            <p:spPr>
              <a:xfrm>
                <a:off x="1390801" y="2601049"/>
                <a:ext cx="1656893" cy="1537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b="1" dirty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skill(</a:t>
                </a:r>
                <a:r>
                  <a:rPr lang="en-US" altLang="ko-KR" sz="10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Template</a:t>
                </a:r>
                <a:r>
                  <a:rPr lang="en-US" altLang="ko-KR" sz="1000" dirty="0" smtClean="0"/>
                  <a:t>)</a:t>
                </a:r>
                <a:endParaRPr lang="ko-KR" altLang="ko-KR" sz="10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3" name="Text 10"/>
              <p:cNvSpPr txBox="1"/>
              <p:nvPr/>
            </p:nvSpPr>
            <p:spPr>
              <a:xfrm>
                <a:off x="1344319" y="2710315"/>
                <a:ext cx="1699983" cy="437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900" dirty="0" smtClean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이력서내 </a:t>
                </a:r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자격증 목록 언급</a:t>
                </a:r>
                <a:r>
                  <a:rPr lang="en-US" altLang="ko-KR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기초 직무 지식 확인</a:t>
                </a:r>
              </a:p>
            </p:txBody>
          </p:sp>
        </p:grpSp>
        <p:sp>
          <p:nvSpPr>
            <p:cNvPr id="98" name="Shape 12"/>
            <p:cNvSpPr/>
            <p:nvPr/>
          </p:nvSpPr>
          <p:spPr>
            <a:xfrm>
              <a:off x="821588" y="1875674"/>
              <a:ext cx="75600" cy="828000"/>
            </a:xfrm>
            <a:prstGeom prst="roundRect">
              <a:avLst>
                <a:gd name="adj" fmla="val 952376"/>
              </a:avLst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</p:grpSp>
      <p:pic>
        <p:nvPicPr>
          <p:cNvPr id="104" name="Image 6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 rot="16200000">
            <a:off x="6085753" y="2069865"/>
            <a:ext cx="271212" cy="362340"/>
          </a:xfrm>
          <a:prstGeom prst="rect">
            <a:avLst/>
          </a:prstGeom>
        </p:spPr>
      </p:pic>
      <p:pic>
        <p:nvPicPr>
          <p:cNvPr id="105" name="Image 6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 rot="16200000">
            <a:off x="9038821" y="2110476"/>
            <a:ext cx="271212" cy="362340"/>
          </a:xfrm>
          <a:prstGeom prst="rect">
            <a:avLst/>
          </a:prstGeom>
        </p:spPr>
      </p:pic>
      <p:grpSp>
        <p:nvGrpSpPr>
          <p:cNvPr id="106" name="그룹 105"/>
          <p:cNvGrpSpPr/>
          <p:nvPr/>
        </p:nvGrpSpPr>
        <p:grpSpPr>
          <a:xfrm>
            <a:off x="9488874" y="1891769"/>
            <a:ext cx="2245765" cy="841808"/>
            <a:chOff x="821589" y="1914494"/>
            <a:chExt cx="2245765" cy="841808"/>
          </a:xfrm>
        </p:grpSpPr>
        <p:grpSp>
          <p:nvGrpSpPr>
            <p:cNvPr id="107" name="그룹 106"/>
            <p:cNvGrpSpPr/>
            <p:nvPr/>
          </p:nvGrpSpPr>
          <p:grpSpPr>
            <a:xfrm>
              <a:off x="867309" y="1928302"/>
              <a:ext cx="2200045" cy="828000"/>
              <a:chOff x="847649" y="2479558"/>
              <a:chExt cx="2200045" cy="828000"/>
            </a:xfrm>
          </p:grpSpPr>
          <p:sp>
            <p:nvSpPr>
              <p:cNvPr id="109" name="Shape 6"/>
              <p:cNvSpPr/>
              <p:nvPr/>
            </p:nvSpPr>
            <p:spPr>
              <a:xfrm>
                <a:off x="847649" y="2479558"/>
                <a:ext cx="2200045" cy="828000"/>
              </a:xfrm>
              <a:prstGeom prst="roundRect">
                <a:avLst>
                  <a:gd name="adj" fmla="val 64000"/>
                </a:avLst>
              </a:prstGeom>
              <a:solidFill>
                <a:srgbClr val="FFFFFF"/>
              </a:solidFill>
              <a:ln/>
              <a:effectLst>
                <a:outerShdw blurRad="63500" dist="38100" dir="16200000" algn="bl" rotWithShape="0">
                  <a:srgbClr val="000000">
                    <a:alpha val="5000"/>
                  </a:srgbClr>
                </a:outerShdw>
              </a:effec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2" name="Text 9"/>
              <p:cNvSpPr txBox="1"/>
              <p:nvPr/>
            </p:nvSpPr>
            <p:spPr>
              <a:xfrm>
                <a:off x="1372871" y="2644876"/>
                <a:ext cx="1656893" cy="1537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b="1" dirty="0" err="1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skill_followup</a:t>
                </a:r>
                <a:endParaRPr lang="en-US" sz="1000" b="1" dirty="0" smtClean="0">
                  <a:solidFill>
                    <a:srgbClr val="1F293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endParaRPr>
              </a:p>
              <a:p>
                <a:r>
                  <a:rPr lang="en-US" sz="1000" dirty="0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(</a:t>
                </a:r>
                <a:r>
                  <a:rPr lang="en-US" sz="1000" dirty="0" err="1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Followup</a:t>
                </a:r>
                <a:r>
                  <a:rPr lang="en-US" sz="1000" dirty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(LLM</a:t>
                </a:r>
                <a:r>
                  <a:rPr lang="en-US" sz="1000" dirty="0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))</a:t>
                </a:r>
              </a:p>
            </p:txBody>
          </p:sp>
          <p:sp>
            <p:nvSpPr>
              <p:cNvPr id="113" name="Text 10"/>
              <p:cNvSpPr txBox="1"/>
              <p:nvPr/>
            </p:nvSpPr>
            <p:spPr>
              <a:xfrm>
                <a:off x="1346790" y="2840930"/>
                <a:ext cx="1699983" cy="437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답변 속 특정 기술</a:t>
                </a:r>
                <a:r>
                  <a:rPr lang="en-US" altLang="ko-KR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·</a:t>
                </a:r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방법론의 </a:t>
                </a:r>
                <a:endParaRPr lang="en-US" altLang="ko-KR" sz="900" dirty="0" smtClean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endParaRPr>
              </a:p>
              <a:p>
                <a:r>
                  <a:rPr lang="ko-KR" altLang="en-US" sz="900" dirty="0" smtClean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선택 </a:t>
                </a:r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근거 및 원리 심층 </a:t>
                </a:r>
                <a:r>
                  <a:rPr lang="ko-KR" altLang="en-US" sz="900" dirty="0" smtClean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검증</a:t>
                </a:r>
                <a:endParaRPr lang="ko-KR" alt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endParaRPr>
              </a:p>
            </p:txBody>
          </p:sp>
        </p:grpSp>
        <p:sp>
          <p:nvSpPr>
            <p:cNvPr id="108" name="Shape 12"/>
            <p:cNvSpPr/>
            <p:nvPr/>
          </p:nvSpPr>
          <p:spPr>
            <a:xfrm>
              <a:off x="821589" y="1914494"/>
              <a:ext cx="76962" cy="828000"/>
            </a:xfrm>
            <a:prstGeom prst="roundRect">
              <a:avLst>
                <a:gd name="adj" fmla="val 952376"/>
              </a:avLst>
            </a:prstGeom>
            <a:solidFill>
              <a:srgbClr val="DD2778"/>
            </a:solidFill>
            <a:ln w="12700">
              <a:solidFill>
                <a:srgbClr val="DD2778">
                  <a:alpha val="0"/>
                </a:srgbClr>
              </a:solidFill>
              <a:prstDash val="solid"/>
            </a:ln>
          </p:spPr>
        </p:sp>
      </p:grpSp>
      <p:sp>
        <p:nvSpPr>
          <p:cNvPr id="114" name="Shape 4"/>
          <p:cNvSpPr/>
          <p:nvPr/>
        </p:nvSpPr>
        <p:spPr>
          <a:xfrm>
            <a:off x="828904" y="3025268"/>
            <a:ext cx="22000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115" name="Image 6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 rot="16200000">
            <a:off x="3133712" y="3226463"/>
            <a:ext cx="271212" cy="362340"/>
          </a:xfrm>
          <a:prstGeom prst="rect">
            <a:avLst/>
          </a:prstGeom>
        </p:spPr>
      </p:pic>
      <p:grpSp>
        <p:nvGrpSpPr>
          <p:cNvPr id="116" name="그룹 115"/>
          <p:cNvGrpSpPr/>
          <p:nvPr/>
        </p:nvGrpSpPr>
        <p:grpSpPr>
          <a:xfrm>
            <a:off x="701382" y="3029860"/>
            <a:ext cx="2245766" cy="828001"/>
            <a:chOff x="821588" y="1982545"/>
            <a:chExt cx="2245766" cy="828001"/>
          </a:xfrm>
        </p:grpSpPr>
        <p:grpSp>
          <p:nvGrpSpPr>
            <p:cNvPr id="117" name="그룹 116"/>
            <p:cNvGrpSpPr/>
            <p:nvPr/>
          </p:nvGrpSpPr>
          <p:grpSpPr>
            <a:xfrm>
              <a:off x="867309" y="1982546"/>
              <a:ext cx="2200045" cy="828000"/>
              <a:chOff x="847649" y="2533802"/>
              <a:chExt cx="2200045" cy="828000"/>
            </a:xfrm>
          </p:grpSpPr>
          <p:sp>
            <p:nvSpPr>
              <p:cNvPr id="119" name="Shape 6"/>
              <p:cNvSpPr/>
              <p:nvPr/>
            </p:nvSpPr>
            <p:spPr>
              <a:xfrm>
                <a:off x="847649" y="2533802"/>
                <a:ext cx="2200045" cy="828000"/>
              </a:xfrm>
              <a:prstGeom prst="roundRect">
                <a:avLst>
                  <a:gd name="adj" fmla="val 64000"/>
                </a:avLst>
              </a:prstGeom>
              <a:solidFill>
                <a:srgbClr val="FFFFFF"/>
              </a:solidFill>
              <a:ln/>
              <a:effectLst>
                <a:outerShdw blurRad="63500" dist="38100" dir="16200000" algn="bl" rotWithShape="0">
                  <a:srgbClr val="000000">
                    <a:alpha val="5000"/>
                  </a:srgbClr>
                </a:outerShdw>
              </a:effectLst>
            </p:spPr>
          </p:sp>
          <p:sp>
            <p:nvSpPr>
              <p:cNvPr id="120" name="Shape 8"/>
              <p:cNvSpPr/>
              <p:nvPr/>
            </p:nvSpPr>
            <p:spPr>
              <a:xfrm>
                <a:off x="946785" y="2747767"/>
                <a:ext cx="304495" cy="304495"/>
              </a:xfrm>
              <a:prstGeom prst="ellipse">
                <a:avLst/>
              </a:prstGeom>
              <a:solidFill>
                <a:srgbClr val="DBEAFE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22" name="Text 9"/>
              <p:cNvSpPr txBox="1"/>
              <p:nvPr/>
            </p:nvSpPr>
            <p:spPr>
              <a:xfrm>
                <a:off x="1370874" y="2680385"/>
                <a:ext cx="1656893" cy="1537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b="1" dirty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experience(</a:t>
                </a:r>
                <a:r>
                  <a:rPr lang="en-US" altLang="ko-KR" sz="10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Template</a:t>
                </a:r>
                <a:r>
                  <a:rPr lang="en-US" altLang="ko-KR" sz="1000" dirty="0" smtClean="0"/>
                  <a:t>)</a:t>
                </a:r>
                <a:endParaRPr lang="ko-KR" altLang="ko-KR" sz="10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3" name="Text 10"/>
              <p:cNvSpPr txBox="1"/>
              <p:nvPr/>
            </p:nvSpPr>
            <p:spPr>
              <a:xfrm>
                <a:off x="1324841" y="2800063"/>
                <a:ext cx="1699983" cy="437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경력</a:t>
                </a:r>
                <a:r>
                  <a:rPr lang="en-US" altLang="ko-KR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·</a:t>
                </a:r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프로젝트의 구체적 역할 및 기여도 요구</a:t>
                </a:r>
              </a:p>
            </p:txBody>
          </p:sp>
        </p:grpSp>
        <p:sp>
          <p:nvSpPr>
            <p:cNvPr id="118" name="Shape 12"/>
            <p:cNvSpPr/>
            <p:nvPr/>
          </p:nvSpPr>
          <p:spPr>
            <a:xfrm>
              <a:off x="821588" y="1982545"/>
              <a:ext cx="75600" cy="828000"/>
            </a:xfrm>
            <a:prstGeom prst="roundRect">
              <a:avLst>
                <a:gd name="adj" fmla="val 952376"/>
              </a:avLst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</p:grpSp>
      <p:grpSp>
        <p:nvGrpSpPr>
          <p:cNvPr id="124" name="그룹 123"/>
          <p:cNvGrpSpPr/>
          <p:nvPr/>
        </p:nvGrpSpPr>
        <p:grpSpPr>
          <a:xfrm>
            <a:off x="3648463" y="3033292"/>
            <a:ext cx="2237845" cy="835332"/>
            <a:chOff x="821588" y="1874722"/>
            <a:chExt cx="2237845" cy="835332"/>
          </a:xfrm>
        </p:grpSpPr>
        <p:grpSp>
          <p:nvGrpSpPr>
            <p:cNvPr id="125" name="그룹 124"/>
            <p:cNvGrpSpPr/>
            <p:nvPr/>
          </p:nvGrpSpPr>
          <p:grpSpPr>
            <a:xfrm>
              <a:off x="859388" y="1882054"/>
              <a:ext cx="2200045" cy="828000"/>
              <a:chOff x="839728" y="2433310"/>
              <a:chExt cx="2200045" cy="828000"/>
            </a:xfrm>
          </p:grpSpPr>
          <p:sp>
            <p:nvSpPr>
              <p:cNvPr id="127" name="Shape 6"/>
              <p:cNvSpPr/>
              <p:nvPr/>
            </p:nvSpPr>
            <p:spPr>
              <a:xfrm>
                <a:off x="839728" y="2433310"/>
                <a:ext cx="2200045" cy="828000"/>
              </a:xfrm>
              <a:prstGeom prst="roundRect">
                <a:avLst>
                  <a:gd name="adj" fmla="val 64000"/>
                </a:avLst>
              </a:prstGeom>
              <a:solidFill>
                <a:srgbClr val="FFFFFF"/>
              </a:solidFill>
              <a:ln/>
              <a:effectLst>
                <a:outerShdw blurRad="63500" dist="38100" dir="16200000" algn="bl" rotWithShape="0">
                  <a:srgbClr val="000000">
                    <a:alpha val="5000"/>
                  </a:srgbClr>
                </a:outerShdw>
              </a:effectLst>
            </p:spPr>
          </p:sp>
          <p:sp>
            <p:nvSpPr>
              <p:cNvPr id="130" name="Text 9"/>
              <p:cNvSpPr txBox="1"/>
              <p:nvPr/>
            </p:nvSpPr>
            <p:spPr>
              <a:xfrm>
                <a:off x="1338062" y="2680995"/>
                <a:ext cx="1656893" cy="1537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b="1" dirty="0" err="1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experience_followup</a:t>
                </a:r>
                <a:endParaRPr lang="en-US" sz="1000" b="1" dirty="0" smtClean="0">
                  <a:solidFill>
                    <a:srgbClr val="1F293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endParaRPr>
              </a:p>
              <a:p>
                <a:r>
                  <a:rPr lang="en-US" sz="1000" dirty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(</a:t>
                </a:r>
                <a:r>
                  <a:rPr lang="en-US" sz="1000" dirty="0" err="1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Followup</a:t>
                </a:r>
                <a:r>
                  <a:rPr lang="en-US" sz="1000" dirty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(LLM)</a:t>
                </a:r>
              </a:p>
              <a:p>
                <a:endParaRPr lang="ko-KR" altLang="ko-KR" sz="10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1" name="Text 10"/>
              <p:cNvSpPr txBox="1"/>
              <p:nvPr/>
            </p:nvSpPr>
            <p:spPr>
              <a:xfrm>
                <a:off x="1329346" y="2816233"/>
                <a:ext cx="1699983" cy="437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900" dirty="0" smtClean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핵심 </a:t>
                </a:r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키워드 인용</a:t>
                </a:r>
                <a:r>
                  <a:rPr lang="en-US" altLang="ko-KR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당시 의사결정의 기술적 타당성 검증</a:t>
                </a:r>
              </a:p>
            </p:txBody>
          </p:sp>
        </p:grpSp>
        <p:sp>
          <p:nvSpPr>
            <p:cNvPr id="126" name="Shape 12"/>
            <p:cNvSpPr/>
            <p:nvPr/>
          </p:nvSpPr>
          <p:spPr>
            <a:xfrm>
              <a:off x="821588" y="1874722"/>
              <a:ext cx="75600" cy="828000"/>
            </a:xfrm>
            <a:prstGeom prst="roundRect">
              <a:avLst>
                <a:gd name="adj" fmla="val 952376"/>
              </a:avLst>
            </a:prstGeom>
            <a:solidFill>
              <a:srgbClr val="DD2778"/>
            </a:solidFill>
            <a:ln w="12700">
              <a:solidFill>
                <a:srgbClr val="DD2778">
                  <a:alpha val="0"/>
                </a:srgbClr>
              </a:solidFill>
              <a:prstDash val="solid"/>
            </a:ln>
          </p:spPr>
        </p:sp>
      </p:grpSp>
      <p:grpSp>
        <p:nvGrpSpPr>
          <p:cNvPr id="132" name="그룹 131"/>
          <p:cNvGrpSpPr/>
          <p:nvPr/>
        </p:nvGrpSpPr>
        <p:grpSpPr>
          <a:xfrm>
            <a:off x="6598937" y="3045815"/>
            <a:ext cx="2252434" cy="830552"/>
            <a:chOff x="821588" y="1873122"/>
            <a:chExt cx="2252434" cy="830552"/>
          </a:xfrm>
        </p:grpSpPr>
        <p:grpSp>
          <p:nvGrpSpPr>
            <p:cNvPr id="133" name="그룹 132"/>
            <p:cNvGrpSpPr/>
            <p:nvPr/>
          </p:nvGrpSpPr>
          <p:grpSpPr>
            <a:xfrm>
              <a:off x="849064" y="1873122"/>
              <a:ext cx="2224958" cy="828000"/>
              <a:chOff x="829404" y="2424378"/>
              <a:chExt cx="2224958" cy="828000"/>
            </a:xfrm>
          </p:grpSpPr>
          <p:sp>
            <p:nvSpPr>
              <p:cNvPr id="135" name="Shape 6"/>
              <p:cNvSpPr/>
              <p:nvPr/>
            </p:nvSpPr>
            <p:spPr>
              <a:xfrm>
                <a:off x="829404" y="2424378"/>
                <a:ext cx="2200045" cy="828000"/>
              </a:xfrm>
              <a:prstGeom prst="roundRect">
                <a:avLst>
                  <a:gd name="adj" fmla="val 64000"/>
                </a:avLst>
              </a:prstGeom>
              <a:solidFill>
                <a:srgbClr val="FFFFFF"/>
              </a:solidFill>
              <a:ln/>
              <a:effectLst>
                <a:outerShdw blurRad="63500" dist="38100" dir="16200000" algn="bl" rotWithShape="0">
                  <a:srgbClr val="000000">
                    <a:alpha val="5000"/>
                  </a:srgbClr>
                </a:outerShdw>
              </a:effectLst>
            </p:spPr>
          </p:sp>
          <p:sp>
            <p:nvSpPr>
              <p:cNvPr id="136" name="Shape 8"/>
              <p:cNvSpPr/>
              <p:nvPr/>
            </p:nvSpPr>
            <p:spPr>
              <a:xfrm>
                <a:off x="963931" y="2675017"/>
                <a:ext cx="304495" cy="304495"/>
              </a:xfrm>
              <a:prstGeom prst="ellipse">
                <a:avLst/>
              </a:prstGeom>
              <a:solidFill>
                <a:srgbClr val="DBEAFE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38" name="Text 9"/>
              <p:cNvSpPr txBox="1"/>
              <p:nvPr/>
            </p:nvSpPr>
            <p:spPr>
              <a:xfrm>
                <a:off x="1390801" y="2601049"/>
                <a:ext cx="1656893" cy="1537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b="1" dirty="0" err="1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problem_solving</a:t>
                </a:r>
                <a:endParaRPr lang="en-US" sz="1000" b="1" dirty="0">
                  <a:solidFill>
                    <a:srgbClr val="1F293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endParaRPr>
              </a:p>
              <a:p>
                <a:r>
                  <a:rPr lang="en-US" sz="1000" b="1" dirty="0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(</a:t>
                </a:r>
                <a:r>
                  <a:rPr lang="en-US" altLang="ko-KR" sz="10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Template</a:t>
                </a:r>
                <a:r>
                  <a:rPr lang="en-US" altLang="ko-KR" sz="1000" dirty="0" smtClean="0"/>
                  <a:t>)</a:t>
                </a:r>
                <a:endParaRPr lang="ko-KR" altLang="ko-KR" sz="10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9" name="Text 10"/>
              <p:cNvSpPr txBox="1"/>
              <p:nvPr/>
            </p:nvSpPr>
            <p:spPr>
              <a:xfrm>
                <a:off x="1354379" y="2773021"/>
                <a:ext cx="1699983" cy="437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900" dirty="0" smtClean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이력서 프로젝트 </a:t>
                </a:r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중 기술적 난관과 </a:t>
                </a:r>
                <a:endParaRPr lang="en-US" altLang="ko-KR" sz="900" dirty="0" smtClean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endParaRPr>
              </a:p>
              <a:p>
                <a:r>
                  <a:rPr lang="ko-KR" altLang="en-US" sz="900" dirty="0" smtClean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해결 </a:t>
                </a:r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과정 유도</a:t>
                </a:r>
              </a:p>
            </p:txBody>
          </p:sp>
        </p:grpSp>
        <p:sp>
          <p:nvSpPr>
            <p:cNvPr id="134" name="Shape 12"/>
            <p:cNvSpPr/>
            <p:nvPr/>
          </p:nvSpPr>
          <p:spPr>
            <a:xfrm>
              <a:off x="821588" y="1875674"/>
              <a:ext cx="75600" cy="828000"/>
            </a:xfrm>
            <a:prstGeom prst="roundRect">
              <a:avLst>
                <a:gd name="adj" fmla="val 952376"/>
              </a:avLst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</p:grpSp>
      <p:pic>
        <p:nvPicPr>
          <p:cNvPr id="140" name="Image 6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 rot="16200000">
            <a:off x="6085753" y="3226463"/>
            <a:ext cx="271212" cy="362340"/>
          </a:xfrm>
          <a:prstGeom prst="rect">
            <a:avLst/>
          </a:prstGeom>
        </p:spPr>
      </p:pic>
      <p:pic>
        <p:nvPicPr>
          <p:cNvPr id="141" name="Image 6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 rot="16200000">
            <a:off x="9038821" y="3267074"/>
            <a:ext cx="271212" cy="362340"/>
          </a:xfrm>
          <a:prstGeom prst="rect">
            <a:avLst/>
          </a:prstGeom>
        </p:spPr>
      </p:pic>
      <p:grpSp>
        <p:nvGrpSpPr>
          <p:cNvPr id="142" name="그룹 141"/>
          <p:cNvGrpSpPr/>
          <p:nvPr/>
        </p:nvGrpSpPr>
        <p:grpSpPr>
          <a:xfrm>
            <a:off x="9488874" y="3048367"/>
            <a:ext cx="2376981" cy="841808"/>
            <a:chOff x="821589" y="1914494"/>
            <a:chExt cx="2376981" cy="841808"/>
          </a:xfrm>
        </p:grpSpPr>
        <p:grpSp>
          <p:nvGrpSpPr>
            <p:cNvPr id="143" name="그룹 142"/>
            <p:cNvGrpSpPr/>
            <p:nvPr/>
          </p:nvGrpSpPr>
          <p:grpSpPr>
            <a:xfrm>
              <a:off x="867309" y="1928302"/>
              <a:ext cx="2331261" cy="828000"/>
              <a:chOff x="847649" y="2479558"/>
              <a:chExt cx="2331261" cy="828000"/>
            </a:xfrm>
          </p:grpSpPr>
          <p:sp>
            <p:nvSpPr>
              <p:cNvPr id="145" name="Shape 6"/>
              <p:cNvSpPr/>
              <p:nvPr/>
            </p:nvSpPr>
            <p:spPr>
              <a:xfrm>
                <a:off x="847649" y="2479558"/>
                <a:ext cx="2200045" cy="828000"/>
              </a:xfrm>
              <a:prstGeom prst="roundRect">
                <a:avLst>
                  <a:gd name="adj" fmla="val 64000"/>
                </a:avLst>
              </a:prstGeom>
              <a:solidFill>
                <a:srgbClr val="FFFFFF"/>
              </a:solidFill>
              <a:ln/>
              <a:effectLst>
                <a:outerShdw blurRad="63500" dist="38100" dir="16200000" algn="bl" rotWithShape="0">
                  <a:srgbClr val="000000">
                    <a:alpha val="5000"/>
                  </a:srgbClr>
                </a:outerShdw>
              </a:effec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48" name="Text 9"/>
              <p:cNvSpPr txBox="1"/>
              <p:nvPr/>
            </p:nvSpPr>
            <p:spPr>
              <a:xfrm>
                <a:off x="1351024" y="2636014"/>
                <a:ext cx="1827886" cy="22312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altLang="ko-KR" sz="1000" b="1" dirty="0" err="1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problem_solving</a:t>
                </a:r>
                <a:r>
                  <a:rPr lang="en-US" sz="1000" b="1" dirty="0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_</a:t>
                </a:r>
              </a:p>
              <a:p>
                <a:r>
                  <a:rPr lang="en-US" sz="1000" b="1" dirty="0" err="1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followup</a:t>
                </a:r>
                <a:r>
                  <a:rPr lang="en-US" sz="1000" dirty="0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(</a:t>
                </a:r>
                <a:r>
                  <a:rPr lang="en-US" sz="1000" dirty="0" err="1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Followup</a:t>
                </a:r>
                <a:r>
                  <a:rPr lang="en-US" sz="1000" dirty="0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(LLM))</a:t>
                </a:r>
              </a:p>
            </p:txBody>
          </p:sp>
          <p:sp>
            <p:nvSpPr>
              <p:cNvPr id="149" name="Text 10"/>
              <p:cNvSpPr txBox="1"/>
              <p:nvPr/>
            </p:nvSpPr>
            <p:spPr>
              <a:xfrm>
                <a:off x="1347711" y="2867682"/>
                <a:ext cx="1699983" cy="437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다른 대안 여부</a:t>
                </a:r>
                <a:r>
                  <a:rPr lang="en-US" altLang="ko-KR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변수 관리 방식 </a:t>
                </a:r>
                <a:endParaRPr lang="en-US" altLang="ko-KR" sz="900" dirty="0" smtClean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endParaRPr>
              </a:p>
              <a:p>
                <a:r>
                  <a:rPr lang="ko-KR" altLang="en-US" sz="900" dirty="0" smtClean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등 </a:t>
                </a:r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비판적 사고 검증</a:t>
                </a:r>
              </a:p>
            </p:txBody>
          </p:sp>
        </p:grpSp>
        <p:sp>
          <p:nvSpPr>
            <p:cNvPr id="144" name="Shape 12"/>
            <p:cNvSpPr/>
            <p:nvPr/>
          </p:nvSpPr>
          <p:spPr>
            <a:xfrm>
              <a:off x="821589" y="1914494"/>
              <a:ext cx="76962" cy="828000"/>
            </a:xfrm>
            <a:prstGeom prst="roundRect">
              <a:avLst>
                <a:gd name="adj" fmla="val 952376"/>
              </a:avLst>
            </a:prstGeom>
            <a:solidFill>
              <a:srgbClr val="DD2778"/>
            </a:solidFill>
            <a:ln w="12700">
              <a:solidFill>
                <a:srgbClr val="DD2778">
                  <a:alpha val="0"/>
                </a:srgbClr>
              </a:solidFill>
              <a:prstDash val="solid"/>
            </a:ln>
          </p:spPr>
        </p:sp>
      </p:grpSp>
      <p:sp>
        <p:nvSpPr>
          <p:cNvPr id="150" name="Shape 4"/>
          <p:cNvSpPr/>
          <p:nvPr/>
        </p:nvSpPr>
        <p:spPr>
          <a:xfrm>
            <a:off x="828904" y="4201165"/>
            <a:ext cx="22000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151" name="Image 6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 rot="16200000">
            <a:off x="3133712" y="4402360"/>
            <a:ext cx="271212" cy="362340"/>
          </a:xfrm>
          <a:prstGeom prst="rect">
            <a:avLst/>
          </a:prstGeom>
        </p:spPr>
      </p:pic>
      <p:grpSp>
        <p:nvGrpSpPr>
          <p:cNvPr id="152" name="그룹 151"/>
          <p:cNvGrpSpPr/>
          <p:nvPr/>
        </p:nvGrpSpPr>
        <p:grpSpPr>
          <a:xfrm>
            <a:off x="701382" y="4205757"/>
            <a:ext cx="2245766" cy="828001"/>
            <a:chOff x="821588" y="1982545"/>
            <a:chExt cx="2245766" cy="828001"/>
          </a:xfrm>
        </p:grpSpPr>
        <p:grpSp>
          <p:nvGrpSpPr>
            <p:cNvPr id="153" name="그룹 152"/>
            <p:cNvGrpSpPr/>
            <p:nvPr/>
          </p:nvGrpSpPr>
          <p:grpSpPr>
            <a:xfrm>
              <a:off x="867309" y="1982546"/>
              <a:ext cx="2200045" cy="828000"/>
              <a:chOff x="847649" y="2533802"/>
              <a:chExt cx="2200045" cy="828000"/>
            </a:xfrm>
          </p:grpSpPr>
          <p:sp>
            <p:nvSpPr>
              <p:cNvPr id="155" name="Shape 6"/>
              <p:cNvSpPr/>
              <p:nvPr/>
            </p:nvSpPr>
            <p:spPr>
              <a:xfrm>
                <a:off x="847649" y="2533802"/>
                <a:ext cx="2200045" cy="828000"/>
              </a:xfrm>
              <a:prstGeom prst="roundRect">
                <a:avLst>
                  <a:gd name="adj" fmla="val 64000"/>
                </a:avLst>
              </a:prstGeom>
              <a:solidFill>
                <a:srgbClr val="FFFFFF"/>
              </a:solidFill>
              <a:ln/>
              <a:effectLst>
                <a:outerShdw blurRad="63500" dist="38100" dir="16200000" algn="bl" rotWithShape="0">
                  <a:srgbClr val="000000">
                    <a:alpha val="5000"/>
                  </a:srgbClr>
                </a:outerShdw>
              </a:effectLst>
            </p:spPr>
          </p:sp>
          <p:sp>
            <p:nvSpPr>
              <p:cNvPr id="158" name="Text 9"/>
              <p:cNvSpPr txBox="1"/>
              <p:nvPr/>
            </p:nvSpPr>
            <p:spPr>
              <a:xfrm>
                <a:off x="1307240" y="2781235"/>
                <a:ext cx="1656893" cy="1537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b="1" dirty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communication</a:t>
                </a:r>
              </a:p>
              <a:p>
                <a:r>
                  <a:rPr lang="en-US" sz="1000" dirty="0" smtClean="0"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(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AI(RAG</a:t>
                </a:r>
                <a:r>
                  <a:rPr lang="en-US" altLang="ko-KR" sz="10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))</a:t>
                </a:r>
                <a:endParaRPr lang="ko-KR" altLang="ko-KR" sz="1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lang="ko-KR" altLang="ko-KR" sz="10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9" name="Text 10"/>
              <p:cNvSpPr txBox="1"/>
              <p:nvPr/>
            </p:nvSpPr>
            <p:spPr>
              <a:xfrm>
                <a:off x="1314794" y="2898076"/>
                <a:ext cx="1699983" cy="437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인재상 기반 협업 태도와 소통 철학 확인 </a:t>
                </a:r>
                <a:r>
                  <a:rPr lang="en-US" altLang="ko-KR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(</a:t>
                </a:r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인성 단계 시작</a:t>
                </a:r>
                <a:r>
                  <a:rPr lang="en-US" altLang="ko-KR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)</a:t>
                </a:r>
              </a:p>
            </p:txBody>
          </p:sp>
        </p:grpSp>
        <p:sp>
          <p:nvSpPr>
            <p:cNvPr id="154" name="Shape 12"/>
            <p:cNvSpPr/>
            <p:nvPr/>
          </p:nvSpPr>
          <p:spPr>
            <a:xfrm>
              <a:off x="821588" y="1982545"/>
              <a:ext cx="75600" cy="828000"/>
            </a:xfrm>
            <a:prstGeom prst="roundRect">
              <a:avLst>
                <a:gd name="adj" fmla="val 952376"/>
              </a:avLst>
            </a:prstGeom>
            <a:solidFill>
              <a:srgbClr val="1B5E20"/>
            </a:solidFill>
            <a:ln w="12700">
              <a:solidFill>
                <a:srgbClr val="1B5E20">
                  <a:alpha val="0"/>
                </a:srgbClr>
              </a:solidFill>
              <a:prstDash val="solid"/>
            </a:ln>
          </p:spPr>
        </p:sp>
      </p:grpSp>
      <p:grpSp>
        <p:nvGrpSpPr>
          <p:cNvPr id="160" name="그룹 159"/>
          <p:cNvGrpSpPr/>
          <p:nvPr/>
        </p:nvGrpSpPr>
        <p:grpSpPr>
          <a:xfrm>
            <a:off x="3648463" y="4209189"/>
            <a:ext cx="2242374" cy="835332"/>
            <a:chOff x="821588" y="1874722"/>
            <a:chExt cx="2242374" cy="835332"/>
          </a:xfrm>
        </p:grpSpPr>
        <p:grpSp>
          <p:nvGrpSpPr>
            <p:cNvPr id="161" name="그룹 160"/>
            <p:cNvGrpSpPr/>
            <p:nvPr/>
          </p:nvGrpSpPr>
          <p:grpSpPr>
            <a:xfrm>
              <a:off x="859388" y="1882054"/>
              <a:ext cx="2204574" cy="828000"/>
              <a:chOff x="839728" y="2433310"/>
              <a:chExt cx="2204574" cy="828000"/>
            </a:xfrm>
          </p:grpSpPr>
          <p:sp>
            <p:nvSpPr>
              <p:cNvPr id="163" name="Shape 6"/>
              <p:cNvSpPr/>
              <p:nvPr/>
            </p:nvSpPr>
            <p:spPr>
              <a:xfrm>
                <a:off x="839728" y="2433310"/>
                <a:ext cx="2200045" cy="828000"/>
              </a:xfrm>
              <a:prstGeom prst="roundRect">
                <a:avLst>
                  <a:gd name="adj" fmla="val 64000"/>
                </a:avLst>
              </a:prstGeom>
              <a:solidFill>
                <a:srgbClr val="FFFFFF"/>
              </a:solidFill>
              <a:ln/>
              <a:effectLst>
                <a:outerShdw blurRad="63500" dist="38100" dir="16200000" algn="bl" rotWithShape="0">
                  <a:srgbClr val="000000">
                    <a:alpha val="5000"/>
                  </a:srgbClr>
                </a:outerShdw>
              </a:effectLst>
            </p:spPr>
          </p:sp>
          <p:sp>
            <p:nvSpPr>
              <p:cNvPr id="166" name="Text 9"/>
              <p:cNvSpPr txBox="1"/>
              <p:nvPr/>
            </p:nvSpPr>
            <p:spPr>
              <a:xfrm>
                <a:off x="1355399" y="2587347"/>
                <a:ext cx="1656893" cy="22888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b="1" dirty="0" err="1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comm_followup</a:t>
                </a:r>
                <a:endParaRPr lang="en-US" sz="1000" b="1" dirty="0" smtClean="0">
                  <a:solidFill>
                    <a:srgbClr val="1F293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endParaRPr>
              </a:p>
              <a:p>
                <a:r>
                  <a:rPr lang="en-US" sz="1000" dirty="0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(</a:t>
                </a:r>
                <a:r>
                  <a:rPr lang="en-US" sz="1000" dirty="0" err="1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Followup</a:t>
                </a:r>
                <a:r>
                  <a:rPr lang="en-US" sz="1000" dirty="0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(LLM)</a:t>
                </a:r>
                <a:r>
                  <a:rPr lang="en-US" altLang="ko-KR" sz="1000" dirty="0" smtClean="0"/>
                  <a:t>)</a:t>
                </a:r>
                <a:endParaRPr lang="ko-KR" altLang="ko-KR" sz="10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7" name="Text 10"/>
              <p:cNvSpPr txBox="1"/>
              <p:nvPr/>
            </p:nvSpPr>
            <p:spPr>
              <a:xfrm>
                <a:off x="1344319" y="2783462"/>
                <a:ext cx="1699983" cy="437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이해관계 상충 상황 제시</a:t>
                </a:r>
                <a:r>
                  <a:rPr lang="en-US" altLang="ko-KR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, </a:t>
                </a:r>
                <a:endParaRPr lang="en-US" altLang="ko-KR" sz="900" dirty="0" smtClean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endParaRPr>
              </a:p>
              <a:p>
                <a:r>
                  <a:rPr lang="ko-KR" altLang="en-US" sz="900" dirty="0" smtClean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갈등 </a:t>
                </a:r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조율 능력 확인</a:t>
                </a:r>
              </a:p>
            </p:txBody>
          </p:sp>
        </p:grpSp>
        <p:sp>
          <p:nvSpPr>
            <p:cNvPr id="162" name="Shape 12"/>
            <p:cNvSpPr/>
            <p:nvPr/>
          </p:nvSpPr>
          <p:spPr>
            <a:xfrm>
              <a:off x="821588" y="1874722"/>
              <a:ext cx="75600" cy="828000"/>
            </a:xfrm>
            <a:prstGeom prst="roundRect">
              <a:avLst>
                <a:gd name="adj" fmla="val 952376"/>
              </a:avLst>
            </a:prstGeom>
            <a:solidFill>
              <a:srgbClr val="DD2778"/>
            </a:solidFill>
            <a:ln w="12700">
              <a:solidFill>
                <a:srgbClr val="DD2778">
                  <a:alpha val="0"/>
                </a:srgbClr>
              </a:solidFill>
              <a:prstDash val="solid"/>
            </a:ln>
          </p:spPr>
        </p:sp>
      </p:grpSp>
      <p:grpSp>
        <p:nvGrpSpPr>
          <p:cNvPr id="168" name="그룹 167"/>
          <p:cNvGrpSpPr/>
          <p:nvPr/>
        </p:nvGrpSpPr>
        <p:grpSpPr>
          <a:xfrm>
            <a:off x="6598937" y="4221712"/>
            <a:ext cx="2245766" cy="830552"/>
            <a:chOff x="821588" y="1873122"/>
            <a:chExt cx="2245766" cy="830552"/>
          </a:xfrm>
        </p:grpSpPr>
        <p:grpSp>
          <p:nvGrpSpPr>
            <p:cNvPr id="169" name="그룹 168"/>
            <p:cNvGrpSpPr/>
            <p:nvPr/>
          </p:nvGrpSpPr>
          <p:grpSpPr>
            <a:xfrm>
              <a:off x="849064" y="1873122"/>
              <a:ext cx="2218290" cy="828000"/>
              <a:chOff x="829404" y="2424378"/>
              <a:chExt cx="2218290" cy="828000"/>
            </a:xfrm>
          </p:grpSpPr>
          <p:sp>
            <p:nvSpPr>
              <p:cNvPr id="171" name="Shape 6"/>
              <p:cNvSpPr/>
              <p:nvPr/>
            </p:nvSpPr>
            <p:spPr>
              <a:xfrm>
                <a:off x="829404" y="2424378"/>
                <a:ext cx="2200045" cy="828000"/>
              </a:xfrm>
              <a:prstGeom prst="roundRect">
                <a:avLst>
                  <a:gd name="adj" fmla="val 64000"/>
                </a:avLst>
              </a:prstGeom>
              <a:solidFill>
                <a:srgbClr val="FFFFFF"/>
              </a:solidFill>
              <a:ln/>
              <a:effectLst>
                <a:outerShdw blurRad="63500" dist="38100" dir="16200000" algn="bl" rotWithShape="0">
                  <a:srgbClr val="000000">
                    <a:alpha val="5000"/>
                  </a:srgbClr>
                </a:outerShdw>
              </a:effectLst>
            </p:spPr>
          </p:sp>
          <p:sp>
            <p:nvSpPr>
              <p:cNvPr id="174" name="Text 9"/>
              <p:cNvSpPr txBox="1"/>
              <p:nvPr/>
            </p:nvSpPr>
            <p:spPr>
              <a:xfrm>
                <a:off x="1390801" y="2672104"/>
                <a:ext cx="1656893" cy="1537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altLang="ko-KR" sz="1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responsibility</a:t>
                </a:r>
              </a:p>
              <a:p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(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AI(RAG))</a:t>
                </a:r>
                <a:endParaRPr lang="ko-KR" altLang="ko-KR" sz="1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lang="ko-KR" altLang="ko-KR" sz="10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75" name="Text 10"/>
              <p:cNvSpPr txBox="1"/>
              <p:nvPr/>
            </p:nvSpPr>
            <p:spPr>
              <a:xfrm>
                <a:off x="1339021" y="2772698"/>
                <a:ext cx="1699983" cy="437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자소서 직접 인용</a:t>
                </a:r>
                <a:r>
                  <a:rPr lang="en-US" altLang="ko-KR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직업 윤리와 책임감 압박 검증</a:t>
                </a:r>
              </a:p>
            </p:txBody>
          </p:sp>
        </p:grpSp>
        <p:sp>
          <p:nvSpPr>
            <p:cNvPr id="170" name="Shape 12"/>
            <p:cNvSpPr/>
            <p:nvPr/>
          </p:nvSpPr>
          <p:spPr>
            <a:xfrm>
              <a:off x="821588" y="1875674"/>
              <a:ext cx="75600" cy="828000"/>
            </a:xfrm>
            <a:prstGeom prst="roundRect">
              <a:avLst>
                <a:gd name="adj" fmla="val 952376"/>
              </a:avLst>
            </a:prstGeom>
            <a:solidFill>
              <a:srgbClr val="1B5E20"/>
            </a:solidFill>
            <a:ln w="12700">
              <a:solidFill>
                <a:srgbClr val="1B5E20">
                  <a:alpha val="0"/>
                </a:srgbClr>
              </a:solidFill>
              <a:prstDash val="solid"/>
            </a:ln>
          </p:spPr>
        </p:sp>
      </p:grpSp>
      <p:pic>
        <p:nvPicPr>
          <p:cNvPr id="176" name="Image 6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 rot="16200000">
            <a:off x="6085753" y="4402360"/>
            <a:ext cx="271212" cy="362340"/>
          </a:xfrm>
          <a:prstGeom prst="rect">
            <a:avLst/>
          </a:prstGeom>
        </p:spPr>
      </p:pic>
      <p:pic>
        <p:nvPicPr>
          <p:cNvPr id="177" name="Image 6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 rot="16200000">
            <a:off x="9038821" y="4442971"/>
            <a:ext cx="271212" cy="362340"/>
          </a:xfrm>
          <a:prstGeom prst="rect">
            <a:avLst/>
          </a:prstGeom>
        </p:spPr>
      </p:pic>
      <p:grpSp>
        <p:nvGrpSpPr>
          <p:cNvPr id="178" name="그룹 177"/>
          <p:cNvGrpSpPr/>
          <p:nvPr/>
        </p:nvGrpSpPr>
        <p:grpSpPr>
          <a:xfrm>
            <a:off x="9488874" y="4224264"/>
            <a:ext cx="2245765" cy="841808"/>
            <a:chOff x="821589" y="1914494"/>
            <a:chExt cx="2245765" cy="841808"/>
          </a:xfrm>
        </p:grpSpPr>
        <p:grpSp>
          <p:nvGrpSpPr>
            <p:cNvPr id="179" name="그룹 178"/>
            <p:cNvGrpSpPr/>
            <p:nvPr/>
          </p:nvGrpSpPr>
          <p:grpSpPr>
            <a:xfrm>
              <a:off x="867309" y="1928302"/>
              <a:ext cx="2200045" cy="828000"/>
              <a:chOff x="847649" y="2479558"/>
              <a:chExt cx="2200045" cy="828000"/>
            </a:xfrm>
          </p:grpSpPr>
          <p:sp>
            <p:nvSpPr>
              <p:cNvPr id="181" name="Shape 6"/>
              <p:cNvSpPr/>
              <p:nvPr/>
            </p:nvSpPr>
            <p:spPr>
              <a:xfrm>
                <a:off x="847649" y="2479558"/>
                <a:ext cx="2200045" cy="828000"/>
              </a:xfrm>
              <a:prstGeom prst="roundRect">
                <a:avLst>
                  <a:gd name="adj" fmla="val 64000"/>
                </a:avLst>
              </a:prstGeom>
              <a:solidFill>
                <a:srgbClr val="FFFFFF"/>
              </a:solidFill>
              <a:ln/>
              <a:effectLst>
                <a:outerShdw blurRad="63500" dist="38100" dir="16200000" algn="bl" rotWithShape="0">
                  <a:srgbClr val="000000">
                    <a:alpha val="5000"/>
                  </a:srgbClr>
                </a:outerShdw>
              </a:effec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84" name="Text 9"/>
              <p:cNvSpPr txBox="1"/>
              <p:nvPr/>
            </p:nvSpPr>
            <p:spPr>
              <a:xfrm>
                <a:off x="1351024" y="2710924"/>
                <a:ext cx="1656893" cy="1537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b="1" dirty="0" err="1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resp_followup</a:t>
                </a:r>
                <a:endParaRPr lang="en-US" sz="1000" b="1" dirty="0" smtClean="0">
                  <a:solidFill>
                    <a:srgbClr val="1F293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endParaRPr>
              </a:p>
              <a:p>
                <a:r>
                  <a:rPr lang="en-US" altLang="ko-KR" sz="1000" dirty="0" err="1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Followup</a:t>
                </a:r>
                <a:r>
                  <a:rPr lang="en-US" altLang="ko-KR" sz="1000" dirty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(LLM</a:t>
                </a:r>
                <a:r>
                  <a:rPr lang="en-US" altLang="ko-KR" sz="1000" dirty="0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)</a:t>
                </a:r>
                <a:r>
                  <a:rPr lang="en-US" altLang="ko-KR" sz="1000" dirty="0" smtClean="0"/>
                  <a:t>)</a:t>
                </a:r>
                <a:endParaRPr lang="ko-KR" altLang="ko-KR" sz="1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lang="en-US" sz="1000" b="1" dirty="0" smtClean="0">
                  <a:solidFill>
                    <a:srgbClr val="1F293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endParaRPr>
              </a:p>
            </p:txBody>
          </p:sp>
          <p:sp>
            <p:nvSpPr>
              <p:cNvPr id="185" name="Text 10"/>
              <p:cNvSpPr txBox="1"/>
              <p:nvPr/>
            </p:nvSpPr>
            <p:spPr>
              <a:xfrm>
                <a:off x="1347711" y="2831099"/>
                <a:ext cx="1699983" cy="437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신념과 이익 충돌 딜레마 제시</a:t>
                </a:r>
                <a:r>
                  <a:rPr lang="en-US" altLang="ko-KR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, </a:t>
                </a:r>
                <a:endParaRPr lang="en-US" altLang="ko-KR" sz="900" dirty="0" smtClean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endParaRPr>
              </a:p>
              <a:p>
                <a:r>
                  <a:rPr lang="ko-KR" altLang="en-US" sz="900" dirty="0" smtClean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가치 </a:t>
                </a:r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수호 성향 파악</a:t>
                </a:r>
              </a:p>
            </p:txBody>
          </p:sp>
        </p:grpSp>
        <p:sp>
          <p:nvSpPr>
            <p:cNvPr id="180" name="Shape 12"/>
            <p:cNvSpPr/>
            <p:nvPr/>
          </p:nvSpPr>
          <p:spPr>
            <a:xfrm>
              <a:off x="821589" y="1914494"/>
              <a:ext cx="76962" cy="828000"/>
            </a:xfrm>
            <a:prstGeom prst="roundRect">
              <a:avLst>
                <a:gd name="adj" fmla="val 952376"/>
              </a:avLst>
            </a:prstGeom>
            <a:solidFill>
              <a:srgbClr val="DD2778"/>
            </a:solidFill>
            <a:ln w="12700">
              <a:solidFill>
                <a:srgbClr val="DD2778">
                  <a:alpha val="0"/>
                </a:srgbClr>
              </a:solidFill>
              <a:prstDash val="solid"/>
            </a:ln>
          </p:spPr>
        </p:sp>
      </p:grpSp>
      <p:sp>
        <p:nvSpPr>
          <p:cNvPr id="186" name="Shape 4"/>
          <p:cNvSpPr/>
          <p:nvPr/>
        </p:nvSpPr>
        <p:spPr>
          <a:xfrm>
            <a:off x="828904" y="5360225"/>
            <a:ext cx="22000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187" name="Image 6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 rot="16200000">
            <a:off x="3133712" y="5561420"/>
            <a:ext cx="271212" cy="362340"/>
          </a:xfrm>
          <a:prstGeom prst="rect">
            <a:avLst/>
          </a:prstGeom>
        </p:spPr>
      </p:pic>
      <p:grpSp>
        <p:nvGrpSpPr>
          <p:cNvPr id="188" name="그룹 187"/>
          <p:cNvGrpSpPr/>
          <p:nvPr/>
        </p:nvGrpSpPr>
        <p:grpSpPr>
          <a:xfrm>
            <a:off x="701382" y="5364817"/>
            <a:ext cx="2245766" cy="828001"/>
            <a:chOff x="821588" y="1982545"/>
            <a:chExt cx="2245766" cy="828001"/>
          </a:xfrm>
        </p:grpSpPr>
        <p:grpSp>
          <p:nvGrpSpPr>
            <p:cNvPr id="189" name="그룹 188"/>
            <p:cNvGrpSpPr/>
            <p:nvPr/>
          </p:nvGrpSpPr>
          <p:grpSpPr>
            <a:xfrm>
              <a:off x="867309" y="1982546"/>
              <a:ext cx="2200045" cy="828000"/>
              <a:chOff x="847649" y="2533802"/>
              <a:chExt cx="2200045" cy="828000"/>
            </a:xfrm>
          </p:grpSpPr>
          <p:sp>
            <p:nvSpPr>
              <p:cNvPr id="191" name="Shape 6"/>
              <p:cNvSpPr/>
              <p:nvPr/>
            </p:nvSpPr>
            <p:spPr>
              <a:xfrm>
                <a:off x="847649" y="2533802"/>
                <a:ext cx="2200045" cy="828000"/>
              </a:xfrm>
              <a:prstGeom prst="roundRect">
                <a:avLst>
                  <a:gd name="adj" fmla="val 64000"/>
                </a:avLst>
              </a:prstGeom>
              <a:solidFill>
                <a:srgbClr val="FFFFFF"/>
              </a:solidFill>
              <a:ln/>
              <a:effectLst>
                <a:outerShdw blurRad="63500" dist="38100" dir="16200000" algn="bl" rotWithShape="0">
                  <a:srgbClr val="000000">
                    <a:alpha val="5000"/>
                  </a:srgbClr>
                </a:outerShdw>
              </a:effectLst>
            </p:spPr>
          </p:sp>
          <p:sp>
            <p:nvSpPr>
              <p:cNvPr id="194" name="Text 9"/>
              <p:cNvSpPr txBox="1"/>
              <p:nvPr/>
            </p:nvSpPr>
            <p:spPr>
              <a:xfrm>
                <a:off x="1370874" y="2680385"/>
                <a:ext cx="1656893" cy="1537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b="1" dirty="0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growth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(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AI(RAG</a:t>
                </a:r>
                <a:r>
                  <a:rPr lang="en-US" altLang="ko-KR" sz="10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))</a:t>
                </a:r>
                <a:endParaRPr lang="ko-KR" altLang="ko-KR" sz="1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95" name="Text 10"/>
              <p:cNvSpPr txBox="1"/>
              <p:nvPr/>
            </p:nvSpPr>
            <p:spPr>
              <a:xfrm>
                <a:off x="1324841" y="2800063"/>
                <a:ext cx="1699983" cy="437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인재상 중 성숙도 집중</a:t>
                </a:r>
                <a:r>
                  <a:rPr lang="en-US" altLang="ko-KR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새로운 도전 마음가짐 질문</a:t>
                </a:r>
              </a:p>
            </p:txBody>
          </p:sp>
        </p:grpSp>
        <p:sp>
          <p:nvSpPr>
            <p:cNvPr id="190" name="Shape 12"/>
            <p:cNvSpPr/>
            <p:nvPr/>
          </p:nvSpPr>
          <p:spPr>
            <a:xfrm>
              <a:off x="821588" y="1982545"/>
              <a:ext cx="75600" cy="828000"/>
            </a:xfrm>
            <a:prstGeom prst="roundRect">
              <a:avLst>
                <a:gd name="adj" fmla="val 952376"/>
              </a:avLst>
            </a:prstGeom>
            <a:solidFill>
              <a:srgbClr val="1B5E20"/>
            </a:solidFill>
            <a:ln w="12700">
              <a:solidFill>
                <a:srgbClr val="1B5E20">
                  <a:alpha val="0"/>
                </a:srgbClr>
              </a:solidFill>
              <a:prstDash val="solid"/>
            </a:ln>
          </p:spPr>
        </p:sp>
      </p:grpSp>
      <p:grpSp>
        <p:nvGrpSpPr>
          <p:cNvPr id="196" name="그룹 195"/>
          <p:cNvGrpSpPr/>
          <p:nvPr/>
        </p:nvGrpSpPr>
        <p:grpSpPr>
          <a:xfrm>
            <a:off x="3648463" y="5368249"/>
            <a:ext cx="2242374" cy="835332"/>
            <a:chOff x="821588" y="1874722"/>
            <a:chExt cx="2242374" cy="835332"/>
          </a:xfrm>
        </p:grpSpPr>
        <p:grpSp>
          <p:nvGrpSpPr>
            <p:cNvPr id="197" name="그룹 196"/>
            <p:cNvGrpSpPr/>
            <p:nvPr/>
          </p:nvGrpSpPr>
          <p:grpSpPr>
            <a:xfrm>
              <a:off x="859388" y="1882054"/>
              <a:ext cx="2204574" cy="828000"/>
              <a:chOff x="839728" y="2433310"/>
              <a:chExt cx="2204574" cy="828000"/>
            </a:xfrm>
          </p:grpSpPr>
          <p:sp>
            <p:nvSpPr>
              <p:cNvPr id="199" name="Shape 6"/>
              <p:cNvSpPr/>
              <p:nvPr/>
            </p:nvSpPr>
            <p:spPr>
              <a:xfrm>
                <a:off x="839728" y="2433310"/>
                <a:ext cx="2200045" cy="828000"/>
              </a:xfrm>
              <a:prstGeom prst="roundRect">
                <a:avLst>
                  <a:gd name="adj" fmla="val 64000"/>
                </a:avLst>
              </a:prstGeom>
              <a:solidFill>
                <a:srgbClr val="FFFFFF"/>
              </a:solidFill>
              <a:ln/>
              <a:effectLst>
                <a:outerShdw blurRad="63500" dist="38100" dir="16200000" algn="bl" rotWithShape="0">
                  <a:srgbClr val="000000">
                    <a:alpha val="5000"/>
                  </a:srgbClr>
                </a:outerShdw>
              </a:effectLst>
            </p:spPr>
          </p:sp>
          <p:sp>
            <p:nvSpPr>
              <p:cNvPr id="202" name="Text 9"/>
              <p:cNvSpPr txBox="1"/>
              <p:nvPr/>
            </p:nvSpPr>
            <p:spPr>
              <a:xfrm>
                <a:off x="1365862" y="2760056"/>
                <a:ext cx="1656893" cy="1103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b="1" dirty="0" err="1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growth_followup</a:t>
                </a:r>
                <a:endParaRPr lang="en-US" sz="1000" b="1" dirty="0">
                  <a:solidFill>
                    <a:srgbClr val="1F293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endParaRPr>
              </a:p>
              <a:p>
                <a:r>
                  <a:rPr lang="en-US" altLang="ko-KR" sz="1000" dirty="0" err="1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Followup</a:t>
                </a:r>
                <a:r>
                  <a:rPr lang="en-US" altLang="ko-KR" sz="1000" dirty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(LLM)</a:t>
                </a:r>
                <a:r>
                  <a:rPr lang="en-US" altLang="ko-KR" sz="1000" dirty="0"/>
                  <a:t>)</a:t>
                </a:r>
                <a:endParaRPr lang="ko-KR" altLang="ko-KR" sz="1000" dirty="0">
                  <a:latin typeface="Arial" panose="020B0604020202020204" pitchFamily="34" charset="0"/>
                </a:endParaRPr>
              </a:p>
              <a:p>
                <a:endParaRPr lang="ko-KR" altLang="ko-KR" sz="10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3" name="Text 10"/>
              <p:cNvSpPr txBox="1"/>
              <p:nvPr/>
            </p:nvSpPr>
            <p:spPr>
              <a:xfrm>
                <a:off x="1344319" y="2801073"/>
                <a:ext cx="1699983" cy="437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정체기 극복과 성장 원동력 확인</a:t>
                </a:r>
              </a:p>
            </p:txBody>
          </p:sp>
        </p:grpSp>
        <p:sp>
          <p:nvSpPr>
            <p:cNvPr id="198" name="Shape 12"/>
            <p:cNvSpPr/>
            <p:nvPr/>
          </p:nvSpPr>
          <p:spPr>
            <a:xfrm>
              <a:off x="821588" y="1874722"/>
              <a:ext cx="75600" cy="828000"/>
            </a:xfrm>
            <a:prstGeom prst="roundRect">
              <a:avLst>
                <a:gd name="adj" fmla="val 952376"/>
              </a:avLst>
            </a:prstGeom>
            <a:solidFill>
              <a:srgbClr val="DD2778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</p:grpSp>
      <p:grpSp>
        <p:nvGrpSpPr>
          <p:cNvPr id="204" name="그룹 203"/>
          <p:cNvGrpSpPr/>
          <p:nvPr/>
        </p:nvGrpSpPr>
        <p:grpSpPr>
          <a:xfrm>
            <a:off x="6598937" y="5380772"/>
            <a:ext cx="2252159" cy="830552"/>
            <a:chOff x="821588" y="1873122"/>
            <a:chExt cx="2252159" cy="830552"/>
          </a:xfrm>
        </p:grpSpPr>
        <p:grpSp>
          <p:nvGrpSpPr>
            <p:cNvPr id="205" name="그룹 204"/>
            <p:cNvGrpSpPr/>
            <p:nvPr/>
          </p:nvGrpSpPr>
          <p:grpSpPr>
            <a:xfrm>
              <a:off x="849064" y="1873122"/>
              <a:ext cx="2224683" cy="828000"/>
              <a:chOff x="829404" y="2424378"/>
              <a:chExt cx="2224683" cy="828000"/>
            </a:xfrm>
          </p:grpSpPr>
          <p:sp>
            <p:nvSpPr>
              <p:cNvPr id="207" name="Shape 6"/>
              <p:cNvSpPr/>
              <p:nvPr/>
            </p:nvSpPr>
            <p:spPr>
              <a:xfrm>
                <a:off x="829404" y="2424378"/>
                <a:ext cx="2200045" cy="828000"/>
              </a:xfrm>
              <a:prstGeom prst="roundRect">
                <a:avLst>
                  <a:gd name="adj" fmla="val 64000"/>
                </a:avLst>
              </a:prstGeom>
              <a:solidFill>
                <a:srgbClr val="FFFFFF"/>
              </a:solidFill>
              <a:ln/>
              <a:effectLst>
                <a:outerShdw blurRad="63500" dist="38100" dir="16200000" algn="bl" rotWithShape="0">
                  <a:srgbClr val="000000">
                    <a:alpha val="5000"/>
                  </a:srgbClr>
                </a:outerShdw>
              </a:effectLst>
            </p:spPr>
          </p:sp>
          <p:sp>
            <p:nvSpPr>
              <p:cNvPr id="208" name="Shape 8"/>
              <p:cNvSpPr/>
              <p:nvPr/>
            </p:nvSpPr>
            <p:spPr>
              <a:xfrm>
                <a:off x="963931" y="2675017"/>
                <a:ext cx="304495" cy="304495"/>
              </a:xfrm>
              <a:prstGeom prst="ellipse">
                <a:avLst/>
              </a:prstGeom>
              <a:solidFill>
                <a:srgbClr val="DBEAFE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210" name="Text 9"/>
              <p:cNvSpPr txBox="1"/>
              <p:nvPr/>
            </p:nvSpPr>
            <p:spPr>
              <a:xfrm>
                <a:off x="1372556" y="2629769"/>
                <a:ext cx="1656893" cy="1537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b="1" dirty="0" err="1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final_statement</a:t>
                </a:r>
                <a:endParaRPr lang="en-US" sz="1000" b="1" dirty="0">
                  <a:solidFill>
                    <a:srgbClr val="1F2937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endParaRPr>
              </a:p>
              <a:p>
                <a:r>
                  <a:rPr lang="en-US" sz="1000" b="1" dirty="0" smtClean="0">
                    <a:solidFill>
                      <a:srgbClr val="1F2937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KR" pitchFamily="34" charset="-120"/>
                  </a:rPr>
                  <a:t>(</a:t>
                </a:r>
                <a:r>
                  <a:rPr lang="en-US" altLang="ko-KR" sz="1000" dirty="0" smtClean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Template</a:t>
                </a:r>
                <a:r>
                  <a:rPr lang="en-US" altLang="ko-KR" sz="1000" dirty="0" smtClean="0"/>
                  <a:t>)</a:t>
                </a:r>
                <a:endParaRPr lang="ko-KR" altLang="ko-KR" sz="10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11" name="Text 10"/>
              <p:cNvSpPr txBox="1"/>
              <p:nvPr/>
            </p:nvSpPr>
            <p:spPr>
              <a:xfrm>
                <a:off x="1354104" y="2812684"/>
                <a:ext cx="1699983" cy="385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지원자 마지막 포부 확인</a:t>
                </a:r>
                <a:r>
                  <a:rPr lang="en-US" altLang="ko-KR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면접 마무리</a:t>
                </a:r>
              </a:p>
            </p:txBody>
          </p:sp>
        </p:grpSp>
        <p:sp>
          <p:nvSpPr>
            <p:cNvPr id="206" name="Shape 12"/>
            <p:cNvSpPr/>
            <p:nvPr/>
          </p:nvSpPr>
          <p:spPr>
            <a:xfrm>
              <a:off x="821588" y="1875674"/>
              <a:ext cx="75600" cy="828000"/>
            </a:xfrm>
            <a:prstGeom prst="roundRect">
              <a:avLst>
                <a:gd name="adj" fmla="val 952376"/>
              </a:avLst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</p:sp>
      </p:grpSp>
      <p:pic>
        <p:nvPicPr>
          <p:cNvPr id="212" name="Image 6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 rot="16200000">
            <a:off x="6085753" y="5561420"/>
            <a:ext cx="271212" cy="362340"/>
          </a:xfrm>
          <a:prstGeom prst="rect">
            <a:avLst/>
          </a:prstGeom>
        </p:spPr>
      </p:pic>
      <p:sp>
        <p:nvSpPr>
          <p:cNvPr id="50" name="Shape 28"/>
          <p:cNvSpPr/>
          <p:nvPr/>
        </p:nvSpPr>
        <p:spPr>
          <a:xfrm>
            <a:off x="858725" y="4469438"/>
            <a:ext cx="304495" cy="30449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ko-KR" altLang="ko-KR" sz="140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43" name="Shape 23"/>
          <p:cNvSpPr/>
          <p:nvPr/>
        </p:nvSpPr>
        <p:spPr>
          <a:xfrm>
            <a:off x="9653284" y="2156040"/>
            <a:ext cx="304495" cy="304495"/>
          </a:xfrm>
          <a:prstGeom prst="ellipse">
            <a:avLst/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3"/>
          <p:cNvSpPr/>
          <p:nvPr/>
        </p:nvSpPr>
        <p:spPr>
          <a:xfrm>
            <a:off x="9642484" y="3293719"/>
            <a:ext cx="304495" cy="304495"/>
          </a:xfrm>
          <a:prstGeom prst="ellipse">
            <a:avLst/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3"/>
          <p:cNvSpPr/>
          <p:nvPr/>
        </p:nvSpPr>
        <p:spPr>
          <a:xfrm>
            <a:off x="3816609" y="3293719"/>
            <a:ext cx="304495" cy="304495"/>
          </a:xfrm>
          <a:prstGeom prst="ellipse">
            <a:avLst/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3"/>
          <p:cNvSpPr/>
          <p:nvPr/>
        </p:nvSpPr>
        <p:spPr>
          <a:xfrm>
            <a:off x="3816609" y="4450328"/>
            <a:ext cx="304495" cy="304495"/>
          </a:xfrm>
          <a:prstGeom prst="ellipse">
            <a:avLst/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"/>
          <p:cNvSpPr/>
          <p:nvPr/>
        </p:nvSpPr>
        <p:spPr>
          <a:xfrm>
            <a:off x="9642484" y="4478273"/>
            <a:ext cx="304495" cy="304495"/>
          </a:xfrm>
          <a:prstGeom prst="ellipse">
            <a:avLst/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"/>
          <p:cNvSpPr/>
          <p:nvPr/>
        </p:nvSpPr>
        <p:spPr>
          <a:xfrm>
            <a:off x="3806621" y="5626569"/>
            <a:ext cx="304495" cy="304495"/>
          </a:xfrm>
          <a:prstGeom prst="ellipse">
            <a:avLst/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8"/>
          <p:cNvSpPr/>
          <p:nvPr/>
        </p:nvSpPr>
        <p:spPr>
          <a:xfrm>
            <a:off x="878263" y="5573701"/>
            <a:ext cx="304495" cy="30449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8"/>
          <p:cNvSpPr/>
          <p:nvPr/>
        </p:nvSpPr>
        <p:spPr>
          <a:xfrm>
            <a:off x="6758252" y="4499824"/>
            <a:ext cx="304495" cy="30449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" name="직사각형 1"/>
          <p:cNvSpPr/>
          <p:nvPr/>
        </p:nvSpPr>
        <p:spPr>
          <a:xfrm>
            <a:off x="730088" y="2079597"/>
            <a:ext cx="5647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ko-KR" sz="14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</a:t>
            </a:r>
            <a:r>
              <a:rPr lang="en-US" altLang="ko-KR" sz="14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</a:t>
            </a:r>
            <a:endParaRPr lang="ko-KR" altLang="ko-KR" sz="140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753788" y="2113359"/>
            <a:ext cx="3962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ko-KR" sz="1400" b="1" dirty="0" smtClean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</a:t>
            </a:r>
            <a:r>
              <a:rPr lang="en-US" altLang="ko-KR" sz="1400" b="1" dirty="0" smtClean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2</a:t>
            </a:r>
            <a:endParaRPr lang="ko-KR" altLang="ko-KR" sz="140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711920" y="2139856"/>
            <a:ext cx="3962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ko-KR" sz="1400" b="1" dirty="0" smtClean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</a:t>
            </a:r>
            <a:r>
              <a:rPr lang="en-US" altLang="ko-KR" sz="1400" b="1" dirty="0" smtClean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3</a:t>
            </a:r>
            <a:endParaRPr lang="ko-KR" altLang="ko-KR" sz="140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9615224" y="2150701"/>
            <a:ext cx="3962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ko-KR" sz="1400" b="1" dirty="0" smtClean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</a:t>
            </a:r>
            <a:r>
              <a:rPr lang="en-US" altLang="ko-KR" sz="14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4</a:t>
            </a:r>
            <a:endParaRPr lang="ko-KR" altLang="ko-KR" sz="140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815561" y="3249708"/>
            <a:ext cx="3962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ko-KR" sz="1400" b="1" dirty="0" smtClean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</a:t>
            </a:r>
            <a:r>
              <a:rPr lang="en-US" altLang="ko-KR" sz="1400" b="1" dirty="0" smtClean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5</a:t>
            </a:r>
            <a:endParaRPr lang="ko-KR" altLang="ko-KR" sz="140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3766855" y="3290437"/>
            <a:ext cx="3962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ko-KR" sz="1400" b="1" dirty="0" smtClean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</a:t>
            </a:r>
            <a:r>
              <a:rPr lang="en-US" altLang="ko-KR" sz="14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6</a:t>
            </a:r>
            <a:endParaRPr lang="ko-KR" altLang="ko-KR" sz="140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172" name="직사각형 171"/>
          <p:cNvSpPr/>
          <p:nvPr/>
        </p:nvSpPr>
        <p:spPr>
          <a:xfrm>
            <a:off x="6718896" y="3293172"/>
            <a:ext cx="3962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ko-KR" sz="1400" b="1" dirty="0" smtClean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</a:t>
            </a:r>
            <a:r>
              <a:rPr lang="en-US" altLang="ko-KR" sz="1400" b="1" dirty="0" smtClean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7</a:t>
            </a:r>
            <a:endParaRPr lang="ko-KR" altLang="ko-KR" sz="140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173" name="직사각형 172"/>
          <p:cNvSpPr/>
          <p:nvPr/>
        </p:nvSpPr>
        <p:spPr>
          <a:xfrm>
            <a:off x="9607400" y="3304110"/>
            <a:ext cx="3962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ko-KR" sz="1400" b="1" dirty="0" smtClean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</a:t>
            </a:r>
            <a:r>
              <a:rPr lang="en-US" altLang="ko-KR" sz="14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8</a:t>
            </a:r>
            <a:endParaRPr lang="ko-KR" altLang="ko-KR" sz="140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740596" y="4484375"/>
            <a:ext cx="5647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ko-KR" sz="1400" b="1" dirty="0" smtClean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</a:t>
            </a:r>
            <a:r>
              <a:rPr lang="en-US" altLang="ko-KR" sz="14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9</a:t>
            </a:r>
            <a:endParaRPr lang="ko-KR" altLang="ko-KR" sz="140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193" name="직사각형 192"/>
          <p:cNvSpPr/>
          <p:nvPr/>
        </p:nvSpPr>
        <p:spPr>
          <a:xfrm>
            <a:off x="3686263" y="4453191"/>
            <a:ext cx="5647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10</a:t>
            </a:r>
            <a:endParaRPr lang="ko-KR" altLang="ko-KR" sz="140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200" name="직사각형 199"/>
          <p:cNvSpPr/>
          <p:nvPr/>
        </p:nvSpPr>
        <p:spPr>
          <a:xfrm>
            <a:off x="6621428" y="4487841"/>
            <a:ext cx="5647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11</a:t>
            </a:r>
            <a:endParaRPr lang="ko-KR" altLang="ko-KR" sz="140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201" name="직사각형 200"/>
          <p:cNvSpPr/>
          <p:nvPr/>
        </p:nvSpPr>
        <p:spPr>
          <a:xfrm>
            <a:off x="9530992" y="4496166"/>
            <a:ext cx="5647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12</a:t>
            </a:r>
            <a:endParaRPr lang="ko-KR" altLang="ko-KR" sz="140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213" name="직사각형 212"/>
          <p:cNvSpPr/>
          <p:nvPr/>
        </p:nvSpPr>
        <p:spPr>
          <a:xfrm>
            <a:off x="760762" y="5586025"/>
            <a:ext cx="5647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13</a:t>
            </a:r>
            <a:endParaRPr lang="ko-KR" altLang="ko-KR" sz="140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214" name="직사각형 213"/>
          <p:cNvSpPr/>
          <p:nvPr/>
        </p:nvSpPr>
        <p:spPr>
          <a:xfrm>
            <a:off x="3677758" y="5617581"/>
            <a:ext cx="5647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14</a:t>
            </a:r>
            <a:endParaRPr lang="ko-KR" altLang="ko-KR" sz="140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215" name="직사각형 214"/>
          <p:cNvSpPr/>
          <p:nvPr/>
        </p:nvSpPr>
        <p:spPr>
          <a:xfrm>
            <a:off x="6637122" y="5626193"/>
            <a:ext cx="5647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15</a:t>
            </a:r>
            <a:endParaRPr lang="ko-KR" altLang="ko-KR" sz="140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0074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81305" y="381305"/>
            <a:ext cx="75895" cy="381305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27340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DEVELOPMENT</a:t>
            </a:r>
            <a:endParaRPr lang="en-US" sz="2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3206223" y="486246"/>
            <a:ext cx="113541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ko-KR" altLang="en-US" sz="1500" b="1" dirty="0" smtClean="0">
                <a:solidFill>
                  <a:schemeClr val="accent6">
                    <a:lumMod val="75000"/>
                  </a:schemeClr>
                </a:solidFill>
              </a:rPr>
              <a:t>질문 생성 아키텍처</a:t>
            </a:r>
            <a:endParaRPr lang="en-US" sz="15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7" name="Image 0" descr="preencoded.png"/>
          <p:cNvPicPr>
            <a:picLocks noChangeAspect="1"/>
          </p:cNvPicPr>
          <p:nvPr/>
        </p:nvPicPr>
        <p:blipFill>
          <a:blip r:embed="rId3"/>
          <a:srcRect l="-10" r="-10"/>
          <a:stretch/>
        </p:blipFill>
        <p:spPr>
          <a:xfrm>
            <a:off x="254342" y="929099"/>
            <a:ext cx="11509765" cy="780898"/>
          </a:xfrm>
          <a:prstGeom prst="rect">
            <a:avLst/>
          </a:prstGeom>
        </p:spPr>
      </p:pic>
      <p:sp>
        <p:nvSpPr>
          <p:cNvPr id="78" name="직사각형 77"/>
          <p:cNvSpPr/>
          <p:nvPr/>
        </p:nvSpPr>
        <p:spPr>
          <a:xfrm>
            <a:off x="254342" y="1140827"/>
            <a:ext cx="123888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ko-KR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입력 </a:t>
            </a:r>
            <a:r>
              <a:rPr lang="ko-KR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유효성 검증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→ </a:t>
            </a:r>
            <a:r>
              <a:rPr lang="ko-KR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시나리오 분기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→ </a:t>
            </a:r>
            <a:r>
              <a:rPr lang="ko-KR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타겟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RAG </a:t>
            </a:r>
            <a:r>
              <a:rPr lang="ko-KR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검색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→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계층 프롬프트 제어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→ </a:t>
            </a:r>
            <a:r>
              <a:rPr lang="ko-KR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출력 정제 </a:t>
            </a:r>
            <a:r>
              <a:rPr lang="ko-KR" altLang="ko-KR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로직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→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Fallback </a:t>
            </a:r>
            <a:r>
              <a:rPr lang="ko-KR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복원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CardBg_1"/>
          <p:cNvSpPr/>
          <p:nvPr/>
        </p:nvSpPr>
        <p:spPr>
          <a:xfrm>
            <a:off x="1782040" y="1737480"/>
            <a:ext cx="2743200" cy="2377800"/>
          </a:xfrm>
          <a:prstGeom prst="roundRect">
            <a:avLst>
              <a:gd name="adj" fmla="val 3000"/>
            </a:avLst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26" name="AccentBar_1"/>
          <p:cNvSpPr/>
          <p:nvPr/>
        </p:nvSpPr>
        <p:spPr>
          <a:xfrm>
            <a:off x="1782040" y="1737480"/>
            <a:ext cx="2743200" cy="9144"/>
          </a:xfrm>
          <a:prstGeom prst="roundRect">
            <a:avLst>
              <a:gd name="adj" fmla="val 869565"/>
            </a:avLst>
          </a:prstGeom>
          <a:solidFill>
            <a:srgbClr val="FF9800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27" name="NumCircle_1"/>
          <p:cNvSpPr/>
          <p:nvPr/>
        </p:nvSpPr>
        <p:spPr>
          <a:xfrm>
            <a:off x="1858240" y="183273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28" name="NumTxt_1"/>
          <p:cNvSpPr txBox="1"/>
          <p:nvPr/>
        </p:nvSpPr>
        <p:spPr>
          <a:xfrm>
            <a:off x="1858240" y="183273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4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</a:t>
            </a:r>
            <a:r>
              <a:rPr lang="en-US" altLang="ko-KR" sz="14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</a:t>
            </a:r>
            <a:endParaRPr lang="ko-KR" sz="1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31" name="Title_1"/>
          <p:cNvSpPr txBox="1"/>
          <p:nvPr/>
        </p:nvSpPr>
        <p:spPr>
          <a:xfrm>
            <a:off x="2254480" y="1737480"/>
            <a:ext cx="2590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Layer 1: </a:t>
            </a:r>
            <a:r>
              <a:rPr lang="ko-KR" altLang="en-US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입력 유효성 검증</a:t>
            </a:r>
            <a:endParaRPr lang="ko-KR" sz="1500" b="1" dirty="0">
              <a:solidFill>
                <a:srgbClr val="1B5E2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32" name="Divider_1"/>
          <p:cNvSpPr/>
          <p:nvPr/>
        </p:nvSpPr>
        <p:spPr>
          <a:xfrm>
            <a:off x="1858240" y="2804280"/>
            <a:ext cx="2590800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33" name="Desc_1"/>
          <p:cNvSpPr txBox="1"/>
          <p:nvPr/>
        </p:nvSpPr>
        <p:spPr>
          <a:xfrm>
            <a:off x="1824529" y="2409564"/>
            <a:ext cx="2590800" cy="1628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•</a:t>
            </a:r>
            <a:r>
              <a:rPr lang="ko-KR" altLang="en-US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정규식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필터로 무의미 입력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(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자음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·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욕설 등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)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사전 </a:t>
            </a:r>
            <a:r>
              <a:rPr lang="ko-KR" altLang="en-US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차단</a:t>
            </a:r>
            <a:endParaRPr lang="en-US" altLang="ko-KR" sz="1200" dirty="0" smtClean="0">
              <a:solidFill>
                <a:srgbClr val="42424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endParaRPr lang="en-US" altLang="ko-KR" sz="1200" dirty="0">
              <a:solidFill>
                <a:srgbClr val="42424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r>
              <a:rPr lang="en-US" altLang="ko-KR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•</a:t>
            </a:r>
            <a:r>
              <a:rPr lang="en-US" altLang="ko-KR" sz="1200" dirty="0" err="1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negative_keywords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("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모르겠습니다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", "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없습니다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"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등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)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감지 시 임무를 </a:t>
            </a:r>
            <a:r>
              <a:rPr lang="ko-KR" altLang="en-US" sz="1200" dirty="0" err="1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꼬리질문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→ </a:t>
            </a:r>
            <a:r>
              <a:rPr lang="ko-KR" altLang="en-US" sz="1200" dirty="0" err="1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화제전환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요청으로 즉시 교체하여 컨텍스트 기반 허구 요약 생성 </a:t>
            </a:r>
            <a:r>
              <a:rPr lang="ko-KR" altLang="en-US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방지</a:t>
            </a:r>
            <a:endParaRPr lang="en-US" altLang="ko-KR" sz="1200" dirty="0">
              <a:solidFill>
                <a:srgbClr val="42424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34" name="CardBg_2"/>
          <p:cNvSpPr/>
          <p:nvPr/>
        </p:nvSpPr>
        <p:spPr>
          <a:xfrm>
            <a:off x="4567729" y="1737480"/>
            <a:ext cx="2792151" cy="2377800"/>
          </a:xfrm>
          <a:prstGeom prst="roundRect">
            <a:avLst>
              <a:gd name="adj" fmla="val 3000"/>
            </a:avLst>
          </a:prstGeom>
          <a:solidFill>
            <a:srgbClr val="FFF8E1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35" name="AccentBar_2"/>
          <p:cNvSpPr/>
          <p:nvPr/>
        </p:nvSpPr>
        <p:spPr>
          <a:xfrm>
            <a:off x="4616680" y="1737480"/>
            <a:ext cx="2743200" cy="9144"/>
          </a:xfrm>
          <a:prstGeom prst="roundRect">
            <a:avLst>
              <a:gd name="adj" fmla="val 869565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36" name="NumCircle_2"/>
          <p:cNvSpPr/>
          <p:nvPr/>
        </p:nvSpPr>
        <p:spPr>
          <a:xfrm>
            <a:off x="4692880" y="183273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37" name="NumTxt_2"/>
          <p:cNvSpPr txBox="1"/>
          <p:nvPr/>
        </p:nvSpPr>
        <p:spPr>
          <a:xfrm>
            <a:off x="4692880" y="183273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4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</a:t>
            </a:r>
            <a:r>
              <a:rPr lang="en-US" altLang="ko-KR" sz="14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2</a:t>
            </a:r>
            <a:endParaRPr lang="ko-KR" sz="1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40" name="Title_2"/>
          <p:cNvSpPr txBox="1"/>
          <p:nvPr/>
        </p:nvSpPr>
        <p:spPr>
          <a:xfrm>
            <a:off x="5089120" y="1737480"/>
            <a:ext cx="2590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Layer 2: </a:t>
            </a:r>
            <a:r>
              <a:rPr lang="ko-KR" altLang="en-US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시나리오 분기</a:t>
            </a:r>
            <a:endParaRPr lang="ko-KR" sz="1500" b="1" dirty="0">
              <a:solidFill>
                <a:srgbClr val="1B5E2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43" name="CardBg_3"/>
          <p:cNvSpPr/>
          <p:nvPr/>
        </p:nvSpPr>
        <p:spPr>
          <a:xfrm>
            <a:off x="7466560" y="1726561"/>
            <a:ext cx="2743200" cy="2377800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44" name="AccentBar_3"/>
          <p:cNvSpPr/>
          <p:nvPr/>
        </p:nvSpPr>
        <p:spPr>
          <a:xfrm>
            <a:off x="7451320" y="1737480"/>
            <a:ext cx="2743200" cy="9144"/>
          </a:xfrm>
          <a:prstGeom prst="roundRect">
            <a:avLst>
              <a:gd name="adj" fmla="val 869565"/>
            </a:avLst>
          </a:prstGeom>
          <a:solidFill>
            <a:srgbClr val="AB47BC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45" name="NumCircle_3"/>
          <p:cNvSpPr/>
          <p:nvPr/>
        </p:nvSpPr>
        <p:spPr>
          <a:xfrm>
            <a:off x="7527520" y="183273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AB47BC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46" name="NumTxt_3"/>
          <p:cNvSpPr txBox="1"/>
          <p:nvPr/>
        </p:nvSpPr>
        <p:spPr>
          <a:xfrm>
            <a:off x="7527520" y="183273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4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</a:t>
            </a:r>
            <a:r>
              <a:rPr lang="en-US" altLang="ko-KR" sz="14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3</a:t>
            </a:r>
            <a:endParaRPr lang="ko-KR" sz="1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49" name="Title_3"/>
          <p:cNvSpPr txBox="1"/>
          <p:nvPr/>
        </p:nvSpPr>
        <p:spPr>
          <a:xfrm>
            <a:off x="7908111" y="1737480"/>
            <a:ext cx="2590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Layer 3: </a:t>
            </a:r>
            <a:r>
              <a:rPr lang="ko-KR" altLang="en-US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타겟 </a:t>
            </a:r>
            <a:r>
              <a:rPr lang="en-US" altLang="ko-KR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RAG </a:t>
            </a:r>
            <a:r>
              <a:rPr lang="ko-KR" altLang="en-US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검색</a:t>
            </a:r>
            <a:endParaRPr lang="ko-KR" sz="1500" b="1" dirty="0">
              <a:solidFill>
                <a:srgbClr val="1B5E2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52" name="CardBg_4"/>
          <p:cNvSpPr/>
          <p:nvPr/>
        </p:nvSpPr>
        <p:spPr>
          <a:xfrm>
            <a:off x="1797280" y="4215864"/>
            <a:ext cx="2743200" cy="2377800"/>
          </a:xfrm>
          <a:prstGeom prst="roundRect">
            <a:avLst>
              <a:gd name="adj" fmla="val 3000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53" name="AccentBar_4"/>
          <p:cNvSpPr/>
          <p:nvPr/>
        </p:nvSpPr>
        <p:spPr>
          <a:xfrm>
            <a:off x="1797280" y="4215864"/>
            <a:ext cx="2743200" cy="9144"/>
          </a:xfrm>
          <a:prstGeom prst="roundRect">
            <a:avLst>
              <a:gd name="adj" fmla="val 869565"/>
            </a:avLst>
          </a:prstGeom>
          <a:solidFill>
            <a:srgbClr val="42A5F5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54" name="NumCircle_4"/>
          <p:cNvSpPr/>
          <p:nvPr/>
        </p:nvSpPr>
        <p:spPr>
          <a:xfrm>
            <a:off x="1873480" y="4311114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55" name="NumTxt_4"/>
          <p:cNvSpPr txBox="1"/>
          <p:nvPr/>
        </p:nvSpPr>
        <p:spPr>
          <a:xfrm>
            <a:off x="1873480" y="4311114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4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</a:t>
            </a:r>
            <a:r>
              <a:rPr lang="en-US" altLang="ko-KR" sz="14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4</a:t>
            </a:r>
            <a:endParaRPr lang="ko-KR" sz="1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58" name="Title_4"/>
          <p:cNvSpPr txBox="1"/>
          <p:nvPr/>
        </p:nvSpPr>
        <p:spPr>
          <a:xfrm>
            <a:off x="2178280" y="4177764"/>
            <a:ext cx="23926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Layer 4: 3</a:t>
            </a:r>
            <a:r>
              <a:rPr lang="ko-KR" altLang="en-US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계층 프롬프트 제어</a:t>
            </a:r>
            <a:endParaRPr lang="ko-KR" sz="1500" b="1" dirty="0">
              <a:solidFill>
                <a:srgbClr val="1B5E2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61" name="CardBg_5"/>
          <p:cNvSpPr/>
          <p:nvPr/>
        </p:nvSpPr>
        <p:spPr>
          <a:xfrm>
            <a:off x="4631920" y="4215864"/>
            <a:ext cx="2743200" cy="2377800"/>
          </a:xfrm>
          <a:prstGeom prst="roundRect">
            <a:avLst>
              <a:gd name="adj" fmla="val 3000"/>
            </a:avLst>
          </a:prstGeom>
          <a:solidFill>
            <a:srgbClr val="E0F2F1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62" name="AccentBar_5"/>
          <p:cNvSpPr/>
          <p:nvPr/>
        </p:nvSpPr>
        <p:spPr>
          <a:xfrm>
            <a:off x="1782040" y="4206720"/>
            <a:ext cx="2743200" cy="9144"/>
          </a:xfrm>
          <a:prstGeom prst="roundRect">
            <a:avLst>
              <a:gd name="adj" fmla="val 869565"/>
            </a:avLst>
          </a:prstGeom>
          <a:solidFill>
            <a:srgbClr val="26A69A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63" name="NumCircle_5"/>
          <p:cNvSpPr/>
          <p:nvPr/>
        </p:nvSpPr>
        <p:spPr>
          <a:xfrm>
            <a:off x="4708120" y="4311114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6A69A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64" name="NumTxt_5"/>
          <p:cNvSpPr txBox="1"/>
          <p:nvPr/>
        </p:nvSpPr>
        <p:spPr>
          <a:xfrm>
            <a:off x="4708120" y="4311114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4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</a:t>
            </a:r>
            <a:r>
              <a:rPr lang="en-US" altLang="ko-KR" sz="14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5</a:t>
            </a:r>
            <a:endParaRPr lang="ko-KR" sz="1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67" name="Title_5"/>
          <p:cNvSpPr txBox="1"/>
          <p:nvPr/>
        </p:nvSpPr>
        <p:spPr>
          <a:xfrm>
            <a:off x="5098232" y="4215864"/>
            <a:ext cx="2590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Layer 5: </a:t>
            </a:r>
            <a:r>
              <a:rPr lang="ko-KR" altLang="en-US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출력 정제 </a:t>
            </a:r>
            <a:r>
              <a:rPr lang="ko-KR" altLang="en-US" sz="1500" b="1" dirty="0" err="1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로직</a:t>
            </a:r>
            <a:endParaRPr lang="ko-KR" sz="1500" b="1" dirty="0">
              <a:solidFill>
                <a:srgbClr val="1B5E2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82" name="CardBg_7"/>
          <p:cNvSpPr/>
          <p:nvPr/>
        </p:nvSpPr>
        <p:spPr>
          <a:xfrm>
            <a:off x="7451320" y="4223555"/>
            <a:ext cx="2743200" cy="2377800"/>
          </a:xfrm>
          <a:prstGeom prst="roundRect">
            <a:avLst>
              <a:gd name="adj" fmla="val 3000"/>
            </a:avLst>
          </a:prstGeom>
          <a:solidFill>
            <a:srgbClr val="E8EAF6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83" name="AccentBar_7"/>
          <p:cNvSpPr/>
          <p:nvPr/>
        </p:nvSpPr>
        <p:spPr>
          <a:xfrm>
            <a:off x="7445119" y="4186928"/>
            <a:ext cx="2743200" cy="9144"/>
          </a:xfrm>
          <a:prstGeom prst="roundRect">
            <a:avLst>
              <a:gd name="adj" fmla="val 869565"/>
            </a:avLst>
          </a:prstGeom>
          <a:solidFill>
            <a:srgbClr val="5C6BC0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84" name="NumCircle_7"/>
          <p:cNvSpPr/>
          <p:nvPr/>
        </p:nvSpPr>
        <p:spPr>
          <a:xfrm>
            <a:off x="7466560" y="4320258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5C6BC0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85" name="NumTxt_7"/>
          <p:cNvSpPr txBox="1"/>
          <p:nvPr/>
        </p:nvSpPr>
        <p:spPr>
          <a:xfrm>
            <a:off x="7466560" y="4320258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4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</a:t>
            </a:r>
            <a:r>
              <a:rPr lang="en-US" altLang="ko-KR" sz="14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6</a:t>
            </a:r>
            <a:endParaRPr lang="ko-KR" sz="1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88" name="Title_7"/>
          <p:cNvSpPr txBox="1"/>
          <p:nvPr/>
        </p:nvSpPr>
        <p:spPr>
          <a:xfrm>
            <a:off x="7841432" y="4209112"/>
            <a:ext cx="2590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Layer 6: </a:t>
            </a:r>
            <a:endParaRPr lang="en-US" altLang="ko-KR" sz="1400" b="1" dirty="0" smtClean="0">
              <a:solidFill>
                <a:srgbClr val="1B5E2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r>
              <a:rPr lang="en-US" altLang="ko-KR" sz="1400" b="1" dirty="0" smtClean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3</a:t>
            </a:r>
            <a:r>
              <a:rPr lang="ko-KR" altLang="en-US" sz="14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단계 </a:t>
            </a:r>
            <a:r>
              <a:rPr lang="ko-KR" altLang="en-US" sz="1400" b="1" dirty="0" err="1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폴백</a:t>
            </a:r>
            <a:r>
              <a:rPr lang="en-US" altLang="ko-KR" sz="14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(Fallback) </a:t>
            </a:r>
            <a:r>
              <a:rPr lang="ko-KR" altLang="en-US" sz="14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안전망</a:t>
            </a:r>
            <a:endParaRPr lang="ko-KR" sz="1400" b="1" dirty="0">
              <a:solidFill>
                <a:srgbClr val="1B5E2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91" name="Desc_1"/>
          <p:cNvSpPr txBox="1"/>
          <p:nvPr/>
        </p:nvSpPr>
        <p:spPr>
          <a:xfrm>
            <a:off x="4657844" y="2401617"/>
            <a:ext cx="2590800" cy="1628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•</a:t>
            </a:r>
            <a:r>
              <a:rPr lang="en-US" altLang="ko-KR" sz="1200" dirty="0" err="1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is_narrative</a:t>
            </a:r>
            <a:r>
              <a:rPr lang="en-US" altLang="ko-KR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플래그로 인성 단계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(9~14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번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)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진입 시 기술 용어 사용 원천 </a:t>
            </a:r>
            <a:r>
              <a:rPr lang="ko-KR" altLang="en-US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금지</a:t>
            </a:r>
            <a:endParaRPr lang="en-US" altLang="ko-KR" sz="1200" dirty="0" smtClean="0">
              <a:solidFill>
                <a:srgbClr val="42424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endParaRPr lang="en-US" altLang="ko-KR" sz="1200" dirty="0">
              <a:solidFill>
                <a:srgbClr val="42424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r>
              <a:rPr lang="en-US" altLang="ko-KR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•</a:t>
            </a:r>
            <a:r>
              <a:rPr lang="ko-KR" altLang="en-US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이원화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시나리오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(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일반형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/</a:t>
            </a:r>
            <a:r>
              <a:rPr lang="ko-KR" altLang="en-US" sz="1200" dirty="0" err="1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전환자형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)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분기 </a:t>
            </a:r>
            <a:r>
              <a:rPr lang="ko-KR" altLang="en-US" sz="1200" dirty="0" err="1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로직과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연동하여 지원자 유형별 맞춤 흐름 </a:t>
            </a:r>
            <a:r>
              <a:rPr lang="ko-KR" altLang="en-US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제공</a:t>
            </a:r>
            <a:endParaRPr lang="en-US" altLang="ko-KR" sz="1200" dirty="0">
              <a:solidFill>
                <a:srgbClr val="42424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endParaRPr lang="en-US" altLang="ko-KR" sz="1200" dirty="0">
              <a:solidFill>
                <a:srgbClr val="42424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graphicFrame>
        <p:nvGraphicFramePr>
          <p:cNvPr id="94" name="표 93"/>
          <p:cNvGraphicFramePr>
            <a:graphicFrameLocks noGrp="1"/>
          </p:cNvGraphicFramePr>
          <p:nvPr>
            <p:extLst/>
          </p:nvPr>
        </p:nvGraphicFramePr>
        <p:xfrm>
          <a:off x="7527520" y="2192288"/>
          <a:ext cx="2576023" cy="624840"/>
        </p:xfrm>
        <a:graphic>
          <a:graphicData uri="http://schemas.openxmlformats.org/drawingml/2006/table">
            <a:tbl>
              <a:tblPr firstRow="1" firstCol="1" bandRow="1"/>
              <a:tblGrid>
                <a:gridCol w="1080772">
                  <a:extLst>
                    <a:ext uri="{9D8B030D-6E8A-4147-A177-3AD203B41FA5}">
                      <a16:colId xmlns:a16="http://schemas.microsoft.com/office/drawing/2014/main" val="3591277897"/>
                    </a:ext>
                  </a:extLst>
                </a:gridCol>
                <a:gridCol w="1495251">
                  <a:extLst>
                    <a:ext uri="{9D8B030D-6E8A-4147-A177-3AD203B41FA5}">
                      <a16:colId xmlns:a16="http://schemas.microsoft.com/office/drawing/2014/main" val="16347023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sz="1100" b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  <a:endParaRPr lang="ko-KR" sz="11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sz="1100" b="1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검색 키워드</a:t>
                      </a:r>
                      <a:endParaRPr lang="ko-KR" sz="1100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912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0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communication</a:t>
                      </a:r>
                      <a:endParaRPr lang="ko-KR" sz="1000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0"/>
                        </a:spcAft>
                      </a:pPr>
                      <a:r>
                        <a:rPr lang="ko-KR" sz="10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협업 사례</a:t>
                      </a:r>
                      <a:r>
                        <a:rPr lang="en-US" sz="10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· </a:t>
                      </a:r>
                      <a:r>
                        <a:rPr lang="ko-KR" sz="10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갈등 조율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132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0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growth</a:t>
                      </a:r>
                      <a:endParaRPr lang="ko-KR" sz="10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0"/>
                        </a:spcAft>
                      </a:pPr>
                      <a:r>
                        <a:rPr lang="ko-KR" sz="10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자기계발</a:t>
                      </a:r>
                      <a:r>
                        <a:rPr lang="en-US" sz="10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· </a:t>
                      </a:r>
                      <a:r>
                        <a:rPr lang="ko-KR" sz="10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실패 극복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64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0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responsibility</a:t>
                      </a:r>
                      <a:endParaRPr lang="ko-KR" sz="10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0"/>
                        </a:spcAft>
                      </a:pPr>
                      <a:r>
                        <a:rPr lang="ko-KR" sz="10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직업 윤리</a:t>
                      </a:r>
                      <a:r>
                        <a:rPr lang="en-US" sz="10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· </a:t>
                      </a:r>
                      <a:r>
                        <a:rPr lang="ko-KR" sz="10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약속 이행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8801024"/>
                  </a:ext>
                </a:extLst>
              </a:tr>
            </a:tbl>
          </a:graphicData>
        </a:graphic>
      </p:graphicFrame>
      <p:sp>
        <p:nvSpPr>
          <p:cNvPr id="95" name="Desc_1"/>
          <p:cNvSpPr txBox="1"/>
          <p:nvPr/>
        </p:nvSpPr>
        <p:spPr>
          <a:xfrm>
            <a:off x="7520131" y="3041999"/>
            <a:ext cx="2590800" cy="78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•11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번 가치관 단계는 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DB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에서 자소서 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번 답변 전문 직접 </a:t>
            </a:r>
            <a:r>
              <a:rPr lang="ko-KR" altLang="en-US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추출해</a:t>
            </a:r>
            <a:r>
              <a:rPr lang="en-US" altLang="ko-KR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ko-KR" altLang="en-US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컨텍스트 구성</a:t>
            </a:r>
            <a:endParaRPr lang="en-US" altLang="ko-KR" sz="1200" dirty="0">
              <a:solidFill>
                <a:srgbClr val="42424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96" name="Desc_1"/>
          <p:cNvSpPr txBox="1"/>
          <p:nvPr/>
        </p:nvSpPr>
        <p:spPr>
          <a:xfrm>
            <a:off x="1884909" y="4814847"/>
            <a:ext cx="2590800" cy="1628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•[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계층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1]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전역 페르소나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(PROMPT_TEMPLATE :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인재상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·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직무 고정 배경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)</a:t>
            </a:r>
          </a:p>
          <a:p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→ [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계층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2]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스테이지 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guide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필드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(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단계 정체성 결정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)</a:t>
            </a:r>
          </a:p>
          <a:p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→ [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계층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3]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런타임 </a:t>
            </a:r>
            <a:r>
              <a:rPr lang="en-US" altLang="ko-KR" sz="1200" dirty="0" err="1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mode_task_instruction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/ </a:t>
            </a:r>
            <a:r>
              <a:rPr lang="en-US" altLang="ko-KR" sz="1200" dirty="0" err="1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global_constraint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(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실시간 최강 명령 </a:t>
            </a:r>
            <a:r>
              <a:rPr lang="ko-KR" altLang="en-US" sz="1200" dirty="0" err="1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오버라이드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)</a:t>
            </a:r>
          </a:p>
          <a:p>
            <a:endParaRPr lang="en-US" altLang="ko-KR" sz="1200" dirty="0">
              <a:solidFill>
                <a:srgbClr val="42424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r>
              <a:rPr lang="en-US" altLang="ko-KR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.</a:t>
            </a:r>
          </a:p>
          <a:p>
            <a:endParaRPr lang="en-US" altLang="ko-KR" sz="1200" dirty="0">
              <a:solidFill>
                <a:srgbClr val="42424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97" name="Desc_1"/>
          <p:cNvSpPr txBox="1"/>
          <p:nvPr/>
        </p:nvSpPr>
        <p:spPr>
          <a:xfrm>
            <a:off x="4741664" y="4764411"/>
            <a:ext cx="2590800" cy="1628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•</a:t>
            </a:r>
            <a:r>
              <a:rPr lang="ko-KR" altLang="en-US" sz="1200" dirty="0" err="1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메타설명</a:t>
            </a:r>
            <a:r>
              <a:rPr lang="ko-KR" altLang="en-US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제거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('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이 질문은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', '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검증합니다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'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등 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AI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내부 추론 발화 삭제</a:t>
            </a:r>
            <a:r>
              <a:rPr lang="en-US" altLang="ko-KR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)</a:t>
            </a:r>
          </a:p>
          <a:p>
            <a:endParaRPr lang="en-US" altLang="ko-KR" sz="1200" dirty="0">
              <a:solidFill>
                <a:srgbClr val="42424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r>
              <a:rPr lang="en-US" altLang="ko-KR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•</a:t>
            </a:r>
            <a:r>
              <a:rPr lang="ko-KR" altLang="en-US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서두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레이블 삭제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(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심층 질문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: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등 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Markdown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형식 제거</a:t>
            </a:r>
            <a:r>
              <a:rPr lang="en-US" altLang="ko-KR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)</a:t>
            </a:r>
          </a:p>
          <a:p>
            <a:endParaRPr lang="en-US" altLang="ko-KR" sz="1200" dirty="0">
              <a:solidFill>
                <a:srgbClr val="42424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r>
              <a:rPr lang="en-US" altLang="ko-KR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•</a:t>
            </a:r>
            <a:r>
              <a:rPr lang="ko-KR" altLang="en-US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최종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질문 추출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('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요약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: ~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질문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: ~'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구조 시 마지막 질문만 분리</a:t>
            </a:r>
            <a:r>
              <a:rPr lang="en-US" altLang="ko-KR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)</a:t>
            </a:r>
            <a:endParaRPr lang="en-US" altLang="ko-KR" sz="1200" dirty="0">
              <a:solidFill>
                <a:srgbClr val="42424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98" name="Desc_1"/>
          <p:cNvSpPr txBox="1"/>
          <p:nvPr/>
        </p:nvSpPr>
        <p:spPr>
          <a:xfrm>
            <a:off x="7542760" y="4649486"/>
            <a:ext cx="2590800" cy="1628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200" dirty="0">
              <a:solidFill>
                <a:srgbClr val="42424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저품질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방어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: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답변이 너무 짧거나 무의미할 때 표준 질문으로 자동 </a:t>
            </a:r>
            <a:r>
              <a:rPr lang="ko-KR" altLang="en-US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교체</a:t>
            </a:r>
            <a:endParaRPr lang="en-US" altLang="ko-KR" sz="1200" dirty="0" smtClean="0">
              <a:solidFill>
                <a:srgbClr val="42424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200" dirty="0">
              <a:solidFill>
                <a:srgbClr val="42424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데이터 백지 방어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: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정제 </a:t>
            </a:r>
            <a:r>
              <a:rPr lang="ko-KR" altLang="en-US" sz="1200" dirty="0" err="1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로직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오류로 인한 빈 문자열 발생 시 강제 질문 </a:t>
            </a:r>
            <a:r>
              <a:rPr lang="ko-KR" altLang="en-US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주입</a:t>
            </a:r>
            <a:endParaRPr lang="en-US" altLang="ko-KR" sz="1200" dirty="0" smtClean="0">
              <a:solidFill>
                <a:srgbClr val="42424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200" dirty="0">
              <a:solidFill>
                <a:srgbClr val="42424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시스템 장애 방어</a:t>
            </a:r>
            <a:r>
              <a:rPr lang="en-US" altLang="ko-KR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: AI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서버 다운 </a:t>
            </a:r>
            <a:r>
              <a:rPr lang="ko-KR" altLang="en-US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시 </a:t>
            </a:r>
            <a:r>
              <a:rPr lang="en-US" altLang="ko-KR" sz="1200" dirty="0" err="1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fallback_dict</a:t>
            </a:r>
            <a:r>
              <a:rPr lang="ko-KR" altLang="en-US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에서 </a:t>
            </a:r>
            <a:r>
              <a:rPr lang="ko-KR" altLang="en-US" sz="12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즉시 질문을 꺼내 면접 완주 </a:t>
            </a:r>
            <a:r>
              <a:rPr lang="ko-KR" altLang="en-US" sz="1200" dirty="0" smtClean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보장</a:t>
            </a:r>
            <a:endParaRPr lang="en-US" altLang="ko-KR" sz="1200" dirty="0">
              <a:solidFill>
                <a:srgbClr val="42424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A4_Project_2AI1_LA_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김린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979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81305" y="381305"/>
            <a:ext cx="75895" cy="381305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27340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DEVELOPMENT</a:t>
            </a:r>
            <a:endParaRPr lang="en-US" sz="2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19253" y="919041"/>
            <a:ext cx="318456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b="1" dirty="0">
                <a:solidFill>
                  <a:schemeClr val="accent6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프롬프트 구조 상세 분석 </a:t>
            </a:r>
            <a:r>
              <a:rPr lang="en-US" altLang="ko-KR" sz="1500" b="1" dirty="0">
                <a:solidFill>
                  <a:schemeClr val="accent6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(6-Layer)</a:t>
            </a:r>
            <a:endParaRPr lang="en-US" sz="1500" b="1" dirty="0">
              <a:solidFill>
                <a:schemeClr val="accent6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A4_Project_2AI1_LA_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김린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1530330" y="1418237"/>
            <a:ext cx="8878140" cy="4659586"/>
            <a:chOff x="1435053" y="1621723"/>
            <a:chExt cx="8878140" cy="4659586"/>
          </a:xfrm>
        </p:grpSpPr>
        <p:grpSp>
          <p:nvGrpSpPr>
            <p:cNvPr id="18" name="그룹 17"/>
            <p:cNvGrpSpPr/>
            <p:nvPr/>
          </p:nvGrpSpPr>
          <p:grpSpPr>
            <a:xfrm>
              <a:off x="1454883" y="1621723"/>
              <a:ext cx="8858310" cy="484318"/>
              <a:chOff x="2855847" y="3840099"/>
              <a:chExt cx="8858310" cy="484318"/>
            </a:xfrm>
          </p:grpSpPr>
          <p:grpSp>
            <p:nvGrpSpPr>
              <p:cNvPr id="11" name="그룹 10"/>
              <p:cNvGrpSpPr/>
              <p:nvPr/>
            </p:nvGrpSpPr>
            <p:grpSpPr>
              <a:xfrm>
                <a:off x="2855847" y="3856417"/>
                <a:ext cx="8610012" cy="468000"/>
                <a:chOff x="6366052" y="2609698"/>
                <a:chExt cx="8610012" cy="624000"/>
              </a:xfrm>
            </p:grpSpPr>
            <p:sp>
              <p:nvSpPr>
                <p:cNvPr id="12" name="Shape 43"/>
                <p:cNvSpPr/>
                <p:nvPr/>
              </p:nvSpPr>
              <p:spPr>
                <a:xfrm>
                  <a:off x="6366052" y="2609698"/>
                  <a:ext cx="8610012" cy="624000"/>
                </a:xfrm>
                <a:prstGeom prst="roundRect">
                  <a:avLst>
                    <a:gd name="adj" fmla="val 13422"/>
                  </a:avLst>
                </a:prstGeom>
                <a:solidFill>
                  <a:srgbClr val="FFFFFF"/>
                </a:solidFill>
                <a:ln w="12700">
                  <a:solidFill>
                    <a:srgbClr val="E5E7EB"/>
                  </a:solidFill>
                  <a:prstDash val="solid"/>
                </a:ln>
                <a:effectLst>
                  <a:outerShdw blurRad="63500" dist="38100" dir="16200000" algn="bl" rotWithShape="0">
                    <a:srgbClr val="000000">
                      <a:alpha val="5000"/>
                    </a:srgbClr>
                  </a:outerShdw>
                </a:effectLst>
              </p:spPr>
            </p:sp>
            <p:sp>
              <p:nvSpPr>
                <p:cNvPr id="16" name="Shape 46"/>
                <p:cNvSpPr/>
                <p:nvPr/>
              </p:nvSpPr>
              <p:spPr>
                <a:xfrm>
                  <a:off x="7320449" y="2767825"/>
                  <a:ext cx="1483708" cy="328291"/>
                </a:xfrm>
                <a:prstGeom prst="roundRect">
                  <a:avLst>
                    <a:gd name="adj" fmla="val 212653"/>
                  </a:avLst>
                </a:prstGeom>
                <a:solidFill>
                  <a:srgbClr val="F3F4F6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14" name="Text 44"/>
                <p:cNvSpPr txBox="1"/>
                <p:nvPr/>
              </p:nvSpPr>
              <p:spPr>
                <a:xfrm>
                  <a:off x="7468481" y="2966755"/>
                  <a:ext cx="1197864" cy="20025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ko-KR" altLang="en-US" sz="1200" b="1" dirty="0"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페르소나 설정</a:t>
                  </a:r>
                </a:p>
                <a:p>
                  <a:pPr marL="0" indent="0" algn="ctr">
                    <a:buNone/>
                  </a:pPr>
                  <a:endParaRPr 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</p:grpSp>
          <p:sp>
            <p:nvSpPr>
              <p:cNvPr id="7" name="직사각형 6"/>
              <p:cNvSpPr/>
              <p:nvPr/>
            </p:nvSpPr>
            <p:spPr>
              <a:xfrm>
                <a:off x="2951124" y="3840099"/>
                <a:ext cx="654424" cy="4616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altLang="ko-KR" sz="2400" b="1" cap="none" spc="0" dirty="0" smtClean="0">
                    <a:ln w="6600">
                      <a:solidFill>
                        <a:schemeClr val="accent2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dist="38100" dir="2700000" algn="tl" rotWithShape="0">
                        <a:schemeClr val="accent2"/>
                      </a:outerShdw>
                    </a:effectLst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L1</a:t>
                </a:r>
                <a:endParaRPr lang="en-US" altLang="ko-KR" sz="2400" b="1" cap="none" spc="0" dirty="0">
                  <a:ln w="6600">
                    <a:solidFill>
                      <a:schemeClr val="accent2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8" name="직사각형 7"/>
              <p:cNvSpPr/>
              <p:nvPr/>
            </p:nvSpPr>
            <p:spPr>
              <a:xfrm>
                <a:off x="5618157" y="3967305"/>
                <a:ext cx="6096000" cy="24622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AI</a:t>
                </a:r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에게 전문가적 권위와 공정한 태도를 부여하여 답변의 </a:t>
                </a:r>
                <a:r>
                  <a:rPr lang="ko-KR" altLang="en-US" sz="1000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톤앤매너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(Tone &amp; Manner) </a:t>
                </a:r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최상위 규정</a:t>
                </a:r>
              </a:p>
            </p:txBody>
          </p:sp>
        </p:grpSp>
        <p:grpSp>
          <p:nvGrpSpPr>
            <p:cNvPr id="21" name="그룹 20"/>
            <p:cNvGrpSpPr/>
            <p:nvPr/>
          </p:nvGrpSpPr>
          <p:grpSpPr>
            <a:xfrm>
              <a:off x="1435053" y="2448086"/>
              <a:ext cx="8858310" cy="484318"/>
              <a:chOff x="2855847" y="3840099"/>
              <a:chExt cx="8858310" cy="484318"/>
            </a:xfrm>
          </p:grpSpPr>
          <p:grpSp>
            <p:nvGrpSpPr>
              <p:cNvPr id="22" name="그룹 21"/>
              <p:cNvGrpSpPr/>
              <p:nvPr/>
            </p:nvGrpSpPr>
            <p:grpSpPr>
              <a:xfrm>
                <a:off x="2855847" y="3856417"/>
                <a:ext cx="8610012" cy="468000"/>
                <a:chOff x="6366052" y="2609698"/>
                <a:chExt cx="8610012" cy="624000"/>
              </a:xfrm>
            </p:grpSpPr>
            <p:sp>
              <p:nvSpPr>
                <p:cNvPr id="25" name="Shape 43"/>
                <p:cNvSpPr/>
                <p:nvPr/>
              </p:nvSpPr>
              <p:spPr>
                <a:xfrm>
                  <a:off x="6366052" y="2609698"/>
                  <a:ext cx="8610012" cy="624000"/>
                </a:xfrm>
                <a:prstGeom prst="roundRect">
                  <a:avLst>
                    <a:gd name="adj" fmla="val 13422"/>
                  </a:avLst>
                </a:prstGeom>
                <a:solidFill>
                  <a:srgbClr val="FFFFFF"/>
                </a:solidFill>
                <a:ln w="12700">
                  <a:solidFill>
                    <a:srgbClr val="E5E7EB"/>
                  </a:solidFill>
                  <a:prstDash val="solid"/>
                </a:ln>
                <a:effectLst>
                  <a:outerShdw blurRad="63500" dist="38100" dir="16200000" algn="bl" rotWithShape="0">
                    <a:srgbClr val="000000">
                      <a:alpha val="5000"/>
                    </a:srgbClr>
                  </a:outerShdw>
                </a:effectLst>
              </p:spPr>
            </p:sp>
            <p:sp>
              <p:nvSpPr>
                <p:cNvPr id="26" name="Shape 46"/>
                <p:cNvSpPr/>
                <p:nvPr/>
              </p:nvSpPr>
              <p:spPr>
                <a:xfrm>
                  <a:off x="7320449" y="2767825"/>
                  <a:ext cx="1483708" cy="328291"/>
                </a:xfrm>
                <a:prstGeom prst="roundRect">
                  <a:avLst>
                    <a:gd name="adj" fmla="val 212653"/>
                  </a:avLst>
                </a:prstGeom>
                <a:solidFill>
                  <a:srgbClr val="F3F4F6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27" name="Text 44"/>
                <p:cNvSpPr txBox="1"/>
                <p:nvPr/>
              </p:nvSpPr>
              <p:spPr>
                <a:xfrm>
                  <a:off x="7468481" y="2966755"/>
                  <a:ext cx="1197864" cy="20025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ko-KR" altLang="en-US" sz="1200" b="1" dirty="0" smtClean="0"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도메인 전략 주입</a:t>
                  </a:r>
                  <a:endParaRPr lang="ko-KR" altLang="en-US" sz="1200" b="1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  <a:p>
                  <a:pPr marL="0" indent="0" algn="ctr">
                    <a:buNone/>
                  </a:pPr>
                  <a:endParaRPr 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</p:grpSp>
          <p:sp>
            <p:nvSpPr>
              <p:cNvPr id="23" name="직사각형 22"/>
              <p:cNvSpPr/>
              <p:nvPr/>
            </p:nvSpPr>
            <p:spPr>
              <a:xfrm>
                <a:off x="2951124" y="3840099"/>
                <a:ext cx="654424" cy="4616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altLang="ko-KR" sz="2400" b="1" cap="none" spc="0" dirty="0" smtClean="0">
                    <a:ln w="6600">
                      <a:solidFill>
                        <a:schemeClr val="accent4"/>
                      </a:solidFill>
                      <a:prstDash val="solid"/>
                    </a:ln>
                    <a:pattFill prst="pct5">
                      <a:fgClr>
                        <a:srgbClr val="FFFFFF"/>
                      </a:fgClr>
                      <a:bgClr>
                        <a:schemeClr val="bg1"/>
                      </a:bgClr>
                    </a:pattFill>
                    <a:effectLst>
                      <a:outerShdw dist="38100" dir="2700000" algn="tl" rotWithShape="0">
                        <a:schemeClr val="accent4"/>
                      </a:outerShdw>
                    </a:effectLst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L2</a:t>
                </a:r>
                <a:endParaRPr lang="en-US" altLang="ko-KR" sz="2400" b="1" cap="none" spc="0" dirty="0">
                  <a:ln w="6600">
                    <a:solidFill>
                      <a:schemeClr val="accent4"/>
                    </a:solidFill>
                    <a:prstDash val="solid"/>
                  </a:ln>
                  <a:pattFill prst="pct5">
                    <a:fgClr>
                      <a:srgbClr val="FFFFFF"/>
                    </a:fgClr>
                    <a:bgClr>
                      <a:schemeClr val="bg1"/>
                    </a:bgClr>
                  </a:pattFill>
                  <a:effectLst>
                    <a:outerShdw dist="38100" dir="2700000" algn="tl" rotWithShape="0">
                      <a:schemeClr val="accent4"/>
                    </a:outerShdw>
                  </a:effectLst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5618157" y="3967305"/>
                <a:ext cx="6096000" cy="24622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지원 직무와 기업 인재상을 실시간 주입하여 질문의 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'</a:t>
                </a:r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날카로움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'</a:t>
                </a:r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과 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'</a:t>
                </a:r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적합성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' </a:t>
                </a:r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확보</a:t>
                </a:r>
              </a:p>
            </p:txBody>
          </p:sp>
        </p:grpSp>
        <p:grpSp>
          <p:nvGrpSpPr>
            <p:cNvPr id="28" name="그룹 27"/>
            <p:cNvGrpSpPr/>
            <p:nvPr/>
          </p:nvGrpSpPr>
          <p:grpSpPr>
            <a:xfrm>
              <a:off x="1454883" y="3274446"/>
              <a:ext cx="8858310" cy="484318"/>
              <a:chOff x="2855847" y="3840099"/>
              <a:chExt cx="8858310" cy="484318"/>
            </a:xfrm>
          </p:grpSpPr>
          <p:grpSp>
            <p:nvGrpSpPr>
              <p:cNvPr id="29" name="그룹 28"/>
              <p:cNvGrpSpPr/>
              <p:nvPr/>
            </p:nvGrpSpPr>
            <p:grpSpPr>
              <a:xfrm>
                <a:off x="2855847" y="3856417"/>
                <a:ext cx="8610012" cy="468000"/>
                <a:chOff x="6366052" y="2609698"/>
                <a:chExt cx="8610012" cy="624000"/>
              </a:xfrm>
            </p:grpSpPr>
            <p:sp>
              <p:nvSpPr>
                <p:cNvPr id="32" name="Shape 43"/>
                <p:cNvSpPr/>
                <p:nvPr/>
              </p:nvSpPr>
              <p:spPr>
                <a:xfrm>
                  <a:off x="6366052" y="2609698"/>
                  <a:ext cx="8610012" cy="624000"/>
                </a:xfrm>
                <a:prstGeom prst="roundRect">
                  <a:avLst>
                    <a:gd name="adj" fmla="val 13422"/>
                  </a:avLst>
                </a:prstGeom>
                <a:solidFill>
                  <a:srgbClr val="FFFFFF"/>
                </a:solidFill>
                <a:ln w="12700">
                  <a:solidFill>
                    <a:srgbClr val="E5E7EB"/>
                  </a:solidFill>
                  <a:prstDash val="solid"/>
                </a:ln>
                <a:effectLst>
                  <a:outerShdw blurRad="63500" dist="38100" dir="16200000" algn="bl" rotWithShape="0">
                    <a:srgbClr val="000000">
                      <a:alpha val="5000"/>
                    </a:srgbClr>
                  </a:outerShdw>
                </a:effectLst>
              </p:spPr>
            </p:sp>
            <p:sp>
              <p:nvSpPr>
                <p:cNvPr id="33" name="Shape 46"/>
                <p:cNvSpPr/>
                <p:nvPr/>
              </p:nvSpPr>
              <p:spPr>
                <a:xfrm>
                  <a:off x="7320449" y="2767825"/>
                  <a:ext cx="1483708" cy="328291"/>
                </a:xfrm>
                <a:prstGeom prst="roundRect">
                  <a:avLst>
                    <a:gd name="adj" fmla="val 212653"/>
                  </a:avLst>
                </a:prstGeom>
                <a:solidFill>
                  <a:srgbClr val="F3F4F6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34" name="Text 44"/>
                <p:cNvSpPr txBox="1"/>
                <p:nvPr/>
              </p:nvSpPr>
              <p:spPr>
                <a:xfrm>
                  <a:off x="7468481" y="2966755"/>
                  <a:ext cx="1197864" cy="20025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ko-KR" altLang="en-US" sz="1200" b="1" dirty="0" smtClean="0"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컨텍스트 바인딩</a:t>
                  </a:r>
                  <a:endParaRPr lang="ko-KR" altLang="en-US" sz="1200" b="1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  <a:p>
                  <a:pPr marL="0" indent="0" algn="ctr">
                    <a:buNone/>
                  </a:pPr>
                  <a:endParaRPr 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</p:grpSp>
          <p:sp>
            <p:nvSpPr>
              <p:cNvPr id="30" name="직사각형 29"/>
              <p:cNvSpPr/>
              <p:nvPr/>
            </p:nvSpPr>
            <p:spPr>
              <a:xfrm>
                <a:off x="2951124" y="3840099"/>
                <a:ext cx="654424" cy="4616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altLang="ko-KR" sz="2400" b="1" cap="none" spc="0" dirty="0" smtClean="0">
                    <a:ln w="6600">
                      <a:solidFill>
                        <a:schemeClr val="accent6"/>
                      </a:solidFill>
                      <a:prstDash val="solid"/>
                    </a:ln>
                    <a:pattFill prst="pct5">
                      <a:fgClr>
                        <a:srgbClr val="FFFFFF"/>
                      </a:fgClr>
                      <a:bgClr>
                        <a:schemeClr val="bg1"/>
                      </a:bgClr>
                    </a:pattFill>
                    <a:effectLst>
                      <a:outerShdw dist="38100" dir="2700000" algn="tl" rotWithShape="0">
                        <a:schemeClr val="accent6"/>
                      </a:outerShdw>
                    </a:effectLst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L3</a:t>
                </a:r>
                <a:endParaRPr lang="en-US" altLang="ko-KR" sz="2400" b="1" cap="none" spc="0" dirty="0">
                  <a:ln w="6600">
                    <a:solidFill>
                      <a:schemeClr val="accent6"/>
                    </a:solidFill>
                    <a:prstDash val="solid"/>
                  </a:ln>
                  <a:pattFill prst="pct5">
                    <a:fgClr>
                      <a:srgbClr val="FFFFFF"/>
                    </a:fgClr>
                    <a:bgClr>
                      <a:schemeClr val="bg1"/>
                    </a:bgClr>
                  </a:pattFill>
                  <a:effectLst>
                    <a:outerShdw dist="38100" dir="2700000" algn="tl" rotWithShape="0">
                      <a:schemeClr val="accent6"/>
                    </a:outerShdw>
                  </a:effectLst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5618157" y="3967305"/>
                <a:ext cx="6096000" cy="24622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[</a:t>
                </a:r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핵심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] </a:t>
                </a:r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벡터 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DB</a:t>
                </a:r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에서 추출된 지원자의 실제 이력서 기반 팩트를 주입하여 근거 없는 질문 생성 방지</a:t>
                </a:r>
              </a:p>
            </p:txBody>
          </p:sp>
        </p:grpSp>
        <p:grpSp>
          <p:nvGrpSpPr>
            <p:cNvPr id="35" name="그룹 34"/>
            <p:cNvGrpSpPr/>
            <p:nvPr/>
          </p:nvGrpSpPr>
          <p:grpSpPr>
            <a:xfrm>
              <a:off x="1454883" y="4107147"/>
              <a:ext cx="8858310" cy="484318"/>
              <a:chOff x="2855847" y="3840099"/>
              <a:chExt cx="8858310" cy="484318"/>
            </a:xfrm>
          </p:grpSpPr>
          <p:grpSp>
            <p:nvGrpSpPr>
              <p:cNvPr id="36" name="그룹 35"/>
              <p:cNvGrpSpPr/>
              <p:nvPr/>
            </p:nvGrpSpPr>
            <p:grpSpPr>
              <a:xfrm>
                <a:off x="2855847" y="3856417"/>
                <a:ext cx="8610012" cy="468000"/>
                <a:chOff x="6366052" y="2609698"/>
                <a:chExt cx="8610012" cy="624000"/>
              </a:xfrm>
            </p:grpSpPr>
            <p:sp>
              <p:nvSpPr>
                <p:cNvPr id="39" name="Shape 43"/>
                <p:cNvSpPr/>
                <p:nvPr/>
              </p:nvSpPr>
              <p:spPr>
                <a:xfrm>
                  <a:off x="6366052" y="2609698"/>
                  <a:ext cx="8610012" cy="624000"/>
                </a:xfrm>
                <a:prstGeom prst="roundRect">
                  <a:avLst>
                    <a:gd name="adj" fmla="val 13422"/>
                  </a:avLst>
                </a:prstGeom>
                <a:solidFill>
                  <a:srgbClr val="FFFFFF"/>
                </a:solidFill>
                <a:ln w="12700">
                  <a:solidFill>
                    <a:srgbClr val="E5E7EB"/>
                  </a:solidFill>
                  <a:prstDash val="solid"/>
                </a:ln>
                <a:effectLst>
                  <a:outerShdw blurRad="63500" dist="38100" dir="16200000" algn="bl" rotWithShape="0">
                    <a:srgbClr val="000000">
                      <a:alpha val="5000"/>
                    </a:srgbClr>
                  </a:outerShdw>
                </a:effectLst>
              </p:spPr>
            </p:sp>
            <p:sp>
              <p:nvSpPr>
                <p:cNvPr id="40" name="Shape 46"/>
                <p:cNvSpPr/>
                <p:nvPr/>
              </p:nvSpPr>
              <p:spPr>
                <a:xfrm>
                  <a:off x="7320449" y="2767825"/>
                  <a:ext cx="1483708" cy="328291"/>
                </a:xfrm>
                <a:prstGeom prst="roundRect">
                  <a:avLst>
                    <a:gd name="adj" fmla="val 212653"/>
                  </a:avLst>
                </a:prstGeom>
                <a:solidFill>
                  <a:srgbClr val="F3F4F6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41" name="Text 44"/>
                <p:cNvSpPr txBox="1"/>
                <p:nvPr/>
              </p:nvSpPr>
              <p:spPr>
                <a:xfrm>
                  <a:off x="7468481" y="2966755"/>
                  <a:ext cx="1197864" cy="20025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ko-KR" altLang="en-US" sz="1200" b="1" dirty="0" smtClean="0"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동적 과업 지시</a:t>
                  </a:r>
                  <a:endParaRPr lang="ko-KR" altLang="en-US" sz="1200" b="1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  <a:p>
                  <a:pPr marL="0" indent="0" algn="ctr">
                    <a:buNone/>
                  </a:pPr>
                  <a:endParaRPr 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</p:grpSp>
          <p:sp>
            <p:nvSpPr>
              <p:cNvPr id="37" name="직사각형 36"/>
              <p:cNvSpPr/>
              <p:nvPr/>
            </p:nvSpPr>
            <p:spPr>
              <a:xfrm>
                <a:off x="2951124" y="3840099"/>
                <a:ext cx="654424" cy="4616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altLang="ko-KR" sz="2400" b="1" cap="none" spc="0" dirty="0" smtClean="0">
                    <a:ln w="6600">
                      <a:solidFill>
                        <a:srgbClr val="0070C0"/>
                      </a:solidFill>
                      <a:prstDash val="solid"/>
                    </a:ln>
                    <a:pattFill prst="pct5">
                      <a:fgClr>
                        <a:srgbClr val="FFFFFF"/>
                      </a:fgClr>
                      <a:bgClr>
                        <a:schemeClr val="bg1"/>
                      </a:bgClr>
                    </a:pattFill>
                    <a:effectLst>
                      <a:outerShdw dist="38100" dir="2700000" algn="tl" rotWithShape="0">
                        <a:srgbClr val="0070C0"/>
                      </a:outerShdw>
                    </a:effectLst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L4</a:t>
                </a:r>
                <a:endParaRPr lang="en-US" altLang="ko-KR" sz="2400" b="1" cap="none" spc="0" dirty="0">
                  <a:ln w="6600">
                    <a:solidFill>
                      <a:srgbClr val="0070C0"/>
                    </a:solidFill>
                    <a:prstDash val="solid"/>
                  </a:ln>
                  <a:pattFill prst="pct5">
                    <a:fgClr>
                      <a:srgbClr val="FFFFFF"/>
                    </a:fgClr>
                    <a:bgClr>
                      <a:schemeClr val="bg1"/>
                    </a:bgClr>
                  </a:pattFill>
                  <a:effectLst>
                    <a:outerShdw dist="38100" dir="2700000" algn="tl" rotWithShape="0">
                      <a:srgbClr val="0070C0"/>
                    </a:outerShdw>
                  </a:effectLst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5618157" y="3967305"/>
                <a:ext cx="6096000" cy="24622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현재 면접 상황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</a:t>
                </a:r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단순 질문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꼬리 질문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lang="ko-KR" altLang="en-US" sz="1000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재질문</a:t>
                </a:r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등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</a:t>
                </a:r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 따른 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AI</a:t>
                </a:r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의 핵심 목표를 실시간 변경</a:t>
                </a:r>
              </a:p>
            </p:txBody>
          </p:sp>
        </p:grpSp>
        <p:grpSp>
          <p:nvGrpSpPr>
            <p:cNvPr id="42" name="그룹 41"/>
            <p:cNvGrpSpPr/>
            <p:nvPr/>
          </p:nvGrpSpPr>
          <p:grpSpPr>
            <a:xfrm>
              <a:off x="1452189" y="4960228"/>
              <a:ext cx="8858310" cy="484318"/>
              <a:chOff x="2855847" y="3840099"/>
              <a:chExt cx="8858310" cy="484318"/>
            </a:xfrm>
          </p:grpSpPr>
          <p:grpSp>
            <p:nvGrpSpPr>
              <p:cNvPr id="43" name="그룹 42"/>
              <p:cNvGrpSpPr/>
              <p:nvPr/>
            </p:nvGrpSpPr>
            <p:grpSpPr>
              <a:xfrm>
                <a:off x="2855847" y="3856417"/>
                <a:ext cx="8610012" cy="468000"/>
                <a:chOff x="6366052" y="2609698"/>
                <a:chExt cx="8610012" cy="624000"/>
              </a:xfrm>
            </p:grpSpPr>
            <p:sp>
              <p:nvSpPr>
                <p:cNvPr id="46" name="Shape 43"/>
                <p:cNvSpPr/>
                <p:nvPr/>
              </p:nvSpPr>
              <p:spPr>
                <a:xfrm>
                  <a:off x="6366052" y="2609698"/>
                  <a:ext cx="8610012" cy="624000"/>
                </a:xfrm>
                <a:prstGeom prst="roundRect">
                  <a:avLst>
                    <a:gd name="adj" fmla="val 13422"/>
                  </a:avLst>
                </a:prstGeom>
                <a:solidFill>
                  <a:srgbClr val="FFFFFF"/>
                </a:solidFill>
                <a:ln w="12700">
                  <a:solidFill>
                    <a:srgbClr val="E5E7EB"/>
                  </a:solidFill>
                  <a:prstDash val="solid"/>
                </a:ln>
                <a:effectLst>
                  <a:outerShdw blurRad="63500" dist="38100" dir="16200000" algn="bl" rotWithShape="0">
                    <a:srgbClr val="000000">
                      <a:alpha val="5000"/>
                    </a:srgbClr>
                  </a:outerShdw>
                </a:effectLst>
              </p:spPr>
            </p:sp>
            <p:sp>
              <p:nvSpPr>
                <p:cNvPr id="47" name="Shape 46"/>
                <p:cNvSpPr/>
                <p:nvPr/>
              </p:nvSpPr>
              <p:spPr>
                <a:xfrm>
                  <a:off x="7320449" y="2767825"/>
                  <a:ext cx="1483708" cy="328291"/>
                </a:xfrm>
                <a:prstGeom prst="roundRect">
                  <a:avLst>
                    <a:gd name="adj" fmla="val 212653"/>
                  </a:avLst>
                </a:prstGeom>
                <a:solidFill>
                  <a:srgbClr val="F3F4F6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48" name="Text 44"/>
                <p:cNvSpPr txBox="1"/>
                <p:nvPr/>
              </p:nvSpPr>
              <p:spPr>
                <a:xfrm>
                  <a:off x="7468481" y="2966755"/>
                  <a:ext cx="1197864" cy="20025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ko-KR" altLang="en-US" sz="1200" b="1" dirty="0" smtClean="0"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실행 디테일 제어</a:t>
                  </a:r>
                  <a:endParaRPr lang="ko-KR" altLang="en-US" sz="1200" b="1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  <a:p>
                  <a:pPr marL="0" indent="0" algn="ctr">
                    <a:buNone/>
                  </a:pPr>
                  <a:endParaRPr 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</p:grpSp>
          <p:sp>
            <p:nvSpPr>
              <p:cNvPr id="44" name="직사각형 43"/>
              <p:cNvSpPr/>
              <p:nvPr/>
            </p:nvSpPr>
            <p:spPr>
              <a:xfrm>
                <a:off x="2951124" y="3840099"/>
                <a:ext cx="654424" cy="4616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altLang="ko-KR" sz="2400" b="1" cap="none" spc="0" dirty="0" smtClean="0">
                    <a:ln w="6600">
                      <a:solidFill>
                        <a:srgbClr val="F9177D"/>
                      </a:solidFill>
                      <a:prstDash val="solid"/>
                    </a:ln>
                    <a:pattFill prst="pct5">
                      <a:fgClr>
                        <a:srgbClr val="FFFFFF"/>
                      </a:fgClr>
                      <a:bgClr>
                        <a:schemeClr val="bg1"/>
                      </a:bgClr>
                    </a:pattFill>
                    <a:effectLst>
                      <a:outerShdw dist="38100" dir="2700000" algn="tl" rotWithShape="0">
                        <a:srgbClr val="F9177D"/>
                      </a:outerShdw>
                    </a:effectLst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L5</a:t>
                </a:r>
                <a:endParaRPr lang="en-US" altLang="ko-KR" sz="2400" b="1" cap="none" spc="0" dirty="0">
                  <a:ln w="6600">
                    <a:solidFill>
                      <a:srgbClr val="F9177D"/>
                    </a:solidFill>
                    <a:prstDash val="solid"/>
                  </a:ln>
                  <a:pattFill prst="pct5">
                    <a:fgClr>
                      <a:srgbClr val="FFFFFF"/>
                    </a:fgClr>
                    <a:bgClr>
                      <a:schemeClr val="bg1"/>
                    </a:bgClr>
                  </a:pattFill>
                  <a:effectLst>
                    <a:outerShdw dist="38100" dir="2700000" algn="tl" rotWithShape="0">
                      <a:srgbClr val="F9177D"/>
                    </a:outerShdw>
                  </a:effectLst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5618157" y="3967305"/>
                <a:ext cx="6096000" cy="24622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질문의 길이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특정 키워드 포함 여부 등 기술적인 실행 상세를 세밀하게 조정</a:t>
                </a:r>
              </a:p>
            </p:txBody>
          </p:sp>
        </p:grpSp>
        <p:grpSp>
          <p:nvGrpSpPr>
            <p:cNvPr id="49" name="그룹 48"/>
            <p:cNvGrpSpPr/>
            <p:nvPr/>
          </p:nvGrpSpPr>
          <p:grpSpPr>
            <a:xfrm>
              <a:off x="1454883" y="5796991"/>
              <a:ext cx="8858310" cy="484318"/>
              <a:chOff x="2855847" y="3840099"/>
              <a:chExt cx="8858310" cy="484318"/>
            </a:xfrm>
          </p:grpSpPr>
          <p:grpSp>
            <p:nvGrpSpPr>
              <p:cNvPr id="50" name="그룹 49"/>
              <p:cNvGrpSpPr/>
              <p:nvPr/>
            </p:nvGrpSpPr>
            <p:grpSpPr>
              <a:xfrm>
                <a:off x="2855847" y="3856417"/>
                <a:ext cx="8610012" cy="468000"/>
                <a:chOff x="6366052" y="2609698"/>
                <a:chExt cx="8610012" cy="624000"/>
              </a:xfrm>
            </p:grpSpPr>
            <p:sp>
              <p:nvSpPr>
                <p:cNvPr id="53" name="Shape 43"/>
                <p:cNvSpPr/>
                <p:nvPr/>
              </p:nvSpPr>
              <p:spPr>
                <a:xfrm>
                  <a:off x="6366052" y="2609698"/>
                  <a:ext cx="8610012" cy="624000"/>
                </a:xfrm>
                <a:prstGeom prst="roundRect">
                  <a:avLst>
                    <a:gd name="adj" fmla="val 13422"/>
                  </a:avLst>
                </a:prstGeom>
                <a:solidFill>
                  <a:srgbClr val="FFFFFF"/>
                </a:solidFill>
                <a:ln w="12700">
                  <a:solidFill>
                    <a:srgbClr val="E5E7EB"/>
                  </a:solidFill>
                  <a:prstDash val="solid"/>
                </a:ln>
                <a:effectLst>
                  <a:outerShdw blurRad="63500" dist="38100" dir="16200000" algn="bl" rotWithShape="0">
                    <a:srgbClr val="000000">
                      <a:alpha val="5000"/>
                    </a:srgbClr>
                  </a:outerShdw>
                </a:effectLst>
              </p:spPr>
            </p:sp>
            <p:sp>
              <p:nvSpPr>
                <p:cNvPr id="54" name="Shape 46"/>
                <p:cNvSpPr/>
                <p:nvPr/>
              </p:nvSpPr>
              <p:spPr>
                <a:xfrm>
                  <a:off x="7320449" y="2767825"/>
                  <a:ext cx="1483708" cy="328291"/>
                </a:xfrm>
                <a:prstGeom prst="roundRect">
                  <a:avLst>
                    <a:gd name="adj" fmla="val 212653"/>
                  </a:avLst>
                </a:prstGeom>
                <a:solidFill>
                  <a:srgbClr val="F3F4F6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55" name="Text 44"/>
                <p:cNvSpPr txBox="1"/>
                <p:nvPr/>
              </p:nvSpPr>
              <p:spPr>
                <a:xfrm>
                  <a:off x="7468481" y="2966755"/>
                  <a:ext cx="1197864" cy="20025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ko-KR" altLang="en-US" sz="1200" b="1" dirty="0" smtClean="0"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출력 하드 제어</a:t>
                  </a:r>
                  <a:endParaRPr lang="ko-KR" altLang="en-US" sz="1200" b="1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  <a:p>
                  <a:pPr marL="0" indent="0" algn="ctr">
                    <a:buNone/>
                  </a:pPr>
                  <a:endParaRPr 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</p:grpSp>
          <p:sp>
            <p:nvSpPr>
              <p:cNvPr id="51" name="직사각형 50"/>
              <p:cNvSpPr/>
              <p:nvPr/>
            </p:nvSpPr>
            <p:spPr>
              <a:xfrm>
                <a:off x="2951124" y="3840099"/>
                <a:ext cx="654424" cy="4616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altLang="ko-KR" sz="2400" b="1" cap="none" spc="0" dirty="0" smtClean="0">
                    <a:ln w="6600">
                      <a:solidFill>
                        <a:srgbClr val="7030A0"/>
                      </a:solidFill>
                      <a:prstDash val="solid"/>
                    </a:ln>
                    <a:pattFill prst="pct5">
                      <a:fgClr>
                        <a:srgbClr val="FFFFFF"/>
                      </a:fgClr>
                      <a:bgClr>
                        <a:schemeClr val="bg1"/>
                      </a:bgClr>
                    </a:pattFill>
                    <a:effectLst>
                      <a:outerShdw dist="38100" dir="2700000" algn="tl" rotWithShape="0">
                        <a:srgbClr val="7030A0"/>
                      </a:outerShdw>
                    </a:effectLst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L6</a:t>
                </a:r>
                <a:endParaRPr lang="en-US" altLang="ko-KR" sz="2400" b="1" cap="none" spc="0" dirty="0">
                  <a:ln w="6600">
                    <a:solidFill>
                      <a:srgbClr val="7030A0"/>
                    </a:solidFill>
                    <a:prstDash val="solid"/>
                  </a:ln>
                  <a:pattFill prst="pct5">
                    <a:fgClr>
                      <a:srgbClr val="FFFFFF"/>
                    </a:fgClr>
                    <a:bgClr>
                      <a:schemeClr val="bg1"/>
                    </a:bgClr>
                  </a:pattFill>
                  <a:effectLst>
                    <a:outerShdw dist="38100" dir="2700000" algn="tl" rotWithShape="0">
                      <a:srgbClr val="7030A0"/>
                    </a:outerShdw>
                  </a:effectLst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5618157" y="3967305"/>
                <a:ext cx="6096000" cy="24622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LLM</a:t>
                </a:r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의 특성인 인사말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부연 설명을 물리적으로 금지하고 오직 단일 문장의 질문만 출력하도록 강제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232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743447" y="1161993"/>
            <a:ext cx="7198659" cy="510988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381305"/>
            <a:ext cx="75895" cy="381305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27340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DEVELOPMENT</a:t>
            </a:r>
            <a:endParaRPr lang="en-US" sz="2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3206223" y="486246"/>
            <a:ext cx="175125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 smtClean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프롬프트 설계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A4_Project_2AI1_LA_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김린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43448" y="1459985"/>
            <a:ext cx="7198659" cy="44398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PROMPT_TEMPLATE = """[|user|]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당신은 전문적인 지식과 공정한 태도를 겸비한 베테랑 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AI </a:t>
            </a:r>
            <a:r>
              <a:rPr lang="ko-KR" altLang="en-US" sz="1200" b="1" dirty="0" err="1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면접관입니다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.</a:t>
            </a:r>
            <a:endParaRPr lang="en-US" altLang="ko-KR" sz="1200" dirty="0">
              <a:solidFill>
                <a:srgbClr val="FEA40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다음 지침에 따라 지원자의 잠재력을 예리하게 파악할 수 있는 **단 하나의 질문**을 생성하십시오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solidFill>
                <a:srgbClr val="FEA40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### [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면접 전략 및 페르소나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]</a:t>
            </a:r>
            <a:endParaRPr lang="en-US" altLang="ko-KR" sz="1200" dirty="0">
              <a:solidFill>
                <a:srgbClr val="FEA40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- 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평가 대상 직무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{</a:t>
            </a:r>
            <a:r>
              <a:rPr lang="en-US" altLang="ko-KR" sz="1200" b="1" dirty="0" err="1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target_role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}</a:t>
            </a:r>
            <a:endParaRPr lang="en-US" altLang="ko-KR" sz="1200" dirty="0">
              <a:solidFill>
                <a:srgbClr val="FEA40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- 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핵심 인재상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{</a:t>
            </a:r>
            <a:r>
              <a:rPr lang="en-US" altLang="ko-KR" sz="1200" b="1" dirty="0" err="1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company_ideal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}</a:t>
            </a:r>
            <a:endParaRPr lang="en-US" altLang="ko-KR" sz="1200" dirty="0">
              <a:solidFill>
                <a:srgbClr val="FEA40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면접 단계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{</a:t>
            </a:r>
            <a:r>
              <a:rPr lang="en-US" altLang="ko-KR" sz="1200" b="1" dirty="0" err="1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stage_name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} ({guide})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altLang="ko-KR" sz="1200" dirty="0">
              <a:solidFill>
                <a:srgbClr val="FEA40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### [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참고 문맥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지원자 정보 및 이전 답변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]</a:t>
            </a:r>
            <a:endParaRPr lang="en-US" altLang="ko-KR" sz="1200" dirty="0">
              <a:solidFill>
                <a:srgbClr val="FEA40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{context}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solidFill>
                <a:srgbClr val="FEA40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### [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실시간 핵심 임무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]</a:t>
            </a:r>
            <a:endParaRPr lang="en-US" altLang="ko-KR" sz="1200" dirty="0">
              <a:solidFill>
                <a:srgbClr val="FEA40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- 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수행 과업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{</a:t>
            </a:r>
            <a:r>
              <a:rPr lang="en-US" altLang="ko-KR" sz="1200" b="1" dirty="0" err="1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mode_task_instruction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}</a:t>
            </a:r>
            <a:endParaRPr lang="en-US" altLang="ko-KR" sz="1200" dirty="0">
              <a:solidFill>
                <a:srgbClr val="FEA40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- 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실행 상세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{</a:t>
            </a:r>
            <a:r>
              <a:rPr lang="en-US" altLang="ko-KR" sz="1200" b="1" dirty="0" err="1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mode_instruction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}</a:t>
            </a:r>
            <a:endParaRPr lang="en-US" altLang="ko-KR" sz="1200" dirty="0">
              <a:solidFill>
                <a:srgbClr val="FEA40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전역 제약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{</a:t>
            </a:r>
            <a:r>
              <a:rPr lang="en-US" altLang="ko-KR" sz="1200" b="1" dirty="0" err="1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global_constraint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}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altLang="ko-KR" sz="1200" dirty="0">
              <a:solidFill>
                <a:srgbClr val="FEA40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### [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출력 규칙 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- 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반드시 준수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]</a:t>
            </a:r>
            <a:endParaRPr lang="en-US" altLang="ko-KR" sz="1200" dirty="0">
              <a:solidFill>
                <a:srgbClr val="FEA40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1. 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인사말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부연 설명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자기소개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가설 제시를 절대 하지 마십시오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.</a:t>
            </a:r>
            <a:endParaRPr lang="en-US" altLang="ko-KR" sz="1200" dirty="0">
              <a:solidFill>
                <a:srgbClr val="FEA40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2. "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질문입니다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", "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다음 질문은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" 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등 서두를 일절 붙이지 마십시오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.</a:t>
            </a:r>
            <a:endParaRPr lang="en-US" altLang="ko-KR" sz="1200" dirty="0">
              <a:solidFill>
                <a:srgbClr val="FEA40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3. 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오직 지원자에게 직접 던지는 **물음표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(?)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로 끝나는 단일 문장의 질문**만 출력하십시오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.</a:t>
            </a:r>
            <a:endParaRPr lang="en-US" altLang="ko-KR" sz="1200" dirty="0">
              <a:solidFill>
                <a:srgbClr val="FEA40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4. 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전문적인 한국어 구어체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</a:t>
            </a:r>
            <a:r>
              <a:rPr lang="ko-KR" altLang="en-US" sz="1200" b="1" dirty="0" err="1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하십시오체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를 사용하십시오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.[|</a:t>
            </a:r>
            <a:r>
              <a:rPr lang="en-US" altLang="ko-KR" sz="1200" b="1" dirty="0" err="1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endofturn</a:t>
            </a: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|]</a:t>
            </a:r>
            <a:endParaRPr lang="en-US" altLang="ko-KR" sz="1200" dirty="0">
              <a:solidFill>
                <a:srgbClr val="FEA40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FEA40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[|assistant|]"""</a:t>
            </a:r>
            <a:endParaRPr lang="en-US" altLang="ko-KR" sz="1200" dirty="0">
              <a:solidFill>
                <a:srgbClr val="FEA40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254" y="3039717"/>
            <a:ext cx="4100746" cy="3365440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14067" y="1481014"/>
            <a:ext cx="65442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4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L1</a:t>
            </a:r>
            <a:endParaRPr lang="en-US" altLang="ko-KR" sz="2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1546" y="2396597"/>
            <a:ext cx="65442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400" b="1" cap="none" spc="0" dirty="0" smtClean="0">
                <a:ln w="6600">
                  <a:solidFill>
                    <a:schemeClr val="accent4"/>
                  </a:solidFill>
                  <a:prstDash val="solid"/>
                </a:ln>
                <a:pattFill prst="pct5">
                  <a:fgClr>
                    <a:srgbClr val="FFFFFF"/>
                  </a:fgClr>
                  <a:bgClr>
                    <a:schemeClr val="bg1"/>
                  </a:bgClr>
                </a:pattFill>
                <a:effectLst>
                  <a:outerShdw dist="38100" dir="2700000" algn="tl" rotWithShape="0">
                    <a:schemeClr val="accent4"/>
                  </a:outerShdw>
                </a:effectLst>
              </a:rPr>
              <a:t>L2</a:t>
            </a:r>
            <a:endParaRPr lang="en-US" altLang="ko-KR" sz="2400" b="1" cap="none" spc="0" dirty="0">
              <a:ln w="6600">
                <a:solidFill>
                  <a:schemeClr val="accent4"/>
                </a:solidFill>
                <a:prstDash val="solid"/>
              </a:ln>
              <a:pattFill prst="pct5">
                <a:fgClr>
                  <a:srgbClr val="FFFFFF"/>
                </a:fgClr>
                <a:bgClr>
                  <a:schemeClr val="bg1"/>
                </a:bgClr>
              </a:pattFill>
              <a:effectLst>
                <a:outerShdw dist="38100" dir="2700000" algn="tl" rotWithShape="0">
                  <a:schemeClr val="accent4"/>
                </a:outerShdw>
              </a:effectLst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2894" y="3271904"/>
            <a:ext cx="65442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400" b="1" cap="none" spc="0" dirty="0" smtClean="0">
                <a:ln w="6600">
                  <a:solidFill>
                    <a:schemeClr val="accent6"/>
                  </a:solidFill>
                  <a:prstDash val="solid"/>
                </a:ln>
                <a:pattFill prst="pct5">
                  <a:fgClr>
                    <a:srgbClr val="FFFFFF"/>
                  </a:fgClr>
                  <a:bgClr>
                    <a:schemeClr val="bg1"/>
                  </a:bgClr>
                </a:pattFill>
                <a:effectLst>
                  <a:outerShdw dist="38100" dir="2700000" algn="tl" rotWithShape="0">
                    <a:schemeClr val="accent6"/>
                  </a:outerShdw>
                </a:effectLst>
              </a:rPr>
              <a:t>L3</a:t>
            </a:r>
            <a:endParaRPr lang="en-US" altLang="ko-KR" sz="2400" b="1" cap="none" spc="0" dirty="0">
              <a:ln w="6600">
                <a:solidFill>
                  <a:schemeClr val="accent6"/>
                </a:solidFill>
                <a:prstDash val="solid"/>
              </a:ln>
              <a:pattFill prst="pct5">
                <a:fgClr>
                  <a:srgbClr val="FFFFFF"/>
                </a:fgClr>
                <a:bgClr>
                  <a:schemeClr val="bg1"/>
                </a:bgClr>
              </a:pattFill>
              <a:effectLst>
                <a:outerShdw dist="38100" dir="2700000" algn="tl" rotWithShape="0">
                  <a:schemeClr val="accent6"/>
                </a:outerShdw>
              </a:effectLst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89020" y="3750612"/>
            <a:ext cx="65442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400" b="1" cap="none" spc="0" dirty="0" smtClean="0">
                <a:ln w="6600">
                  <a:solidFill>
                    <a:srgbClr val="0070C0"/>
                  </a:solidFill>
                  <a:prstDash val="solid"/>
                </a:ln>
                <a:pattFill prst="pct5">
                  <a:fgClr>
                    <a:srgbClr val="FFFFFF"/>
                  </a:fgClr>
                  <a:bgClr>
                    <a:schemeClr val="bg1"/>
                  </a:bgClr>
                </a:pattFill>
                <a:effectLst>
                  <a:outerShdw dist="38100" dir="2700000" algn="tl" rotWithShape="0">
                    <a:srgbClr val="0070C0"/>
                  </a:outerShdw>
                </a:effectLst>
              </a:rPr>
              <a:t>L4</a:t>
            </a:r>
            <a:endParaRPr lang="en-US" altLang="ko-KR" sz="2400" b="1" cap="none" spc="0" dirty="0">
              <a:ln w="6600">
                <a:solidFill>
                  <a:srgbClr val="0070C0"/>
                </a:solidFill>
                <a:prstDash val="solid"/>
              </a:ln>
              <a:pattFill prst="pct5">
                <a:fgClr>
                  <a:srgbClr val="FFFFFF"/>
                </a:fgClr>
                <a:bgClr>
                  <a:schemeClr val="bg1"/>
                </a:bgClr>
              </a:pattFill>
              <a:effectLst>
                <a:outerShdw dist="38100" dir="2700000" algn="tl" rotWithShape="0">
                  <a:srgbClr val="0070C0"/>
                </a:outerShdw>
              </a:effectLst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89022" y="4047314"/>
            <a:ext cx="65442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400" b="1" cap="none" spc="0" dirty="0" smtClean="0">
                <a:ln w="6600">
                  <a:solidFill>
                    <a:srgbClr val="F9177D"/>
                  </a:solidFill>
                  <a:prstDash val="solid"/>
                </a:ln>
                <a:pattFill prst="pct5">
                  <a:fgClr>
                    <a:srgbClr val="FFFFFF"/>
                  </a:fgClr>
                  <a:bgClr>
                    <a:schemeClr val="bg1"/>
                  </a:bgClr>
                </a:pattFill>
                <a:effectLst>
                  <a:outerShdw dist="38100" dir="2700000" algn="tl" rotWithShape="0">
                    <a:srgbClr val="F9177D"/>
                  </a:outerShdw>
                </a:effectLst>
              </a:rPr>
              <a:t>L5</a:t>
            </a:r>
            <a:endParaRPr lang="en-US" altLang="ko-KR" sz="2400" b="1" cap="none" spc="0" dirty="0">
              <a:ln w="6600">
                <a:solidFill>
                  <a:srgbClr val="F9177D"/>
                </a:solidFill>
                <a:prstDash val="solid"/>
              </a:ln>
              <a:pattFill prst="pct5">
                <a:fgClr>
                  <a:srgbClr val="FFFFFF"/>
                </a:fgClr>
                <a:bgClr>
                  <a:schemeClr val="bg1"/>
                </a:bgClr>
              </a:pattFill>
              <a:effectLst>
                <a:outerShdw dist="38100" dir="2700000" algn="tl" rotWithShape="0">
                  <a:srgbClr val="F9177D"/>
                </a:outerShdw>
              </a:effectLst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99520" y="4640718"/>
            <a:ext cx="65442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400" b="1" cap="none" spc="0" dirty="0" smtClean="0">
                <a:ln w="6600">
                  <a:solidFill>
                    <a:srgbClr val="7030A0"/>
                  </a:solidFill>
                  <a:prstDash val="solid"/>
                </a:ln>
                <a:pattFill prst="pct5">
                  <a:fgClr>
                    <a:srgbClr val="FFFFFF"/>
                  </a:fgClr>
                  <a:bgClr>
                    <a:schemeClr val="bg1"/>
                  </a:bgClr>
                </a:pattFill>
                <a:effectLst>
                  <a:outerShdw dist="38100" dir="2700000" algn="tl" rotWithShape="0">
                    <a:srgbClr val="7030A0"/>
                  </a:outerShdw>
                </a:effectLst>
              </a:rPr>
              <a:t>L6</a:t>
            </a:r>
            <a:endParaRPr lang="en-US" altLang="ko-KR" sz="2400" b="1" cap="none" spc="0" dirty="0">
              <a:ln w="6600">
                <a:solidFill>
                  <a:srgbClr val="7030A0"/>
                </a:solidFill>
                <a:prstDash val="solid"/>
              </a:ln>
              <a:pattFill prst="pct5">
                <a:fgClr>
                  <a:srgbClr val="FFFFFF"/>
                </a:fgClr>
                <a:bgClr>
                  <a:schemeClr val="bg1"/>
                </a:bgClr>
              </a:pattFill>
              <a:effectLst>
                <a:outerShdw dist="38100" dir="2700000" algn="tl" rotWithShape="0">
                  <a:srgbClr val="7030A0"/>
                </a:outerShdw>
              </a:effectLst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10368912" y="2189548"/>
            <a:ext cx="1440000" cy="1440000"/>
          </a:xfrm>
          <a:prstGeom prst="ellipse">
            <a:avLst/>
          </a:prstGeom>
          <a:solidFill>
            <a:srgbClr val="92D050">
              <a:alpha val="54902"/>
            </a:srgbClr>
          </a:solidFill>
          <a:ln>
            <a:solidFill>
              <a:srgbClr val="92D050">
                <a:alpha val="5607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/>
        </p:nvSpPr>
        <p:spPr>
          <a:xfrm>
            <a:off x="8480078" y="0"/>
            <a:ext cx="1800000" cy="1800000"/>
          </a:xfrm>
          <a:prstGeom prst="ellipse">
            <a:avLst/>
          </a:prstGeom>
          <a:solidFill>
            <a:srgbClr val="385723">
              <a:alpha val="25882"/>
            </a:srgbClr>
          </a:solidFill>
          <a:ln>
            <a:solidFill>
              <a:srgbClr val="385723">
                <a:alpha val="2588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9968787" y="-288594"/>
            <a:ext cx="3240000" cy="3240000"/>
          </a:xfrm>
          <a:prstGeom prst="ellipse">
            <a:avLst/>
          </a:prstGeom>
          <a:solidFill>
            <a:schemeClr val="accent6">
              <a:lumMod val="40000"/>
              <a:lumOff val="60000"/>
              <a:alpha val="54902"/>
            </a:schemeClr>
          </a:solidFill>
          <a:ln>
            <a:solidFill>
              <a:schemeClr val="accent6">
                <a:lumMod val="40000"/>
                <a:lumOff val="60000"/>
                <a:alpha val="56078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850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81305" y="381305"/>
            <a:ext cx="75895" cy="381305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27340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DEVELOPMENT</a:t>
            </a:r>
            <a:endParaRPr lang="en-US" sz="2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3192155" y="495605"/>
            <a:ext cx="113541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b="1" dirty="0" smtClean="0">
                <a:solidFill>
                  <a:schemeClr val="accent6">
                    <a:lumMod val="75000"/>
                  </a:schemeClr>
                </a:solidFill>
              </a:rPr>
              <a:t>답변 평가 </a:t>
            </a:r>
            <a:endParaRPr lang="en-US" sz="15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7" name="Image 0" descr="preencoded.png"/>
          <p:cNvPicPr>
            <a:picLocks noChangeAspect="1"/>
          </p:cNvPicPr>
          <p:nvPr/>
        </p:nvPicPr>
        <p:blipFill>
          <a:blip r:embed="rId3"/>
          <a:srcRect l="-10" r="-10"/>
          <a:stretch/>
        </p:blipFill>
        <p:spPr>
          <a:xfrm>
            <a:off x="535381" y="885662"/>
            <a:ext cx="7113575" cy="399919"/>
          </a:xfrm>
          <a:prstGeom prst="rect">
            <a:avLst/>
          </a:prstGeom>
        </p:spPr>
      </p:pic>
      <p:sp>
        <p:nvSpPr>
          <p:cNvPr id="78" name="직사각형 77"/>
          <p:cNvSpPr/>
          <p:nvPr/>
        </p:nvSpPr>
        <p:spPr>
          <a:xfrm>
            <a:off x="659080" y="941136"/>
            <a:ext cx="6637832" cy="1025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400"/>
              </a:spcAft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면접 종료 </a:t>
            </a:r>
            <a:r>
              <a:rPr lang="ko-KR" altLang="en-US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후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모든 대화 맥락을 </a:t>
            </a:r>
            <a:r>
              <a:rPr lang="ko-KR" altLang="en-US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종합하여 평가</a:t>
            </a:r>
            <a:endParaRPr lang="en-US" altLang="ko-KR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>
              <a:spcAft>
                <a:spcPts val="400"/>
              </a:spcAft>
            </a:pPr>
            <a:endParaRPr lang="en-US" altLang="ko-KR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altLang="ko-KR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7991856" y="1554412"/>
            <a:ext cx="3504895" cy="4914900"/>
          </a:xfrm>
          <a:prstGeom prst="roundRect">
            <a:avLst>
              <a:gd name="adj" fmla="val 2269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sp>
      <p:sp>
        <p:nvSpPr>
          <p:cNvPr id="13" name="Text 6"/>
          <p:cNvSpPr txBox="1"/>
          <p:nvPr/>
        </p:nvSpPr>
        <p:spPr>
          <a:xfrm>
            <a:off x="10641787" y="1792156"/>
            <a:ext cx="695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8E6C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03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Shape 15"/>
          <p:cNvSpPr/>
          <p:nvPr/>
        </p:nvSpPr>
        <p:spPr>
          <a:xfrm>
            <a:off x="371246" y="1554412"/>
            <a:ext cx="3504895" cy="4914900"/>
          </a:xfrm>
          <a:prstGeom prst="roundRect">
            <a:avLst>
              <a:gd name="adj" fmla="val 2269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sp>
      <p:sp>
        <p:nvSpPr>
          <p:cNvPr id="27" name="Text 16"/>
          <p:cNvSpPr txBox="1"/>
          <p:nvPr/>
        </p:nvSpPr>
        <p:spPr>
          <a:xfrm>
            <a:off x="3120847" y="1792156"/>
            <a:ext cx="608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BDEF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01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 30"/>
          <p:cNvSpPr txBox="1"/>
          <p:nvPr/>
        </p:nvSpPr>
        <p:spPr>
          <a:xfrm>
            <a:off x="724205" y="5583258"/>
            <a:ext cx="29123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E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monospace" pitchFamily="34" charset="-120"/>
              </a:rPr>
              <a:t>layout = extract_layout(pdf)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Shape 33"/>
          <p:cNvSpPr/>
          <p:nvPr/>
        </p:nvSpPr>
        <p:spPr>
          <a:xfrm>
            <a:off x="4181551" y="1554412"/>
            <a:ext cx="3504895" cy="4914900"/>
          </a:xfrm>
          <a:prstGeom prst="roundRect">
            <a:avLst>
              <a:gd name="adj" fmla="val 2269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sp>
      <p:sp>
        <p:nvSpPr>
          <p:cNvPr id="49" name="Text 34"/>
          <p:cNvSpPr txBox="1"/>
          <p:nvPr/>
        </p:nvSpPr>
        <p:spPr>
          <a:xfrm>
            <a:off x="6840626" y="179215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1BEE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02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9" name="Image 21" descr="preencoded.png"/>
          <p:cNvPicPr>
            <a:picLocks noChangeAspect="1"/>
          </p:cNvPicPr>
          <p:nvPr/>
        </p:nvPicPr>
        <p:blipFill>
          <a:blip r:embed="rId4"/>
          <a:srcRect l="-607" r="-607"/>
          <a:stretch/>
        </p:blipFill>
        <p:spPr>
          <a:xfrm>
            <a:off x="3935577" y="3857785"/>
            <a:ext cx="133983" cy="286207"/>
          </a:xfrm>
          <a:prstGeom prst="rect">
            <a:avLst/>
          </a:prstGeom>
        </p:spPr>
      </p:pic>
      <p:pic>
        <p:nvPicPr>
          <p:cNvPr id="80" name="Image 22" descr="preencoded.png"/>
          <p:cNvPicPr>
            <a:picLocks noChangeAspect="1"/>
          </p:cNvPicPr>
          <p:nvPr/>
        </p:nvPicPr>
        <p:blipFill>
          <a:blip r:embed="rId4"/>
          <a:srcRect l="-607" r="-607"/>
          <a:stretch/>
        </p:blipFill>
        <p:spPr>
          <a:xfrm>
            <a:off x="7714582" y="3857785"/>
            <a:ext cx="181051" cy="286207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571500" y="2602049"/>
            <a:ext cx="3065069" cy="36094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각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면접 </a:t>
            </a:r>
            <a:r>
              <a:rPr lang="ko-KR" altLang="en-US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스테이지마다 정의된 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평가 요소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(Evaluation Rubric)'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바탕으로 채점을 </a:t>
            </a:r>
            <a:r>
              <a:rPr lang="ko-KR" altLang="en-US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진행</a:t>
            </a:r>
            <a:endParaRPr lang="en-US" altLang="ko-KR" sz="16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정의된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단계별 역량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기술 전문성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협업 능력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문제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해결력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등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 지원자의 답변을 비교 분석하여 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0~100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점 사이의 정량적 점수를 </a:t>
            </a:r>
            <a:r>
              <a:rPr lang="ko-KR" altLang="en-US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산출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374970" y="2619785"/>
            <a:ext cx="3065069" cy="36094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단순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텍스트 수치를 넘어 지원자의 답변 톤과 적극성을 </a:t>
            </a:r>
            <a:r>
              <a:rPr lang="ko-KR" altLang="en-US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분석</a:t>
            </a:r>
            <a:endParaRPr lang="en-US" altLang="ko-KR" sz="16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음성 인식 과정에서 추출된 감성 지표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(Audio Sentiment)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와 영상 분석 데이터를 결합하여 </a:t>
            </a:r>
            <a:r>
              <a:rPr lang="en-US" altLang="ko-KR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행동 분석 점수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(Behavior Score</a:t>
            </a:r>
            <a:r>
              <a:rPr lang="en-US" altLang="ko-KR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를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산출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8194358" y="2602048"/>
            <a:ext cx="3065069" cy="36094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LLM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추론 능력을 극대화하여 지원자의 답변 중 논리적으로 부족했던 부분을 </a:t>
            </a:r>
            <a:r>
              <a:rPr lang="ko-KR" altLang="en-US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찾음</a:t>
            </a:r>
            <a:endParaRPr lang="en-US" altLang="ko-KR" sz="16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analyze_answer</a:t>
            </a:r>
            <a:r>
              <a:rPr lang="en-US" altLang="ko-KR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태스크를 통해 지원자가 놓친 기술적 키워드나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더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보완했어야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할 경험 사례를 구체적으로 짚어주는 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전문가 리뷰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생성한다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571499" y="1877424"/>
            <a:ext cx="2915107" cy="3562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역량별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정밀 매칭 평가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4330896" y="1870684"/>
            <a:ext cx="2915107" cy="3562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다차원적 태도 지표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8194358" y="1885679"/>
            <a:ext cx="2288323" cy="3562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비판적 피드백 및 개선 제안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A4_Project_2AI1_LA_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김린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167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F0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305" y="381305"/>
            <a:ext cx="75895" cy="381305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174924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PROBLEM</a:t>
            </a:r>
            <a:endParaRPr lang="en-US" sz="2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71500" y="920111"/>
            <a:ext cx="11430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 err="1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개발</a:t>
            </a:r>
            <a:r>
              <a:rPr lang="en-US" sz="1500" b="1" dirty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500" b="1" dirty="0" smtClean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전 </a:t>
            </a:r>
            <a:r>
              <a:rPr lang="ko-KR" altLang="en-US" sz="1500" b="1" dirty="0" err="1" smtClean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기간동안</a:t>
            </a:r>
            <a:r>
              <a:rPr lang="ko-KR" altLang="en-US" sz="1500" b="1" dirty="0" smtClean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발생한 시스템 </a:t>
            </a:r>
            <a:r>
              <a:rPr lang="ko-KR" altLang="en-US" sz="1500" b="1" dirty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성능 지연 및 병목 현상</a:t>
            </a:r>
            <a:r>
              <a:rPr lang="en-US" altLang="ko-KR" sz="1500" b="1" dirty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(Bottleneck)</a:t>
            </a:r>
            <a:r>
              <a:rPr lang="ko-KR" altLang="en-US" sz="1500" b="1" dirty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을 유발한 핵심 </a:t>
            </a:r>
            <a:r>
              <a:rPr lang="ko-KR" altLang="en-US" sz="1500" b="1" dirty="0" smtClean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이슈 선별 및 분석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71500" y="1333195"/>
            <a:ext cx="7076542" cy="43891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개발 과정에서 시스템 안정성과 AI 응답 품질을 저해하는 </a:t>
            </a:r>
            <a:r>
              <a:rPr lang="en-US" sz="1300" b="1" dirty="0">
                <a:solidFill>
                  <a:srgbClr val="C628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8가지 핵심 문제</a:t>
            </a:r>
            <a:r>
              <a:rPr lang="en-US" sz="13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에 직면했습니다. 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0" name="CardBg_0"/>
          <p:cNvSpPr/>
          <p:nvPr/>
        </p:nvSpPr>
        <p:spPr>
          <a:xfrm>
            <a:off x="457200" y="1790000"/>
            <a:ext cx="2743200" cy="2377800"/>
          </a:xfrm>
          <a:prstGeom prst="roundRect">
            <a:avLst>
              <a:gd name="adj" fmla="val 3000"/>
            </a:avLst>
          </a:prstGeom>
          <a:solidFill>
            <a:srgbClr val="FFEBEE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01" name="AccentBar_0"/>
          <p:cNvSpPr/>
          <p:nvPr/>
        </p:nvSpPr>
        <p:spPr>
          <a:xfrm>
            <a:off x="457200" y="1790000"/>
            <a:ext cx="2743200" cy="9144"/>
          </a:xfrm>
          <a:prstGeom prst="roundRect">
            <a:avLst>
              <a:gd name="adj" fmla="val 869565"/>
            </a:avLst>
          </a:prstGeom>
          <a:solidFill>
            <a:srgbClr val="EF5350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02" name="NumCircle_0"/>
          <p:cNvSpPr/>
          <p:nvPr/>
        </p:nvSpPr>
        <p:spPr>
          <a:xfrm>
            <a:off x="533400" y="18852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F5350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03" name="NumTxt_0"/>
          <p:cNvSpPr txBox="1"/>
          <p:nvPr/>
        </p:nvSpPr>
        <p:spPr>
          <a:xfrm>
            <a:off x="533400" y="18852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01</a:t>
            </a:r>
          </a:p>
        </p:txBody>
      </p:sp>
      <p:sp>
        <p:nvSpPr>
          <p:cNvPr id="104" name="PctBadge_0"/>
          <p:cNvSpPr/>
          <p:nvPr/>
        </p:nvSpPr>
        <p:spPr>
          <a:xfrm>
            <a:off x="2424200" y="1885250"/>
            <a:ext cx="700000" cy="228600"/>
          </a:xfrm>
          <a:prstGeom prst="roundRect">
            <a:avLst>
              <a:gd name="adj" fmla="val 400000"/>
            </a:avLst>
          </a:prstGeom>
          <a:solidFill>
            <a:srgbClr val="FFCDD2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05" name="PctTxt_0"/>
          <p:cNvSpPr txBox="1"/>
          <p:nvPr/>
        </p:nvSpPr>
        <p:spPr>
          <a:xfrm>
            <a:off x="2424200" y="1885250"/>
            <a:ext cx="7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D32F2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40%</a:t>
            </a:r>
          </a:p>
        </p:txBody>
      </p:sp>
      <p:sp>
        <p:nvSpPr>
          <p:cNvPr id="106" name="Title_0"/>
          <p:cNvSpPr txBox="1"/>
          <p:nvPr/>
        </p:nvSpPr>
        <p:spPr>
          <a:xfrm>
            <a:off x="533400" y="2247200"/>
            <a:ext cx="2590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GPU 자원 경합</a:t>
            </a:r>
          </a:p>
        </p:txBody>
      </p:sp>
      <p:sp>
        <p:nvSpPr>
          <p:cNvPr id="107" name="Divider_0"/>
          <p:cNvSpPr/>
          <p:nvPr/>
        </p:nvSpPr>
        <p:spPr>
          <a:xfrm>
            <a:off x="533400" y="2856800"/>
            <a:ext cx="2590800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08" name="Desc_0"/>
          <p:cNvSpPr txBox="1"/>
          <p:nvPr/>
        </p:nvSpPr>
        <p:spPr>
          <a:xfrm>
            <a:off x="533400" y="2933000"/>
            <a:ext cx="2590800" cy="11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sz="14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면접 중 질문 생성·답변 평가가 동시에 GPU 점유 시도 → 대기 60초+, VRAM OOM 워커 크래시</a:t>
            </a:r>
          </a:p>
        </p:txBody>
      </p:sp>
      <p:sp>
        <p:nvSpPr>
          <p:cNvPr id="109" name="CardBg_1"/>
          <p:cNvSpPr/>
          <p:nvPr/>
        </p:nvSpPr>
        <p:spPr>
          <a:xfrm>
            <a:off x="3291840" y="1790000"/>
            <a:ext cx="2743200" cy="2377800"/>
          </a:xfrm>
          <a:prstGeom prst="roundRect">
            <a:avLst>
              <a:gd name="adj" fmla="val 3000"/>
            </a:avLst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10" name="AccentBar_1"/>
          <p:cNvSpPr/>
          <p:nvPr/>
        </p:nvSpPr>
        <p:spPr>
          <a:xfrm>
            <a:off x="3291840" y="1790000"/>
            <a:ext cx="2743200" cy="9144"/>
          </a:xfrm>
          <a:prstGeom prst="roundRect">
            <a:avLst>
              <a:gd name="adj" fmla="val 869565"/>
            </a:avLst>
          </a:prstGeom>
          <a:solidFill>
            <a:srgbClr val="FF9800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11" name="NumCircle_1"/>
          <p:cNvSpPr/>
          <p:nvPr/>
        </p:nvSpPr>
        <p:spPr>
          <a:xfrm>
            <a:off x="3368040" y="18852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12" name="NumTxt_1"/>
          <p:cNvSpPr txBox="1"/>
          <p:nvPr/>
        </p:nvSpPr>
        <p:spPr>
          <a:xfrm>
            <a:off x="3368040" y="18852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02</a:t>
            </a:r>
          </a:p>
        </p:txBody>
      </p:sp>
      <p:sp>
        <p:nvSpPr>
          <p:cNvPr id="113" name="PctBadge_1"/>
          <p:cNvSpPr/>
          <p:nvPr/>
        </p:nvSpPr>
        <p:spPr>
          <a:xfrm>
            <a:off x="5258840" y="1885250"/>
            <a:ext cx="700000" cy="228600"/>
          </a:xfrm>
          <a:prstGeom prst="roundRect">
            <a:avLst>
              <a:gd name="adj" fmla="val 400000"/>
            </a:avLst>
          </a:prstGeom>
          <a:solidFill>
            <a:srgbClr val="FFE0B2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14" name="PctTxt_1"/>
          <p:cNvSpPr txBox="1"/>
          <p:nvPr/>
        </p:nvSpPr>
        <p:spPr>
          <a:xfrm>
            <a:off x="5258840" y="1885250"/>
            <a:ext cx="7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E651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35%</a:t>
            </a:r>
          </a:p>
        </p:txBody>
      </p:sp>
      <p:sp>
        <p:nvSpPr>
          <p:cNvPr id="115" name="Title_1"/>
          <p:cNvSpPr txBox="1"/>
          <p:nvPr/>
        </p:nvSpPr>
        <p:spPr>
          <a:xfrm>
            <a:off x="3368040" y="2247200"/>
            <a:ext cx="2590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Celery 태스크 네이밍</a:t>
            </a:r>
          </a:p>
        </p:txBody>
      </p:sp>
      <p:sp>
        <p:nvSpPr>
          <p:cNvPr id="116" name="Divider_1"/>
          <p:cNvSpPr/>
          <p:nvPr/>
        </p:nvSpPr>
        <p:spPr>
          <a:xfrm>
            <a:off x="3368040" y="2856800"/>
            <a:ext cx="2590800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17" name="Desc_1"/>
          <p:cNvSpPr txBox="1"/>
          <p:nvPr/>
        </p:nvSpPr>
        <p:spPr>
          <a:xfrm>
            <a:off x="3368040" y="2933000"/>
            <a:ext cx="2590800" cy="11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sz="14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브랜치 병합 후 @shared_task name 미갱신 → Received unregistered task 무한 대기</a:t>
            </a:r>
          </a:p>
        </p:txBody>
      </p:sp>
      <p:sp>
        <p:nvSpPr>
          <p:cNvPr id="118" name="CardBg_2"/>
          <p:cNvSpPr/>
          <p:nvPr/>
        </p:nvSpPr>
        <p:spPr>
          <a:xfrm>
            <a:off x="6126480" y="1790000"/>
            <a:ext cx="2743200" cy="2377800"/>
          </a:xfrm>
          <a:prstGeom prst="roundRect">
            <a:avLst>
              <a:gd name="adj" fmla="val 3000"/>
            </a:avLst>
          </a:prstGeom>
          <a:solidFill>
            <a:srgbClr val="FFF8E1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19" name="AccentBar_2"/>
          <p:cNvSpPr/>
          <p:nvPr/>
        </p:nvSpPr>
        <p:spPr>
          <a:xfrm>
            <a:off x="6126480" y="1790000"/>
            <a:ext cx="2743200" cy="9144"/>
          </a:xfrm>
          <a:prstGeom prst="roundRect">
            <a:avLst>
              <a:gd name="adj" fmla="val 869565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20" name="NumCircle_2"/>
          <p:cNvSpPr/>
          <p:nvPr/>
        </p:nvSpPr>
        <p:spPr>
          <a:xfrm>
            <a:off x="6202680" y="18852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21" name="NumTxt_2"/>
          <p:cNvSpPr txBox="1"/>
          <p:nvPr/>
        </p:nvSpPr>
        <p:spPr>
          <a:xfrm>
            <a:off x="6202680" y="18852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03</a:t>
            </a:r>
          </a:p>
        </p:txBody>
      </p:sp>
      <p:sp>
        <p:nvSpPr>
          <p:cNvPr id="122" name="PctBadge_2"/>
          <p:cNvSpPr/>
          <p:nvPr/>
        </p:nvSpPr>
        <p:spPr>
          <a:xfrm>
            <a:off x="8093480" y="1885250"/>
            <a:ext cx="700000" cy="228600"/>
          </a:xfrm>
          <a:prstGeom prst="roundRect">
            <a:avLst>
              <a:gd name="adj" fmla="val 400000"/>
            </a:avLst>
          </a:prstGeom>
          <a:solidFill>
            <a:srgbClr val="FFECB3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23" name="PctTxt_2"/>
          <p:cNvSpPr txBox="1"/>
          <p:nvPr/>
        </p:nvSpPr>
        <p:spPr>
          <a:xfrm>
            <a:off x="8093480" y="1885250"/>
            <a:ext cx="7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F57F1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25%</a:t>
            </a:r>
          </a:p>
        </p:txBody>
      </p:sp>
      <p:sp>
        <p:nvSpPr>
          <p:cNvPr id="124" name="Title_2"/>
          <p:cNvSpPr txBox="1"/>
          <p:nvPr/>
        </p:nvSpPr>
        <p:spPr>
          <a:xfrm>
            <a:off x="6202680" y="2247200"/>
            <a:ext cx="2590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질문 생성 오류</a:t>
            </a:r>
          </a:p>
        </p:txBody>
      </p:sp>
      <p:sp>
        <p:nvSpPr>
          <p:cNvPr id="125" name="Divider_2"/>
          <p:cNvSpPr/>
          <p:nvPr/>
        </p:nvSpPr>
        <p:spPr>
          <a:xfrm>
            <a:off x="6202680" y="2856800"/>
            <a:ext cx="2590800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26" name="Desc_2"/>
          <p:cNvSpPr txBox="1"/>
          <p:nvPr/>
        </p:nvSpPr>
        <p:spPr>
          <a:xfrm>
            <a:off x="6202680" y="2933000"/>
            <a:ext cx="2590800" cy="11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sz="14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9·11·13번 인성 단계서 AI가 질문 대신 시나리오 설명(메타 발화) 출력 → 면접 흐름 파괴</a:t>
            </a:r>
          </a:p>
        </p:txBody>
      </p:sp>
      <p:sp>
        <p:nvSpPr>
          <p:cNvPr id="127" name="CardBg_3"/>
          <p:cNvSpPr/>
          <p:nvPr/>
        </p:nvSpPr>
        <p:spPr>
          <a:xfrm>
            <a:off x="8961120" y="1790000"/>
            <a:ext cx="2743200" cy="2377800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28" name="AccentBar_3"/>
          <p:cNvSpPr/>
          <p:nvPr/>
        </p:nvSpPr>
        <p:spPr>
          <a:xfrm>
            <a:off x="8961120" y="1790000"/>
            <a:ext cx="2743200" cy="9144"/>
          </a:xfrm>
          <a:prstGeom prst="roundRect">
            <a:avLst>
              <a:gd name="adj" fmla="val 869565"/>
            </a:avLst>
          </a:prstGeom>
          <a:solidFill>
            <a:srgbClr val="AB47BC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29" name="NumCircle_3"/>
          <p:cNvSpPr/>
          <p:nvPr/>
        </p:nvSpPr>
        <p:spPr>
          <a:xfrm>
            <a:off x="9037320" y="18852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AB47BC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30" name="NumTxt_3"/>
          <p:cNvSpPr txBox="1"/>
          <p:nvPr/>
        </p:nvSpPr>
        <p:spPr>
          <a:xfrm>
            <a:off x="9037320" y="18852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04</a:t>
            </a:r>
          </a:p>
        </p:txBody>
      </p:sp>
      <p:sp>
        <p:nvSpPr>
          <p:cNvPr id="131" name="PctBadge_3"/>
          <p:cNvSpPr/>
          <p:nvPr/>
        </p:nvSpPr>
        <p:spPr>
          <a:xfrm>
            <a:off x="10928120" y="1885250"/>
            <a:ext cx="700000" cy="228600"/>
          </a:xfrm>
          <a:prstGeom prst="roundRect">
            <a:avLst>
              <a:gd name="adj" fmla="val 400000"/>
            </a:avLst>
          </a:prstGeom>
          <a:solidFill>
            <a:srgbClr val="E1BEE7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32" name="PctTxt_3"/>
          <p:cNvSpPr txBox="1"/>
          <p:nvPr/>
        </p:nvSpPr>
        <p:spPr>
          <a:xfrm>
            <a:off x="10928120" y="1885250"/>
            <a:ext cx="7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6A1B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20%</a:t>
            </a:r>
          </a:p>
        </p:txBody>
      </p:sp>
      <p:sp>
        <p:nvSpPr>
          <p:cNvPr id="133" name="Title_3"/>
          <p:cNvSpPr txBox="1"/>
          <p:nvPr/>
        </p:nvSpPr>
        <p:spPr>
          <a:xfrm>
            <a:off x="9037320" y="2247200"/>
            <a:ext cx="2590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AI 메타 발화</a:t>
            </a:r>
          </a:p>
        </p:txBody>
      </p:sp>
      <p:sp>
        <p:nvSpPr>
          <p:cNvPr id="134" name="Divider_3"/>
          <p:cNvSpPr/>
          <p:nvPr/>
        </p:nvSpPr>
        <p:spPr>
          <a:xfrm>
            <a:off x="9037320" y="2856800"/>
            <a:ext cx="2590800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35" name="Desc_3"/>
          <p:cNvSpPr txBox="1"/>
          <p:nvPr/>
        </p:nvSpPr>
        <p:spPr>
          <a:xfrm>
            <a:off x="9037320" y="2933000"/>
            <a:ext cx="2590800" cy="11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sz="14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전 단계에 걸쳐 AI 내부 추론 과정·의도를 설명하는 메타 발화 산발 출력 → 몰입감 훼손</a:t>
            </a:r>
          </a:p>
        </p:txBody>
      </p:sp>
      <p:sp>
        <p:nvSpPr>
          <p:cNvPr id="136" name="CardBg_4"/>
          <p:cNvSpPr/>
          <p:nvPr/>
        </p:nvSpPr>
        <p:spPr>
          <a:xfrm>
            <a:off x="457200" y="4259240"/>
            <a:ext cx="2743200" cy="2377800"/>
          </a:xfrm>
          <a:prstGeom prst="roundRect">
            <a:avLst>
              <a:gd name="adj" fmla="val 3000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37" name="AccentBar_4"/>
          <p:cNvSpPr/>
          <p:nvPr/>
        </p:nvSpPr>
        <p:spPr>
          <a:xfrm>
            <a:off x="457200" y="4259240"/>
            <a:ext cx="2743200" cy="9144"/>
          </a:xfrm>
          <a:prstGeom prst="roundRect">
            <a:avLst>
              <a:gd name="adj" fmla="val 869565"/>
            </a:avLst>
          </a:prstGeom>
          <a:solidFill>
            <a:srgbClr val="42A5F5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38" name="NumCircle_4"/>
          <p:cNvSpPr/>
          <p:nvPr/>
        </p:nvSpPr>
        <p:spPr>
          <a:xfrm>
            <a:off x="533400" y="435449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39" name="NumTxt_4"/>
          <p:cNvSpPr txBox="1"/>
          <p:nvPr/>
        </p:nvSpPr>
        <p:spPr>
          <a:xfrm>
            <a:off x="533400" y="435449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05</a:t>
            </a:r>
          </a:p>
        </p:txBody>
      </p:sp>
      <p:sp>
        <p:nvSpPr>
          <p:cNvPr id="140" name="PctBadge_4"/>
          <p:cNvSpPr/>
          <p:nvPr/>
        </p:nvSpPr>
        <p:spPr>
          <a:xfrm>
            <a:off x="2424200" y="4354490"/>
            <a:ext cx="700000" cy="228600"/>
          </a:xfrm>
          <a:prstGeom prst="roundRect">
            <a:avLst>
              <a:gd name="adj" fmla="val 400000"/>
            </a:avLst>
          </a:prstGeom>
          <a:solidFill>
            <a:srgbClr val="BBDEFB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41" name="PctTxt_4"/>
          <p:cNvSpPr txBox="1"/>
          <p:nvPr/>
        </p:nvSpPr>
        <p:spPr>
          <a:xfrm>
            <a:off x="2424200" y="4354490"/>
            <a:ext cx="7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0D47A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10%</a:t>
            </a:r>
          </a:p>
        </p:txBody>
      </p:sp>
      <p:sp>
        <p:nvSpPr>
          <p:cNvPr id="142" name="Title_4"/>
          <p:cNvSpPr txBox="1"/>
          <p:nvPr/>
        </p:nvSpPr>
        <p:spPr>
          <a:xfrm>
            <a:off x="533400" y="4716440"/>
            <a:ext cx="2590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프론트엔드 폴링 스팸</a:t>
            </a:r>
          </a:p>
        </p:txBody>
      </p:sp>
      <p:sp>
        <p:nvSpPr>
          <p:cNvPr id="143" name="Divider_4"/>
          <p:cNvSpPr/>
          <p:nvPr/>
        </p:nvSpPr>
        <p:spPr>
          <a:xfrm>
            <a:off x="533400" y="5326040"/>
            <a:ext cx="2590800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44" name="Desc_4"/>
          <p:cNvSpPr txBox="1"/>
          <p:nvPr/>
        </p:nvSpPr>
        <p:spPr>
          <a:xfrm>
            <a:off x="533400" y="5402240"/>
            <a:ext cx="2590800" cy="11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sz="14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GET 요청 1~2초 간격 무한 반복 → 분당 60회 DB 조회, 레이스 컨디션 유발</a:t>
            </a:r>
          </a:p>
        </p:txBody>
      </p:sp>
      <p:sp>
        <p:nvSpPr>
          <p:cNvPr id="145" name="CardBg_5"/>
          <p:cNvSpPr/>
          <p:nvPr/>
        </p:nvSpPr>
        <p:spPr>
          <a:xfrm>
            <a:off x="3291840" y="4259240"/>
            <a:ext cx="2743200" cy="2377800"/>
          </a:xfrm>
          <a:prstGeom prst="roundRect">
            <a:avLst>
              <a:gd name="adj" fmla="val 3000"/>
            </a:avLst>
          </a:prstGeom>
          <a:solidFill>
            <a:srgbClr val="E0F2F1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46" name="AccentBar_5"/>
          <p:cNvSpPr/>
          <p:nvPr/>
        </p:nvSpPr>
        <p:spPr>
          <a:xfrm>
            <a:off x="3291840" y="4259240"/>
            <a:ext cx="2743200" cy="9144"/>
          </a:xfrm>
          <a:prstGeom prst="roundRect">
            <a:avLst>
              <a:gd name="adj" fmla="val 869565"/>
            </a:avLst>
          </a:prstGeom>
          <a:solidFill>
            <a:srgbClr val="26A69A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47" name="NumCircle_5"/>
          <p:cNvSpPr/>
          <p:nvPr/>
        </p:nvSpPr>
        <p:spPr>
          <a:xfrm>
            <a:off x="3368040" y="435449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6A69A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48" name="NumTxt_5"/>
          <p:cNvSpPr txBox="1"/>
          <p:nvPr/>
        </p:nvSpPr>
        <p:spPr>
          <a:xfrm>
            <a:off x="3368040" y="435449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06</a:t>
            </a:r>
          </a:p>
        </p:txBody>
      </p:sp>
      <p:sp>
        <p:nvSpPr>
          <p:cNvPr id="149" name="PctBadge_5"/>
          <p:cNvSpPr/>
          <p:nvPr/>
        </p:nvSpPr>
        <p:spPr>
          <a:xfrm>
            <a:off x="5258840" y="4354490"/>
            <a:ext cx="700000" cy="228600"/>
          </a:xfrm>
          <a:prstGeom prst="roundRect">
            <a:avLst>
              <a:gd name="adj" fmla="val 400000"/>
            </a:avLst>
          </a:prstGeom>
          <a:solidFill>
            <a:srgbClr val="B2DFDB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50" name="PctTxt_5"/>
          <p:cNvSpPr txBox="1"/>
          <p:nvPr/>
        </p:nvSpPr>
        <p:spPr>
          <a:xfrm>
            <a:off x="5258840" y="4354490"/>
            <a:ext cx="7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100" b="1" dirty="0">
                <a:solidFill>
                  <a:srgbClr val="004D4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</a:t>
            </a:r>
            <a:r>
              <a:rPr lang="ko-KR" sz="1100" b="1" dirty="0" smtClean="0">
                <a:solidFill>
                  <a:srgbClr val="004D4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6.3</a:t>
            </a:r>
            <a:r>
              <a:rPr lang="ko-KR" sz="1100" b="1" dirty="0">
                <a:solidFill>
                  <a:srgbClr val="004D4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%</a:t>
            </a:r>
          </a:p>
        </p:txBody>
      </p:sp>
      <p:sp>
        <p:nvSpPr>
          <p:cNvPr id="151" name="Title_5"/>
          <p:cNvSpPr txBox="1"/>
          <p:nvPr/>
        </p:nvSpPr>
        <p:spPr>
          <a:xfrm>
            <a:off x="3368040" y="4716440"/>
            <a:ext cx="2590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API 통신 오류</a:t>
            </a:r>
          </a:p>
        </p:txBody>
      </p:sp>
      <p:sp>
        <p:nvSpPr>
          <p:cNvPr id="152" name="Divider_5"/>
          <p:cNvSpPr/>
          <p:nvPr/>
        </p:nvSpPr>
        <p:spPr>
          <a:xfrm>
            <a:off x="3368040" y="5326040"/>
            <a:ext cx="2590800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53" name="Desc_5"/>
          <p:cNvSpPr txBox="1"/>
          <p:nvPr/>
        </p:nvSpPr>
        <p:spPr>
          <a:xfrm>
            <a:off x="3368040" y="5402240"/>
            <a:ext cx="2590800" cy="11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sz="14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답변 완료 전 꼬리질문 조기 생성, ORDER BY 미설정으로 리포트 순서 뒤죽박죽 발생</a:t>
            </a:r>
          </a:p>
        </p:txBody>
      </p:sp>
      <p:sp>
        <p:nvSpPr>
          <p:cNvPr id="154" name="CardBg_6"/>
          <p:cNvSpPr/>
          <p:nvPr/>
        </p:nvSpPr>
        <p:spPr>
          <a:xfrm>
            <a:off x="6126480" y="4259240"/>
            <a:ext cx="2743200" cy="2377800"/>
          </a:xfrm>
          <a:prstGeom prst="roundRect">
            <a:avLst>
              <a:gd name="adj" fmla="val 3000"/>
            </a:avLst>
          </a:prstGeom>
          <a:solidFill>
            <a:srgbClr val="F1F8E9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55" name="AccentBar_6"/>
          <p:cNvSpPr/>
          <p:nvPr/>
        </p:nvSpPr>
        <p:spPr>
          <a:xfrm>
            <a:off x="6126480" y="4259240"/>
            <a:ext cx="2743200" cy="9144"/>
          </a:xfrm>
          <a:prstGeom prst="roundRect">
            <a:avLst>
              <a:gd name="adj" fmla="val 869565"/>
            </a:avLst>
          </a:prstGeom>
          <a:solidFill>
            <a:srgbClr val="66BB6A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56" name="NumCircle_6"/>
          <p:cNvSpPr/>
          <p:nvPr/>
        </p:nvSpPr>
        <p:spPr>
          <a:xfrm>
            <a:off x="6202680" y="435449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6BB6A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57" name="NumTxt_6"/>
          <p:cNvSpPr txBox="1"/>
          <p:nvPr/>
        </p:nvSpPr>
        <p:spPr>
          <a:xfrm>
            <a:off x="6202680" y="435449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07</a:t>
            </a:r>
          </a:p>
        </p:txBody>
      </p:sp>
      <p:sp>
        <p:nvSpPr>
          <p:cNvPr id="158" name="PctBadge_6"/>
          <p:cNvSpPr/>
          <p:nvPr/>
        </p:nvSpPr>
        <p:spPr>
          <a:xfrm>
            <a:off x="8093480" y="4354490"/>
            <a:ext cx="700000" cy="228600"/>
          </a:xfrm>
          <a:prstGeom prst="roundRect">
            <a:avLst>
              <a:gd name="adj" fmla="val 400000"/>
            </a:avLst>
          </a:prstGeom>
          <a:solidFill>
            <a:srgbClr val="C8E6C9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59" name="PctTxt_6"/>
          <p:cNvSpPr txBox="1"/>
          <p:nvPr/>
        </p:nvSpPr>
        <p:spPr>
          <a:xfrm>
            <a:off x="8093480" y="4354490"/>
            <a:ext cx="7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1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</a:t>
            </a:r>
            <a:r>
              <a:rPr lang="ko-KR" sz="1100" b="1" dirty="0" smtClean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1.1</a:t>
            </a:r>
            <a:r>
              <a:rPr lang="ko-KR" sz="11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%</a:t>
            </a:r>
          </a:p>
        </p:txBody>
      </p:sp>
      <p:sp>
        <p:nvSpPr>
          <p:cNvPr id="160" name="Title_6"/>
          <p:cNvSpPr txBox="1"/>
          <p:nvPr/>
        </p:nvSpPr>
        <p:spPr>
          <a:xfrm>
            <a:off x="6202680" y="4716440"/>
            <a:ext cx="2590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비즈니스 로직·문법 오류</a:t>
            </a:r>
          </a:p>
        </p:txBody>
      </p:sp>
      <p:sp>
        <p:nvSpPr>
          <p:cNvPr id="161" name="Divider_6"/>
          <p:cNvSpPr/>
          <p:nvPr/>
        </p:nvSpPr>
        <p:spPr>
          <a:xfrm>
            <a:off x="6202680" y="5326040"/>
            <a:ext cx="2590800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62" name="Desc_6"/>
          <p:cNvSpPr txBox="1"/>
          <p:nvPr/>
        </p:nvSpPr>
        <p:spPr>
          <a:xfrm>
            <a:off x="6202680" y="5402240"/>
            <a:ext cx="2590800" cy="11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sz="14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딕셔너리 쉼표 누락 SyntaxError → 워커 전체 다운, 평가 점수 0점 초기화</a:t>
            </a:r>
          </a:p>
        </p:txBody>
      </p:sp>
      <p:sp>
        <p:nvSpPr>
          <p:cNvPr id="163" name="CardBg_7"/>
          <p:cNvSpPr/>
          <p:nvPr/>
        </p:nvSpPr>
        <p:spPr>
          <a:xfrm>
            <a:off x="8961120" y="4259240"/>
            <a:ext cx="2743200" cy="2377800"/>
          </a:xfrm>
          <a:prstGeom prst="roundRect">
            <a:avLst>
              <a:gd name="adj" fmla="val 3000"/>
            </a:avLst>
          </a:prstGeom>
          <a:solidFill>
            <a:srgbClr val="E8EAF6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64" name="AccentBar_7"/>
          <p:cNvSpPr/>
          <p:nvPr/>
        </p:nvSpPr>
        <p:spPr>
          <a:xfrm>
            <a:off x="8961120" y="4259240"/>
            <a:ext cx="2743200" cy="9144"/>
          </a:xfrm>
          <a:prstGeom prst="roundRect">
            <a:avLst>
              <a:gd name="adj" fmla="val 869565"/>
            </a:avLst>
          </a:prstGeom>
          <a:solidFill>
            <a:srgbClr val="5C6BC0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65" name="NumCircle_7"/>
          <p:cNvSpPr/>
          <p:nvPr/>
        </p:nvSpPr>
        <p:spPr>
          <a:xfrm>
            <a:off x="9037320" y="435449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5C6BC0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66" name="NumTxt_7"/>
          <p:cNvSpPr txBox="1"/>
          <p:nvPr/>
        </p:nvSpPr>
        <p:spPr>
          <a:xfrm>
            <a:off x="9037320" y="435449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08</a:t>
            </a:r>
          </a:p>
        </p:txBody>
      </p:sp>
      <p:sp>
        <p:nvSpPr>
          <p:cNvPr id="167" name="PctBadge_7"/>
          <p:cNvSpPr/>
          <p:nvPr/>
        </p:nvSpPr>
        <p:spPr>
          <a:xfrm>
            <a:off x="10928120" y="4354490"/>
            <a:ext cx="700000" cy="228600"/>
          </a:xfrm>
          <a:prstGeom prst="roundRect">
            <a:avLst>
              <a:gd name="adj" fmla="val 400000"/>
            </a:avLst>
          </a:prstGeom>
          <a:solidFill>
            <a:srgbClr val="C5CAE9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68" name="PctTxt_7"/>
          <p:cNvSpPr txBox="1"/>
          <p:nvPr/>
        </p:nvSpPr>
        <p:spPr>
          <a:xfrm>
            <a:off x="10928120" y="4354490"/>
            <a:ext cx="7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1A237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15.8%</a:t>
            </a:r>
          </a:p>
        </p:txBody>
      </p:sp>
      <p:sp>
        <p:nvSpPr>
          <p:cNvPr id="169" name="Title_7"/>
          <p:cNvSpPr txBox="1"/>
          <p:nvPr/>
        </p:nvSpPr>
        <p:spPr>
          <a:xfrm>
            <a:off x="9037320" y="4716440"/>
            <a:ext cx="2590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RAG·벡터 DB 오류</a:t>
            </a:r>
          </a:p>
        </p:txBody>
      </p:sp>
      <p:sp>
        <p:nvSpPr>
          <p:cNvPr id="170" name="Divider_7"/>
          <p:cNvSpPr/>
          <p:nvPr/>
        </p:nvSpPr>
        <p:spPr>
          <a:xfrm>
            <a:off x="9037320" y="5326040"/>
            <a:ext cx="2590800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</a:ln>
        </p:spPr>
      </p:sp>
      <p:sp>
        <p:nvSpPr>
          <p:cNvPr id="171" name="Desc_7"/>
          <p:cNvSpPr txBox="1"/>
          <p:nvPr/>
        </p:nvSpPr>
        <p:spPr>
          <a:xfrm>
            <a:off x="9037320" y="5402240"/>
            <a:ext cx="2590800" cy="11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sz="14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메타데이터 필드 불일치(category vs chunk_type) → RAG 결과 [] 반환, 개인화 질문 불가</a:t>
            </a:r>
          </a:p>
        </p:txBody>
      </p:sp>
    </p:spTree>
    <p:extLst>
      <p:ext uri="{BB962C8B-B14F-4D97-AF65-F5344CB8AC3E}">
        <p14:creationId xmlns:p14="http://schemas.microsoft.com/office/powerpoint/2010/main" val="228936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F0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305" y="381305"/>
            <a:ext cx="75895" cy="381305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23829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핵심 전략 1</a:t>
            </a:r>
            <a:endParaRPr lang="en-US" sz="2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71500" y="838505"/>
            <a:ext cx="11430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발생 비중 40% — GPU 자원 경합에 따른 성능 저하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381305" y="1410005"/>
            <a:ext cx="3006547" cy="4914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9905" y="1714500"/>
            <a:ext cx="457200" cy="457200"/>
          </a:xfrm>
          <a:prstGeom prst="ellipse">
            <a:avLst/>
          </a:prstGeom>
          <a:solidFill>
            <a:srgbClr val="FFCD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3407" y="1848002"/>
            <a:ext cx="190195" cy="19019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376526" y="1714500"/>
            <a:ext cx="790956" cy="228600"/>
          </a:xfrm>
          <a:prstGeom prst="roundRect">
            <a:avLst>
              <a:gd name="adj" fmla="val 400000"/>
            </a:avLst>
          </a:prstGeom>
          <a:solidFill>
            <a:srgbClr val="FFCD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348179" y="1714500"/>
            <a:ext cx="84856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32F2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PROBLEM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609905" y="2286000"/>
            <a:ext cx="265541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GPU 자원 경합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609905" y="2667305"/>
            <a:ext cx="381305" cy="384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8582" y="2850267"/>
            <a:ext cx="262890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면접 중 질문 생성(LLM)과 답변 평가가 동시에 GPU를 점유하려 하여 대기시간 60초+, VRAM 부족으로 워커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크래시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발생</a:t>
            </a:r>
            <a:endParaRPr lang="en-US" sz="1000" dirty="0" smtClean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전체</a:t>
            </a: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성능 병목의 40%를 </a:t>
            </a: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차</a:t>
            </a:r>
            <a:r>
              <a:rPr lang="ko-KR" alt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지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09905" y="4028846"/>
            <a:ext cx="2553005" cy="2066544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t="-28" b="-28"/>
          <a:stretch/>
        </p:blipFill>
        <p:spPr>
          <a:xfrm>
            <a:off x="771754" y="4262018"/>
            <a:ext cx="2225650" cy="6291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5198" y="4386377"/>
            <a:ext cx="2061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면접 진행 중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895198" y="4576572"/>
            <a:ext cx="2061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monospace" pitchFamily="34" charset="-120"/>
              </a:rPr>
              <a:t>질문 생성 + 답변 평가 동시 실행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1826971" y="5005426"/>
            <a:ext cx="114300" cy="152705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 t="-28" b="-28"/>
          <a:stretch/>
        </p:blipFill>
        <p:spPr>
          <a:xfrm>
            <a:off x="771754" y="5234026"/>
            <a:ext cx="2225650" cy="629107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2834640" y="5167274"/>
            <a:ext cx="228600" cy="228600"/>
          </a:xfrm>
          <a:prstGeom prst="ellipse">
            <a:avLst/>
          </a:prstGeom>
          <a:solidFill>
            <a:srgbClr val="D32F2F">
              <a:alpha val="8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2806294" y="5167274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83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?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15"/>
          <p:cNvSpPr txBox="1"/>
          <p:nvPr/>
        </p:nvSpPr>
        <p:spPr>
          <a:xfrm>
            <a:off x="895198" y="5357470"/>
            <a:ext cx="2061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32F2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VRAM 충돌 → 워커 크래시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6"/>
          <p:cNvSpPr txBox="1"/>
          <p:nvPr/>
        </p:nvSpPr>
        <p:spPr>
          <a:xfrm>
            <a:off x="895198" y="5548579"/>
            <a:ext cx="21396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7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대기시간 25~30초 / OOM 발생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/>
          <a:stretch/>
        </p:blipFill>
        <p:spPr>
          <a:xfrm>
            <a:off x="3818534" y="3690518"/>
            <a:ext cx="342900" cy="342900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rcRect l="-1" r="-1"/>
          <a:stretch/>
        </p:blipFill>
        <p:spPr>
          <a:xfrm>
            <a:off x="4593031" y="1410005"/>
            <a:ext cx="3006547" cy="49149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4821631" y="1714500"/>
            <a:ext cx="457200" cy="457200"/>
          </a:xfrm>
          <a:prstGeom prst="ellipse">
            <a:avLst/>
          </a:prstGeom>
          <a:solidFill>
            <a:srgbClr val="BBDE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954219" y="1848002"/>
            <a:ext cx="190195" cy="190195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6547104" y="1714500"/>
            <a:ext cx="828446" cy="228600"/>
          </a:xfrm>
          <a:prstGeom prst="roundRect">
            <a:avLst>
              <a:gd name="adj" fmla="val 400000"/>
            </a:avLst>
          </a:prstGeom>
          <a:solidFill>
            <a:srgbClr val="BBDE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6518758" y="1714500"/>
            <a:ext cx="8860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976D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SOLUTION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0"/>
          <p:cNvSpPr txBox="1"/>
          <p:nvPr/>
        </p:nvSpPr>
        <p:spPr>
          <a:xfrm>
            <a:off x="4821631" y="2286000"/>
            <a:ext cx="265541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전략적 지연 평가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2"/>
          <a:srcRect t="-360" b="-360"/>
          <a:stretch/>
        </p:blipFill>
        <p:spPr>
          <a:xfrm>
            <a:off x="4821631" y="2667305"/>
            <a:ext cx="381305" cy="38405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4821631" y="2857500"/>
            <a:ext cx="26289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Deferred Evaluation 전략으로 면접 중에는 질문 생성에만 GPU 100%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집중</a:t>
            </a:r>
            <a:endParaRPr lang="en-US" sz="1000" dirty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면접</a:t>
            </a: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종료 후 전체 답변을 Celery group()으로 일괄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배치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평가</a:t>
            </a:r>
            <a:endParaRPr lang="en-US" sz="1000" dirty="0" smtClean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Docker 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--pool=solo로 물리적 직렬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처리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강제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Shape 22"/>
          <p:cNvSpPr/>
          <p:nvPr/>
        </p:nvSpPr>
        <p:spPr>
          <a:xfrm>
            <a:off x="4821631" y="3812134"/>
            <a:ext cx="2553005" cy="228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514746" y="4344314"/>
            <a:ext cx="152705" cy="152705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5743346" y="4344314"/>
            <a:ext cx="11228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76D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Deferred Evaluation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4"/>
          <a:srcRect l="-202" r="-202"/>
          <a:stretch/>
        </p:blipFill>
        <p:spPr>
          <a:xfrm>
            <a:off x="5205679" y="4572914"/>
            <a:ext cx="1780337" cy="75895"/>
          </a:xfrm>
          <a:prstGeom prst="rect">
            <a:avLst/>
          </a:prstGeom>
        </p:spPr>
      </p:pic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5"/>
          <a:srcRect l="-202" r="-202"/>
          <a:stretch/>
        </p:blipFill>
        <p:spPr>
          <a:xfrm>
            <a:off x="5205679" y="4687214"/>
            <a:ext cx="1780337" cy="75895"/>
          </a:xfrm>
          <a:prstGeom prst="rect">
            <a:avLst/>
          </a:prstGeom>
        </p:spPr>
      </p:pic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6"/>
          <a:srcRect l="-202" r="-202"/>
          <a:stretch/>
        </p:blipFill>
        <p:spPr>
          <a:xfrm>
            <a:off x="5205679" y="4801514"/>
            <a:ext cx="1780337" cy="75895"/>
          </a:xfrm>
          <a:prstGeom prst="rect">
            <a:avLst/>
          </a:prstGeom>
        </p:spPr>
      </p:pic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17"/>
          <a:srcRect l="-202" r="-202"/>
          <a:stretch/>
        </p:blipFill>
        <p:spPr>
          <a:xfrm>
            <a:off x="5205679" y="4915814"/>
            <a:ext cx="1780337" cy="75895"/>
          </a:xfrm>
          <a:prstGeom prst="rect">
            <a:avLst/>
          </a:prstGeom>
        </p:spPr>
      </p:pic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18"/>
          <a:srcRect l="-202" r="-202"/>
          <a:stretch/>
        </p:blipFill>
        <p:spPr>
          <a:xfrm>
            <a:off x="5205679" y="5030114"/>
            <a:ext cx="1780337" cy="75895"/>
          </a:xfrm>
          <a:prstGeom prst="rect">
            <a:avLst/>
          </a:prstGeom>
        </p:spPr>
      </p:pic>
      <p:pic>
        <p:nvPicPr>
          <p:cNvPr id="42" name="Image 16" descr="preencoded.png"/>
          <p:cNvPicPr>
            <a:picLocks noChangeAspect="1"/>
          </p:cNvPicPr>
          <p:nvPr/>
        </p:nvPicPr>
        <p:blipFill>
          <a:blip r:embed="rId19"/>
          <a:srcRect l="-202" r="-202"/>
          <a:stretch/>
        </p:blipFill>
        <p:spPr>
          <a:xfrm>
            <a:off x="5205679" y="5144414"/>
            <a:ext cx="1780337" cy="75895"/>
          </a:xfrm>
          <a:prstGeom prst="rect">
            <a:avLst/>
          </a:prstGeom>
        </p:spPr>
      </p:pic>
      <p:sp>
        <p:nvSpPr>
          <p:cNvPr id="43" name="Text 24"/>
          <p:cNvSpPr txBox="1"/>
          <p:nvPr/>
        </p:nvSpPr>
        <p:spPr>
          <a:xfrm>
            <a:off x="4855214" y="5256221"/>
            <a:ext cx="1309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면접 중: 질문 생성만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 25"/>
          <p:cNvSpPr txBox="1"/>
          <p:nvPr/>
        </p:nvSpPr>
        <p:spPr>
          <a:xfrm>
            <a:off x="6174943" y="5256221"/>
            <a:ext cx="1312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면접 후: 배치 평가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5" name="Image 17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/>
          <a:stretch/>
        </p:blipFill>
        <p:spPr>
          <a:xfrm>
            <a:off x="8030261" y="3690518"/>
            <a:ext cx="342900" cy="342900"/>
          </a:xfrm>
          <a:prstGeom prst="rect">
            <a:avLst/>
          </a:prstGeom>
        </p:spPr>
      </p:pic>
      <p:pic>
        <p:nvPicPr>
          <p:cNvPr id="46" name="Image 18" descr="preencoded.png"/>
          <p:cNvPicPr>
            <a:picLocks noChangeAspect="1"/>
          </p:cNvPicPr>
          <p:nvPr/>
        </p:nvPicPr>
        <p:blipFill>
          <a:blip r:embed="rId20"/>
          <a:srcRect l="-1" r="-1"/>
          <a:stretch/>
        </p:blipFill>
        <p:spPr>
          <a:xfrm>
            <a:off x="8804758" y="1410005"/>
            <a:ext cx="3006547" cy="4914900"/>
          </a:xfrm>
          <a:prstGeom prst="rect">
            <a:avLst/>
          </a:prstGeom>
        </p:spPr>
      </p:pic>
      <p:sp>
        <p:nvSpPr>
          <p:cNvPr id="47" name="Shape 26"/>
          <p:cNvSpPr/>
          <p:nvPr/>
        </p:nvSpPr>
        <p:spPr>
          <a:xfrm>
            <a:off x="9033358" y="1714500"/>
            <a:ext cx="457200" cy="457200"/>
          </a:xfrm>
          <a:prstGeom prst="ellipse">
            <a:avLst/>
          </a:prstGeom>
          <a:solidFill>
            <a:srgbClr val="C8E6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19" descr="preencoded.png"/>
          <p:cNvPicPr>
            <a:picLocks noChangeAspect="1"/>
          </p:cNvPicPr>
          <p:nvPr/>
        </p:nvPicPr>
        <p:blipFill>
          <a:blip r:embed="rId21"/>
          <a:srcRect l="-1282" r="-1282"/>
          <a:stretch/>
        </p:blipFill>
        <p:spPr>
          <a:xfrm>
            <a:off x="9152230" y="1848002"/>
            <a:ext cx="219456" cy="190195"/>
          </a:xfrm>
          <a:prstGeom prst="rect">
            <a:avLst/>
          </a:prstGeom>
        </p:spPr>
      </p:pic>
      <p:sp>
        <p:nvSpPr>
          <p:cNvPr id="49" name="Shape 27"/>
          <p:cNvSpPr/>
          <p:nvPr/>
        </p:nvSpPr>
        <p:spPr>
          <a:xfrm>
            <a:off x="10919765" y="1714500"/>
            <a:ext cx="666598" cy="228600"/>
          </a:xfrm>
          <a:prstGeom prst="roundRect">
            <a:avLst>
              <a:gd name="adj" fmla="val 400000"/>
            </a:avLst>
          </a:prstGeom>
          <a:solidFill>
            <a:srgbClr val="C8E6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28"/>
          <p:cNvSpPr/>
          <p:nvPr/>
        </p:nvSpPr>
        <p:spPr>
          <a:xfrm>
            <a:off x="10891418" y="1714500"/>
            <a:ext cx="7242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EFFECT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 29"/>
          <p:cNvSpPr txBox="1"/>
          <p:nvPr/>
        </p:nvSpPr>
        <p:spPr>
          <a:xfrm>
            <a:off x="9033358" y="2286000"/>
            <a:ext cx="27432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GPU 안정화 &amp; UX 개선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2" name="Image 20" descr="preencoded.png"/>
          <p:cNvPicPr>
            <a:picLocks noChangeAspect="1"/>
          </p:cNvPicPr>
          <p:nvPr/>
        </p:nvPicPr>
        <p:blipFill>
          <a:blip r:embed="rId22"/>
          <a:srcRect t="-360" b="-360"/>
          <a:stretch/>
        </p:blipFill>
        <p:spPr>
          <a:xfrm>
            <a:off x="9033358" y="2667305"/>
            <a:ext cx="381305" cy="38405"/>
          </a:xfrm>
          <a:prstGeom prst="rect">
            <a:avLst/>
          </a:prstGeom>
        </p:spPr>
      </p:pic>
      <p:sp>
        <p:nvSpPr>
          <p:cNvPr id="53" name="Text 30"/>
          <p:cNvSpPr txBox="1"/>
          <p:nvPr/>
        </p:nvSpPr>
        <p:spPr>
          <a:xfrm>
            <a:off x="9033358" y="2857500"/>
            <a:ext cx="26289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대기시간 25~30초 → </a:t>
            </a: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12초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내외로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50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% 단축. 면접 중 GPU 안정성 100%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확보</a:t>
            </a:r>
            <a:endParaRPr lang="en-US" sz="1000" dirty="0" smtClean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향후</a:t>
            </a: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GPU 증설 시 코드 수정 없이 즉각 확장 가능한 Zero-Code Scaling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인프라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마련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Shape 31"/>
          <p:cNvSpPr/>
          <p:nvPr/>
        </p:nvSpPr>
        <p:spPr>
          <a:xfrm>
            <a:off x="9033358" y="3812134"/>
            <a:ext cx="2553005" cy="228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pic>
        <p:nvPicPr>
          <p:cNvPr id="55" name="Image 21" descr="preencoded.png"/>
          <p:cNvPicPr>
            <a:picLocks noChangeAspect="1"/>
          </p:cNvPicPr>
          <p:nvPr/>
        </p:nvPicPr>
        <p:blipFill>
          <a:blip r:embed="rId23"/>
          <a:srcRect t="-8" b="-8"/>
          <a:stretch/>
        </p:blipFill>
        <p:spPr>
          <a:xfrm>
            <a:off x="9195206" y="4249217"/>
            <a:ext cx="2225650" cy="590702"/>
          </a:xfrm>
          <a:prstGeom prst="rect">
            <a:avLst/>
          </a:prstGeom>
        </p:spPr>
      </p:pic>
      <p:sp>
        <p:nvSpPr>
          <p:cNvPr id="56" name="Text 32"/>
          <p:cNvSpPr txBox="1"/>
          <p:nvPr/>
        </p:nvSpPr>
        <p:spPr>
          <a:xfrm>
            <a:off x="9281159" y="4335170"/>
            <a:ext cx="694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면접 진행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7" name="Image 22" descr="preencoded.png"/>
          <p:cNvPicPr>
            <a:picLocks noChangeAspect="1"/>
          </p:cNvPicPr>
          <p:nvPr/>
        </p:nvPicPr>
        <p:blipFill>
          <a:blip r:embed="rId24"/>
          <a:srcRect t="-43" b="-43"/>
          <a:stretch/>
        </p:blipFill>
        <p:spPr>
          <a:xfrm>
            <a:off x="11201400" y="4373575"/>
            <a:ext cx="133502" cy="152705"/>
          </a:xfrm>
          <a:prstGeom prst="rect">
            <a:avLst/>
          </a:prstGeom>
        </p:spPr>
      </p:pic>
      <p:sp>
        <p:nvSpPr>
          <p:cNvPr id="58" name="Text 33"/>
          <p:cNvSpPr txBox="1"/>
          <p:nvPr/>
        </p:nvSpPr>
        <p:spPr>
          <a:xfrm>
            <a:off x="9281160" y="4602175"/>
            <a:ext cx="21396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질문 생성에만 GPU 집중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9" name="Image 23" descr="preencoded.png"/>
          <p:cNvPicPr>
            <a:picLocks noChangeAspect="1"/>
          </p:cNvPicPr>
          <p:nvPr/>
        </p:nvPicPr>
        <p:blipFill>
          <a:blip r:embed="rId25"/>
          <a:srcRect t="-26" b="-26"/>
          <a:stretch/>
        </p:blipFill>
        <p:spPr>
          <a:xfrm>
            <a:off x="9195206" y="4915814"/>
            <a:ext cx="2225650" cy="743407"/>
          </a:xfrm>
          <a:prstGeom prst="rect">
            <a:avLst/>
          </a:prstGeom>
        </p:spPr>
      </p:pic>
      <p:sp>
        <p:nvSpPr>
          <p:cNvPr id="60" name="Text 34"/>
          <p:cNvSpPr txBox="1"/>
          <p:nvPr/>
        </p:nvSpPr>
        <p:spPr>
          <a:xfrm>
            <a:off x="9281160" y="5001768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면접 종료 후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Text 35"/>
          <p:cNvSpPr txBox="1"/>
          <p:nvPr/>
        </p:nvSpPr>
        <p:spPr>
          <a:xfrm>
            <a:off x="9261958" y="5258880"/>
            <a:ext cx="23344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모든 답변 일괄 배치 평가 → STAR 리포트 생성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A4_Project_2AI1_LA_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김린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1730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31" y="0"/>
            <a:ext cx="12191695" cy="6858000"/>
          </a:xfrm>
          <a:prstGeom prst="rect">
            <a:avLst/>
          </a:prstGeom>
          <a:solidFill>
            <a:srgbClr val="E2F0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305" y="381305"/>
            <a:ext cx="75895" cy="381305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23911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핵심 전략 2</a:t>
            </a:r>
            <a:endParaRPr lang="en-US" sz="2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71500" y="838505"/>
            <a:ext cx="11430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발생 비중 35% — Celery 태스크 네이밍 불일치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381305" y="1410005"/>
            <a:ext cx="3006547" cy="4914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9905" y="1714500"/>
            <a:ext cx="457200" cy="457200"/>
          </a:xfrm>
          <a:prstGeom prst="ellipse">
            <a:avLst/>
          </a:prstGeom>
          <a:solidFill>
            <a:srgbClr val="FFCD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3407" y="1848002"/>
            <a:ext cx="190195" cy="19019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376526" y="1714500"/>
            <a:ext cx="790956" cy="228600"/>
          </a:xfrm>
          <a:prstGeom prst="roundRect">
            <a:avLst>
              <a:gd name="adj" fmla="val 400000"/>
            </a:avLst>
          </a:prstGeom>
          <a:solidFill>
            <a:srgbClr val="FFCD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348179" y="1714500"/>
            <a:ext cx="84856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32F2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PROBLEM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609905" y="2286000"/>
            <a:ext cx="265541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7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태스크 네이밍 불일치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609905" y="2667305"/>
            <a:ext cx="381305" cy="384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2531" y="2816769"/>
            <a:ext cx="262890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Git 브랜치 병합 또는 파일명 리팩토링 직후, @shared_task(name=...) 문자열 미갱신으로 Celery 워커가 태스크를 인식하지 못해 이력서 파싱·질문생성 전 과정이 무한 </a:t>
            </a:r>
            <a:r>
              <a:rPr lang="en-US" sz="1000" dirty="0" err="1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대기</a:t>
            </a:r>
            <a:r>
              <a:rPr lang="en-US" sz="1000" dirty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상태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09905" y="4028846"/>
            <a:ext cx="2553005" cy="2066544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301191" y="4472330"/>
            <a:ext cx="6958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5757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monospace" pitchFamily="34" charset="-120"/>
              </a:rPr>
              <a:t>[ERROR]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1970531" y="4371746"/>
            <a:ext cx="808330" cy="183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32F2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monospace" pitchFamily="34" charset="-120"/>
              </a:rPr>
              <a:t>Received unregistered task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1279873" y="4662526"/>
            <a:ext cx="1343254" cy="761695"/>
          </a:xfrm>
          <a:prstGeom prst="roundRect">
            <a:avLst>
              <a:gd name="adj" fmla="val 12005"/>
            </a:avLst>
          </a:prstGeom>
          <a:solidFill>
            <a:srgbClr val="EEEEEE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289931" y="4977994"/>
            <a:ext cx="1324051" cy="437998"/>
          </a:xfrm>
          <a:prstGeom prst="roundRect">
            <a:avLst>
              <a:gd name="adj" fmla="val 36307"/>
            </a:avLst>
          </a:prstGeom>
          <a:solidFill>
            <a:srgbClr val="EF53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251527" y="4748479"/>
            <a:ext cx="14008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"tasks.question_generation.*"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t="-2994" b="-2994"/>
          <a:stretch/>
        </p:blipFill>
        <p:spPr>
          <a:xfrm>
            <a:off x="1391717" y="5479999"/>
            <a:ext cx="152705" cy="16184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81912" y="5501030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628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태스크 수신 실패 → 무한 대기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rcRect/>
          <a:stretch/>
        </p:blipFill>
        <p:spPr>
          <a:xfrm>
            <a:off x="3818534" y="3690518"/>
            <a:ext cx="342900" cy="342900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 l="-1" r="-1"/>
          <a:stretch/>
        </p:blipFill>
        <p:spPr>
          <a:xfrm>
            <a:off x="4593031" y="1410005"/>
            <a:ext cx="3006547" cy="49149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821631" y="1714500"/>
            <a:ext cx="457200" cy="457200"/>
          </a:xfrm>
          <a:prstGeom prst="ellipse">
            <a:avLst/>
          </a:prstGeom>
          <a:solidFill>
            <a:srgbClr val="BBDE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930445" y="1848002"/>
            <a:ext cx="237744" cy="190195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6547104" y="1714500"/>
            <a:ext cx="828446" cy="228600"/>
          </a:xfrm>
          <a:prstGeom prst="roundRect">
            <a:avLst>
              <a:gd name="adj" fmla="val 400000"/>
            </a:avLst>
          </a:prstGeom>
          <a:solidFill>
            <a:srgbClr val="BBDE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6518758" y="1714500"/>
            <a:ext cx="8860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976D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SOLUTION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0"/>
          <p:cNvSpPr txBox="1"/>
          <p:nvPr/>
        </p:nvSpPr>
        <p:spPr>
          <a:xfrm>
            <a:off x="4821631" y="2286000"/>
            <a:ext cx="265541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47A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태스크 이름 명시적 고정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rcRect t="-360" b="-360"/>
          <a:stretch/>
        </p:blipFill>
        <p:spPr>
          <a:xfrm>
            <a:off x="4821631" y="2667305"/>
            <a:ext cx="381305" cy="384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4821631" y="2857500"/>
            <a:ext cx="262890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@shared_task(name="tasks.XXX.YYY") 방식으로 파일명·함수명과 독립적인 태스크 이름을 전 모듈에 </a:t>
            </a:r>
            <a:r>
              <a:rPr lang="en-US" sz="1000" dirty="0" err="1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명시적으로</a:t>
            </a:r>
            <a:r>
              <a:rPr lang="en-US" sz="1000" dirty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고정</a:t>
            </a:r>
            <a:endParaRPr lang="en-US" sz="1000" dirty="0" smtClean="0">
              <a:solidFill>
                <a:srgbClr val="455A6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err="1" smtClean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parse_pdf</a:t>
            </a:r>
            <a:r>
              <a:rPr lang="en-US" sz="1000" dirty="0" smtClean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→ cpu_queue, generate_embeddings* → gpu_queue로 CPU/GPU 큐 1:1 </a:t>
            </a:r>
            <a:r>
              <a:rPr lang="en-US" sz="1000" dirty="0" err="1" smtClean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매핑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4821631" y="4028846"/>
            <a:ext cx="2553005" cy="2066544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4869180" y="4171658"/>
            <a:ext cx="819302" cy="304495"/>
          </a:xfrm>
          <a:prstGeom prst="roundRect">
            <a:avLst>
              <a:gd name="adj" fmla="val 75075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4869180" y="4173321"/>
            <a:ext cx="8961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parse_pdf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5695797" y="4274779"/>
            <a:ext cx="105156" cy="114300"/>
          </a:xfrm>
          <a:prstGeom prst="rect">
            <a:avLst/>
          </a:prstGeom>
        </p:spPr>
      </p:pic>
      <p:sp>
        <p:nvSpPr>
          <p:cNvPr id="36" name="Shape 25"/>
          <p:cNvSpPr/>
          <p:nvPr/>
        </p:nvSpPr>
        <p:spPr>
          <a:xfrm>
            <a:off x="5539435" y="4580063"/>
            <a:ext cx="738752" cy="304495"/>
          </a:xfrm>
          <a:prstGeom prst="roundRect">
            <a:avLst>
              <a:gd name="adj" fmla="val 75075"/>
            </a:avLst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37" name="Text 26"/>
          <p:cNvSpPr txBox="1"/>
          <p:nvPr/>
        </p:nvSpPr>
        <p:spPr>
          <a:xfrm>
            <a:off x="5546750" y="4555083"/>
            <a:ext cx="6675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 smtClean="0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cpu_queue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6324447" y="4691329"/>
            <a:ext cx="105156" cy="114300"/>
          </a:xfrm>
          <a:prstGeom prst="rect">
            <a:avLst/>
          </a:prstGeom>
        </p:spPr>
      </p:pic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506787" y="4509821"/>
            <a:ext cx="789211" cy="609905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6547104" y="4476902"/>
            <a:ext cx="748893" cy="659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generate_embeddings → gpu_queue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 29"/>
          <p:cNvSpPr txBox="1"/>
          <p:nvPr/>
        </p:nvSpPr>
        <p:spPr>
          <a:xfrm>
            <a:off x="5260667" y="5501030"/>
            <a:ext cx="1701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태스크 이름 컨벤션 통일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rcRect/>
          <a:stretch/>
        </p:blipFill>
        <p:spPr>
          <a:xfrm>
            <a:off x="8030261" y="3690518"/>
            <a:ext cx="342900" cy="342900"/>
          </a:xfrm>
          <a:prstGeom prst="rect">
            <a:avLst/>
          </a:prstGeom>
        </p:spPr>
      </p:pic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3"/>
          <a:srcRect l="-1" r="-1"/>
          <a:stretch/>
        </p:blipFill>
        <p:spPr>
          <a:xfrm>
            <a:off x="8804758" y="1410005"/>
            <a:ext cx="3006547" cy="4914900"/>
          </a:xfrm>
          <a:prstGeom prst="rect">
            <a:avLst/>
          </a:prstGeom>
        </p:spPr>
      </p:pic>
      <p:sp>
        <p:nvSpPr>
          <p:cNvPr id="45" name="Shape 30"/>
          <p:cNvSpPr/>
          <p:nvPr/>
        </p:nvSpPr>
        <p:spPr>
          <a:xfrm>
            <a:off x="9033358" y="1714500"/>
            <a:ext cx="457200" cy="457200"/>
          </a:xfrm>
          <a:prstGeom prst="ellipse">
            <a:avLst/>
          </a:prstGeom>
          <a:solidFill>
            <a:srgbClr val="C8E6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166860" y="1848002"/>
            <a:ext cx="190195" cy="190195"/>
          </a:xfrm>
          <a:prstGeom prst="rect">
            <a:avLst/>
          </a:prstGeom>
        </p:spPr>
      </p:pic>
      <p:sp>
        <p:nvSpPr>
          <p:cNvPr id="47" name="Shape 31"/>
          <p:cNvSpPr/>
          <p:nvPr/>
        </p:nvSpPr>
        <p:spPr>
          <a:xfrm>
            <a:off x="10919765" y="1714500"/>
            <a:ext cx="666598" cy="228600"/>
          </a:xfrm>
          <a:prstGeom prst="roundRect">
            <a:avLst>
              <a:gd name="adj" fmla="val 400000"/>
            </a:avLst>
          </a:prstGeom>
          <a:solidFill>
            <a:srgbClr val="C8E6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2"/>
          <p:cNvSpPr/>
          <p:nvPr/>
        </p:nvSpPr>
        <p:spPr>
          <a:xfrm>
            <a:off x="10891418" y="1714500"/>
            <a:ext cx="7242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EFFECT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 33"/>
          <p:cNvSpPr txBox="1"/>
          <p:nvPr/>
        </p:nvSpPr>
        <p:spPr>
          <a:xfrm>
            <a:off x="9033358" y="2286000"/>
            <a:ext cx="27432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오류 완전 소멸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5"/>
          <a:srcRect t="-360" b="-360"/>
          <a:stretch/>
        </p:blipFill>
        <p:spPr>
          <a:xfrm>
            <a:off x="9033358" y="2667305"/>
            <a:ext cx="381305" cy="38405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8844743" y="2721255"/>
            <a:ext cx="2984268" cy="941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Before: 브랜치 병합 후 50% 확률로 태스크 </a:t>
            </a:r>
            <a:r>
              <a:rPr lang="en-US" sz="1000" dirty="0" err="1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수신</a:t>
            </a:r>
            <a:r>
              <a:rPr lang="en-US" sz="1000" dirty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불가</a:t>
            </a:r>
            <a:endParaRPr lang="en-US" sz="1000" dirty="0" smtClean="0">
              <a:solidFill>
                <a:srgbClr val="455A6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After</a:t>
            </a:r>
            <a:r>
              <a:rPr lang="en-US" sz="1000" dirty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: 태스크 네이밍 통일 및 CPU/GPU 큐 분리 후 </a:t>
            </a:r>
            <a:endParaRPr lang="en-US" sz="1000" dirty="0" smtClean="0">
              <a:solidFill>
                <a:srgbClr val="455A6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algn="l"/>
            <a:r>
              <a:rPr lang="en-US" sz="1000" dirty="0" smtClean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      </a:t>
            </a:r>
            <a:r>
              <a:rPr lang="en-US" sz="1000" dirty="0" err="1" smtClean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관련</a:t>
            </a:r>
            <a:r>
              <a:rPr lang="en-US" sz="1000" dirty="0" smtClean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오류 </a:t>
            </a:r>
            <a:r>
              <a:rPr lang="en-US" sz="1000" dirty="0" err="1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완전</a:t>
            </a:r>
            <a:r>
              <a:rPr lang="en-US" sz="1000" dirty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소멸</a:t>
            </a:r>
            <a:endParaRPr lang="en-US" sz="1000" dirty="0" smtClean="0">
              <a:solidFill>
                <a:srgbClr val="455A6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err="1" smtClean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협업</a:t>
            </a:r>
            <a:r>
              <a:rPr lang="en-US" sz="1000" dirty="0" smtClean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환경 네이밍 컨벤션 수립의 </a:t>
            </a:r>
            <a:r>
              <a:rPr lang="en-US" sz="1000" dirty="0" err="1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필요성을</a:t>
            </a:r>
            <a:r>
              <a:rPr lang="en-US" sz="1000" dirty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455A6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체감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Shape 35"/>
          <p:cNvSpPr/>
          <p:nvPr/>
        </p:nvSpPr>
        <p:spPr>
          <a:xfrm>
            <a:off x="9033358" y="4028846"/>
            <a:ext cx="2553005" cy="2066544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53" name="Text 36"/>
          <p:cNvSpPr txBox="1"/>
          <p:nvPr/>
        </p:nvSpPr>
        <p:spPr>
          <a:xfrm>
            <a:off x="9346997" y="4472330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5757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Before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Text 37"/>
          <p:cNvSpPr txBox="1"/>
          <p:nvPr/>
        </p:nvSpPr>
        <p:spPr>
          <a:xfrm>
            <a:off x="10910621" y="447233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5757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After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Shape 38"/>
          <p:cNvSpPr/>
          <p:nvPr/>
        </p:nvSpPr>
        <p:spPr>
          <a:xfrm>
            <a:off x="9346997" y="5339182"/>
            <a:ext cx="1923898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56" name="Shape 39"/>
          <p:cNvSpPr/>
          <p:nvPr/>
        </p:nvSpPr>
        <p:spPr>
          <a:xfrm>
            <a:off x="9346997" y="4738421"/>
            <a:ext cx="9144" cy="60990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16"/>
          <a:srcRect t="-400" b="-400"/>
          <a:stretch/>
        </p:blipFill>
        <p:spPr>
          <a:xfrm>
            <a:off x="9357055" y="4738421"/>
            <a:ext cx="1911096" cy="19202"/>
          </a:xfrm>
          <a:prstGeom prst="rect">
            <a:avLst/>
          </a:prstGeom>
        </p:spPr>
      </p:pic>
      <p:sp>
        <p:nvSpPr>
          <p:cNvPr id="58" name="Shape 40"/>
          <p:cNvSpPr/>
          <p:nvPr/>
        </p:nvSpPr>
        <p:spPr>
          <a:xfrm>
            <a:off x="9357055" y="4738421"/>
            <a:ext cx="1914754" cy="9144"/>
          </a:xfrm>
          <a:prstGeom prst="rect">
            <a:avLst/>
          </a:prstGeom>
          <a:solidFill>
            <a:srgbClr val="EF9A9A"/>
          </a:solidFill>
          <a:ln w="12700">
            <a:solidFill>
              <a:srgbClr val="EF9A9A">
                <a:alpha val="0"/>
              </a:srgbClr>
            </a:solidFill>
            <a:prstDash val="solid"/>
          </a:ln>
        </p:spPr>
      </p:sp>
      <p:sp>
        <p:nvSpPr>
          <p:cNvPr id="59" name="Text 41"/>
          <p:cNvSpPr txBox="1"/>
          <p:nvPr/>
        </p:nvSpPr>
        <p:spPr>
          <a:xfrm>
            <a:off x="10623916" y="4929489"/>
            <a:ext cx="791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F535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오류율 0%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Shape 42"/>
          <p:cNvSpPr/>
          <p:nvPr/>
        </p:nvSpPr>
        <p:spPr>
          <a:xfrm>
            <a:off x="9553648" y="5424221"/>
            <a:ext cx="1321311" cy="228600"/>
          </a:xfrm>
          <a:prstGeom prst="roundRect">
            <a:avLst>
              <a:gd name="adj" fmla="val 400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16" descr="preencoded.png"/>
          <p:cNvPicPr>
            <a:picLocks noChangeAspect="1"/>
          </p:cNvPicPr>
          <p:nvPr/>
        </p:nvPicPr>
        <p:blipFill>
          <a:blip r:embed="rId17"/>
          <a:srcRect l="-2571" r="-2571"/>
          <a:stretch/>
        </p:blipFill>
        <p:spPr>
          <a:xfrm>
            <a:off x="9632747" y="5481828"/>
            <a:ext cx="105156" cy="114300"/>
          </a:xfrm>
          <a:prstGeom prst="rect">
            <a:avLst/>
          </a:prstGeom>
        </p:spPr>
      </p:pic>
      <p:sp>
        <p:nvSpPr>
          <p:cNvPr id="62" name="Text 43"/>
          <p:cNvSpPr txBox="1"/>
          <p:nvPr/>
        </p:nvSpPr>
        <p:spPr>
          <a:xfrm>
            <a:off x="9780879" y="5446623"/>
            <a:ext cx="106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태스크 수신 정상화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A4_Project_2AI1_LA_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김린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140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F0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305" y="381305"/>
            <a:ext cx="75895" cy="381305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23829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핵심 </a:t>
            </a:r>
            <a:r>
              <a:rPr lang="en-US" sz="2700" b="1" kern="0" spc="-67" dirty="0" err="1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전략</a:t>
            </a:r>
            <a:r>
              <a:rPr lang="en-US" sz="2700" b="1" kern="0" spc="-67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2700" b="1" kern="0" spc="-67" dirty="0" smtClean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3</a:t>
            </a:r>
            <a:endParaRPr lang="en-US" sz="2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71500" y="838505"/>
            <a:ext cx="11430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발생 비중 20% — AI 사족 및 메타 발화 오류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rcRect l="-4" r="-4"/>
          <a:stretch/>
        </p:blipFill>
        <p:spPr>
          <a:xfrm>
            <a:off x="381305" y="1410005"/>
            <a:ext cx="3006547" cy="4914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9905" y="1714500"/>
            <a:ext cx="457200" cy="457200"/>
          </a:xfrm>
          <a:prstGeom prst="ellipse">
            <a:avLst/>
          </a:prstGeom>
          <a:solidFill>
            <a:srgbClr val="FFCD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3407" y="1848002"/>
            <a:ext cx="190195" cy="19019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376526" y="1714500"/>
            <a:ext cx="790956" cy="228600"/>
          </a:xfrm>
          <a:prstGeom prst="roundRect">
            <a:avLst>
              <a:gd name="adj" fmla="val 400000"/>
            </a:avLst>
          </a:prstGeom>
          <a:solidFill>
            <a:srgbClr val="FFCD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348179" y="1714500"/>
            <a:ext cx="84856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32F2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PROBLEM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609905" y="2286000"/>
            <a:ext cx="265541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AI 사족 &amp; 메타 발화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t="-360" b="-360"/>
          <a:stretch/>
        </p:blipFill>
        <p:spPr>
          <a:xfrm>
            <a:off x="609905" y="2667305"/>
            <a:ext cx="381305" cy="384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09905" y="2857500"/>
            <a:ext cx="262890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AI 면접관이 질문 대신 "다음 질문을 통해 협업 능력을 검증하겠습니다" 같은 내부 추론 과정·의도를 설명하는 메타 발화(Meta-speech)를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출력하는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현상</a:t>
            </a:r>
            <a:endParaRPr lang="en-US" sz="1000" dirty="0" smtClean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모든</a:t>
            </a: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단계에서 산발적으로 발생(20</a:t>
            </a: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%)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09905" y="4028846"/>
            <a:ext cx="2553005" cy="2066544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rcRect t="-28" b="-28"/>
          <a:stretch/>
        </p:blipFill>
        <p:spPr>
          <a:xfrm>
            <a:off x="771754" y="4262018"/>
            <a:ext cx="2225650" cy="6291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53592" y="4371746"/>
            <a:ext cx="2061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메타 발화 출력 예시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853592" y="4667553"/>
            <a:ext cx="2209648" cy="22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monospace" pitchFamily="34" charset="-120"/>
              </a:rPr>
              <a:t>다음 질문은 지원자의 협업을 평가하는 질문입니다</a:t>
            </a:r>
            <a:r>
              <a:rPr lang="en-US" sz="1000" dirty="0" smtClean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monospace" pitchFamily="34" charset="-120"/>
              </a:rPr>
              <a:t>: </a:t>
            </a:r>
            <a:r>
              <a:rPr lang="ko-KR" altLang="en-US" sz="100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monospace" pitchFamily="34" charset="-120"/>
              </a:rPr>
              <a:t>팀 프로젝트에서 어떻게 </a:t>
            </a:r>
            <a:r>
              <a:rPr lang="ko-KR" altLang="en-US" sz="1000" dirty="0" err="1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monospace" pitchFamily="34" charset="-120"/>
              </a:rPr>
              <a:t>소통하셨나요</a:t>
            </a:r>
            <a:r>
              <a:rPr lang="en-US" altLang="ko-KR" sz="100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monospace" pitchFamily="34" charset="-120"/>
              </a:rPr>
              <a:t>?</a:t>
            </a:r>
            <a:r>
              <a:rPr lang="en-US" sz="1000" dirty="0" smtClean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monospace" pitchFamily="34" charset="-120"/>
              </a:rPr>
              <a:t>"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1826971" y="5005426"/>
            <a:ext cx="114300" cy="152705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rcRect t="-28" b="-28"/>
          <a:stretch/>
        </p:blipFill>
        <p:spPr>
          <a:xfrm>
            <a:off x="771754" y="5234026"/>
            <a:ext cx="2225650" cy="629107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2834640" y="5167274"/>
            <a:ext cx="228600" cy="228600"/>
          </a:xfrm>
          <a:prstGeom prst="ellipse">
            <a:avLst/>
          </a:prstGeom>
          <a:solidFill>
            <a:srgbClr val="D32F2F">
              <a:alpha val="8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2806294" y="5167274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83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⚠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15"/>
          <p:cNvSpPr txBox="1"/>
          <p:nvPr/>
        </p:nvSpPr>
        <p:spPr>
          <a:xfrm>
            <a:off x="895198" y="5357470"/>
            <a:ext cx="2061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32F2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AI 내부 추론 노출 → 몰입감 훼손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6"/>
          <p:cNvSpPr txBox="1"/>
          <p:nvPr/>
        </p:nvSpPr>
        <p:spPr>
          <a:xfrm>
            <a:off x="895198" y="5548579"/>
            <a:ext cx="21396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7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발생 빈도: 전체 오류의 20%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/>
          <a:stretch/>
        </p:blipFill>
        <p:spPr>
          <a:xfrm>
            <a:off x="3818534" y="3690518"/>
            <a:ext cx="342900" cy="342900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9"/>
          <a:srcRect l="-1" r="-1"/>
          <a:stretch/>
        </p:blipFill>
        <p:spPr>
          <a:xfrm>
            <a:off x="4593031" y="1410005"/>
            <a:ext cx="3006547" cy="49149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4821631" y="1714500"/>
            <a:ext cx="457200" cy="457200"/>
          </a:xfrm>
          <a:prstGeom prst="ellipse">
            <a:avLst/>
          </a:prstGeom>
          <a:solidFill>
            <a:srgbClr val="BBDE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954219" y="1848002"/>
            <a:ext cx="190195" cy="190195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6547104" y="1714500"/>
            <a:ext cx="828446" cy="228600"/>
          </a:xfrm>
          <a:prstGeom prst="roundRect">
            <a:avLst>
              <a:gd name="adj" fmla="val 400000"/>
            </a:avLst>
          </a:prstGeom>
          <a:solidFill>
            <a:srgbClr val="BBDE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6518758" y="1714500"/>
            <a:ext cx="8860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976D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SOLUTION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0"/>
          <p:cNvSpPr txBox="1"/>
          <p:nvPr/>
        </p:nvSpPr>
        <p:spPr>
          <a:xfrm>
            <a:off x="4821631" y="2286000"/>
            <a:ext cx="265541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다단계 정규식 정제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1"/>
          <a:srcRect t="-360" b="-360"/>
          <a:stretch/>
        </p:blipFill>
        <p:spPr>
          <a:xfrm>
            <a:off x="4821631" y="2667305"/>
            <a:ext cx="381305" cy="38405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4752138" y="2857500"/>
            <a:ext cx="277794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단순 키워드 제거 → 의미 패턴 기반 다단계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정규식으로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강화</a:t>
            </a:r>
            <a:endParaRPr lang="en-US" sz="1000" dirty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"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제시하겠습니다" 등 서두 문장 삭제,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메타</a:t>
            </a: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키워드 포함 문장 필터링, 물음표(?) 뒤 부연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설명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제거</a:t>
            </a:r>
            <a:endParaRPr lang="en-US" sz="1000" dirty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프롬프트</a:t>
            </a: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전역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제약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추가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Shape 22"/>
          <p:cNvSpPr/>
          <p:nvPr/>
        </p:nvSpPr>
        <p:spPr>
          <a:xfrm>
            <a:off x="4821631" y="3812134"/>
            <a:ext cx="2553005" cy="228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514746" y="4344314"/>
            <a:ext cx="152705" cy="152705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5743346" y="4344314"/>
            <a:ext cx="11228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76D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정제 파이프라인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3"/>
          <a:srcRect l="-202" r="-202"/>
          <a:stretch/>
        </p:blipFill>
        <p:spPr>
          <a:xfrm>
            <a:off x="5205679" y="4572914"/>
            <a:ext cx="1780337" cy="75895"/>
          </a:xfrm>
          <a:prstGeom prst="rect">
            <a:avLst/>
          </a:prstGeom>
        </p:spPr>
      </p:pic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4"/>
          <a:srcRect l="-202" r="-202"/>
          <a:stretch/>
        </p:blipFill>
        <p:spPr>
          <a:xfrm>
            <a:off x="5205679" y="4687214"/>
            <a:ext cx="1780337" cy="75895"/>
          </a:xfrm>
          <a:prstGeom prst="rect">
            <a:avLst/>
          </a:prstGeom>
        </p:spPr>
      </p:pic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5"/>
          <a:srcRect l="-202" r="-202"/>
          <a:stretch/>
        </p:blipFill>
        <p:spPr>
          <a:xfrm>
            <a:off x="5205679" y="4801514"/>
            <a:ext cx="1780337" cy="75895"/>
          </a:xfrm>
          <a:prstGeom prst="rect">
            <a:avLst/>
          </a:prstGeom>
        </p:spPr>
      </p:pic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16"/>
          <a:srcRect l="-202" r="-202"/>
          <a:stretch/>
        </p:blipFill>
        <p:spPr>
          <a:xfrm>
            <a:off x="5205679" y="4915814"/>
            <a:ext cx="1780337" cy="75895"/>
          </a:xfrm>
          <a:prstGeom prst="rect">
            <a:avLst/>
          </a:prstGeom>
        </p:spPr>
      </p:pic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17"/>
          <a:srcRect l="-202" r="-202"/>
          <a:stretch/>
        </p:blipFill>
        <p:spPr>
          <a:xfrm>
            <a:off x="5205679" y="5030114"/>
            <a:ext cx="1780337" cy="75895"/>
          </a:xfrm>
          <a:prstGeom prst="rect">
            <a:avLst/>
          </a:prstGeom>
        </p:spPr>
      </p:pic>
      <p:pic>
        <p:nvPicPr>
          <p:cNvPr id="42" name="Image 16" descr="preencoded.png"/>
          <p:cNvPicPr>
            <a:picLocks noChangeAspect="1"/>
          </p:cNvPicPr>
          <p:nvPr/>
        </p:nvPicPr>
        <p:blipFill>
          <a:blip r:embed="rId18"/>
          <a:srcRect l="-202" r="-202"/>
          <a:stretch/>
        </p:blipFill>
        <p:spPr>
          <a:xfrm>
            <a:off x="5205679" y="5144414"/>
            <a:ext cx="1780337" cy="75895"/>
          </a:xfrm>
          <a:prstGeom prst="rect">
            <a:avLst/>
          </a:prstGeom>
        </p:spPr>
      </p:pic>
      <p:sp>
        <p:nvSpPr>
          <p:cNvPr id="43" name="Text 24"/>
          <p:cNvSpPr txBox="1"/>
          <p:nvPr/>
        </p:nvSpPr>
        <p:spPr>
          <a:xfrm>
            <a:off x="5263119" y="5307178"/>
            <a:ext cx="14381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① 서두 메타 문장 제거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 25"/>
          <p:cNvSpPr txBox="1"/>
          <p:nvPr/>
        </p:nvSpPr>
        <p:spPr>
          <a:xfrm>
            <a:off x="5263119" y="5579397"/>
            <a:ext cx="1747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② 물음표 뒤 부연 설명 삭제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5" name="Image 17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/>
          <a:stretch/>
        </p:blipFill>
        <p:spPr>
          <a:xfrm>
            <a:off x="8030261" y="3690518"/>
            <a:ext cx="342900" cy="342900"/>
          </a:xfrm>
          <a:prstGeom prst="rect">
            <a:avLst/>
          </a:prstGeom>
        </p:spPr>
      </p:pic>
      <p:pic>
        <p:nvPicPr>
          <p:cNvPr id="46" name="Image 18" descr="preencoded.png"/>
          <p:cNvPicPr>
            <a:picLocks noChangeAspect="1"/>
          </p:cNvPicPr>
          <p:nvPr/>
        </p:nvPicPr>
        <p:blipFill>
          <a:blip r:embed="rId19"/>
          <a:srcRect l="-1" r="-1"/>
          <a:stretch/>
        </p:blipFill>
        <p:spPr>
          <a:xfrm>
            <a:off x="8804758" y="1410005"/>
            <a:ext cx="3006547" cy="4914900"/>
          </a:xfrm>
          <a:prstGeom prst="rect">
            <a:avLst/>
          </a:prstGeom>
        </p:spPr>
      </p:pic>
      <p:sp>
        <p:nvSpPr>
          <p:cNvPr id="47" name="Shape 26"/>
          <p:cNvSpPr/>
          <p:nvPr/>
        </p:nvSpPr>
        <p:spPr>
          <a:xfrm>
            <a:off x="9033358" y="1714500"/>
            <a:ext cx="457200" cy="457200"/>
          </a:xfrm>
          <a:prstGeom prst="ellipse">
            <a:avLst/>
          </a:prstGeom>
          <a:solidFill>
            <a:srgbClr val="C8E6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19" descr="preencoded.png"/>
          <p:cNvPicPr>
            <a:picLocks noChangeAspect="1"/>
          </p:cNvPicPr>
          <p:nvPr/>
        </p:nvPicPr>
        <p:blipFill>
          <a:blip r:embed="rId20"/>
          <a:srcRect l="-1282" r="-1282"/>
          <a:stretch/>
        </p:blipFill>
        <p:spPr>
          <a:xfrm>
            <a:off x="9152230" y="1848002"/>
            <a:ext cx="219456" cy="190195"/>
          </a:xfrm>
          <a:prstGeom prst="rect">
            <a:avLst/>
          </a:prstGeom>
        </p:spPr>
      </p:pic>
      <p:sp>
        <p:nvSpPr>
          <p:cNvPr id="49" name="Shape 27"/>
          <p:cNvSpPr/>
          <p:nvPr/>
        </p:nvSpPr>
        <p:spPr>
          <a:xfrm>
            <a:off x="10919765" y="1714500"/>
            <a:ext cx="666598" cy="228600"/>
          </a:xfrm>
          <a:prstGeom prst="roundRect">
            <a:avLst>
              <a:gd name="adj" fmla="val 400000"/>
            </a:avLst>
          </a:prstGeom>
          <a:solidFill>
            <a:srgbClr val="C8E6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28"/>
          <p:cNvSpPr/>
          <p:nvPr/>
        </p:nvSpPr>
        <p:spPr>
          <a:xfrm>
            <a:off x="10891418" y="1714500"/>
            <a:ext cx="7242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EFFECT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 29"/>
          <p:cNvSpPr txBox="1"/>
          <p:nvPr/>
        </p:nvSpPr>
        <p:spPr>
          <a:xfrm>
            <a:off x="9033358" y="2286000"/>
            <a:ext cx="27432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메타 발화 오류 현저히 감소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2" name="Image 20" descr="preencoded.png"/>
          <p:cNvPicPr>
            <a:picLocks noChangeAspect="1"/>
          </p:cNvPicPr>
          <p:nvPr/>
        </p:nvPicPr>
        <p:blipFill>
          <a:blip r:embed="rId21"/>
          <a:srcRect t="-360" b="-360"/>
          <a:stretch/>
        </p:blipFill>
        <p:spPr>
          <a:xfrm>
            <a:off x="9033358" y="2667305"/>
            <a:ext cx="381305" cy="38405"/>
          </a:xfrm>
          <a:prstGeom prst="rect">
            <a:avLst/>
          </a:prstGeom>
        </p:spPr>
      </p:pic>
      <p:sp>
        <p:nvSpPr>
          <p:cNvPr id="53" name="Text 30"/>
          <p:cNvSpPr txBox="1"/>
          <p:nvPr/>
        </p:nvSpPr>
        <p:spPr>
          <a:xfrm>
            <a:off x="8959291" y="2786633"/>
            <a:ext cx="2777947" cy="94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Before: 질문 출력 20% 이상에서 메타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발화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포함</a:t>
            </a:r>
            <a:endParaRPr lang="en-US" sz="1000" dirty="0" smtClean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After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: 다단계 정규식 + 전역 제약 적용 후 메타 발화 오류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현저히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감소</a:t>
            </a:r>
            <a:endParaRPr lang="en-US" sz="1000" dirty="0" smtClean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교훈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: LLM 출력 정제는 의미 패턴 기반 다단계 필터 + 프롬프트 제약을 항상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병행해야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함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Shape 31"/>
          <p:cNvSpPr/>
          <p:nvPr/>
        </p:nvSpPr>
        <p:spPr>
          <a:xfrm>
            <a:off x="9033358" y="3812134"/>
            <a:ext cx="2553005" cy="228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pic>
        <p:nvPicPr>
          <p:cNvPr id="55" name="Image 21" descr="preencoded.png"/>
          <p:cNvPicPr>
            <a:picLocks noChangeAspect="1"/>
          </p:cNvPicPr>
          <p:nvPr/>
        </p:nvPicPr>
        <p:blipFill>
          <a:blip r:embed="rId22"/>
          <a:srcRect t="-8" b="-8"/>
          <a:stretch/>
        </p:blipFill>
        <p:spPr>
          <a:xfrm>
            <a:off x="9195206" y="4249217"/>
            <a:ext cx="2225650" cy="590702"/>
          </a:xfrm>
          <a:prstGeom prst="rect">
            <a:avLst/>
          </a:prstGeom>
        </p:spPr>
      </p:pic>
      <p:sp>
        <p:nvSpPr>
          <p:cNvPr id="56" name="Text 32"/>
          <p:cNvSpPr txBox="1"/>
          <p:nvPr/>
        </p:nvSpPr>
        <p:spPr>
          <a:xfrm>
            <a:off x="9281160" y="4335170"/>
            <a:ext cx="552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Before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7" name="Image 22" descr="preencoded.png"/>
          <p:cNvPicPr>
            <a:picLocks noChangeAspect="1"/>
          </p:cNvPicPr>
          <p:nvPr/>
        </p:nvPicPr>
        <p:blipFill>
          <a:blip r:embed="rId23"/>
          <a:srcRect t="-43" b="-43"/>
          <a:stretch/>
        </p:blipFill>
        <p:spPr>
          <a:xfrm>
            <a:off x="11201400" y="4373575"/>
            <a:ext cx="133502" cy="152705"/>
          </a:xfrm>
          <a:prstGeom prst="rect">
            <a:avLst/>
          </a:prstGeom>
        </p:spPr>
      </p:pic>
      <p:sp>
        <p:nvSpPr>
          <p:cNvPr id="58" name="Text 33"/>
          <p:cNvSpPr txBox="1"/>
          <p:nvPr/>
        </p:nvSpPr>
        <p:spPr>
          <a:xfrm>
            <a:off x="9281160" y="4602175"/>
            <a:ext cx="21396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메타 발화 포함 20%+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9" name="Image 23" descr="preencoded.png"/>
          <p:cNvPicPr>
            <a:picLocks noChangeAspect="1"/>
          </p:cNvPicPr>
          <p:nvPr/>
        </p:nvPicPr>
        <p:blipFill>
          <a:blip r:embed="rId24"/>
          <a:srcRect t="-26" b="-26"/>
          <a:stretch/>
        </p:blipFill>
        <p:spPr>
          <a:xfrm>
            <a:off x="9195206" y="4915814"/>
            <a:ext cx="2225650" cy="743407"/>
          </a:xfrm>
          <a:prstGeom prst="rect">
            <a:avLst/>
          </a:prstGeom>
        </p:spPr>
      </p:pic>
      <p:sp>
        <p:nvSpPr>
          <p:cNvPr id="60" name="Text 34"/>
          <p:cNvSpPr txBox="1"/>
          <p:nvPr/>
        </p:nvSpPr>
        <p:spPr>
          <a:xfrm>
            <a:off x="9281160" y="5001768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After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Text 35"/>
          <p:cNvSpPr txBox="1"/>
          <p:nvPr/>
        </p:nvSpPr>
        <p:spPr>
          <a:xfrm>
            <a:off x="9281160" y="5268773"/>
            <a:ext cx="21342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다단계 정제 적용 → 순수 질문만 출력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A4_Project_2AI1_LA_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김린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7468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81305" y="381305"/>
            <a:ext cx="75895" cy="381305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23829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핵심 </a:t>
            </a:r>
            <a:r>
              <a:rPr lang="en-US" sz="2700" b="1" kern="0" spc="-67" dirty="0" err="1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전략</a:t>
            </a:r>
            <a:r>
              <a:rPr lang="en-US" sz="2700" b="1" kern="0" spc="-67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2700" b="1" kern="0" spc="-67" dirty="0" smtClean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4</a:t>
            </a:r>
            <a:endParaRPr lang="en-US" sz="2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71500" y="838505"/>
            <a:ext cx="11430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발생 비중 26.3% — API 통신 및 프론트엔드 오류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rcRect l="-4" r="-4"/>
          <a:stretch/>
        </p:blipFill>
        <p:spPr>
          <a:xfrm>
            <a:off x="381305" y="1410005"/>
            <a:ext cx="3006547" cy="4914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9905" y="1714500"/>
            <a:ext cx="457200" cy="457200"/>
          </a:xfrm>
          <a:prstGeom prst="ellipse">
            <a:avLst/>
          </a:prstGeom>
          <a:solidFill>
            <a:srgbClr val="FFCD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3407" y="1848002"/>
            <a:ext cx="190195" cy="19019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376526" y="1714500"/>
            <a:ext cx="790956" cy="228600"/>
          </a:xfrm>
          <a:prstGeom prst="roundRect">
            <a:avLst>
              <a:gd name="adj" fmla="val 400000"/>
            </a:avLst>
          </a:prstGeom>
          <a:solidFill>
            <a:srgbClr val="FFCD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348179" y="1714500"/>
            <a:ext cx="84856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32F2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PROBLEM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609905" y="2286000"/>
            <a:ext cx="265541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API 타이밍 &amp; 순서 오류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t="-360" b="-360"/>
          <a:stretch/>
        </p:blipFill>
        <p:spPr>
          <a:xfrm>
            <a:off x="609905" y="2667305"/>
            <a:ext cx="381305" cy="384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8615" y="2772462"/>
            <a:ext cx="262890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답변 완료 전 꼬리질문 조기 생성, DB 쿼리 정렬 기준 미설정으로 리포트 순서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뒤죽박죽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발생</a:t>
            </a: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비동기</a:t>
            </a: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분산 환경에서 상태값(Status) 동기화 누락이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근본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원인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09905" y="4028846"/>
            <a:ext cx="2553005" cy="2066544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rcRect t="-28" b="-28"/>
          <a:stretch/>
        </p:blipFill>
        <p:spPr>
          <a:xfrm>
            <a:off x="771754" y="4262018"/>
            <a:ext cx="2225650" cy="6291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5198" y="4369003"/>
            <a:ext cx="2061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오류 현상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895198" y="4576572"/>
            <a:ext cx="2061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monospace" pitchFamily="34" charset="-120"/>
              </a:rPr>
              <a:t>답변 완료 전 </a:t>
            </a:r>
            <a:r>
              <a:rPr lang="en-US" sz="1000" dirty="0" err="1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monospace" pitchFamily="34" charset="-120"/>
              </a:rPr>
              <a:t>꼬리질문</a:t>
            </a:r>
            <a:r>
              <a:rPr lang="en-US" sz="100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monospace" pitchFamily="34" charset="-120"/>
              </a:rPr>
              <a:t> </a:t>
            </a:r>
            <a:r>
              <a:rPr lang="en-US" sz="1000" dirty="0" err="1" smtClean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monospace" pitchFamily="34" charset="-120"/>
              </a:rPr>
              <a:t>생성</a:t>
            </a:r>
            <a:endParaRPr lang="en-US" sz="1000" dirty="0" smtClean="0">
              <a:solidFill>
                <a:srgbClr val="1F2937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ui-monospace" pitchFamily="34" charset="-120"/>
            </a:endParaRPr>
          </a:p>
          <a:p>
            <a:pPr marL="0" indent="0" algn="l">
              <a:buNone/>
            </a:pPr>
            <a:r>
              <a:rPr lang="en-US" sz="1000" dirty="0" smtClean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monospace" pitchFamily="34" charset="-120"/>
              </a:rPr>
              <a:t> </a:t>
            </a:r>
            <a:r>
              <a:rPr lang="en-US" sz="100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monospace" pitchFamily="34" charset="-120"/>
              </a:rPr>
              <a:t>/ 리포트 순서 역전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1826971" y="5005426"/>
            <a:ext cx="114300" cy="152705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rcRect t="-28" b="-28"/>
          <a:stretch/>
        </p:blipFill>
        <p:spPr>
          <a:xfrm>
            <a:off x="771754" y="5234026"/>
            <a:ext cx="2225650" cy="629107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2834640" y="5167274"/>
            <a:ext cx="228600" cy="228600"/>
          </a:xfrm>
          <a:prstGeom prst="ellipse">
            <a:avLst/>
          </a:prstGeom>
          <a:solidFill>
            <a:srgbClr val="D32F2F">
              <a:alpha val="8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2806294" y="5167274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83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⚠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15"/>
          <p:cNvSpPr txBox="1"/>
          <p:nvPr/>
        </p:nvSpPr>
        <p:spPr>
          <a:xfrm>
            <a:off x="895198" y="5357470"/>
            <a:ext cx="2061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32F2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Race Condition → 리포트 데이터 오염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6"/>
          <p:cNvSpPr txBox="1"/>
          <p:nvPr/>
        </p:nvSpPr>
        <p:spPr>
          <a:xfrm>
            <a:off x="895198" y="5548579"/>
            <a:ext cx="21396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7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면접 논리 흐름 파괴, 콤마 누락 시 워커 데드락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/>
          <a:stretch/>
        </p:blipFill>
        <p:spPr>
          <a:xfrm>
            <a:off x="3818534" y="3690518"/>
            <a:ext cx="342900" cy="342900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9"/>
          <a:srcRect l="-1" r="-1"/>
          <a:stretch/>
        </p:blipFill>
        <p:spPr>
          <a:xfrm>
            <a:off x="4593031" y="1410005"/>
            <a:ext cx="3006547" cy="49149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4821631" y="1714500"/>
            <a:ext cx="457200" cy="457200"/>
          </a:xfrm>
          <a:prstGeom prst="ellipse">
            <a:avLst/>
          </a:prstGeom>
          <a:solidFill>
            <a:srgbClr val="BBDE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954219" y="1848002"/>
            <a:ext cx="190195" cy="190195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6547104" y="1714500"/>
            <a:ext cx="828446" cy="228600"/>
          </a:xfrm>
          <a:prstGeom prst="roundRect">
            <a:avLst>
              <a:gd name="adj" fmla="val 400000"/>
            </a:avLst>
          </a:prstGeom>
          <a:solidFill>
            <a:srgbClr val="BBDE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6518758" y="1714500"/>
            <a:ext cx="8860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976D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SOLUTION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0"/>
          <p:cNvSpPr txBox="1"/>
          <p:nvPr/>
        </p:nvSpPr>
        <p:spPr>
          <a:xfrm>
            <a:off x="4821631" y="2286000"/>
            <a:ext cx="265541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상태 기반 동기화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1"/>
          <a:srcRect t="-360" b="-360"/>
          <a:stretch/>
        </p:blipFill>
        <p:spPr>
          <a:xfrm>
            <a:off x="4821631" y="2667305"/>
            <a:ext cx="381305" cy="38405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4682643" y="2741205"/>
            <a:ext cx="285018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상태 기반 동기화(State-Driven Sync): 답변 DB commit() 확인 후 꼬리질문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태스크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발행</a:t>
            </a:r>
            <a:endParaRPr lang="en-US" sz="1000" dirty="0" smtClean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SQL 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쿼리에 .order_by(Transcript.order)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추가</a:t>
            </a:r>
            <a:endParaRPr lang="en-US" sz="1000" dirty="0" smtClean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시나리오 파일 딕셔너리 쉼표 누락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패치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완료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Shape 22"/>
          <p:cNvSpPr/>
          <p:nvPr/>
        </p:nvSpPr>
        <p:spPr>
          <a:xfrm>
            <a:off x="4821631" y="3812134"/>
            <a:ext cx="2553005" cy="228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6" name="Text 23"/>
          <p:cNvSpPr txBox="1"/>
          <p:nvPr/>
        </p:nvSpPr>
        <p:spPr>
          <a:xfrm>
            <a:off x="5690312" y="4156368"/>
            <a:ext cx="11228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76D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해결 핵심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 24"/>
          <p:cNvSpPr txBox="1"/>
          <p:nvPr/>
        </p:nvSpPr>
        <p:spPr>
          <a:xfrm>
            <a:off x="4887552" y="4445355"/>
            <a:ext cx="2574952" cy="84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DB commit() 확인 후 </a:t>
            </a:r>
            <a:r>
              <a:rPr lang="en-US" sz="1200" dirty="0" err="1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태스크</a:t>
            </a: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200" dirty="0" err="1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발행</a:t>
            </a:r>
            <a:endParaRPr lang="en-US" sz="1200" dirty="0" smtClean="0">
              <a:solidFill>
                <a:srgbClr val="6B72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 smtClean="0">
              <a:solidFill>
                <a:srgbClr val="6B72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ORDER BY </a:t>
            </a:r>
            <a:r>
              <a:rPr lang="en-US" altLang="ko-KR" sz="1200" dirty="0" err="1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명시로</a:t>
            </a:r>
            <a:r>
              <a:rPr lang="en-US" altLang="ko-KR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200" dirty="0" err="1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순서</a:t>
            </a:r>
            <a:r>
              <a:rPr lang="en-US" altLang="ko-KR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200" dirty="0" err="1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보장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5" name="Image 17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/>
          <a:stretch/>
        </p:blipFill>
        <p:spPr>
          <a:xfrm>
            <a:off x="8030261" y="3690518"/>
            <a:ext cx="342900" cy="342900"/>
          </a:xfrm>
          <a:prstGeom prst="rect">
            <a:avLst/>
          </a:prstGeom>
        </p:spPr>
      </p:pic>
      <p:pic>
        <p:nvPicPr>
          <p:cNvPr id="46" name="Image 18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804758" y="1410005"/>
            <a:ext cx="3006547" cy="4914900"/>
          </a:xfrm>
          <a:prstGeom prst="rect">
            <a:avLst/>
          </a:prstGeom>
        </p:spPr>
      </p:pic>
      <p:sp>
        <p:nvSpPr>
          <p:cNvPr id="47" name="Shape 26"/>
          <p:cNvSpPr/>
          <p:nvPr/>
        </p:nvSpPr>
        <p:spPr>
          <a:xfrm>
            <a:off x="9033358" y="1714500"/>
            <a:ext cx="457200" cy="457200"/>
          </a:xfrm>
          <a:prstGeom prst="ellipse">
            <a:avLst/>
          </a:prstGeom>
          <a:solidFill>
            <a:srgbClr val="C8E6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19" descr="preencoded.png"/>
          <p:cNvPicPr>
            <a:picLocks noChangeAspect="1"/>
          </p:cNvPicPr>
          <p:nvPr/>
        </p:nvPicPr>
        <p:blipFill>
          <a:blip r:embed="rId13"/>
          <a:srcRect l="-1282" r="-1282"/>
          <a:stretch/>
        </p:blipFill>
        <p:spPr>
          <a:xfrm>
            <a:off x="9152230" y="1848002"/>
            <a:ext cx="219456" cy="190195"/>
          </a:xfrm>
          <a:prstGeom prst="rect">
            <a:avLst/>
          </a:prstGeom>
        </p:spPr>
      </p:pic>
      <p:sp>
        <p:nvSpPr>
          <p:cNvPr id="49" name="Shape 27"/>
          <p:cNvSpPr/>
          <p:nvPr/>
        </p:nvSpPr>
        <p:spPr>
          <a:xfrm>
            <a:off x="10919765" y="1714500"/>
            <a:ext cx="666598" cy="228600"/>
          </a:xfrm>
          <a:prstGeom prst="roundRect">
            <a:avLst>
              <a:gd name="adj" fmla="val 400000"/>
            </a:avLst>
          </a:prstGeom>
          <a:solidFill>
            <a:srgbClr val="C8E6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28"/>
          <p:cNvSpPr/>
          <p:nvPr/>
        </p:nvSpPr>
        <p:spPr>
          <a:xfrm>
            <a:off x="10891418" y="1714500"/>
            <a:ext cx="7242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EFFECT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 29"/>
          <p:cNvSpPr txBox="1"/>
          <p:nvPr/>
        </p:nvSpPr>
        <p:spPr>
          <a:xfrm>
            <a:off x="8871016" y="2286000"/>
            <a:ext cx="297180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답변-질문 타이밍 100% 정확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2" name="Image 20" descr="preencoded.png"/>
          <p:cNvPicPr>
            <a:picLocks noChangeAspect="1"/>
          </p:cNvPicPr>
          <p:nvPr/>
        </p:nvPicPr>
        <p:blipFill>
          <a:blip r:embed="rId14"/>
          <a:srcRect t="-360" b="-360"/>
          <a:stretch/>
        </p:blipFill>
        <p:spPr>
          <a:xfrm>
            <a:off x="9033358" y="2667305"/>
            <a:ext cx="381305" cy="38405"/>
          </a:xfrm>
          <a:prstGeom prst="rect">
            <a:avLst/>
          </a:prstGeom>
        </p:spPr>
      </p:pic>
      <p:sp>
        <p:nvSpPr>
          <p:cNvPr id="53" name="Text 30"/>
          <p:cNvSpPr txBox="1"/>
          <p:nvPr/>
        </p:nvSpPr>
        <p:spPr>
          <a:xfrm>
            <a:off x="8946278" y="2836303"/>
            <a:ext cx="2809459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Before: 타이밍 꼬임 및 리포트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순서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뒤죽박죽</a:t>
            </a:r>
            <a:endParaRPr lang="en-US" sz="1000" dirty="0" smtClean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After: 사용자 답변 완료 후 정확한 타이밍에 꼬리질문 생성, 리포트 순서 100%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일치</a:t>
            </a:r>
            <a:endParaRPr lang="en-US" sz="1000" dirty="0" smtClean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Race 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Condition을 DB 상태값 기반으로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완벽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제어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Shape 31"/>
          <p:cNvSpPr/>
          <p:nvPr/>
        </p:nvSpPr>
        <p:spPr>
          <a:xfrm>
            <a:off x="9033358" y="3812134"/>
            <a:ext cx="2553005" cy="228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pic>
        <p:nvPicPr>
          <p:cNvPr id="55" name="Image 21" descr="preencoded.png"/>
          <p:cNvPicPr>
            <a:picLocks noChangeAspect="1"/>
          </p:cNvPicPr>
          <p:nvPr/>
        </p:nvPicPr>
        <p:blipFill>
          <a:blip r:embed="rId15"/>
          <a:srcRect t="-8" b="-8"/>
          <a:stretch/>
        </p:blipFill>
        <p:spPr>
          <a:xfrm>
            <a:off x="9195206" y="4249217"/>
            <a:ext cx="2225650" cy="590702"/>
          </a:xfrm>
          <a:prstGeom prst="rect">
            <a:avLst/>
          </a:prstGeom>
        </p:spPr>
      </p:pic>
      <p:sp>
        <p:nvSpPr>
          <p:cNvPr id="56" name="Text 32"/>
          <p:cNvSpPr txBox="1"/>
          <p:nvPr/>
        </p:nvSpPr>
        <p:spPr>
          <a:xfrm>
            <a:off x="9281159" y="4335170"/>
            <a:ext cx="6092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Before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7" name="Image 22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11201400" y="4373575"/>
            <a:ext cx="133502" cy="152705"/>
          </a:xfrm>
          <a:prstGeom prst="rect">
            <a:avLst/>
          </a:prstGeom>
        </p:spPr>
      </p:pic>
      <p:sp>
        <p:nvSpPr>
          <p:cNvPr id="58" name="Text 33"/>
          <p:cNvSpPr txBox="1"/>
          <p:nvPr/>
        </p:nvSpPr>
        <p:spPr>
          <a:xfrm>
            <a:off x="9281160" y="4602175"/>
            <a:ext cx="21396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타이밍 꼬임 / 리포트 오염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9" name="Image 23" descr="preencoded.png"/>
          <p:cNvPicPr>
            <a:picLocks noChangeAspect="1"/>
          </p:cNvPicPr>
          <p:nvPr/>
        </p:nvPicPr>
        <p:blipFill>
          <a:blip r:embed="rId17"/>
          <a:srcRect t="-26" b="-26"/>
          <a:stretch/>
        </p:blipFill>
        <p:spPr>
          <a:xfrm>
            <a:off x="9195206" y="4915814"/>
            <a:ext cx="2225650" cy="743407"/>
          </a:xfrm>
          <a:prstGeom prst="rect">
            <a:avLst/>
          </a:prstGeom>
        </p:spPr>
      </p:pic>
      <p:sp>
        <p:nvSpPr>
          <p:cNvPr id="60" name="Text 34"/>
          <p:cNvSpPr txBox="1"/>
          <p:nvPr/>
        </p:nvSpPr>
        <p:spPr>
          <a:xfrm>
            <a:off x="9281160" y="5001768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After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Text 35"/>
          <p:cNvSpPr txBox="1"/>
          <p:nvPr/>
        </p:nvSpPr>
        <p:spPr>
          <a:xfrm>
            <a:off x="9261958" y="5218013"/>
            <a:ext cx="230154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정확한 타이밍 + 올바른 순서의 리포트 생성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A4_Project_2AI1_LA_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김린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632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81305" y="381305"/>
            <a:ext cx="75895" cy="381305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13578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RESULT</a:t>
            </a:r>
            <a:endParaRPr lang="en-US" sz="2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71500" y="838505"/>
            <a:ext cx="11430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최종 구현 상태 — 7개 모듈 전체 완료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533095" y="1512543"/>
            <a:ext cx="3504895" cy="47621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7649" y="1800454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881" r="-881"/>
          <a:stretch/>
        </p:blipFill>
        <p:spPr>
          <a:xfrm>
            <a:off x="1033272" y="1971446"/>
            <a:ext cx="237744" cy="2670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47649" y="2638044"/>
            <a:ext cx="30678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E2E 파이프라인 완성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751636" y="3073132"/>
            <a:ext cx="30678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이력서 파싱 → 청킹 → 임베딩 → pgvector 저장 → RAG 검색 → 질문생성 → 배치 평가까지</a:t>
            </a:r>
            <a:r>
              <a:rPr lang="en-US" sz="1000" b="1" dirty="0">
                <a:solidFill>
                  <a:srgbClr val="1976D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7개 모듈 전 과정을 단일 시스템 내에 </a:t>
            </a:r>
            <a:r>
              <a:rPr lang="en-US" sz="1000" b="1" dirty="0" err="1">
                <a:solidFill>
                  <a:srgbClr val="1976D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완벽히</a:t>
            </a:r>
            <a:r>
              <a:rPr lang="en-US" sz="1000" b="1" dirty="0">
                <a:solidFill>
                  <a:srgbClr val="1976D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b="1" dirty="0" err="1" smtClean="0">
                <a:solidFill>
                  <a:srgbClr val="1976D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구현</a:t>
            </a:r>
            <a:endParaRPr lang="en-US" sz="1000" dirty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000" dirty="0" smtClean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온프레미스</a:t>
            </a: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GPU 서버에서 EXAONE 3.5 7.8B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운영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중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47649" y="4352544"/>
            <a:ext cx="2876702" cy="1580998"/>
          </a:xfrm>
          <a:prstGeom prst="roundRect">
            <a:avLst>
              <a:gd name="adj" fmla="val 11149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40257" y="4629607"/>
            <a:ext cx="304495" cy="304495"/>
          </a:xfrm>
          <a:prstGeom prst="ellipse">
            <a:avLst/>
          </a:prstGeom>
          <a:solidFill>
            <a:srgbClr val="BBDE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35354" y="4724705"/>
            <a:ext cx="114300" cy="1143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09498" y="4972507"/>
            <a:ext cx="6803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Parsing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3120" r="-3120"/>
          <a:stretch/>
        </p:blipFill>
        <p:spPr>
          <a:xfrm>
            <a:off x="1593799" y="4858207"/>
            <a:ext cx="75895" cy="1143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890979" y="4629607"/>
            <a:ext cx="304495" cy="304495"/>
          </a:xfrm>
          <a:prstGeom prst="ellipse">
            <a:avLst/>
          </a:prstGeom>
          <a:solidFill>
            <a:srgbClr val="90CA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1990649" y="4724705"/>
            <a:ext cx="105156" cy="1143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688897" y="4972507"/>
            <a:ext cx="790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VectorDB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rcRect l="-3120" r="-3120"/>
          <a:stretch/>
        </p:blipFill>
        <p:spPr>
          <a:xfrm>
            <a:off x="2416759" y="4858207"/>
            <a:ext cx="75895" cy="11430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2678901" y="4616640"/>
            <a:ext cx="303871" cy="304495"/>
          </a:xfrm>
          <a:prstGeom prst="ellipse">
            <a:avLst/>
          </a:prstGeom>
          <a:solidFill>
            <a:srgbClr val="64B5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>
            <a:off x="2752344" y="4702594"/>
            <a:ext cx="142646" cy="1143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2511857" y="485820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RAG Gen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6"/>
          <a:srcRect l="-3120" r="-3120"/>
          <a:stretch/>
        </p:blipFill>
        <p:spPr>
          <a:xfrm>
            <a:off x="3154680" y="4858207"/>
            <a:ext cx="75895" cy="1143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3253435" y="4629607"/>
            <a:ext cx="304495" cy="304495"/>
          </a:xfrm>
          <a:prstGeom prst="ellipse">
            <a:avLst/>
          </a:prstGeom>
          <a:solidFill>
            <a:srgbClr val="42A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rcRect l="-1911" r="-1911"/>
          <a:stretch/>
        </p:blipFill>
        <p:spPr>
          <a:xfrm>
            <a:off x="3339389" y="4724705"/>
            <a:ext cx="133502" cy="114300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3249778" y="4972507"/>
            <a:ext cx="391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Eval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0"/>
          <a:srcRect t="-394" b="-394"/>
          <a:stretch/>
        </p:blipFill>
        <p:spPr>
          <a:xfrm>
            <a:off x="1009498" y="5467198"/>
            <a:ext cx="2553005" cy="38405"/>
          </a:xfrm>
          <a:prstGeom prst="rect">
            <a:avLst/>
          </a:prstGeom>
        </p:spPr>
      </p:pic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1"/>
          <a:srcRect t="-394" b="-394"/>
          <a:stretch/>
        </p:blipFill>
        <p:spPr>
          <a:xfrm>
            <a:off x="1009498" y="5467198"/>
            <a:ext cx="2553005" cy="38405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958291" y="5544007"/>
            <a:ext cx="26554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76D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100% Integration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2"/>
          <a:srcRect t="-1" b="-1"/>
          <a:stretch/>
        </p:blipFill>
        <p:spPr>
          <a:xfrm>
            <a:off x="4343400" y="1485900"/>
            <a:ext cx="3504895" cy="4762195"/>
          </a:xfrm>
          <a:prstGeom prst="rect">
            <a:avLst/>
          </a:prstGeom>
        </p:spPr>
      </p:pic>
      <p:sp>
        <p:nvSpPr>
          <p:cNvPr id="32" name="Shape 18"/>
          <p:cNvSpPr/>
          <p:nvPr/>
        </p:nvSpPr>
        <p:spPr>
          <a:xfrm>
            <a:off x="4657954" y="1800454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F3E5F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3"/>
          <a:srcRect l="-881" r="-881"/>
          <a:stretch/>
        </p:blipFill>
        <p:spPr>
          <a:xfrm>
            <a:off x="4843577" y="1971446"/>
            <a:ext cx="237744" cy="267005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4657954" y="2638044"/>
            <a:ext cx="30678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A1B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정량적 성과 달성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20"/>
          <p:cNvSpPr txBox="1"/>
          <p:nvPr/>
        </p:nvSpPr>
        <p:spPr>
          <a:xfrm>
            <a:off x="4657954" y="3057754"/>
            <a:ext cx="29535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GPU 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경합 해소,</a:t>
            </a:r>
            <a:r>
              <a:rPr lang="en-US" sz="1000" b="1" dirty="0">
                <a:solidFill>
                  <a:srgbClr val="7B1F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태스크 오류율 0%</a:t>
            </a: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달성</a:t>
            </a:r>
            <a:endParaRPr lang="en-US" sz="1000" dirty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대기시간</a:t>
            </a: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5</a:t>
            </a: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0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%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단축</a:t>
            </a:r>
            <a:endParaRPr lang="en-US" sz="1000" dirty="0" smtClean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8가지 오류 유형 100% 식별 및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수정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완료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Shape 21"/>
          <p:cNvSpPr/>
          <p:nvPr/>
        </p:nvSpPr>
        <p:spPr>
          <a:xfrm>
            <a:off x="4657954" y="4181551"/>
            <a:ext cx="2876702" cy="1752905"/>
          </a:xfrm>
          <a:prstGeom prst="roundRect">
            <a:avLst>
              <a:gd name="adj" fmla="val 9072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Shape 22"/>
          <p:cNvSpPr/>
          <p:nvPr/>
        </p:nvSpPr>
        <p:spPr>
          <a:xfrm>
            <a:off x="4895698" y="4343400"/>
            <a:ext cx="923544" cy="1086307"/>
          </a:xfrm>
          <a:prstGeom prst="roundRect">
            <a:avLst>
              <a:gd name="adj" fmla="val 1633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Shape 23"/>
          <p:cNvSpPr/>
          <p:nvPr/>
        </p:nvSpPr>
        <p:spPr>
          <a:xfrm>
            <a:off x="4895698" y="4343400"/>
            <a:ext cx="9144" cy="1086307"/>
          </a:xfrm>
          <a:prstGeom prst="roundRect">
            <a:avLst>
              <a:gd name="adj" fmla="val 1649485"/>
            </a:avLst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981651" y="4828946"/>
            <a:ext cx="114300" cy="114300"/>
          </a:xfrm>
          <a:prstGeom prst="rect">
            <a:avLst/>
          </a:prstGeom>
        </p:spPr>
      </p:pic>
      <p:sp>
        <p:nvSpPr>
          <p:cNvPr id="40" name="Text 24"/>
          <p:cNvSpPr txBox="1"/>
          <p:nvPr/>
        </p:nvSpPr>
        <p:spPr>
          <a:xfrm>
            <a:off x="5009998" y="4429354"/>
            <a:ext cx="7818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Web API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 25"/>
          <p:cNvSpPr txBox="1"/>
          <p:nvPr/>
        </p:nvSpPr>
        <p:spPr>
          <a:xfrm>
            <a:off x="5171846" y="4886554"/>
            <a:ext cx="6199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CPU Logic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Shape 26"/>
          <p:cNvSpPr/>
          <p:nvPr/>
        </p:nvSpPr>
        <p:spPr>
          <a:xfrm>
            <a:off x="5820156" y="4677156"/>
            <a:ext cx="571500" cy="228600"/>
          </a:xfrm>
          <a:prstGeom prst="roundRect">
            <a:avLst>
              <a:gd name="adj" fmla="val 133333"/>
            </a:avLst>
          </a:prstGeom>
          <a:solidFill>
            <a:srgbClr val="F3E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27"/>
          <p:cNvSpPr txBox="1"/>
          <p:nvPr/>
        </p:nvSpPr>
        <p:spPr>
          <a:xfrm>
            <a:off x="5820156" y="4677156"/>
            <a:ext cx="6483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0" rIns="381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1F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Celery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15"/>
          <a:srcRect l="-2571" r="-2571"/>
          <a:stretch/>
        </p:blipFill>
        <p:spPr>
          <a:xfrm>
            <a:off x="6051499" y="4943246"/>
            <a:ext cx="105156" cy="114300"/>
          </a:xfrm>
          <a:prstGeom prst="rect">
            <a:avLst/>
          </a:prstGeom>
        </p:spPr>
      </p:pic>
      <p:sp>
        <p:nvSpPr>
          <p:cNvPr id="45" name="Shape 28"/>
          <p:cNvSpPr/>
          <p:nvPr/>
        </p:nvSpPr>
        <p:spPr>
          <a:xfrm>
            <a:off x="6387998" y="4343400"/>
            <a:ext cx="914400" cy="108630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6" name="Shape 29"/>
          <p:cNvSpPr/>
          <p:nvPr/>
        </p:nvSpPr>
        <p:spPr>
          <a:xfrm>
            <a:off x="6387998" y="4343400"/>
            <a:ext cx="9144" cy="1086307"/>
          </a:xfrm>
          <a:prstGeom prst="roundRect">
            <a:avLst>
              <a:gd name="adj" fmla="val 1666667"/>
            </a:avLst>
          </a:prstGeom>
          <a:solidFill>
            <a:srgbClr val="7B1FA2"/>
          </a:solidFill>
          <a:ln w="12700">
            <a:solidFill>
              <a:srgbClr val="7B1FA2">
                <a:alpha val="0"/>
              </a:srgbClr>
            </a:solidFill>
            <a:prstDash val="solid"/>
          </a:ln>
        </p:spPr>
      </p:sp>
      <p:pic>
        <p:nvPicPr>
          <p:cNvPr id="47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473952" y="4828946"/>
            <a:ext cx="114300" cy="114300"/>
          </a:xfrm>
          <a:prstGeom prst="rect">
            <a:avLst/>
          </a:prstGeom>
        </p:spPr>
      </p:pic>
      <p:sp>
        <p:nvSpPr>
          <p:cNvPr id="48" name="Text 30"/>
          <p:cNvSpPr txBox="1"/>
          <p:nvPr/>
        </p:nvSpPr>
        <p:spPr>
          <a:xfrm>
            <a:off x="6525158" y="4438497"/>
            <a:ext cx="801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AI Worker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 31"/>
          <p:cNvSpPr txBox="1"/>
          <p:nvPr/>
        </p:nvSpPr>
        <p:spPr>
          <a:xfrm>
            <a:off x="6664147" y="4886554"/>
            <a:ext cx="609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GPU Task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0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5358384" y="5581498"/>
            <a:ext cx="152705" cy="152705"/>
          </a:xfrm>
          <a:prstGeom prst="rect">
            <a:avLst/>
          </a:prstGeom>
        </p:spPr>
      </p:pic>
      <p:sp>
        <p:nvSpPr>
          <p:cNvPr id="51" name="Text 32"/>
          <p:cNvSpPr txBox="1"/>
          <p:nvPr/>
        </p:nvSpPr>
        <p:spPr>
          <a:xfrm>
            <a:off x="5548579" y="5544007"/>
            <a:ext cx="15307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A1B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8개 오류 100% 해소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18"/>
          <a:srcRect t="-1" b="-1"/>
          <a:stretch/>
        </p:blipFill>
        <p:spPr>
          <a:xfrm>
            <a:off x="8153705" y="1485900"/>
            <a:ext cx="3504895" cy="4762195"/>
          </a:xfrm>
          <a:prstGeom prst="rect">
            <a:avLst/>
          </a:prstGeom>
        </p:spPr>
      </p:pic>
      <p:sp>
        <p:nvSpPr>
          <p:cNvPr id="53" name="Shape 33"/>
          <p:cNvSpPr/>
          <p:nvPr/>
        </p:nvSpPr>
        <p:spPr>
          <a:xfrm>
            <a:off x="8467344" y="1800454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4" name="Image 18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672170" y="1971446"/>
            <a:ext cx="200254" cy="267005"/>
          </a:xfrm>
          <a:prstGeom prst="rect">
            <a:avLst/>
          </a:prstGeom>
        </p:spPr>
      </p:pic>
      <p:sp>
        <p:nvSpPr>
          <p:cNvPr id="55" name="Text 34"/>
          <p:cNvSpPr txBox="1"/>
          <p:nvPr/>
        </p:nvSpPr>
        <p:spPr>
          <a:xfrm>
            <a:off x="8467344" y="2638044"/>
            <a:ext cx="30678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운영 가능 수준 달성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Text 35"/>
          <p:cNvSpPr txBox="1"/>
          <p:nvPr/>
        </p:nvSpPr>
        <p:spPr>
          <a:xfrm>
            <a:off x="8467344" y="3057754"/>
            <a:ext cx="29535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온프레미스 GPU 서버 </a:t>
            </a:r>
            <a:r>
              <a:rPr lang="en-US" sz="1000" b="1" dirty="0" err="1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운영</a:t>
            </a:r>
            <a:r>
              <a:rPr lang="en-US" sz="10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b="1" dirty="0" smtClean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중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61616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Pydantic</a:t>
            </a:r>
            <a:r>
              <a:rPr 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스키마 기반 AI 출력 구조화, 방어적 코드(.get(), Fallback), 에러 격리 구조로 </a:t>
            </a:r>
            <a:r>
              <a:rPr lang="en-US" sz="1000" dirty="0" err="1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운영</a:t>
            </a:r>
            <a:r>
              <a:rPr lang="en-US" sz="1000" dirty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신뢰</a:t>
            </a:r>
            <a:r>
              <a:rPr lang="ko-KR" altLang="en-US" sz="1000" dirty="0" smtClean="0">
                <a:solidFill>
                  <a:srgbClr val="6161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확보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Shape 36"/>
          <p:cNvSpPr/>
          <p:nvPr/>
        </p:nvSpPr>
        <p:spPr>
          <a:xfrm>
            <a:off x="8467344" y="4600346"/>
            <a:ext cx="2876702" cy="1333195"/>
          </a:xfrm>
          <a:prstGeom prst="roundRect">
            <a:avLst>
              <a:gd name="adj" fmla="val 15677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58" name="Image 19" descr="preencoded.png"/>
          <p:cNvPicPr>
            <a:picLocks noChangeAspect="1"/>
          </p:cNvPicPr>
          <p:nvPr/>
        </p:nvPicPr>
        <p:blipFill>
          <a:blip r:embed="rId20"/>
          <a:srcRect l="-34" r="-34"/>
          <a:stretch/>
        </p:blipFill>
        <p:spPr>
          <a:xfrm>
            <a:off x="8630107" y="4762195"/>
            <a:ext cx="851306" cy="1009498"/>
          </a:xfrm>
          <a:prstGeom prst="rect">
            <a:avLst/>
          </a:prstGeom>
        </p:spPr>
      </p:pic>
      <p:pic>
        <p:nvPicPr>
          <p:cNvPr id="59" name="Image 20" descr="preencoded.png"/>
          <p:cNvPicPr>
            <a:picLocks noChangeAspect="1"/>
          </p:cNvPicPr>
          <p:nvPr/>
        </p:nvPicPr>
        <p:blipFill>
          <a:blip r:embed="rId21"/>
          <a:srcRect t="-382" b="-382"/>
          <a:stretch/>
        </p:blipFill>
        <p:spPr>
          <a:xfrm>
            <a:off x="8639251" y="4772254"/>
            <a:ext cx="832104" cy="38405"/>
          </a:xfrm>
          <a:prstGeom prst="rect">
            <a:avLst/>
          </a:prstGeom>
        </p:spPr>
      </p:pic>
      <p:pic>
        <p:nvPicPr>
          <p:cNvPr id="60" name="Image 21" descr="preencoded.png"/>
          <p:cNvPicPr>
            <a:picLocks noChangeAspect="1"/>
          </p:cNvPicPr>
          <p:nvPr/>
        </p:nvPicPr>
        <p:blipFill>
          <a:blip r:embed="rId22"/>
          <a:srcRect t="-370" b="-370"/>
          <a:stretch/>
        </p:blipFill>
        <p:spPr>
          <a:xfrm>
            <a:off x="8677656" y="4848149"/>
            <a:ext cx="566928" cy="38405"/>
          </a:xfrm>
          <a:prstGeom prst="rect">
            <a:avLst/>
          </a:prstGeom>
        </p:spPr>
      </p:pic>
      <p:pic>
        <p:nvPicPr>
          <p:cNvPr id="61" name="Image 22" descr="preencoded.png"/>
          <p:cNvPicPr>
            <a:picLocks noChangeAspect="1"/>
          </p:cNvPicPr>
          <p:nvPr/>
        </p:nvPicPr>
        <p:blipFill>
          <a:blip r:embed="rId23"/>
          <a:srcRect t="-411" b="-411"/>
          <a:stretch/>
        </p:blipFill>
        <p:spPr>
          <a:xfrm>
            <a:off x="8677656" y="4924044"/>
            <a:ext cx="377647" cy="38405"/>
          </a:xfrm>
          <a:prstGeom prst="rect">
            <a:avLst/>
          </a:prstGeom>
        </p:spPr>
      </p:pic>
      <p:pic>
        <p:nvPicPr>
          <p:cNvPr id="62" name="Image 23" descr="preencoded.png"/>
          <p:cNvPicPr>
            <a:picLocks noChangeAspect="1"/>
          </p:cNvPicPr>
          <p:nvPr/>
        </p:nvPicPr>
        <p:blipFill>
          <a:blip r:embed="rId24"/>
          <a:srcRect t="-420" b="-420"/>
          <a:stretch/>
        </p:blipFill>
        <p:spPr>
          <a:xfrm>
            <a:off x="8677656" y="5000854"/>
            <a:ext cx="755294" cy="38405"/>
          </a:xfrm>
          <a:prstGeom prst="rect">
            <a:avLst/>
          </a:prstGeom>
        </p:spPr>
      </p:pic>
      <p:pic>
        <p:nvPicPr>
          <p:cNvPr id="63" name="Image 24" descr="preencoded.png"/>
          <p:cNvPicPr>
            <a:picLocks noChangeAspect="1"/>
          </p:cNvPicPr>
          <p:nvPr/>
        </p:nvPicPr>
        <p:blipFill>
          <a:blip r:embed="rId25"/>
          <a:srcRect t="-380" b="-380"/>
          <a:stretch/>
        </p:blipFill>
        <p:spPr>
          <a:xfrm>
            <a:off x="8677656" y="5076749"/>
            <a:ext cx="503834" cy="38405"/>
          </a:xfrm>
          <a:prstGeom prst="rect">
            <a:avLst/>
          </a:prstGeom>
        </p:spPr>
      </p:pic>
      <p:sp>
        <p:nvSpPr>
          <p:cNvPr id="64" name="Text 37"/>
          <p:cNvSpPr txBox="1"/>
          <p:nvPr/>
        </p:nvSpPr>
        <p:spPr>
          <a:xfrm>
            <a:off x="9134856" y="5495544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A3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PDF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5" name="Image 25" descr="preencoded.png"/>
          <p:cNvPicPr>
            <a:picLocks noChangeAspect="1"/>
          </p:cNvPicPr>
          <p:nvPr/>
        </p:nvPicPr>
        <p:blipFill>
          <a:blip r:embed="rId26"/>
          <a:srcRect l="-1507" r="-1507"/>
          <a:stretch/>
        </p:blipFill>
        <p:spPr>
          <a:xfrm>
            <a:off x="9556394" y="5143500"/>
            <a:ext cx="171907" cy="133502"/>
          </a:xfrm>
          <a:prstGeom prst="rect">
            <a:avLst/>
          </a:prstGeom>
        </p:spPr>
      </p:pic>
      <p:pic>
        <p:nvPicPr>
          <p:cNvPr id="66" name="Image 26" descr="preencoded.png"/>
          <p:cNvPicPr>
            <a:picLocks noChangeAspect="1"/>
          </p:cNvPicPr>
          <p:nvPr/>
        </p:nvPicPr>
        <p:blipFill>
          <a:blip r:embed="rId27"/>
          <a:srcRect l="-2571" r="-2571"/>
          <a:stretch/>
        </p:blipFill>
        <p:spPr>
          <a:xfrm>
            <a:off x="9590227" y="5277002"/>
            <a:ext cx="105156" cy="114300"/>
          </a:xfrm>
          <a:prstGeom prst="rect">
            <a:avLst/>
          </a:prstGeom>
        </p:spPr>
      </p:pic>
      <p:pic>
        <p:nvPicPr>
          <p:cNvPr id="67" name="Image 27" descr="preencoded.png"/>
          <p:cNvPicPr>
            <a:picLocks noChangeAspect="1"/>
          </p:cNvPicPr>
          <p:nvPr/>
        </p:nvPicPr>
        <p:blipFill>
          <a:blip r:embed="rId28"/>
          <a:srcRect l="-14" r="-14"/>
          <a:stretch/>
        </p:blipFill>
        <p:spPr>
          <a:xfrm>
            <a:off x="9804197" y="4762195"/>
            <a:ext cx="1276502" cy="1009498"/>
          </a:xfrm>
          <a:prstGeom prst="rect">
            <a:avLst/>
          </a:prstGeom>
        </p:spPr>
      </p:pic>
      <p:sp>
        <p:nvSpPr>
          <p:cNvPr id="68" name="Text 38"/>
          <p:cNvSpPr txBox="1"/>
          <p:nvPr/>
        </p:nvSpPr>
        <p:spPr>
          <a:xfrm>
            <a:off x="9909353" y="4848149"/>
            <a:ext cx="1162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E22C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"edu"</a:t>
            </a:r>
            <a:r>
              <a:rPr lang="en-US" sz="8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: [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Text 39"/>
          <p:cNvSpPr txBox="1"/>
          <p:nvPr/>
        </p:nvSpPr>
        <p:spPr>
          <a:xfrm>
            <a:off x="9909353" y="4987138"/>
            <a:ext cx="1162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{ </a:t>
            </a:r>
            <a:r>
              <a:rPr lang="en-US" sz="800" dirty="0">
                <a:solidFill>
                  <a:srgbClr val="2563E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"univ"</a:t>
            </a:r>
            <a:r>
              <a:rPr lang="en-US" sz="8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: </a:t>
            </a:r>
            <a:r>
              <a:rPr lang="en-US" sz="800" dirty="0">
                <a:solidFill>
                  <a:srgbClr val="16A3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"A대"</a:t>
            </a:r>
            <a:r>
              <a:rPr lang="en-US" sz="8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, 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0" name="Text 40"/>
          <p:cNvSpPr txBox="1"/>
          <p:nvPr/>
        </p:nvSpPr>
        <p:spPr>
          <a:xfrm>
            <a:off x="9909353" y="5125212"/>
            <a:ext cx="1162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563E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"major"</a:t>
            </a:r>
            <a:r>
              <a:rPr lang="en-US" sz="8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: </a:t>
            </a:r>
            <a:r>
              <a:rPr lang="en-US" sz="800" dirty="0">
                <a:solidFill>
                  <a:srgbClr val="16A3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"CS"</a:t>
            </a:r>
            <a:r>
              <a:rPr lang="en-US" sz="8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 }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1" name="Text 41"/>
          <p:cNvSpPr txBox="1"/>
          <p:nvPr/>
        </p:nvSpPr>
        <p:spPr>
          <a:xfrm>
            <a:off x="9909353" y="5264201"/>
            <a:ext cx="1162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]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A4_Project_2AI1_LA_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김린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12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F0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305" y="381305"/>
            <a:ext cx="75895" cy="381305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226314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REFLECTION</a:t>
            </a:r>
            <a:endParaRPr lang="en-US" sz="2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71500" y="838505"/>
            <a:ext cx="11430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8E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프로젝트 회고 및 소감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457200" y="1410005"/>
            <a:ext cx="5524805" cy="234360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3407" y="1638605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2221" y="1772107"/>
            <a:ext cx="237744" cy="1901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52398" y="1657807"/>
            <a:ext cx="14301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1976D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잘한 점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1352398" y="1809598"/>
            <a:ext cx="166512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47A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기술적 역량 내재화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43407" y="2247595"/>
            <a:ext cx="5009998" cy="1276502"/>
          </a:xfrm>
          <a:prstGeom prst="roundRect">
            <a:avLst>
              <a:gd name="adj" fmla="val 8553"/>
            </a:avLst>
          </a:prstGeom>
          <a:solidFill>
            <a:srgbClr val="F5F9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05256" y="2409444"/>
            <a:ext cx="47631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5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pdfplumber 파싱, RAG 파이프라인, LLM 6레이어 방어 아키텍처,Celery 비동기 처리, pgvector 벡터 검색까지</a:t>
            </a:r>
            <a:r>
              <a:rPr lang="en-US" sz="10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AI 백엔드 전반에 걸친 기술 역량을 내재화. 6레이어 방어형 아키텍처 완성 시 실제 면접관과 구별하기 어려운 수준의 맞춤형 질문이 처음 생성된 순간이 가장 인상 깊었습니다.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7" b="-7"/>
          <a:stretch/>
        </p:blipFill>
        <p:spPr>
          <a:xfrm>
            <a:off x="6210605" y="1410005"/>
            <a:ext cx="5524805" cy="2343607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495898" y="1638605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3E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05626" y="1772107"/>
            <a:ext cx="237744" cy="19019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05802" y="1657807"/>
            <a:ext cx="14301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7B1F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배운 점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7105802" y="1809598"/>
            <a:ext cx="232083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148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협업 구조 합의의 중요성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495898" y="2247595"/>
            <a:ext cx="5009998" cy="1276502"/>
          </a:xfrm>
          <a:prstGeom prst="roundRect">
            <a:avLst>
              <a:gd name="adj" fmla="val 8553"/>
            </a:avLst>
          </a:prstGeom>
          <a:solidFill>
            <a:srgbClr val="FAF5FF"/>
          </a:solidFill>
          <a:ln w="12700">
            <a:solidFill>
              <a:srgbClr val="E1BEE7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657746" y="2409444"/>
            <a:ext cx="47631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태스크 네이밍 불일치 오류(35%)가 반복 발생하면서, 코드 작성 전에</a:t>
            </a:r>
            <a:r>
              <a:rPr lang="en-US" sz="1000" b="1" dirty="0">
                <a:solidFill>
                  <a:srgbClr val="6A1B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인터페이스 명세를 팀 전체와 합의</a:t>
            </a:r>
            <a:r>
              <a:rPr lang="en-US" sz="10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하는 것이 기술적 생산성과 직결된다는 것을 몸으로 배웠습니다. "내 코드"가 아닌 "우리 시스템" 관점으로 사고하는 태도가 형성되었습니다.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457200" y="3981298"/>
            <a:ext cx="5524805" cy="2343607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743407" y="4209898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75995" y="4343400"/>
            <a:ext cx="190195" cy="19019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352398" y="4229100"/>
            <a:ext cx="119329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57C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아쉬운 점 및 극복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17"/>
          <p:cNvSpPr txBox="1"/>
          <p:nvPr/>
        </p:nvSpPr>
        <p:spPr>
          <a:xfrm>
            <a:off x="1352398" y="4381805"/>
            <a:ext cx="13405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651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아쉬운 점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743407" y="4819802"/>
            <a:ext cx="5009998" cy="1276502"/>
          </a:xfrm>
          <a:prstGeom prst="roundRect">
            <a:avLst>
              <a:gd name="adj" fmla="val 8553"/>
            </a:avLst>
          </a:prstGeom>
          <a:solidFill>
            <a:srgbClr val="FFF8E1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905256" y="4981651"/>
            <a:ext cx="47631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스캔 이력서 OCR 지원, WebSocket 실시간 통신 전환을 일정 내 구현하지 못한 점이 아쉽습니다. 초기에</a:t>
            </a:r>
            <a:r>
              <a:rPr lang="en-US" sz="1000" b="1" dirty="0">
                <a:solidFill>
                  <a:srgbClr val="EF6C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태스크 네이밍 컨벤션을 팀 전체와 사전 합의</a:t>
            </a:r>
            <a:r>
              <a:rPr lang="en-US" sz="10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했다면 35%의 태스크 오류를 예방할 수 있었다는 점이 가장 큰 교훈입니다.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rcRect t="-7" b="-7"/>
          <a:stretch/>
        </p:blipFill>
        <p:spPr>
          <a:xfrm>
            <a:off x="6210605" y="3981298"/>
            <a:ext cx="5524805" cy="2343607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6495898" y="4209898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6638544" y="4343400"/>
            <a:ext cx="171907" cy="19019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105802" y="4229100"/>
            <a:ext cx="18114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최종 소감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22"/>
          <p:cNvSpPr txBox="1"/>
          <p:nvPr/>
        </p:nvSpPr>
        <p:spPr>
          <a:xfrm>
            <a:off x="7105802" y="4381805"/>
            <a:ext cx="207111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팀원들에게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6495898" y="4819802"/>
            <a:ext cx="5009998" cy="1276502"/>
          </a:xfrm>
          <a:prstGeom prst="roundRect">
            <a:avLst>
              <a:gd name="adj" fmla="val 8553"/>
            </a:avLst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6657746" y="4981651"/>
            <a:ext cx="47631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어려운 프로젝트를 함께 완주해 주셔서 감사합니다. 각자의 파트에서 최선을 다하면서도 통합 단계에서 서로의 코드를 이해하고 함께 디버깅해 주셨던 경험이</a:t>
            </a:r>
            <a:r>
              <a:rPr lang="en-US" sz="1000" b="1" dirty="0">
                <a:solidFill>
                  <a:srgbClr val="2E7D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이번 프로젝트에서 가장 값진 배움</a:t>
            </a:r>
            <a:r>
              <a:rPr lang="en-US" sz="1000" dirty="0">
                <a:solidFill>
                  <a:srgbClr val="42424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이었습니다.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A4_Project_2AI1_LA_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김린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6683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DB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D4C5D9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571500" y="1115568"/>
            <a:ext cx="43150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12D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BACKGROUND &amp; GOAL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400861"/>
            <a:ext cx="4350715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배경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핵심 목표</a:t>
            </a:r>
            <a:endParaRPr lang="en-US" sz="3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571500" y="2742286"/>
            <a:ext cx="4198925" cy="300014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33602" y="3647542"/>
            <a:ext cx="3552444" cy="19202"/>
          </a:xfrm>
          <a:prstGeom prst="rect">
            <a:avLst/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33602" y="3028493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CE4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7046" y="3151937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2651" y="3094330"/>
            <a:ext cx="26334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218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면접 준비의 한계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933602" y="3856939"/>
            <a:ext cx="28346" cy="70500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1104595" y="3856939"/>
            <a:ext cx="35725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비효율적인 기존 방식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104595" y="4161434"/>
            <a:ext cx="34582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스터디, 기출 암기, 거울 연습 등은 전문성과 실전 대처 능력을 키우는 데 한계가 있음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933602" y="4752137"/>
            <a:ext cx="28346" cy="70500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1104595" y="4752137"/>
            <a:ext cx="35725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객관적 피드백 부재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104595" y="5056632"/>
            <a:ext cx="34582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당락을 가르는 핵심인 '비언어적 요소(시선, 표정, 자세, 목소리)'에 대한 측정 수단 전무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341925" y="779069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8E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65369" y="902513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960974" y="817474"/>
            <a:ext cx="40928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8359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모의면접 시스템 구축 목표</a:t>
            </a:r>
            <a:endParaRPr lang="en-US" sz="2100" dirty="0"/>
          </a:p>
        </p:txBody>
      </p:sp>
      <p:sp>
        <p:nvSpPr>
          <p:cNvPr id="22" name="Shape 17"/>
          <p:cNvSpPr/>
          <p:nvPr/>
        </p:nvSpPr>
        <p:spPr>
          <a:xfrm>
            <a:off x="5341925" y="1540764"/>
            <a:ext cx="6286500" cy="1162202"/>
          </a:xfrm>
          <a:prstGeom prst="roundRect">
            <a:avLst>
              <a:gd name="adj" fmla="val 20637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404" r="-404"/>
          <a:stretch/>
        </p:blipFill>
        <p:spPr>
          <a:xfrm>
            <a:off x="5827471" y="2407615"/>
            <a:ext cx="38405" cy="56967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303874" y="1741018"/>
            <a:ext cx="5315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 smtClean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실전과 동일한 실시간 </a:t>
            </a:r>
            <a:r>
              <a:rPr lang="ko-KR" altLang="en-US" sz="1500" b="1" dirty="0" err="1" smtClean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인터랙션</a:t>
            </a:r>
            <a:r>
              <a:rPr lang="ko-KR" altLang="en-US" sz="1500" b="1" dirty="0" smtClean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경험 제공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303874" y="2074774"/>
            <a:ext cx="52011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dirty="0" smtClean="0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텍스트</a:t>
            </a:r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를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읽고 키보드로 타이핑하는 기존 연습 방식의 한계를 깨고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실제 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면접장과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동일한 현장감을 부여하는 목표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5341925" y="2964213"/>
            <a:ext cx="6286500" cy="1162202"/>
          </a:xfrm>
          <a:prstGeom prst="roundRect">
            <a:avLst>
              <a:gd name="adj" fmla="val 20637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rcRect l="-404" r="-404"/>
          <a:stretch/>
        </p:blipFill>
        <p:spPr>
          <a:xfrm>
            <a:off x="5827471" y="3805733"/>
            <a:ext cx="38405" cy="56967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303874" y="3139135"/>
            <a:ext cx="5315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비언어적 태도 분석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6303874" y="3472891"/>
            <a:ext cx="52011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면접 중 시선 처리, 표정 변화, 자세 등 태도 점수를 객관적으로 수치화하여 피드백 제공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341925" y="4337914"/>
            <a:ext cx="6286500" cy="1505102"/>
          </a:xfrm>
          <a:prstGeom prst="roundRect">
            <a:avLst>
              <a:gd name="adj" fmla="val 12304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rcRect l="-484" r="-484"/>
          <a:stretch/>
        </p:blipFill>
        <p:spPr>
          <a:xfrm>
            <a:off x="10362895" y="4538167"/>
            <a:ext cx="1067105" cy="3520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333634" y="4538167"/>
            <a:ext cx="11247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GOAL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6303874" y="4538167"/>
            <a:ext cx="5315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완벽한 가상 면접관 구현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6303874" y="4871009"/>
            <a:ext cx="52011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 AI 기술을 결합하여 실제 면접관 역할을 완벽하게 수행하는 AI-Worker 모델 설계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6303874" y="5393131"/>
            <a:ext cx="761695" cy="247802"/>
          </a:xfrm>
          <a:prstGeom prst="roundRect">
            <a:avLst>
              <a:gd name="adj" fmla="val 340619"/>
            </a:avLst>
          </a:prstGeom>
          <a:solidFill>
            <a:srgbClr val="512D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8"/>
          <p:cNvSpPr txBox="1"/>
          <p:nvPr/>
        </p:nvSpPr>
        <p:spPr>
          <a:xfrm>
            <a:off x="6303874" y="5393131"/>
            <a:ext cx="8193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LLM(두뇌)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7154266" y="5393131"/>
            <a:ext cx="638251" cy="247802"/>
          </a:xfrm>
          <a:prstGeom prst="roundRect">
            <a:avLst>
              <a:gd name="adj" fmla="val 340619"/>
            </a:avLst>
          </a:prstGeom>
          <a:solidFill>
            <a:srgbClr val="1565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0"/>
          <p:cNvSpPr txBox="1"/>
          <p:nvPr/>
        </p:nvSpPr>
        <p:spPr>
          <a:xfrm>
            <a:off x="7154266" y="5393131"/>
            <a:ext cx="69585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STT(귀)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7880299" y="5393131"/>
            <a:ext cx="847649" cy="247802"/>
          </a:xfrm>
          <a:prstGeom prst="roundRect">
            <a:avLst>
              <a:gd name="adj" fmla="val 340619"/>
            </a:avLst>
          </a:prstGeom>
          <a:solidFill>
            <a:srgbClr val="0083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2"/>
          <p:cNvSpPr txBox="1"/>
          <p:nvPr/>
        </p:nvSpPr>
        <p:spPr>
          <a:xfrm>
            <a:off x="7880299" y="5393131"/>
            <a:ext cx="9052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TTS(목소리)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8815730" y="5393131"/>
            <a:ext cx="761695" cy="247802"/>
          </a:xfrm>
          <a:prstGeom prst="roundRect">
            <a:avLst>
              <a:gd name="adj" fmla="val 340619"/>
            </a:avLst>
          </a:prstGeom>
          <a:solidFill>
            <a:srgbClr val="C218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4"/>
          <p:cNvSpPr txBox="1"/>
          <p:nvPr/>
        </p:nvSpPr>
        <p:spPr>
          <a:xfrm>
            <a:off x="8815730" y="5393131"/>
            <a:ext cx="8193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Vision(눈)</a:t>
            </a:r>
            <a:endParaRPr lang="en-US" sz="900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541264" y="1741018"/>
            <a:ext cx="571500" cy="57150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5512918" y="1741018"/>
            <a:ext cx="6291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541264" y="3139135"/>
            <a:ext cx="571500" cy="57150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512918" y="3139135"/>
            <a:ext cx="6291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541264" y="4538167"/>
            <a:ext cx="571500" cy="57150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5512918" y="4538167"/>
            <a:ext cx="6291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49" name="TextBox 48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A4_Project_2AI1_MA_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조윤재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43483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DB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34" r="-34"/>
          <a:stretch/>
        </p:blipFill>
        <p:spPr>
          <a:xfrm>
            <a:off x="3062326" y="990295"/>
            <a:ext cx="6067044" cy="37124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500323" y="990295"/>
            <a:ext cx="57058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35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온프레미스(On-Premise) 보안 원칙 &amp; Docker Compose 기반 3계층 구조 </a:t>
            </a:r>
            <a:endParaRPr lang="en-US" sz="1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53435" y="1098194"/>
            <a:ext cx="171907" cy="171907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71499" y="195553"/>
            <a:ext cx="11048695" cy="6566535"/>
          </a:xfrm>
          <a:prstGeom prst="roundRect">
            <a:avLst>
              <a:gd name="adj" fmla="val 630"/>
            </a:avLst>
          </a:prstGeom>
          <a:solidFill>
            <a:srgbClr val="FFFFFF">
              <a:alpha val="30000"/>
            </a:srgbClr>
          </a:solidFill>
          <a:ln w="381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rcRect l="-113" r="-113"/>
          <a:stretch/>
        </p:blipFill>
        <p:spPr>
          <a:xfrm>
            <a:off x="886054" y="1549156"/>
            <a:ext cx="3095244" cy="295351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8098" y="1549156"/>
            <a:ext cx="28200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Secure Local Network (No External API) </a:t>
            </a:r>
            <a:endParaRPr lang="en-US" sz="10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28700" y="1630538"/>
            <a:ext cx="133502" cy="133502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2600554" y="1923145"/>
            <a:ext cx="8706002" cy="1739868"/>
          </a:xfrm>
          <a:prstGeom prst="roundRect">
            <a:avLst>
              <a:gd name="adj" fmla="val 5818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7"/>
          <p:cNvSpPr/>
          <p:nvPr/>
        </p:nvSpPr>
        <p:spPr>
          <a:xfrm>
            <a:off x="2752344" y="2107343"/>
            <a:ext cx="2676449" cy="1371478"/>
          </a:xfrm>
          <a:prstGeom prst="roundRect">
            <a:avLst>
              <a:gd name="adj" fmla="val 6883"/>
            </a:avLst>
          </a:prstGeom>
          <a:solidFill>
            <a:srgbClr val="FFFFFF"/>
          </a:solidFill>
          <a:ln/>
          <a:effectLst>
            <a:outerShdw blurRad="762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8"/>
          <p:cNvSpPr/>
          <p:nvPr/>
        </p:nvSpPr>
        <p:spPr>
          <a:xfrm>
            <a:off x="2748420" y="2095794"/>
            <a:ext cx="2676449" cy="38405"/>
          </a:xfrm>
          <a:prstGeom prst="roundRect">
            <a:avLst>
              <a:gd name="adj" fmla="val 285143"/>
            </a:avLst>
          </a:prstGeom>
          <a:solidFill>
            <a:srgbClr val="673AB7"/>
          </a:solidFill>
          <a:ln w="12700">
            <a:solidFill>
              <a:srgbClr val="673A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3899002" y="2259548"/>
            <a:ext cx="381305" cy="381305"/>
          </a:xfrm>
          <a:prstGeom prst="ellipse">
            <a:avLst/>
          </a:prstGeom>
          <a:solidFill>
            <a:srgbClr val="EDE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003243" y="2373121"/>
            <a:ext cx="171907" cy="171907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3623767" y="2708800"/>
            <a:ext cx="933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Worker</a:t>
            </a:r>
            <a:endParaRPr lang="en-US" sz="900" dirty="0"/>
          </a:p>
        </p:txBody>
      </p:sp>
      <p:sp>
        <p:nvSpPr>
          <p:cNvPr id="20" name="Text 11"/>
          <p:cNvSpPr txBox="1"/>
          <p:nvPr/>
        </p:nvSpPr>
        <p:spPr>
          <a:xfrm>
            <a:off x="3709721" y="2979066"/>
            <a:ext cx="762610" cy="449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EXAONE 3.5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추론 엔진</a:t>
            </a:r>
            <a:endParaRPr lang="en-US" sz="900" dirty="0"/>
          </a:p>
        </p:txBody>
      </p:sp>
      <p:sp>
        <p:nvSpPr>
          <p:cNvPr id="24" name="Shape 14"/>
          <p:cNvSpPr/>
          <p:nvPr/>
        </p:nvSpPr>
        <p:spPr>
          <a:xfrm>
            <a:off x="5616245" y="2107343"/>
            <a:ext cx="2676449" cy="1338966"/>
          </a:xfrm>
          <a:prstGeom prst="roundRect">
            <a:avLst>
              <a:gd name="adj" fmla="val 6883"/>
            </a:avLst>
          </a:prstGeom>
          <a:solidFill>
            <a:srgbClr val="FFFFFF"/>
          </a:solidFill>
          <a:ln/>
          <a:effectLst>
            <a:outerShdw blurRad="762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5"/>
          <p:cNvSpPr/>
          <p:nvPr/>
        </p:nvSpPr>
        <p:spPr>
          <a:xfrm>
            <a:off x="5580583" y="2117857"/>
            <a:ext cx="2676449" cy="38405"/>
          </a:xfrm>
          <a:prstGeom prst="roundRect">
            <a:avLst>
              <a:gd name="adj" fmla="val 285143"/>
            </a:avLst>
          </a:prstGeom>
          <a:solidFill>
            <a:srgbClr val="673AB7"/>
          </a:solidFill>
          <a:ln w="12700">
            <a:solidFill>
              <a:srgbClr val="673A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6"/>
          <p:cNvSpPr/>
          <p:nvPr/>
        </p:nvSpPr>
        <p:spPr>
          <a:xfrm>
            <a:off x="6762902" y="2269236"/>
            <a:ext cx="381305" cy="381305"/>
          </a:xfrm>
          <a:prstGeom prst="ellipse">
            <a:avLst/>
          </a:prstGeom>
          <a:solidFill>
            <a:srgbClr val="EDE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rcRect l="-1064" r="-1064"/>
          <a:stretch/>
        </p:blipFill>
        <p:spPr>
          <a:xfrm>
            <a:off x="6843370" y="2373478"/>
            <a:ext cx="219456" cy="171907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6492240" y="2683764"/>
            <a:ext cx="9244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CPU Worker</a:t>
            </a:r>
            <a:endParaRPr lang="en-US" sz="900" dirty="0"/>
          </a:p>
        </p:txBody>
      </p:sp>
      <p:sp>
        <p:nvSpPr>
          <p:cNvPr id="29" name="Text 18"/>
          <p:cNvSpPr txBox="1"/>
          <p:nvPr/>
        </p:nvSpPr>
        <p:spPr>
          <a:xfrm>
            <a:off x="6371539" y="2886184"/>
            <a:ext cx="1172261" cy="54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Faster-Whisper (STT)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Supertonic-2 (TTS)</a:t>
            </a:r>
            <a:endParaRPr lang="en-US" sz="900" dirty="0"/>
          </a:p>
        </p:txBody>
      </p:sp>
      <p:sp>
        <p:nvSpPr>
          <p:cNvPr id="33" name="Shape 21"/>
          <p:cNvSpPr/>
          <p:nvPr/>
        </p:nvSpPr>
        <p:spPr>
          <a:xfrm>
            <a:off x="8480146" y="2107342"/>
            <a:ext cx="2676449" cy="1338965"/>
          </a:xfrm>
          <a:prstGeom prst="roundRect">
            <a:avLst>
              <a:gd name="adj" fmla="val 6883"/>
            </a:avLst>
          </a:prstGeom>
          <a:solidFill>
            <a:srgbClr val="FFFFFF"/>
          </a:solidFill>
          <a:ln/>
          <a:effectLst>
            <a:outerShdw blurRad="762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2"/>
          <p:cNvSpPr/>
          <p:nvPr/>
        </p:nvSpPr>
        <p:spPr>
          <a:xfrm>
            <a:off x="8460841" y="2109057"/>
            <a:ext cx="2676449" cy="38405"/>
          </a:xfrm>
          <a:prstGeom prst="roundRect">
            <a:avLst>
              <a:gd name="adj" fmla="val 285143"/>
            </a:avLst>
          </a:prstGeom>
          <a:solidFill>
            <a:srgbClr val="673AB7"/>
          </a:solidFill>
          <a:ln w="12700">
            <a:solidFill>
              <a:srgbClr val="673A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3"/>
          <p:cNvSpPr/>
          <p:nvPr/>
        </p:nvSpPr>
        <p:spPr>
          <a:xfrm>
            <a:off x="9626803" y="2257800"/>
            <a:ext cx="381305" cy="381305"/>
          </a:xfrm>
          <a:prstGeom prst="ellipse">
            <a:avLst/>
          </a:prstGeom>
          <a:solidFill>
            <a:srgbClr val="EDE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9"/>
          <a:srcRect t="-842" b="-842"/>
          <a:stretch/>
        </p:blipFill>
        <p:spPr>
          <a:xfrm>
            <a:off x="9721901" y="2362042"/>
            <a:ext cx="190195" cy="171907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9270187" y="2666610"/>
            <a:ext cx="11009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 Server</a:t>
            </a:r>
            <a:endParaRPr lang="en-US" sz="900" dirty="0"/>
          </a:p>
        </p:txBody>
      </p:sp>
      <p:sp>
        <p:nvSpPr>
          <p:cNvPr id="38" name="Text 25"/>
          <p:cNvSpPr txBox="1"/>
          <p:nvPr/>
        </p:nvSpPr>
        <p:spPr>
          <a:xfrm>
            <a:off x="9507017" y="2929042"/>
            <a:ext cx="629107" cy="499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MediaPipe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Vision 분석</a:t>
            </a:r>
            <a:endParaRPr lang="en-US" sz="900" dirty="0"/>
          </a:p>
        </p:txBody>
      </p:sp>
      <p:sp>
        <p:nvSpPr>
          <p:cNvPr id="44" name="Shape 29"/>
          <p:cNvSpPr/>
          <p:nvPr/>
        </p:nvSpPr>
        <p:spPr>
          <a:xfrm>
            <a:off x="2600554" y="3837493"/>
            <a:ext cx="8706002" cy="1080276"/>
          </a:xfrm>
          <a:prstGeom prst="roundRect">
            <a:avLst>
              <a:gd name="adj" fmla="val 5818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0"/>
          <p:cNvSpPr/>
          <p:nvPr/>
        </p:nvSpPr>
        <p:spPr>
          <a:xfrm>
            <a:off x="2752344" y="3892865"/>
            <a:ext cx="3362249" cy="923544"/>
          </a:xfrm>
          <a:prstGeom prst="roundRect">
            <a:avLst>
              <a:gd name="adj" fmla="val 6883"/>
            </a:avLst>
          </a:prstGeom>
          <a:solidFill>
            <a:srgbClr val="FFFFFF"/>
          </a:solidFill>
          <a:ln/>
          <a:effectLst>
            <a:outerShdw blurRad="762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1"/>
          <p:cNvSpPr/>
          <p:nvPr/>
        </p:nvSpPr>
        <p:spPr>
          <a:xfrm>
            <a:off x="2748420" y="3870005"/>
            <a:ext cx="3362249" cy="45720"/>
          </a:xfrm>
          <a:prstGeom prst="roundRect">
            <a:avLst>
              <a:gd name="adj" fmla="val 285143"/>
            </a:avLst>
          </a:prstGeom>
          <a:solidFill>
            <a:srgbClr val="1976D2"/>
          </a:solidFill>
          <a:ln w="12700">
            <a:solidFill>
              <a:srgbClr val="1976D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2"/>
          <p:cNvSpPr/>
          <p:nvPr/>
        </p:nvSpPr>
        <p:spPr>
          <a:xfrm>
            <a:off x="4241902" y="3927973"/>
            <a:ext cx="381305" cy="300316"/>
          </a:xfrm>
          <a:prstGeom prst="ellipse">
            <a:avLst/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0"/>
          <a:srcRect l="-1064" r="-1064"/>
          <a:stretch/>
        </p:blipFill>
        <p:spPr>
          <a:xfrm>
            <a:off x="4323283" y="4010891"/>
            <a:ext cx="219456" cy="135394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3823106" y="4292439"/>
            <a:ext cx="1224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 Server</a:t>
            </a:r>
            <a:endParaRPr lang="en-US" sz="1100" dirty="0"/>
          </a:p>
        </p:txBody>
      </p:sp>
      <p:sp>
        <p:nvSpPr>
          <p:cNvPr id="50" name="Text 34"/>
          <p:cNvSpPr txBox="1"/>
          <p:nvPr/>
        </p:nvSpPr>
        <p:spPr>
          <a:xfrm>
            <a:off x="3876142" y="4489215"/>
            <a:ext cx="11146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Gateway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WebSocket Handler</a:t>
            </a:r>
            <a:endParaRPr lang="en-US" sz="900" dirty="0"/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801307" y="4226479"/>
            <a:ext cx="304495" cy="239820"/>
          </a:xfrm>
          <a:prstGeom prst="rect">
            <a:avLst/>
          </a:prstGeom>
        </p:spPr>
      </p:pic>
      <p:sp>
        <p:nvSpPr>
          <p:cNvPr id="55" name="Shape 37"/>
          <p:cNvSpPr/>
          <p:nvPr/>
        </p:nvSpPr>
        <p:spPr>
          <a:xfrm>
            <a:off x="7793431" y="3892865"/>
            <a:ext cx="3362249" cy="923544"/>
          </a:xfrm>
          <a:prstGeom prst="roundRect">
            <a:avLst>
              <a:gd name="adj" fmla="val 6883"/>
            </a:avLst>
          </a:prstGeom>
          <a:solidFill>
            <a:srgbClr val="FFFFFF"/>
          </a:solidFill>
          <a:ln/>
          <a:effectLst>
            <a:outerShdw blurRad="762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38"/>
          <p:cNvSpPr/>
          <p:nvPr/>
        </p:nvSpPr>
        <p:spPr>
          <a:xfrm>
            <a:off x="7794346" y="3842291"/>
            <a:ext cx="3362249" cy="45720"/>
          </a:xfrm>
          <a:prstGeom prst="roundRect">
            <a:avLst>
              <a:gd name="adj" fmla="val 285143"/>
            </a:avLst>
          </a:prstGeom>
          <a:solidFill>
            <a:srgbClr val="1976D2"/>
          </a:solidFill>
          <a:ln w="12700">
            <a:solidFill>
              <a:srgbClr val="1976D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39"/>
          <p:cNvSpPr/>
          <p:nvPr/>
        </p:nvSpPr>
        <p:spPr>
          <a:xfrm>
            <a:off x="9282989" y="3902574"/>
            <a:ext cx="381305" cy="300316"/>
          </a:xfrm>
          <a:prstGeom prst="ellipse">
            <a:avLst/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1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388145" y="3985492"/>
            <a:ext cx="171907" cy="135394"/>
          </a:xfrm>
          <a:prstGeom prst="rect">
            <a:avLst/>
          </a:prstGeom>
        </p:spPr>
      </p:pic>
      <p:sp>
        <p:nvSpPr>
          <p:cNvPr id="59" name="Text 40"/>
          <p:cNvSpPr txBox="1"/>
          <p:nvPr/>
        </p:nvSpPr>
        <p:spPr>
          <a:xfrm>
            <a:off x="8878824" y="4286089"/>
            <a:ext cx="11905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Celery Worker</a:t>
            </a:r>
            <a:endParaRPr lang="en-US" sz="1100" dirty="0"/>
          </a:p>
        </p:txBody>
      </p:sp>
      <p:sp>
        <p:nvSpPr>
          <p:cNvPr id="60" name="Text 41"/>
          <p:cNvSpPr txBox="1"/>
          <p:nvPr/>
        </p:nvSpPr>
        <p:spPr>
          <a:xfrm>
            <a:off x="8961120" y="4502889"/>
            <a:ext cx="10287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Async Task Queue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Job Scheduling</a:t>
            </a:r>
            <a:endParaRPr lang="en-US" sz="900" dirty="0"/>
          </a:p>
        </p:txBody>
      </p:sp>
      <p:sp>
        <p:nvSpPr>
          <p:cNvPr id="66" name="Shape 45"/>
          <p:cNvSpPr/>
          <p:nvPr/>
        </p:nvSpPr>
        <p:spPr>
          <a:xfrm>
            <a:off x="2600554" y="5131414"/>
            <a:ext cx="8706002" cy="1371600"/>
          </a:xfrm>
          <a:prstGeom prst="roundRect">
            <a:avLst>
              <a:gd name="adj" fmla="val 5818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46"/>
          <p:cNvSpPr/>
          <p:nvPr/>
        </p:nvSpPr>
        <p:spPr>
          <a:xfrm>
            <a:off x="2755088" y="5279862"/>
            <a:ext cx="4105656" cy="1106424"/>
          </a:xfrm>
          <a:prstGeom prst="roundRect">
            <a:avLst>
              <a:gd name="adj" fmla="val 6883"/>
            </a:avLst>
          </a:prstGeom>
          <a:solidFill>
            <a:srgbClr val="FFFFFF"/>
          </a:solidFill>
          <a:ln/>
          <a:effectLst>
            <a:outerShdw blurRad="762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47"/>
          <p:cNvSpPr/>
          <p:nvPr/>
        </p:nvSpPr>
        <p:spPr>
          <a:xfrm>
            <a:off x="2755088" y="5279862"/>
            <a:ext cx="4105656" cy="45719"/>
          </a:xfrm>
          <a:prstGeom prst="roundRect">
            <a:avLst>
              <a:gd name="adj" fmla="val 285143"/>
            </a:avLst>
          </a:prstGeom>
          <a:solidFill>
            <a:srgbClr val="00796B"/>
          </a:solidFill>
          <a:ln w="12700">
            <a:solidFill>
              <a:srgbClr val="0079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48"/>
          <p:cNvSpPr/>
          <p:nvPr/>
        </p:nvSpPr>
        <p:spPr>
          <a:xfrm>
            <a:off x="4617721" y="5323754"/>
            <a:ext cx="381305" cy="324306"/>
          </a:xfrm>
          <a:prstGeom prst="ellipse">
            <a:avLst/>
          </a:prstGeom>
          <a:solidFill>
            <a:srgbClr val="E0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0" name="Image 19" descr="preencoded.png"/>
          <p:cNvPicPr>
            <a:picLocks noChangeAspect="1"/>
          </p:cNvPicPr>
          <p:nvPr/>
        </p:nvPicPr>
        <p:blipFill>
          <a:blip r:embed="rId13"/>
          <a:srcRect t="-842" b="-842"/>
          <a:stretch/>
        </p:blipFill>
        <p:spPr>
          <a:xfrm>
            <a:off x="4712818" y="5427995"/>
            <a:ext cx="190195" cy="146210"/>
          </a:xfrm>
          <a:prstGeom prst="rect">
            <a:avLst/>
          </a:prstGeom>
        </p:spPr>
      </p:pic>
      <p:sp>
        <p:nvSpPr>
          <p:cNvPr id="71" name="Text 49"/>
          <p:cNvSpPr txBox="1"/>
          <p:nvPr/>
        </p:nvSpPr>
        <p:spPr>
          <a:xfrm>
            <a:off x="4574743" y="5725973"/>
            <a:ext cx="4672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Redis</a:t>
            </a:r>
            <a:endParaRPr lang="en-US" sz="1100" dirty="0"/>
          </a:p>
        </p:txBody>
      </p:sp>
      <p:sp>
        <p:nvSpPr>
          <p:cNvPr id="72" name="Text 50"/>
          <p:cNvSpPr txBox="1"/>
          <p:nvPr/>
        </p:nvSpPr>
        <p:spPr>
          <a:xfrm>
            <a:off x="4305910" y="5988406"/>
            <a:ext cx="10003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Message Broker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In-Memory Cache</a:t>
            </a:r>
            <a:endParaRPr lang="en-US" sz="900" dirty="0"/>
          </a:p>
        </p:txBody>
      </p:sp>
      <p:sp>
        <p:nvSpPr>
          <p:cNvPr id="76" name="Shape 53"/>
          <p:cNvSpPr/>
          <p:nvPr/>
        </p:nvSpPr>
        <p:spPr>
          <a:xfrm>
            <a:off x="7050939" y="5279862"/>
            <a:ext cx="4105656" cy="1106424"/>
          </a:xfrm>
          <a:prstGeom prst="roundRect">
            <a:avLst>
              <a:gd name="adj" fmla="val 6883"/>
            </a:avLst>
          </a:prstGeom>
          <a:solidFill>
            <a:srgbClr val="FFFFFF"/>
          </a:solidFill>
          <a:ln/>
          <a:effectLst>
            <a:outerShdw blurRad="762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54"/>
          <p:cNvSpPr/>
          <p:nvPr/>
        </p:nvSpPr>
        <p:spPr>
          <a:xfrm>
            <a:off x="7050939" y="5279862"/>
            <a:ext cx="4105656" cy="45719"/>
          </a:xfrm>
          <a:prstGeom prst="roundRect">
            <a:avLst>
              <a:gd name="adj" fmla="val 285143"/>
            </a:avLst>
          </a:prstGeom>
          <a:solidFill>
            <a:srgbClr val="00796B"/>
          </a:solidFill>
          <a:ln w="12700">
            <a:solidFill>
              <a:srgbClr val="0079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55"/>
          <p:cNvSpPr/>
          <p:nvPr/>
        </p:nvSpPr>
        <p:spPr>
          <a:xfrm>
            <a:off x="8913572" y="5323754"/>
            <a:ext cx="381305" cy="324306"/>
          </a:xfrm>
          <a:prstGeom prst="ellipse">
            <a:avLst/>
          </a:prstGeom>
          <a:solidFill>
            <a:srgbClr val="E0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9" name="Image 21" descr="preencoded.png"/>
          <p:cNvPicPr>
            <a:picLocks noChangeAspect="1"/>
          </p:cNvPicPr>
          <p:nvPr/>
        </p:nvPicPr>
        <p:blipFill>
          <a:blip r:embed="rId14"/>
          <a:srcRect l="-760" r="-760"/>
          <a:stretch/>
        </p:blipFill>
        <p:spPr>
          <a:xfrm>
            <a:off x="9027872" y="5427995"/>
            <a:ext cx="152705" cy="146210"/>
          </a:xfrm>
          <a:prstGeom prst="rect">
            <a:avLst/>
          </a:prstGeom>
        </p:spPr>
      </p:pic>
      <p:sp>
        <p:nvSpPr>
          <p:cNvPr id="80" name="Text 56"/>
          <p:cNvSpPr txBox="1"/>
          <p:nvPr/>
        </p:nvSpPr>
        <p:spPr>
          <a:xfrm>
            <a:off x="8641994" y="5725973"/>
            <a:ext cx="9189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81" name="Text 57"/>
          <p:cNvSpPr txBox="1"/>
          <p:nvPr/>
        </p:nvSpPr>
        <p:spPr>
          <a:xfrm>
            <a:off x="8650224" y="5988406"/>
            <a:ext cx="9052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 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Evaluation Logs</a:t>
            </a:r>
            <a:endParaRPr lang="en-US" sz="900" dirty="0"/>
          </a:p>
        </p:txBody>
      </p:sp>
      <p:sp>
        <p:nvSpPr>
          <p:cNvPr id="85" name="Shape 60"/>
          <p:cNvSpPr/>
          <p:nvPr/>
        </p:nvSpPr>
        <p:spPr>
          <a:xfrm>
            <a:off x="886054" y="1923145"/>
            <a:ext cx="1452981" cy="1739866"/>
          </a:xfrm>
          <a:prstGeom prst="roundRect">
            <a:avLst>
              <a:gd name="adj" fmla="val 89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6" name="Text 61"/>
          <p:cNvSpPr txBox="1"/>
          <p:nvPr/>
        </p:nvSpPr>
        <p:spPr>
          <a:xfrm>
            <a:off x="1317089" y="2375666"/>
            <a:ext cx="6099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9E9E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 1</a:t>
            </a:r>
            <a:endParaRPr lang="en-US" sz="900" dirty="0"/>
          </a:p>
        </p:txBody>
      </p:sp>
      <p:sp>
        <p:nvSpPr>
          <p:cNvPr id="87" name="Text 62"/>
          <p:cNvSpPr txBox="1"/>
          <p:nvPr/>
        </p:nvSpPr>
        <p:spPr>
          <a:xfrm>
            <a:off x="1082089" y="2595122"/>
            <a:ext cx="10771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 Engine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(AI Core)</a:t>
            </a:r>
            <a:endParaRPr lang="en-US" sz="1200" dirty="0"/>
          </a:p>
        </p:txBody>
      </p:sp>
      <p:sp>
        <p:nvSpPr>
          <p:cNvPr id="88" name="Shape 60"/>
          <p:cNvSpPr/>
          <p:nvPr/>
        </p:nvSpPr>
        <p:spPr>
          <a:xfrm>
            <a:off x="878739" y="3837492"/>
            <a:ext cx="1452981" cy="1080276"/>
          </a:xfrm>
          <a:prstGeom prst="roundRect">
            <a:avLst>
              <a:gd name="adj" fmla="val 89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0" name="Text 65"/>
          <p:cNvSpPr txBox="1"/>
          <p:nvPr/>
        </p:nvSpPr>
        <p:spPr>
          <a:xfrm>
            <a:off x="1292536" y="4023670"/>
            <a:ext cx="6099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9E9E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 2</a:t>
            </a:r>
            <a:endParaRPr lang="en-US" sz="900" dirty="0"/>
          </a:p>
        </p:txBody>
      </p:sp>
      <p:sp>
        <p:nvSpPr>
          <p:cNvPr id="91" name="Text 66"/>
          <p:cNvSpPr txBox="1"/>
          <p:nvPr/>
        </p:nvSpPr>
        <p:spPr>
          <a:xfrm>
            <a:off x="1176408" y="4242211"/>
            <a:ext cx="8485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Task Logic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(Controller)</a:t>
            </a:r>
            <a:endParaRPr lang="en-US" sz="1200" dirty="0"/>
          </a:p>
        </p:txBody>
      </p:sp>
      <p:sp>
        <p:nvSpPr>
          <p:cNvPr id="93" name="Shape 68"/>
          <p:cNvSpPr/>
          <p:nvPr/>
        </p:nvSpPr>
        <p:spPr>
          <a:xfrm>
            <a:off x="896923" y="5131413"/>
            <a:ext cx="1452981" cy="1362301"/>
          </a:xfrm>
          <a:prstGeom prst="roundRect">
            <a:avLst>
              <a:gd name="adj" fmla="val 89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4" name="Text 69"/>
          <p:cNvSpPr txBox="1"/>
          <p:nvPr/>
        </p:nvSpPr>
        <p:spPr>
          <a:xfrm>
            <a:off x="1307564" y="5495469"/>
            <a:ext cx="6099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9E9E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 3</a:t>
            </a:r>
            <a:endParaRPr lang="en-US" sz="900" dirty="0"/>
          </a:p>
        </p:txBody>
      </p:sp>
      <p:sp>
        <p:nvSpPr>
          <p:cNvPr id="95" name="Text 70"/>
          <p:cNvSpPr txBox="1"/>
          <p:nvPr/>
        </p:nvSpPr>
        <p:spPr>
          <a:xfrm>
            <a:off x="1158517" y="5714925"/>
            <a:ext cx="9052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/ Infra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(Persistence)</a:t>
            </a:r>
            <a:endParaRPr lang="en-US" sz="1200" dirty="0"/>
          </a:p>
        </p:txBody>
      </p:sp>
      <p:sp>
        <p:nvSpPr>
          <p:cNvPr id="73" name="TextBox 72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A4_Project_2AI1_MA_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조윤재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571499" y="310286"/>
            <a:ext cx="1104869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핵심 아키텍처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3713490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D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DB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D1C4E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18795" y="381305"/>
            <a:ext cx="113541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모델 파이프라인 구현 과정</a:t>
            </a:r>
            <a:endParaRPr lang="en-US" sz="2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20" r="-120"/>
          <a:stretch/>
        </p:blipFill>
        <p:spPr>
          <a:xfrm>
            <a:off x="3833165" y="972007"/>
            <a:ext cx="4533595" cy="3712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51960" y="972007"/>
            <a:ext cx="4191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35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구조 수립부터 실서비스 고도화까지의 개발 로드맵 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4023360" y="1078992"/>
            <a:ext cx="152705" cy="171907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399" b="-399"/>
          <a:stretch/>
        </p:blipFill>
        <p:spPr>
          <a:xfrm>
            <a:off x="761695" y="4000500"/>
            <a:ext cx="10668305" cy="57607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4" b="-4"/>
          <a:stretch/>
        </p:blipFill>
        <p:spPr>
          <a:xfrm>
            <a:off x="761695" y="2124151"/>
            <a:ext cx="3429000" cy="38103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61695" y="2180844"/>
            <a:ext cx="3429000" cy="1257300"/>
          </a:xfrm>
          <a:prstGeom prst="rect">
            <a:avLst/>
          </a:prstGeom>
          <a:solidFill>
            <a:srgbClr val="E8E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333549" y="2038198"/>
            <a:ext cx="286207" cy="28620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305202" y="2038198"/>
            <a:ext cx="3429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343607" y="2400300"/>
            <a:ext cx="267005" cy="26700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2012594" y="2743200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949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단계</a:t>
            </a:r>
            <a:endParaRPr lang="en-US" sz="1500" dirty="0"/>
          </a:p>
        </p:txBody>
      </p:sp>
      <p:sp>
        <p:nvSpPr>
          <p:cNvPr id="17" name="Text 9"/>
          <p:cNvSpPr txBox="1"/>
          <p:nvPr/>
        </p:nvSpPr>
        <p:spPr>
          <a:xfrm>
            <a:off x="1850746" y="3066898"/>
            <a:ext cx="12518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49AB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 수립 및 검증</a:t>
            </a:r>
            <a:endParaRPr lang="en-US" sz="1000" dirty="0"/>
          </a:p>
        </p:txBody>
      </p:sp>
      <p:sp>
        <p:nvSpPr>
          <p:cNvPr id="18" name="Shape 10"/>
          <p:cNvSpPr/>
          <p:nvPr/>
        </p:nvSpPr>
        <p:spPr>
          <a:xfrm>
            <a:off x="933602" y="3657600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E8E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85723" y="3709721"/>
            <a:ext cx="123444" cy="123444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276502" y="3629254"/>
            <a:ext cx="2934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싱글톤 패턴 적용</a:t>
            </a:r>
            <a:endParaRPr lang="en-US" sz="1100" dirty="0"/>
          </a:p>
        </p:txBody>
      </p:sp>
      <p:sp>
        <p:nvSpPr>
          <p:cNvPr id="21" name="Text 12"/>
          <p:cNvSpPr txBox="1"/>
          <p:nvPr/>
        </p:nvSpPr>
        <p:spPr>
          <a:xfrm>
            <a:off x="1276502" y="3853282"/>
            <a:ext cx="28200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로딩 지연 문제 해결을 위해 STT(Whisper)와 TTS(Supertonic) 엔진에 싱글톤 패턴 적용</a:t>
            </a:r>
            <a:endParaRPr lang="en-US" sz="900" dirty="0"/>
          </a:p>
        </p:txBody>
      </p:sp>
      <p:sp>
        <p:nvSpPr>
          <p:cNvPr id="22" name="Shape 13"/>
          <p:cNvSpPr/>
          <p:nvPr/>
        </p:nvSpPr>
        <p:spPr>
          <a:xfrm>
            <a:off x="933602" y="4380890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E8E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5723" y="4433011"/>
            <a:ext cx="123444" cy="123444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1276502" y="4351630"/>
            <a:ext cx="2852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Vision 모델 최적화</a:t>
            </a:r>
            <a:endParaRPr lang="en-US" sz="1100" dirty="0"/>
          </a:p>
        </p:txBody>
      </p:sp>
      <p:sp>
        <p:nvSpPr>
          <p:cNvPr id="25" name="Text 15"/>
          <p:cNvSpPr txBox="1"/>
          <p:nvPr/>
        </p:nvSpPr>
        <p:spPr>
          <a:xfrm>
            <a:off x="1276502" y="4575658"/>
            <a:ext cx="28200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무거운 DeepFace에서 실시간 처리에 적합한 경량화된 MediaPipe로 전면 전환</a:t>
            </a:r>
            <a:endParaRPr lang="en-US" sz="9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/>
          <a:srcRect t="-4" b="-4"/>
          <a:stretch/>
        </p:blipFill>
        <p:spPr>
          <a:xfrm>
            <a:off x="4381805" y="2124151"/>
            <a:ext cx="3429000" cy="3810305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4381805" y="2180844"/>
            <a:ext cx="3429000" cy="1257300"/>
          </a:xfrm>
          <a:prstGeom prst="rect">
            <a:avLst/>
          </a:prstGeom>
          <a:solidFill>
            <a:srgbClr val="F3E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952744" y="2038198"/>
            <a:ext cx="286207" cy="286207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924398" y="2038198"/>
            <a:ext cx="3429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928970" y="2400300"/>
            <a:ext cx="333756" cy="267005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5631790" y="2743200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E2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중기 단계</a:t>
            </a:r>
            <a:endParaRPr lang="en-US" sz="1500" dirty="0"/>
          </a:p>
        </p:txBody>
      </p:sp>
      <p:sp>
        <p:nvSpPr>
          <p:cNvPr id="32" name="Text 19"/>
          <p:cNvSpPr txBox="1"/>
          <p:nvPr/>
        </p:nvSpPr>
        <p:spPr>
          <a:xfrm>
            <a:off x="5587898" y="3066898"/>
            <a:ext cx="10250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E24AA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연동</a:t>
            </a:r>
            <a:endParaRPr lang="en-US" sz="1000" dirty="0"/>
          </a:p>
        </p:txBody>
      </p:sp>
      <p:sp>
        <p:nvSpPr>
          <p:cNvPr id="33" name="Shape 20"/>
          <p:cNvSpPr/>
          <p:nvPr/>
        </p:nvSpPr>
        <p:spPr>
          <a:xfrm>
            <a:off x="4552798" y="3657600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F3E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4"/>
          <a:srcRect l="-1358" r="-1358"/>
          <a:stretch/>
        </p:blipFill>
        <p:spPr>
          <a:xfrm>
            <a:off x="4595774" y="3709721"/>
            <a:ext cx="142646" cy="123444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4895698" y="3629254"/>
            <a:ext cx="2934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영상 분석</a:t>
            </a:r>
            <a:endParaRPr lang="en-US" sz="1100" dirty="0"/>
          </a:p>
        </p:txBody>
      </p:sp>
      <p:sp>
        <p:nvSpPr>
          <p:cNvPr id="36" name="Text 22"/>
          <p:cNvSpPr txBox="1"/>
          <p:nvPr/>
        </p:nvSpPr>
        <p:spPr>
          <a:xfrm>
            <a:off x="4895698" y="3853282"/>
            <a:ext cx="28200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WebRTC 영상 프레임을 실시간 샘플링하여 4-Factor(자신감/시선/자세/정서) 가중치 채점 도입</a:t>
            </a:r>
            <a:endParaRPr lang="en-US" sz="900" dirty="0"/>
          </a:p>
        </p:txBody>
      </p:sp>
      <p:sp>
        <p:nvSpPr>
          <p:cNvPr id="37" name="Shape 23"/>
          <p:cNvSpPr/>
          <p:nvPr/>
        </p:nvSpPr>
        <p:spPr>
          <a:xfrm>
            <a:off x="4552798" y="4380890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F3E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5"/>
          <a:srcRect t="-524" b="-524"/>
          <a:stretch/>
        </p:blipFill>
        <p:spPr>
          <a:xfrm>
            <a:off x="4591202" y="4433011"/>
            <a:ext cx="152705" cy="123444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4895698" y="4351630"/>
            <a:ext cx="2934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통합</a:t>
            </a:r>
            <a:endParaRPr lang="en-US" sz="1100" dirty="0"/>
          </a:p>
        </p:txBody>
      </p:sp>
      <p:sp>
        <p:nvSpPr>
          <p:cNvPr id="40" name="Text 25"/>
          <p:cNvSpPr txBox="1"/>
          <p:nvPr/>
        </p:nvSpPr>
        <p:spPr>
          <a:xfrm>
            <a:off x="4895698" y="4575658"/>
            <a:ext cx="28200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STT(음성 인식) 및 TTS(음성 합성) 파이프라인을 유기적으로 통합하여 전체 흐름 연결</a:t>
            </a:r>
            <a:endParaRPr lang="en-US" sz="900" dirty="0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6"/>
          <a:srcRect t="-4" b="-4"/>
          <a:stretch/>
        </p:blipFill>
        <p:spPr>
          <a:xfrm>
            <a:off x="8001000" y="2124151"/>
            <a:ext cx="3429000" cy="3810305"/>
          </a:xfrm>
          <a:prstGeom prst="rect">
            <a:avLst/>
          </a:prstGeom>
        </p:spPr>
      </p:pic>
      <p:sp>
        <p:nvSpPr>
          <p:cNvPr id="42" name="Shape 26"/>
          <p:cNvSpPr/>
          <p:nvPr/>
        </p:nvSpPr>
        <p:spPr>
          <a:xfrm>
            <a:off x="8001000" y="2180844"/>
            <a:ext cx="3429000" cy="1257300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9572854" y="2038198"/>
            <a:ext cx="286207" cy="286207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9544507" y="2038198"/>
            <a:ext cx="3429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pic>
        <p:nvPicPr>
          <p:cNvPr id="45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9581998" y="2400300"/>
            <a:ext cx="267005" cy="267005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9148572" y="2743200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 단계</a:t>
            </a:r>
            <a:endParaRPr lang="en-US" sz="1500" dirty="0"/>
          </a:p>
        </p:txBody>
      </p:sp>
      <p:sp>
        <p:nvSpPr>
          <p:cNvPr id="47" name="Text 29"/>
          <p:cNvSpPr txBox="1"/>
          <p:nvPr/>
        </p:nvSpPr>
        <p:spPr>
          <a:xfrm>
            <a:off x="9179662" y="3066898"/>
            <a:ext cx="10817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실서비스 고도화</a:t>
            </a:r>
            <a:endParaRPr lang="en-US" sz="1000" dirty="0"/>
          </a:p>
        </p:txBody>
      </p:sp>
      <p:sp>
        <p:nvSpPr>
          <p:cNvPr id="48" name="Shape 30"/>
          <p:cNvSpPr/>
          <p:nvPr/>
        </p:nvSpPr>
        <p:spPr>
          <a:xfrm>
            <a:off x="8172907" y="3657600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9"/>
          <a:srcRect t="-1359" b="-1359"/>
          <a:stretch/>
        </p:blipFill>
        <p:spPr>
          <a:xfrm>
            <a:off x="8234172" y="3709721"/>
            <a:ext cx="105156" cy="123444"/>
          </a:xfrm>
          <a:prstGeom prst="rect">
            <a:avLst/>
          </a:prstGeom>
        </p:spPr>
      </p:pic>
      <p:sp>
        <p:nvSpPr>
          <p:cNvPr id="50" name="Text 31"/>
          <p:cNvSpPr txBox="1"/>
          <p:nvPr/>
        </p:nvSpPr>
        <p:spPr>
          <a:xfrm>
            <a:off x="8515807" y="3629254"/>
            <a:ext cx="2852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동기화 및 락(Lock) 적용</a:t>
            </a:r>
            <a:endParaRPr lang="en-US" sz="1100" dirty="0"/>
          </a:p>
        </p:txBody>
      </p:sp>
      <p:sp>
        <p:nvSpPr>
          <p:cNvPr id="51" name="Text 32"/>
          <p:cNvSpPr txBox="1"/>
          <p:nvPr/>
        </p:nvSpPr>
        <p:spPr>
          <a:xfrm>
            <a:off x="8515807" y="3853282"/>
            <a:ext cx="28200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TTS 중복 생성 방지 이중 스킵 로직 및 동시 합성 직렬화 락(threading.Lock) 적용</a:t>
            </a:r>
            <a:endParaRPr lang="en-US" sz="900" dirty="0"/>
          </a:p>
        </p:txBody>
      </p:sp>
      <p:sp>
        <p:nvSpPr>
          <p:cNvPr id="52" name="Shape 33"/>
          <p:cNvSpPr/>
          <p:nvPr/>
        </p:nvSpPr>
        <p:spPr>
          <a:xfrm>
            <a:off x="8172907" y="4380890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8225028" y="4433011"/>
            <a:ext cx="123444" cy="123444"/>
          </a:xfrm>
          <a:prstGeom prst="rect">
            <a:avLst/>
          </a:prstGeom>
        </p:spPr>
      </p:pic>
      <p:sp>
        <p:nvSpPr>
          <p:cNvPr id="54" name="Text 34"/>
          <p:cNvSpPr txBox="1"/>
          <p:nvPr/>
        </p:nvSpPr>
        <p:spPr>
          <a:xfrm>
            <a:off x="8515807" y="4351630"/>
            <a:ext cx="2934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방어적 코드 구축</a:t>
            </a:r>
            <a:endParaRPr lang="en-US" sz="1100" dirty="0"/>
          </a:p>
        </p:txBody>
      </p:sp>
      <p:sp>
        <p:nvSpPr>
          <p:cNvPr id="55" name="Text 35"/>
          <p:cNvSpPr txBox="1"/>
          <p:nvPr/>
        </p:nvSpPr>
        <p:spPr>
          <a:xfrm>
            <a:off x="8515807" y="4575658"/>
            <a:ext cx="28200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환각 방어 등 동기화 오류를 해결하여 예외 상황에서도 안정적인 서비스 구현</a:t>
            </a:r>
            <a:endParaRPr lang="en-US" sz="900" dirty="0"/>
          </a:p>
        </p:txBody>
      </p:sp>
      <p:pic>
        <p:nvPicPr>
          <p:cNvPr id="56" name="Image 18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4107485" y="3838651"/>
            <a:ext cx="381305" cy="381305"/>
          </a:xfrm>
          <a:prstGeom prst="rect">
            <a:avLst/>
          </a:prstGeom>
        </p:spPr>
      </p:pic>
      <p:pic>
        <p:nvPicPr>
          <p:cNvPr id="57" name="Image 19" descr="preencoded.png"/>
          <p:cNvPicPr>
            <a:picLocks noChangeAspect="1"/>
          </p:cNvPicPr>
          <p:nvPr/>
        </p:nvPicPr>
        <p:blipFill>
          <a:blip r:embed="rId22"/>
          <a:srcRect t="-80" b="-80"/>
          <a:stretch/>
        </p:blipFill>
        <p:spPr>
          <a:xfrm>
            <a:off x="4226357" y="3914546"/>
            <a:ext cx="142646" cy="228600"/>
          </a:xfrm>
          <a:prstGeom prst="rect">
            <a:avLst/>
          </a:prstGeom>
        </p:spPr>
      </p:pic>
      <p:pic>
        <p:nvPicPr>
          <p:cNvPr id="58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7808976" y="3838651"/>
            <a:ext cx="381305" cy="381305"/>
          </a:xfrm>
          <a:prstGeom prst="rect">
            <a:avLst/>
          </a:prstGeom>
        </p:spPr>
      </p:pic>
      <p:pic>
        <p:nvPicPr>
          <p:cNvPr id="59" name="Image 21" descr="preencoded.png"/>
          <p:cNvPicPr>
            <a:picLocks noChangeAspect="1"/>
          </p:cNvPicPr>
          <p:nvPr/>
        </p:nvPicPr>
        <p:blipFill>
          <a:blip r:embed="rId22"/>
          <a:srcRect t="-80" b="-80"/>
          <a:stretch/>
        </p:blipFill>
        <p:spPr>
          <a:xfrm>
            <a:off x="7927848" y="3914546"/>
            <a:ext cx="142646" cy="2286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A4_Project_2AI1_MA_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조윤재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2315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DB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0" y="-1143000"/>
            <a:ext cx="3810305" cy="3810305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952805" y="3047695"/>
            <a:ext cx="4762195" cy="4762195"/>
          </a:xfrm>
          <a:prstGeom prst="ellipse">
            <a:avLst/>
          </a:prstGeom>
          <a:solidFill>
            <a:srgbClr val="D1C4E9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18795" y="381305"/>
            <a:ext cx="113541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복합 AI 병렬 실행의 구조적 난제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00" r="-100"/>
          <a:stretch/>
        </p:blipFill>
        <p:spPr>
          <a:xfrm>
            <a:off x="3437230" y="1019556"/>
            <a:ext cx="5324551" cy="3712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75227" y="1019556"/>
            <a:ext cx="49633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3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자원 독점, 데이터 오염, 동시성 충돌로 인한 시스템 붕괴 위험 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27425" y="1126541"/>
            <a:ext cx="171907" cy="171907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571500" y="1676095"/>
            <a:ext cx="3524098" cy="470550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00707" y="1990649"/>
            <a:ext cx="666598" cy="666598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l="-50" r="-50"/>
          <a:stretch/>
        </p:blipFill>
        <p:spPr>
          <a:xfrm>
            <a:off x="2162556" y="2171700"/>
            <a:ext cx="342900" cy="30449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217981" y="2848356"/>
            <a:ext cx="223296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자원(CPU) 독점</a:t>
            </a:r>
            <a:endParaRPr lang="en-US" sz="1600" dirty="0"/>
          </a:p>
        </p:txBody>
      </p:sp>
      <p:sp>
        <p:nvSpPr>
          <p:cNvPr id="14" name="Text 7"/>
          <p:cNvSpPr txBox="1"/>
          <p:nvPr/>
        </p:nvSpPr>
        <p:spPr>
          <a:xfrm>
            <a:off x="1516990" y="3147365"/>
            <a:ext cx="1638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C62828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Resource Depletion</a:t>
            </a:r>
            <a:endParaRPr lang="en-US" sz="9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rcRect l="-445" r="-445"/>
          <a:stretch/>
        </p:blipFill>
        <p:spPr>
          <a:xfrm>
            <a:off x="2143354" y="3475634"/>
            <a:ext cx="381305" cy="28346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695" y="3695090"/>
            <a:ext cx="57607" cy="57607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895198" y="3647542"/>
            <a:ext cx="30861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무거운 비전 모델이 한정된 CPU 자원을 100%까지 점유하여 연산 병목 발생</a:t>
            </a:r>
            <a:endParaRPr lang="en-US" sz="10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695" y="4163263"/>
            <a:ext cx="57607" cy="57607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895198" y="4115714"/>
            <a:ext cx="30861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STT/TTS 작업이 큐(Queue)에 갇혀 응답 대기 시간이 최대 150초까지 지연</a:t>
            </a:r>
            <a:endParaRPr lang="en-US" sz="1000" dirty="0"/>
          </a:p>
        </p:txBody>
      </p:sp>
      <p:sp>
        <p:nvSpPr>
          <p:cNvPr id="20" name="Shape 10"/>
          <p:cNvSpPr/>
          <p:nvPr/>
        </p:nvSpPr>
        <p:spPr>
          <a:xfrm>
            <a:off x="761695" y="5577840"/>
            <a:ext cx="3143707" cy="571500"/>
          </a:xfrm>
          <a:prstGeom prst="roundRect">
            <a:avLst>
              <a:gd name="adj" fmla="val 53333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1"/>
          <p:cNvSpPr/>
          <p:nvPr/>
        </p:nvSpPr>
        <p:spPr>
          <a:xfrm>
            <a:off x="761695" y="5577840"/>
            <a:ext cx="38405" cy="571500"/>
          </a:xfrm>
          <a:prstGeom prst="roundRect">
            <a:avLst>
              <a:gd name="adj" fmla="val 793647"/>
            </a:avLst>
          </a:prstGeom>
          <a:solidFill>
            <a:srgbClr val="9E9E9E"/>
          </a:solidFill>
          <a:ln w="12700">
            <a:solidFill>
              <a:srgbClr val="9E9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2"/>
          <p:cNvSpPr txBox="1"/>
          <p:nvPr/>
        </p:nvSpPr>
        <p:spPr>
          <a:xfrm>
            <a:off x="857707" y="5692140"/>
            <a:ext cx="2991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 IMPACT</a:t>
            </a:r>
            <a:endParaRPr lang="en-US" sz="800" dirty="0"/>
          </a:p>
        </p:txBody>
      </p:sp>
      <p:sp>
        <p:nvSpPr>
          <p:cNvPr id="23" name="Text 13"/>
          <p:cNvSpPr txBox="1"/>
          <p:nvPr/>
        </p:nvSpPr>
        <p:spPr>
          <a:xfrm>
            <a:off x="819302" y="5868619"/>
            <a:ext cx="3067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3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실시간성 붕괴 및 치명적 지연</a:t>
            </a:r>
            <a:endParaRPr lang="en-US" sz="9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0"/>
          <a:srcRect t="-4" b="-4"/>
          <a:stretch/>
        </p:blipFill>
        <p:spPr>
          <a:xfrm>
            <a:off x="4334256" y="1676095"/>
            <a:ext cx="3524098" cy="4705502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762549" y="1990649"/>
            <a:ext cx="666598" cy="666598"/>
          </a:xfrm>
          <a:prstGeom prst="rect">
            <a:avLst/>
          </a:prstGeom>
        </p:spPr>
      </p:pic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943600" y="2171700"/>
            <a:ext cx="304495" cy="304495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4777740" y="2848356"/>
            <a:ext cx="26371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비정상 데이터 연쇄 전파</a:t>
            </a:r>
            <a:endParaRPr lang="en-US" sz="1600" dirty="0"/>
          </a:p>
        </p:txBody>
      </p:sp>
      <p:sp>
        <p:nvSpPr>
          <p:cNvPr id="28" name="Text 15"/>
          <p:cNvSpPr txBox="1"/>
          <p:nvPr/>
        </p:nvSpPr>
        <p:spPr>
          <a:xfrm>
            <a:off x="5250485" y="3147365"/>
            <a:ext cx="169438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EF6C0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Quality Degradation</a:t>
            </a:r>
            <a:endParaRPr lang="en-US" sz="9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8"/>
          <a:srcRect l="-445" r="-445"/>
          <a:stretch/>
        </p:blipFill>
        <p:spPr>
          <a:xfrm>
            <a:off x="5905195" y="3475634"/>
            <a:ext cx="381305" cy="28346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524451" y="3695090"/>
            <a:ext cx="57607" cy="57607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4657954" y="3647542"/>
            <a:ext cx="30861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무음/잡음을 텍스트로 오인식한 환각 데이터가 필터링 없이 LLM으로 전파</a:t>
            </a:r>
            <a:endParaRPr lang="en-US" sz="1000" dirty="0"/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524451" y="4163263"/>
            <a:ext cx="57607" cy="57607"/>
          </a:xfrm>
          <a:prstGeom prst="rect">
            <a:avLst/>
          </a:prstGeom>
        </p:spPr>
      </p:pic>
      <p:sp>
        <p:nvSpPr>
          <p:cNvPr id="33" name="Text 17"/>
          <p:cNvSpPr txBox="1"/>
          <p:nvPr/>
        </p:nvSpPr>
        <p:spPr>
          <a:xfrm>
            <a:off x="4657954" y="4115714"/>
            <a:ext cx="30861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모듈 오작동이 전체 대화 흐름을 왜곡하여 논리적 동기화 붕괴 유발</a:t>
            </a:r>
            <a:endParaRPr lang="en-US" sz="1000" dirty="0"/>
          </a:p>
        </p:txBody>
      </p:sp>
      <p:sp>
        <p:nvSpPr>
          <p:cNvPr id="34" name="Shape 18"/>
          <p:cNvSpPr/>
          <p:nvPr/>
        </p:nvSpPr>
        <p:spPr>
          <a:xfrm>
            <a:off x="4524451" y="5577840"/>
            <a:ext cx="3143707" cy="571500"/>
          </a:xfrm>
          <a:prstGeom prst="roundRect">
            <a:avLst>
              <a:gd name="adj" fmla="val 53333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19"/>
          <p:cNvSpPr/>
          <p:nvPr/>
        </p:nvSpPr>
        <p:spPr>
          <a:xfrm>
            <a:off x="4524451" y="5577840"/>
            <a:ext cx="38405" cy="571500"/>
          </a:xfrm>
          <a:prstGeom prst="roundRect">
            <a:avLst>
              <a:gd name="adj" fmla="val 793647"/>
            </a:avLst>
          </a:prstGeom>
          <a:solidFill>
            <a:srgbClr val="9E9E9E"/>
          </a:solidFill>
          <a:ln w="12700">
            <a:solidFill>
              <a:srgbClr val="9E9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0"/>
          <p:cNvSpPr txBox="1"/>
          <p:nvPr/>
        </p:nvSpPr>
        <p:spPr>
          <a:xfrm>
            <a:off x="4619549" y="5692140"/>
            <a:ext cx="2991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 IMPACT</a:t>
            </a:r>
            <a:endParaRPr lang="en-US" sz="800" dirty="0"/>
          </a:p>
        </p:txBody>
      </p:sp>
      <p:sp>
        <p:nvSpPr>
          <p:cNvPr id="37" name="Text 21"/>
          <p:cNvSpPr txBox="1"/>
          <p:nvPr/>
        </p:nvSpPr>
        <p:spPr>
          <a:xfrm>
            <a:off x="4581144" y="5868619"/>
            <a:ext cx="3067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3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 단절 및 엉뚱한 대화 발생</a:t>
            </a:r>
            <a:endParaRPr lang="en-US" sz="9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4"/>
          <a:srcRect t="-4" b="-4"/>
          <a:stretch/>
        </p:blipFill>
        <p:spPr>
          <a:xfrm>
            <a:off x="8096098" y="1676095"/>
            <a:ext cx="3524098" cy="4705502"/>
          </a:xfrm>
          <a:prstGeom prst="rect">
            <a:avLst/>
          </a:prstGeom>
        </p:spPr>
      </p:pic>
      <p:pic>
        <p:nvPicPr>
          <p:cNvPr id="39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525305" y="1990649"/>
            <a:ext cx="666598" cy="666598"/>
          </a:xfrm>
          <a:prstGeom prst="rect">
            <a:avLst/>
          </a:prstGeom>
        </p:spPr>
      </p:pic>
      <p:pic>
        <p:nvPicPr>
          <p:cNvPr id="40" name="Image 16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9706356" y="2171700"/>
            <a:ext cx="304495" cy="304495"/>
          </a:xfrm>
          <a:prstGeom prst="rect">
            <a:avLst/>
          </a:prstGeom>
        </p:spPr>
      </p:pic>
      <p:sp>
        <p:nvSpPr>
          <p:cNvPr id="41" name="Text 22"/>
          <p:cNvSpPr txBox="1"/>
          <p:nvPr/>
        </p:nvSpPr>
        <p:spPr>
          <a:xfrm>
            <a:off x="8946490" y="2848356"/>
            <a:ext cx="183337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스레드 충돌</a:t>
            </a:r>
            <a:endParaRPr lang="en-US" sz="1600" dirty="0"/>
          </a:p>
        </p:txBody>
      </p:sp>
      <p:sp>
        <p:nvSpPr>
          <p:cNvPr id="42" name="Text 23"/>
          <p:cNvSpPr txBox="1"/>
          <p:nvPr/>
        </p:nvSpPr>
        <p:spPr>
          <a:xfrm>
            <a:off x="9060790" y="3147365"/>
            <a:ext cx="1600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8E24AA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Instability</a:t>
            </a:r>
            <a:endParaRPr lang="en-US" sz="900" dirty="0"/>
          </a:p>
        </p:txBody>
      </p:sp>
      <p:pic>
        <p:nvPicPr>
          <p:cNvPr id="43" name="Image 17" descr="preencoded.png"/>
          <p:cNvPicPr>
            <a:picLocks noChangeAspect="1"/>
          </p:cNvPicPr>
          <p:nvPr/>
        </p:nvPicPr>
        <p:blipFill>
          <a:blip r:embed="rId8"/>
          <a:srcRect l="-445" r="-445"/>
          <a:stretch/>
        </p:blipFill>
        <p:spPr>
          <a:xfrm>
            <a:off x="9667951" y="3475634"/>
            <a:ext cx="381305" cy="28346"/>
          </a:xfrm>
          <a:prstGeom prst="rect">
            <a:avLst/>
          </a:prstGeom>
        </p:spPr>
      </p:pic>
      <p:pic>
        <p:nvPicPr>
          <p:cNvPr id="44" name="Image 18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287207" y="3695090"/>
            <a:ext cx="57607" cy="57607"/>
          </a:xfrm>
          <a:prstGeom prst="rect">
            <a:avLst/>
          </a:prstGeom>
        </p:spPr>
      </p:pic>
      <p:sp>
        <p:nvSpPr>
          <p:cNvPr id="45" name="Text 24"/>
          <p:cNvSpPr txBox="1"/>
          <p:nvPr/>
        </p:nvSpPr>
        <p:spPr>
          <a:xfrm>
            <a:off x="8419795" y="3647542"/>
            <a:ext cx="30861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복수 요청 동시 접근 시 내부 상태 충돌(Race Condition) 발생</a:t>
            </a:r>
            <a:endParaRPr lang="en-US" sz="1000" dirty="0"/>
          </a:p>
        </p:txBody>
      </p:sp>
      <p:pic>
        <p:nvPicPr>
          <p:cNvPr id="46" name="Image 19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287207" y="4163263"/>
            <a:ext cx="57607" cy="57607"/>
          </a:xfrm>
          <a:prstGeom prst="rect">
            <a:avLst/>
          </a:prstGeom>
        </p:spPr>
      </p:pic>
      <p:sp>
        <p:nvSpPr>
          <p:cNvPr id="47" name="Text 25"/>
          <p:cNvSpPr txBox="1"/>
          <p:nvPr/>
        </p:nvSpPr>
        <p:spPr>
          <a:xfrm>
            <a:off x="8419795" y="4115714"/>
            <a:ext cx="30861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 음성에 심한 잡음/끊김 발생 및 중복 연산 폭주로 연쇄 마비 초래</a:t>
            </a:r>
            <a:endParaRPr lang="en-US" sz="1000" dirty="0"/>
          </a:p>
        </p:txBody>
      </p:sp>
      <p:sp>
        <p:nvSpPr>
          <p:cNvPr id="48" name="Shape 26"/>
          <p:cNvSpPr/>
          <p:nvPr/>
        </p:nvSpPr>
        <p:spPr>
          <a:xfrm>
            <a:off x="8287207" y="5577840"/>
            <a:ext cx="3143707" cy="571500"/>
          </a:xfrm>
          <a:prstGeom prst="roundRect">
            <a:avLst>
              <a:gd name="adj" fmla="val 53333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27"/>
          <p:cNvSpPr/>
          <p:nvPr/>
        </p:nvSpPr>
        <p:spPr>
          <a:xfrm>
            <a:off x="8287207" y="5577840"/>
            <a:ext cx="38405" cy="571500"/>
          </a:xfrm>
          <a:prstGeom prst="roundRect">
            <a:avLst>
              <a:gd name="adj" fmla="val 793647"/>
            </a:avLst>
          </a:prstGeom>
          <a:solidFill>
            <a:srgbClr val="9E9E9E"/>
          </a:solidFill>
          <a:ln w="12700">
            <a:solidFill>
              <a:srgbClr val="9E9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28"/>
          <p:cNvSpPr txBox="1"/>
          <p:nvPr/>
        </p:nvSpPr>
        <p:spPr>
          <a:xfrm>
            <a:off x="8382305" y="5692140"/>
            <a:ext cx="2991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 IMPACT</a:t>
            </a:r>
            <a:endParaRPr lang="en-US" sz="800" dirty="0"/>
          </a:p>
        </p:txBody>
      </p:sp>
      <p:sp>
        <p:nvSpPr>
          <p:cNvPr id="51" name="Text 29"/>
          <p:cNvSpPr txBox="1"/>
          <p:nvPr/>
        </p:nvSpPr>
        <p:spPr>
          <a:xfrm>
            <a:off x="8343900" y="5868619"/>
            <a:ext cx="3067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3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훼손 및 시스템 마비</a:t>
            </a:r>
            <a:endParaRPr lang="en-US" sz="900" dirty="0"/>
          </a:p>
        </p:txBody>
      </p:sp>
      <p:pic>
        <p:nvPicPr>
          <p:cNvPr id="52" name="Image 20" descr="preencoded.png"/>
          <p:cNvPicPr>
            <a:picLocks noChangeAspect="1"/>
          </p:cNvPicPr>
          <p:nvPr/>
        </p:nvPicPr>
        <p:blipFill>
          <a:blip r:embed="rId18"/>
          <a:srcRect l="-1923" r="-1923"/>
          <a:stretch/>
        </p:blipFill>
        <p:spPr>
          <a:xfrm>
            <a:off x="4162349" y="2730398"/>
            <a:ext cx="123444" cy="190195"/>
          </a:xfrm>
          <a:prstGeom prst="rect">
            <a:avLst/>
          </a:prstGeom>
        </p:spPr>
      </p:pic>
      <p:pic>
        <p:nvPicPr>
          <p:cNvPr id="53" name="Image 21" descr="preencoded.png"/>
          <p:cNvPicPr>
            <a:picLocks noChangeAspect="1"/>
          </p:cNvPicPr>
          <p:nvPr/>
        </p:nvPicPr>
        <p:blipFill>
          <a:blip r:embed="rId18"/>
          <a:srcRect l="-1923" r="-1923"/>
          <a:stretch/>
        </p:blipFill>
        <p:spPr>
          <a:xfrm>
            <a:off x="7925105" y="2730398"/>
            <a:ext cx="123444" cy="19019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A4_Project_2AI1_MA_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조윤재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07446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DB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476402" y="-1429207"/>
            <a:ext cx="4762195" cy="4762195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953098" y="2572207"/>
            <a:ext cx="5715000" cy="5715000"/>
          </a:xfrm>
          <a:prstGeom prst="ellipse">
            <a:avLst/>
          </a:prstGeom>
          <a:solidFill>
            <a:srgbClr val="D1C4E9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76402" y="381305"/>
            <a:ext cx="11239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 1 — STT 허위 인식(환각) 및 처리 지연</a:t>
            </a:r>
            <a:endParaRPr lang="en-US" sz="2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78" r="-78"/>
          <a:stretch/>
        </p:blipFill>
        <p:spPr>
          <a:xfrm>
            <a:off x="3831336" y="990295"/>
            <a:ext cx="4533595" cy="3712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69334" y="990295"/>
            <a:ext cx="41724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12D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Faster-Whisper 최적화를 통한 음성 인식 안정성 확보 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21531" y="1098194"/>
            <a:ext cx="171907" cy="171907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37406" y="3776472"/>
            <a:ext cx="381305" cy="38130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4041648" y="3834079"/>
            <a:ext cx="171907" cy="2670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873898" y="3776472"/>
            <a:ext cx="381305" cy="38130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7979054" y="3834079"/>
            <a:ext cx="171907" cy="267005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7"/>
          <a:srcRect t="-3" b="-3"/>
          <a:stretch/>
        </p:blipFill>
        <p:spPr>
          <a:xfrm>
            <a:off x="571500" y="1647749"/>
            <a:ext cx="3174797" cy="4638751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571500" y="2543861"/>
            <a:ext cx="3181198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7"/>
          <p:cNvSpPr/>
          <p:nvPr/>
        </p:nvSpPr>
        <p:spPr>
          <a:xfrm>
            <a:off x="761695" y="1895551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EB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75995" y="2009851"/>
            <a:ext cx="228600" cy="228600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1362456" y="1907438"/>
            <a:ext cx="22887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3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</a:t>
            </a:r>
            <a:endParaRPr lang="en-US" sz="900" dirty="0"/>
          </a:p>
        </p:txBody>
      </p:sp>
      <p:sp>
        <p:nvSpPr>
          <p:cNvPr id="19" name="Text 9"/>
          <p:cNvSpPr txBox="1"/>
          <p:nvPr/>
        </p:nvSpPr>
        <p:spPr>
          <a:xfrm>
            <a:off x="1362456" y="2112264"/>
            <a:ext cx="2376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환각 및 지연 발생</a:t>
            </a:r>
            <a:endParaRPr lang="en-US" sz="15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695" y="2838298"/>
            <a:ext cx="114300" cy="114300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1181405" y="2790749"/>
            <a:ext cx="2457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무음·잡음을 '아멘', '구독' 등 상용구로 잘못 인식하는 환각 현상</a:t>
            </a:r>
            <a:endParaRPr lang="en-US" sz="11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695" y="3409798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181405" y="3362249"/>
            <a:ext cx="2457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2~5초 짧은 음성 처리에 최대 150초까지 추론 지연 발생</a:t>
            </a:r>
            <a:endParaRPr lang="en-US" sz="110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695" y="3981298"/>
            <a:ext cx="114300" cy="114300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1181405" y="3933749"/>
            <a:ext cx="2457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오인식된 텍스트가 LLM 입력으로 들어가 컨텍스트 오염 유발</a:t>
            </a:r>
            <a:endParaRPr lang="en-US" sz="1100" dirty="0"/>
          </a:p>
        </p:txBody>
      </p:sp>
      <p:sp>
        <p:nvSpPr>
          <p:cNvPr id="26" name="Shape 13"/>
          <p:cNvSpPr/>
          <p:nvPr/>
        </p:nvSpPr>
        <p:spPr>
          <a:xfrm>
            <a:off x="571500" y="5343754"/>
            <a:ext cx="3181198" cy="942746"/>
          </a:xfrm>
          <a:prstGeom prst="roundRect">
            <a:avLst>
              <a:gd name="adj" fmla="val 39189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4"/>
          <p:cNvSpPr/>
          <p:nvPr/>
        </p:nvSpPr>
        <p:spPr>
          <a:xfrm>
            <a:off x="571500" y="5343754"/>
            <a:ext cx="3181198" cy="9144"/>
          </a:xfrm>
          <a:prstGeom prst="roundRect">
            <a:avLst>
              <a:gd name="adj" fmla="val 4040404"/>
            </a:avLst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5"/>
          <p:cNvSpPr txBox="1"/>
          <p:nvPr/>
        </p:nvSpPr>
        <p:spPr>
          <a:xfrm>
            <a:off x="1492301" y="5544007"/>
            <a:ext cx="133776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2400" dirty="0"/>
          </a:p>
        </p:txBody>
      </p:sp>
      <p:sp>
        <p:nvSpPr>
          <p:cNvPr id="29" name="Text 16"/>
          <p:cNvSpPr txBox="1"/>
          <p:nvPr/>
        </p:nvSpPr>
        <p:spPr>
          <a:xfrm>
            <a:off x="1415491" y="5896051"/>
            <a:ext cx="14904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면접 진행 불가능 수준</a:t>
            </a:r>
            <a:endParaRPr lang="en-US" sz="10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0"/>
          <a:srcRect t="-6" b="-6"/>
          <a:stretch/>
        </p:blipFill>
        <p:spPr>
          <a:xfrm>
            <a:off x="4508906" y="1647749"/>
            <a:ext cx="3174797" cy="4638751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4508906" y="2543861"/>
            <a:ext cx="3181198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18"/>
          <p:cNvSpPr/>
          <p:nvPr/>
        </p:nvSpPr>
        <p:spPr>
          <a:xfrm>
            <a:off x="4699102" y="1895551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813402" y="2009851"/>
            <a:ext cx="228600" cy="228600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5298948" y="1907438"/>
            <a:ext cx="22887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65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900" dirty="0"/>
          </a:p>
        </p:txBody>
      </p:sp>
      <p:sp>
        <p:nvSpPr>
          <p:cNvPr id="35" name="Text 20"/>
          <p:cNvSpPr txBox="1"/>
          <p:nvPr/>
        </p:nvSpPr>
        <p:spPr>
          <a:xfrm>
            <a:off x="5298948" y="2112264"/>
            <a:ext cx="23966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VAD 및 파라미터 최적화</a:t>
            </a:r>
            <a:endParaRPr lang="en-US" sz="1500" dirty="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699102" y="2838298"/>
            <a:ext cx="114300" cy="114300"/>
          </a:xfrm>
          <a:prstGeom prst="rect">
            <a:avLst/>
          </a:prstGeom>
        </p:spPr>
      </p:pic>
      <p:sp>
        <p:nvSpPr>
          <p:cNvPr id="37" name="Text 21"/>
          <p:cNvSpPr txBox="1"/>
          <p:nvPr/>
        </p:nvSpPr>
        <p:spPr>
          <a:xfrm>
            <a:off x="5117897" y="2790749"/>
            <a:ext cx="2457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VAD(Voice Activity Detection) 필터 활성화로 무음 구간 제거</a:t>
            </a:r>
            <a:endParaRPr lang="en-US" sz="11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699102" y="3409798"/>
            <a:ext cx="114300" cy="114300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5117897" y="3362249"/>
            <a:ext cx="245790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81B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condition_on_previous_text=False</a:t>
            </a: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설정으로 이전 환각 전파 차단</a:t>
            </a:r>
            <a:endParaRPr lang="en-US" sz="1100" dirty="0"/>
          </a:p>
        </p:txBody>
      </p:sp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699102" y="4000500"/>
            <a:ext cx="114300" cy="114300"/>
          </a:xfrm>
          <a:prstGeom prst="rect">
            <a:avLst/>
          </a:prstGeom>
        </p:spPr>
      </p:pic>
      <p:sp>
        <p:nvSpPr>
          <p:cNvPr id="41" name="Text 23"/>
          <p:cNvSpPr txBox="1"/>
          <p:nvPr/>
        </p:nvSpPr>
        <p:spPr>
          <a:xfrm>
            <a:off x="5117897" y="3952951"/>
            <a:ext cx="2457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Beam Size 축소 및 빈출 환각어 블랙리스트 필터링 적용</a:t>
            </a:r>
            <a:endParaRPr lang="en-US" sz="1100" dirty="0"/>
          </a:p>
        </p:txBody>
      </p:sp>
      <p:sp>
        <p:nvSpPr>
          <p:cNvPr id="42" name="Shape 24"/>
          <p:cNvSpPr/>
          <p:nvPr/>
        </p:nvSpPr>
        <p:spPr>
          <a:xfrm>
            <a:off x="4508906" y="5343754"/>
            <a:ext cx="3181198" cy="942746"/>
          </a:xfrm>
          <a:prstGeom prst="roundRect">
            <a:avLst>
              <a:gd name="adj" fmla="val 39189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25"/>
          <p:cNvSpPr/>
          <p:nvPr/>
        </p:nvSpPr>
        <p:spPr>
          <a:xfrm>
            <a:off x="4508906" y="5343754"/>
            <a:ext cx="3181198" cy="9144"/>
          </a:xfrm>
          <a:prstGeom prst="roundRect">
            <a:avLst>
              <a:gd name="adj" fmla="val 4040404"/>
            </a:avLst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26"/>
          <p:cNvSpPr txBox="1"/>
          <p:nvPr/>
        </p:nvSpPr>
        <p:spPr>
          <a:xfrm>
            <a:off x="4925873" y="5544007"/>
            <a:ext cx="234909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5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Optimization</a:t>
            </a:r>
            <a:endParaRPr lang="en-US" sz="2400" dirty="0"/>
          </a:p>
        </p:txBody>
      </p:sp>
      <p:sp>
        <p:nvSpPr>
          <p:cNvPr id="45" name="Text 27"/>
          <p:cNvSpPr txBox="1"/>
          <p:nvPr/>
        </p:nvSpPr>
        <p:spPr>
          <a:xfrm>
            <a:off x="5461711" y="5896051"/>
            <a:ext cx="126918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파라미터 튜닝</a:t>
            </a:r>
            <a:endParaRPr lang="en-US" sz="1000" dirty="0"/>
          </a:p>
        </p:txBody>
      </p:sp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13"/>
          <a:srcRect t="-3" b="-3"/>
          <a:stretch/>
        </p:blipFill>
        <p:spPr>
          <a:xfrm>
            <a:off x="8445398" y="1647749"/>
            <a:ext cx="3174797" cy="4638751"/>
          </a:xfrm>
          <a:prstGeom prst="rect">
            <a:avLst/>
          </a:prstGeom>
        </p:spPr>
      </p:pic>
      <p:sp>
        <p:nvSpPr>
          <p:cNvPr id="47" name="Shape 28"/>
          <p:cNvSpPr/>
          <p:nvPr/>
        </p:nvSpPr>
        <p:spPr>
          <a:xfrm>
            <a:off x="8445398" y="2543861"/>
            <a:ext cx="3181198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29"/>
          <p:cNvSpPr/>
          <p:nvPr/>
        </p:nvSpPr>
        <p:spPr>
          <a:xfrm>
            <a:off x="8635594" y="1895551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749894" y="2009851"/>
            <a:ext cx="228600" cy="228600"/>
          </a:xfrm>
          <a:prstGeom prst="rect">
            <a:avLst/>
          </a:prstGeom>
        </p:spPr>
      </p:pic>
      <p:sp>
        <p:nvSpPr>
          <p:cNvPr id="50" name="Text 30"/>
          <p:cNvSpPr txBox="1"/>
          <p:nvPr/>
        </p:nvSpPr>
        <p:spPr>
          <a:xfrm>
            <a:off x="9236354" y="1907438"/>
            <a:ext cx="22887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Effect</a:t>
            </a:r>
            <a:endParaRPr lang="en-US" sz="900" dirty="0"/>
          </a:p>
        </p:txBody>
      </p:sp>
      <p:sp>
        <p:nvSpPr>
          <p:cNvPr id="51" name="Text 31"/>
          <p:cNvSpPr txBox="1"/>
          <p:nvPr/>
        </p:nvSpPr>
        <p:spPr>
          <a:xfrm>
            <a:off x="9236354" y="2112264"/>
            <a:ext cx="2376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및 안정성 향상</a:t>
            </a:r>
            <a:endParaRPr lang="en-US" sz="1500" dirty="0"/>
          </a:p>
        </p:txBody>
      </p:sp>
      <p:pic>
        <p:nvPicPr>
          <p:cNvPr id="52" name="Image 18" descr="preencoded.png"/>
          <p:cNvPicPr>
            <a:picLocks noChangeAspect="1"/>
          </p:cNvPicPr>
          <p:nvPr/>
        </p:nvPicPr>
        <p:blipFill>
          <a:blip r:embed="rId15"/>
          <a:srcRect l="-133" r="-133"/>
          <a:stretch/>
        </p:blipFill>
        <p:spPr>
          <a:xfrm>
            <a:off x="8635594" y="2838298"/>
            <a:ext cx="85954" cy="114300"/>
          </a:xfrm>
          <a:prstGeom prst="rect">
            <a:avLst/>
          </a:prstGeom>
        </p:spPr>
      </p:pic>
      <p:sp>
        <p:nvSpPr>
          <p:cNvPr id="53" name="Text 32"/>
          <p:cNvSpPr txBox="1"/>
          <p:nvPr/>
        </p:nvSpPr>
        <p:spPr>
          <a:xfrm>
            <a:off x="9026042" y="2790749"/>
            <a:ext cx="24862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환각 빈도 획기적 감소 및 텍스트 정확도 확보</a:t>
            </a:r>
            <a:endParaRPr lang="en-US" sz="1100" dirty="0"/>
          </a:p>
        </p:txBody>
      </p:sp>
      <p:pic>
        <p:nvPicPr>
          <p:cNvPr id="54" name="Image 19" descr="preencoded.png"/>
          <p:cNvPicPr>
            <a:picLocks noChangeAspect="1"/>
          </p:cNvPicPr>
          <p:nvPr/>
        </p:nvPicPr>
        <p:blipFill>
          <a:blip r:embed="rId15"/>
          <a:srcRect l="-133" r="-133"/>
          <a:stretch/>
        </p:blipFill>
        <p:spPr>
          <a:xfrm>
            <a:off x="8635594" y="3409798"/>
            <a:ext cx="85954" cy="114300"/>
          </a:xfrm>
          <a:prstGeom prst="rect">
            <a:avLst/>
          </a:prstGeom>
        </p:spPr>
      </p:pic>
      <p:sp>
        <p:nvSpPr>
          <p:cNvPr id="55" name="Text 33"/>
          <p:cNvSpPr txBox="1"/>
          <p:nvPr/>
        </p:nvSpPr>
        <p:spPr>
          <a:xfrm>
            <a:off x="9026042" y="3362249"/>
            <a:ext cx="2827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연산 제거로 추론 시간 대폭 단축</a:t>
            </a:r>
            <a:endParaRPr lang="en-US" sz="1100" dirty="0"/>
          </a:p>
        </p:txBody>
      </p:sp>
      <p:pic>
        <p:nvPicPr>
          <p:cNvPr id="56" name="Image 20" descr="preencoded.png"/>
          <p:cNvPicPr>
            <a:picLocks noChangeAspect="1"/>
          </p:cNvPicPr>
          <p:nvPr/>
        </p:nvPicPr>
        <p:blipFill>
          <a:blip r:embed="rId15"/>
          <a:srcRect l="-133" r="-133"/>
          <a:stretch/>
        </p:blipFill>
        <p:spPr>
          <a:xfrm>
            <a:off x="8635594" y="3767328"/>
            <a:ext cx="85954" cy="114300"/>
          </a:xfrm>
          <a:prstGeom prst="rect">
            <a:avLst/>
          </a:prstGeom>
        </p:spPr>
      </p:pic>
      <p:sp>
        <p:nvSpPr>
          <p:cNvPr id="57" name="Text 34"/>
          <p:cNvSpPr txBox="1"/>
          <p:nvPr/>
        </p:nvSpPr>
        <p:spPr>
          <a:xfrm>
            <a:off x="9026042" y="3719779"/>
            <a:ext cx="24862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LLM에 깨끗한 텍스트를 전달하여 답변 품질 보장</a:t>
            </a:r>
            <a:endParaRPr lang="en-US" sz="1100" dirty="0"/>
          </a:p>
        </p:txBody>
      </p:sp>
      <p:sp>
        <p:nvSpPr>
          <p:cNvPr id="58" name="Shape 35"/>
          <p:cNvSpPr/>
          <p:nvPr/>
        </p:nvSpPr>
        <p:spPr>
          <a:xfrm>
            <a:off x="8445398" y="5339182"/>
            <a:ext cx="3181198" cy="952805"/>
          </a:xfrm>
          <a:prstGeom prst="roundRect">
            <a:avLst>
              <a:gd name="adj" fmla="val 38388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36"/>
          <p:cNvSpPr/>
          <p:nvPr/>
        </p:nvSpPr>
        <p:spPr>
          <a:xfrm>
            <a:off x="8445398" y="5339182"/>
            <a:ext cx="3181198" cy="9144"/>
          </a:xfrm>
          <a:prstGeom prst="roundRect">
            <a:avLst>
              <a:gd name="adj" fmla="val 4000000"/>
            </a:avLst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37"/>
          <p:cNvSpPr txBox="1"/>
          <p:nvPr/>
        </p:nvSpPr>
        <p:spPr>
          <a:xfrm>
            <a:off x="8729777" y="5538521"/>
            <a:ext cx="9811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90% </a:t>
            </a:r>
            <a:endParaRPr lang="en-US" sz="2400" dirty="0"/>
          </a:p>
        </p:txBody>
      </p:sp>
      <p:pic>
        <p:nvPicPr>
          <p:cNvPr id="61" name="Image 21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9525305" y="5658307"/>
            <a:ext cx="142646" cy="190195"/>
          </a:xfrm>
          <a:prstGeom prst="rect">
            <a:avLst/>
          </a:prstGeom>
        </p:spPr>
      </p:pic>
      <p:sp>
        <p:nvSpPr>
          <p:cNvPr id="62" name="Text 38"/>
          <p:cNvSpPr txBox="1"/>
          <p:nvPr/>
        </p:nvSpPr>
        <p:spPr>
          <a:xfrm>
            <a:off x="8729777" y="5896051"/>
            <a:ext cx="9811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환각 감소</a:t>
            </a:r>
            <a:endParaRPr lang="en-US" sz="1000" dirty="0"/>
          </a:p>
        </p:txBody>
      </p:sp>
      <p:pic>
        <p:nvPicPr>
          <p:cNvPr id="63" name="Image 22" descr="preencoded.png"/>
          <p:cNvPicPr>
            <a:picLocks noChangeAspect="1"/>
          </p:cNvPicPr>
          <p:nvPr/>
        </p:nvPicPr>
        <p:blipFill>
          <a:blip r:embed="rId17"/>
          <a:srcRect t="-2127" b="-2127"/>
          <a:stretch/>
        </p:blipFill>
        <p:spPr>
          <a:xfrm>
            <a:off x="10028225" y="5627218"/>
            <a:ext cx="9144" cy="381305"/>
          </a:xfrm>
          <a:prstGeom prst="rect">
            <a:avLst/>
          </a:prstGeom>
        </p:spPr>
      </p:pic>
      <p:sp>
        <p:nvSpPr>
          <p:cNvPr id="64" name="Text 39"/>
          <p:cNvSpPr txBox="1"/>
          <p:nvPr/>
        </p:nvSpPr>
        <p:spPr>
          <a:xfrm>
            <a:off x="10359238" y="5538521"/>
            <a:ext cx="9811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50% </a:t>
            </a:r>
            <a:endParaRPr lang="en-US" sz="2400" dirty="0"/>
          </a:p>
        </p:txBody>
      </p:sp>
      <p:pic>
        <p:nvPicPr>
          <p:cNvPr id="65" name="Image 2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1154766" y="5658307"/>
            <a:ext cx="142646" cy="190195"/>
          </a:xfrm>
          <a:prstGeom prst="rect">
            <a:avLst/>
          </a:prstGeom>
        </p:spPr>
      </p:pic>
      <p:sp>
        <p:nvSpPr>
          <p:cNvPr id="66" name="Text 40"/>
          <p:cNvSpPr txBox="1"/>
          <p:nvPr/>
        </p:nvSpPr>
        <p:spPr>
          <a:xfrm>
            <a:off x="10359238" y="5896051"/>
            <a:ext cx="9811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단축</a:t>
            </a:r>
            <a:endParaRPr lang="en-US" sz="1000" dirty="0"/>
          </a:p>
        </p:txBody>
      </p:sp>
      <p:sp>
        <p:nvSpPr>
          <p:cNvPr id="67" name="TextBox 66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A4_Project_2AI1_MA_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조윤재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43147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DB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476402" y="-1429207"/>
            <a:ext cx="4762195" cy="4762195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953098" y="2572207"/>
            <a:ext cx="5715000" cy="5715000"/>
          </a:xfrm>
          <a:prstGeom prst="ellipse">
            <a:avLst/>
          </a:prstGeom>
          <a:solidFill>
            <a:srgbClr val="D1C4E9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76402" y="381305"/>
            <a:ext cx="11239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 2 — Vision 모델 리소스 병목 해결</a:t>
            </a:r>
            <a:endParaRPr lang="en-US" sz="2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05" r="-105"/>
          <a:stretch/>
        </p:blipFill>
        <p:spPr>
          <a:xfrm>
            <a:off x="4007815" y="990295"/>
            <a:ext cx="4181551" cy="3712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65015" y="990295"/>
            <a:ext cx="38011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12D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MediaPipe 전환을 통한 실시간 영상 분석 최적화 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842" b="-842"/>
          <a:stretch/>
        </p:blipFill>
        <p:spPr>
          <a:xfrm>
            <a:off x="4198925" y="1098194"/>
            <a:ext cx="190195" cy="171907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37406" y="3776472"/>
            <a:ext cx="381305" cy="38130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4041648" y="3834079"/>
            <a:ext cx="171907" cy="2670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873898" y="3776472"/>
            <a:ext cx="381305" cy="38130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7979054" y="3834079"/>
            <a:ext cx="171907" cy="267005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7"/>
          <a:srcRect t="-3" b="-3"/>
          <a:stretch/>
        </p:blipFill>
        <p:spPr>
          <a:xfrm>
            <a:off x="571500" y="1647749"/>
            <a:ext cx="3174797" cy="4638751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571500" y="2543861"/>
            <a:ext cx="3181198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7"/>
          <p:cNvSpPr/>
          <p:nvPr/>
        </p:nvSpPr>
        <p:spPr>
          <a:xfrm>
            <a:off x="761695" y="1895551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EB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75995" y="2009851"/>
            <a:ext cx="228600" cy="228600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1362456" y="1907438"/>
            <a:ext cx="22887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3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</a:t>
            </a:r>
            <a:endParaRPr lang="en-US" sz="900" dirty="0"/>
          </a:p>
        </p:txBody>
      </p:sp>
      <p:sp>
        <p:nvSpPr>
          <p:cNvPr id="19" name="Text 9"/>
          <p:cNvSpPr txBox="1"/>
          <p:nvPr/>
        </p:nvSpPr>
        <p:spPr>
          <a:xfrm>
            <a:off x="1362456" y="2112264"/>
            <a:ext cx="2376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지연 및 자원 충돌</a:t>
            </a:r>
            <a:endParaRPr lang="en-US" sz="15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695" y="2838298"/>
            <a:ext cx="114300" cy="114300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1181405" y="2790749"/>
            <a:ext cx="2457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DeepFace 모델 분석 속도 200ms/frame으로 실시간성 부족</a:t>
            </a:r>
            <a:endParaRPr lang="en-US" sz="11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695" y="3409798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181405" y="3362249"/>
            <a:ext cx="2457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CPU 점유율 100% 상승으로 STT/LLM 프로세스 중단 유발</a:t>
            </a:r>
            <a:endParaRPr lang="en-US" sz="110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695" y="3981298"/>
            <a:ext cx="114300" cy="114300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1181405" y="3933749"/>
            <a:ext cx="2457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 이미지 기반 분석으로 고개 끄덕임 등 3D 자세 인식 불가</a:t>
            </a:r>
            <a:endParaRPr lang="en-US" sz="1100" dirty="0"/>
          </a:p>
        </p:txBody>
      </p:sp>
      <p:sp>
        <p:nvSpPr>
          <p:cNvPr id="26" name="Shape 13"/>
          <p:cNvSpPr/>
          <p:nvPr/>
        </p:nvSpPr>
        <p:spPr>
          <a:xfrm>
            <a:off x="571500" y="5381244"/>
            <a:ext cx="3181198" cy="905256"/>
          </a:xfrm>
          <a:prstGeom prst="roundRect">
            <a:avLst>
              <a:gd name="adj" fmla="val 42531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4"/>
          <p:cNvSpPr/>
          <p:nvPr/>
        </p:nvSpPr>
        <p:spPr>
          <a:xfrm>
            <a:off x="571500" y="5381244"/>
            <a:ext cx="3181198" cy="9144"/>
          </a:xfrm>
          <a:prstGeom prst="roundRect">
            <a:avLst>
              <a:gd name="adj" fmla="val 4210526"/>
            </a:avLst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5"/>
          <p:cNvSpPr txBox="1"/>
          <p:nvPr/>
        </p:nvSpPr>
        <p:spPr>
          <a:xfrm>
            <a:off x="883310" y="5581498"/>
            <a:ext cx="9720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200ms</a:t>
            </a:r>
            <a:endParaRPr lang="en-US" sz="2100" dirty="0"/>
          </a:p>
        </p:txBody>
      </p:sp>
      <p:sp>
        <p:nvSpPr>
          <p:cNvPr id="29" name="Text 16"/>
          <p:cNvSpPr txBox="1"/>
          <p:nvPr/>
        </p:nvSpPr>
        <p:spPr>
          <a:xfrm>
            <a:off x="869594" y="5896051"/>
            <a:ext cx="10003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느린 처리 속도</a:t>
            </a:r>
            <a:endParaRPr lang="en-US" sz="10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0"/>
          <a:srcRect t="-2127" b="-2127"/>
          <a:stretch/>
        </p:blipFill>
        <p:spPr>
          <a:xfrm>
            <a:off x="2221992" y="5648249"/>
            <a:ext cx="9144" cy="381305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2607869" y="5581498"/>
            <a:ext cx="8293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2100" dirty="0"/>
          </a:p>
        </p:txBody>
      </p:sp>
      <p:sp>
        <p:nvSpPr>
          <p:cNvPr id="32" name="Text 18"/>
          <p:cNvSpPr txBox="1"/>
          <p:nvPr/>
        </p:nvSpPr>
        <p:spPr>
          <a:xfrm>
            <a:off x="2607869" y="5896051"/>
            <a:ext cx="8293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CPU 과부하</a:t>
            </a:r>
            <a:endParaRPr lang="en-US" sz="10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 t="-6" b="-6"/>
          <a:stretch/>
        </p:blipFill>
        <p:spPr>
          <a:xfrm>
            <a:off x="4508906" y="1647749"/>
            <a:ext cx="3174797" cy="4638751"/>
          </a:xfrm>
          <a:prstGeom prst="rect">
            <a:avLst/>
          </a:prstGeom>
        </p:spPr>
      </p:pic>
      <p:sp>
        <p:nvSpPr>
          <p:cNvPr id="34" name="Shape 19"/>
          <p:cNvSpPr/>
          <p:nvPr/>
        </p:nvSpPr>
        <p:spPr>
          <a:xfrm>
            <a:off x="4508906" y="2543861"/>
            <a:ext cx="3181198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0"/>
          <p:cNvSpPr/>
          <p:nvPr/>
        </p:nvSpPr>
        <p:spPr>
          <a:xfrm>
            <a:off x="4699102" y="1895551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813402" y="2009851"/>
            <a:ext cx="228600" cy="228600"/>
          </a:xfrm>
          <a:prstGeom prst="rect">
            <a:avLst/>
          </a:prstGeom>
        </p:spPr>
      </p:pic>
      <p:sp>
        <p:nvSpPr>
          <p:cNvPr id="37" name="Text 21"/>
          <p:cNvSpPr txBox="1"/>
          <p:nvPr/>
        </p:nvSpPr>
        <p:spPr>
          <a:xfrm>
            <a:off x="5298948" y="1907438"/>
            <a:ext cx="22887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65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900" dirty="0"/>
          </a:p>
        </p:txBody>
      </p:sp>
      <p:sp>
        <p:nvSpPr>
          <p:cNvPr id="38" name="Text 22"/>
          <p:cNvSpPr txBox="1"/>
          <p:nvPr/>
        </p:nvSpPr>
        <p:spPr>
          <a:xfrm>
            <a:off x="5298948" y="2112264"/>
            <a:ext cx="2376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경량화 및 최적화</a:t>
            </a:r>
            <a:endParaRPr lang="en-US" sz="1500" dirty="0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699102" y="2838298"/>
            <a:ext cx="114300" cy="114300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5117897" y="2790749"/>
            <a:ext cx="2457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MediaPipe Face Mesh V2 단일 모델 체제로 전면 교체</a:t>
            </a:r>
            <a:endParaRPr lang="en-US" sz="1100" dirty="0"/>
          </a:p>
        </p:txBody>
      </p:sp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699102" y="3409798"/>
            <a:ext cx="114300" cy="114300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5117897" y="3362249"/>
            <a:ext cx="2457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4-Factor(자신감/시선/자세/정서) 가중치 평가 로직 설계</a:t>
            </a:r>
            <a:endParaRPr lang="en-US" sz="1100" dirty="0"/>
          </a:p>
        </p:txBody>
      </p:sp>
      <p:pic>
        <p:nvPicPr>
          <p:cNvPr id="43" name="Image 16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699102" y="3981298"/>
            <a:ext cx="114300" cy="114300"/>
          </a:xfrm>
          <a:prstGeom prst="rect">
            <a:avLst/>
          </a:prstGeom>
        </p:spPr>
      </p:pic>
      <p:sp>
        <p:nvSpPr>
          <p:cNvPr id="44" name="Text 25"/>
          <p:cNvSpPr txBox="1"/>
          <p:nvPr/>
        </p:nvSpPr>
        <p:spPr>
          <a:xfrm>
            <a:off x="5117897" y="3933749"/>
            <a:ext cx="24579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 임계값 적용: </a:t>
            </a:r>
            <a:r>
              <a:rPr lang="en-US" sz="900" dirty="0">
                <a:solidFill>
                  <a:srgbClr val="D81B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GAZE_TOLERANCE_X = 0.08</a:t>
            </a:r>
            <a:endParaRPr lang="en-US" sz="1100" dirty="0"/>
          </a:p>
        </p:txBody>
      </p:sp>
      <p:sp>
        <p:nvSpPr>
          <p:cNvPr id="45" name="Shape 26"/>
          <p:cNvSpPr/>
          <p:nvPr/>
        </p:nvSpPr>
        <p:spPr>
          <a:xfrm>
            <a:off x="4508906" y="5381244"/>
            <a:ext cx="3181198" cy="905256"/>
          </a:xfrm>
          <a:prstGeom prst="roundRect">
            <a:avLst>
              <a:gd name="adj" fmla="val 42531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27"/>
          <p:cNvSpPr/>
          <p:nvPr/>
        </p:nvSpPr>
        <p:spPr>
          <a:xfrm>
            <a:off x="4508906" y="5381244"/>
            <a:ext cx="3181198" cy="9144"/>
          </a:xfrm>
          <a:prstGeom prst="roundRect">
            <a:avLst>
              <a:gd name="adj" fmla="val 4210526"/>
            </a:avLst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28"/>
          <p:cNvSpPr txBox="1"/>
          <p:nvPr/>
        </p:nvSpPr>
        <p:spPr>
          <a:xfrm>
            <a:off x="5157216" y="5581498"/>
            <a:ext cx="188549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565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Lightweight</a:t>
            </a:r>
            <a:endParaRPr lang="en-US" sz="2100" dirty="0"/>
          </a:p>
        </p:txBody>
      </p:sp>
      <p:sp>
        <p:nvSpPr>
          <p:cNvPr id="48" name="Text 29"/>
          <p:cNvSpPr txBox="1"/>
          <p:nvPr/>
        </p:nvSpPr>
        <p:spPr>
          <a:xfrm>
            <a:off x="5335524" y="5896051"/>
            <a:ext cx="15261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랜드마크 기반 분석</a:t>
            </a:r>
            <a:endParaRPr lang="en-US" sz="1000" dirty="0"/>
          </a:p>
        </p:txBody>
      </p:sp>
      <p:pic>
        <p:nvPicPr>
          <p:cNvPr id="49" name="Image 17" descr="preencoded.png"/>
          <p:cNvPicPr>
            <a:picLocks noChangeAspect="1"/>
          </p:cNvPicPr>
          <p:nvPr/>
        </p:nvPicPr>
        <p:blipFill>
          <a:blip r:embed="rId14"/>
          <a:srcRect t="-3" b="-3"/>
          <a:stretch/>
        </p:blipFill>
        <p:spPr>
          <a:xfrm>
            <a:off x="8445398" y="1647749"/>
            <a:ext cx="3174797" cy="4638751"/>
          </a:xfrm>
          <a:prstGeom prst="rect">
            <a:avLst/>
          </a:prstGeom>
        </p:spPr>
      </p:pic>
      <p:sp>
        <p:nvSpPr>
          <p:cNvPr id="50" name="Shape 30"/>
          <p:cNvSpPr/>
          <p:nvPr/>
        </p:nvSpPr>
        <p:spPr>
          <a:xfrm>
            <a:off x="8445398" y="2543861"/>
            <a:ext cx="3181198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31"/>
          <p:cNvSpPr/>
          <p:nvPr/>
        </p:nvSpPr>
        <p:spPr>
          <a:xfrm>
            <a:off x="8635594" y="1895551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749894" y="2009851"/>
            <a:ext cx="228600" cy="228600"/>
          </a:xfrm>
          <a:prstGeom prst="rect">
            <a:avLst/>
          </a:prstGeom>
        </p:spPr>
      </p:pic>
      <p:sp>
        <p:nvSpPr>
          <p:cNvPr id="53" name="Text 32"/>
          <p:cNvSpPr txBox="1"/>
          <p:nvPr/>
        </p:nvSpPr>
        <p:spPr>
          <a:xfrm>
            <a:off x="9236354" y="1907438"/>
            <a:ext cx="22887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Effect</a:t>
            </a:r>
            <a:endParaRPr lang="en-US" sz="900" dirty="0"/>
          </a:p>
        </p:txBody>
      </p:sp>
      <p:sp>
        <p:nvSpPr>
          <p:cNvPr id="54" name="Text 33"/>
          <p:cNvSpPr txBox="1"/>
          <p:nvPr/>
        </p:nvSpPr>
        <p:spPr>
          <a:xfrm>
            <a:off x="9236354" y="2112264"/>
            <a:ext cx="2376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속도 8배 향상</a:t>
            </a:r>
            <a:endParaRPr lang="en-US" sz="1500" dirty="0"/>
          </a:p>
        </p:txBody>
      </p:sp>
      <p:pic>
        <p:nvPicPr>
          <p:cNvPr id="55" name="Image 19" descr="preencoded.png"/>
          <p:cNvPicPr>
            <a:picLocks noChangeAspect="1"/>
          </p:cNvPicPr>
          <p:nvPr/>
        </p:nvPicPr>
        <p:blipFill>
          <a:blip r:embed="rId16"/>
          <a:srcRect l="-133" r="-133"/>
          <a:stretch/>
        </p:blipFill>
        <p:spPr>
          <a:xfrm>
            <a:off x="8635594" y="2838298"/>
            <a:ext cx="85954" cy="114300"/>
          </a:xfrm>
          <a:prstGeom prst="rect">
            <a:avLst/>
          </a:prstGeom>
        </p:spPr>
      </p:pic>
      <p:sp>
        <p:nvSpPr>
          <p:cNvPr id="56" name="Text 34"/>
          <p:cNvSpPr txBox="1"/>
          <p:nvPr/>
        </p:nvSpPr>
        <p:spPr>
          <a:xfrm>
            <a:off x="9026042" y="2790749"/>
            <a:ext cx="24862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Vision 추론 속도 200ms → 25ms/frame (8배 성능 개선)</a:t>
            </a:r>
            <a:endParaRPr lang="en-US" sz="1100" dirty="0"/>
          </a:p>
        </p:txBody>
      </p:sp>
      <p:pic>
        <p:nvPicPr>
          <p:cNvPr id="57" name="Image 20" descr="preencoded.png"/>
          <p:cNvPicPr>
            <a:picLocks noChangeAspect="1"/>
          </p:cNvPicPr>
          <p:nvPr/>
        </p:nvPicPr>
        <p:blipFill>
          <a:blip r:embed="rId16"/>
          <a:srcRect l="-133" r="-133"/>
          <a:stretch/>
        </p:blipFill>
        <p:spPr>
          <a:xfrm>
            <a:off x="8635594" y="3409798"/>
            <a:ext cx="85954" cy="114300"/>
          </a:xfrm>
          <a:prstGeom prst="rect">
            <a:avLst/>
          </a:prstGeom>
        </p:spPr>
      </p:pic>
      <p:sp>
        <p:nvSpPr>
          <p:cNvPr id="58" name="Text 35"/>
          <p:cNvSpPr txBox="1"/>
          <p:nvPr/>
        </p:nvSpPr>
        <p:spPr>
          <a:xfrm>
            <a:off x="9026042" y="3362249"/>
            <a:ext cx="24862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메모리 사용량 1.2GB → 250MB로 대폭 절감하여 병목 제거</a:t>
            </a:r>
            <a:endParaRPr lang="en-US" sz="1100" dirty="0"/>
          </a:p>
        </p:txBody>
      </p:sp>
      <p:pic>
        <p:nvPicPr>
          <p:cNvPr id="59" name="Image 21" descr="preencoded.png"/>
          <p:cNvPicPr>
            <a:picLocks noChangeAspect="1"/>
          </p:cNvPicPr>
          <p:nvPr/>
        </p:nvPicPr>
        <p:blipFill>
          <a:blip r:embed="rId16"/>
          <a:srcRect l="-133" r="-133"/>
          <a:stretch/>
        </p:blipFill>
        <p:spPr>
          <a:xfrm>
            <a:off x="8635594" y="3981298"/>
            <a:ext cx="85954" cy="114300"/>
          </a:xfrm>
          <a:prstGeom prst="rect">
            <a:avLst/>
          </a:prstGeom>
        </p:spPr>
      </p:pic>
      <p:sp>
        <p:nvSpPr>
          <p:cNvPr id="60" name="Text 36"/>
          <p:cNvSpPr txBox="1"/>
          <p:nvPr/>
        </p:nvSpPr>
        <p:spPr>
          <a:xfrm>
            <a:off x="9026042" y="3933749"/>
            <a:ext cx="24862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중단 없이 매끄러운 실시간 면접 분석 구현</a:t>
            </a:r>
            <a:endParaRPr lang="en-US" sz="1100" dirty="0"/>
          </a:p>
        </p:txBody>
      </p:sp>
      <p:sp>
        <p:nvSpPr>
          <p:cNvPr id="61" name="Shape 37"/>
          <p:cNvSpPr/>
          <p:nvPr/>
        </p:nvSpPr>
        <p:spPr>
          <a:xfrm>
            <a:off x="8445398" y="5376672"/>
            <a:ext cx="3181198" cy="914400"/>
          </a:xfrm>
          <a:prstGeom prst="roundRect">
            <a:avLst>
              <a:gd name="adj" fmla="val 41667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38"/>
          <p:cNvSpPr/>
          <p:nvPr/>
        </p:nvSpPr>
        <p:spPr>
          <a:xfrm>
            <a:off x="8445398" y="5376672"/>
            <a:ext cx="3181198" cy="9144"/>
          </a:xfrm>
          <a:prstGeom prst="roundRect">
            <a:avLst>
              <a:gd name="adj" fmla="val 4166667"/>
            </a:avLst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39"/>
          <p:cNvSpPr txBox="1"/>
          <p:nvPr/>
        </p:nvSpPr>
        <p:spPr>
          <a:xfrm>
            <a:off x="8789213" y="5576926"/>
            <a:ext cx="6199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8x </a:t>
            </a:r>
            <a:endParaRPr lang="en-US" sz="2100" dirty="0"/>
          </a:p>
        </p:txBody>
      </p:sp>
      <p:pic>
        <p:nvPicPr>
          <p:cNvPr id="64" name="Image 22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9223553" y="5658307"/>
            <a:ext cx="142646" cy="190195"/>
          </a:xfrm>
          <a:prstGeom prst="rect">
            <a:avLst/>
          </a:prstGeom>
        </p:spPr>
      </p:pic>
      <p:sp>
        <p:nvSpPr>
          <p:cNvPr id="65" name="Text 40"/>
          <p:cNvSpPr txBox="1"/>
          <p:nvPr/>
        </p:nvSpPr>
        <p:spPr>
          <a:xfrm>
            <a:off x="8780983" y="5896051"/>
            <a:ext cx="635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 향상</a:t>
            </a:r>
            <a:endParaRPr lang="en-US" sz="1000" dirty="0"/>
          </a:p>
        </p:txBody>
      </p:sp>
      <p:pic>
        <p:nvPicPr>
          <p:cNvPr id="66" name="Image 23" descr="preencoded.png"/>
          <p:cNvPicPr>
            <a:picLocks noChangeAspect="1"/>
          </p:cNvPicPr>
          <p:nvPr/>
        </p:nvPicPr>
        <p:blipFill>
          <a:blip r:embed="rId10"/>
          <a:srcRect t="-2127" b="-2127"/>
          <a:stretch/>
        </p:blipFill>
        <p:spPr>
          <a:xfrm>
            <a:off x="9844430" y="5645506"/>
            <a:ext cx="9144" cy="381305"/>
          </a:xfrm>
          <a:prstGeom prst="rect">
            <a:avLst/>
          </a:prstGeom>
        </p:spPr>
      </p:pic>
      <p:sp>
        <p:nvSpPr>
          <p:cNvPr id="67" name="Text 41"/>
          <p:cNvSpPr txBox="1"/>
          <p:nvPr/>
        </p:nvSpPr>
        <p:spPr>
          <a:xfrm>
            <a:off x="10293401" y="5576926"/>
            <a:ext cx="9912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-80% </a:t>
            </a:r>
            <a:endParaRPr lang="en-US" sz="2100" dirty="0"/>
          </a:p>
        </p:txBody>
      </p:sp>
      <p:pic>
        <p:nvPicPr>
          <p:cNvPr id="68" name="Image 24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1096244" y="5658307"/>
            <a:ext cx="142646" cy="190195"/>
          </a:xfrm>
          <a:prstGeom prst="rect">
            <a:avLst/>
          </a:prstGeom>
        </p:spPr>
      </p:pic>
      <p:sp>
        <p:nvSpPr>
          <p:cNvPr id="69" name="Text 42"/>
          <p:cNvSpPr txBox="1"/>
          <p:nvPr/>
        </p:nvSpPr>
        <p:spPr>
          <a:xfrm>
            <a:off x="10293401" y="5896051"/>
            <a:ext cx="991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메모리 절감</a:t>
            </a:r>
            <a:endParaRPr lang="en-US" sz="1000" dirty="0"/>
          </a:p>
        </p:txBody>
      </p:sp>
      <p:sp>
        <p:nvSpPr>
          <p:cNvPr id="70" name="TextBox 69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A4_Project_2AI1_MA_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조윤재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11224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DB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476402" y="-1429207"/>
            <a:ext cx="4762195" cy="4762195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953098" y="2572207"/>
            <a:ext cx="5715000" cy="5715000"/>
          </a:xfrm>
          <a:prstGeom prst="ellipse">
            <a:avLst/>
          </a:prstGeom>
          <a:solidFill>
            <a:srgbClr val="D1C4E9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76402" y="381305"/>
            <a:ext cx="11239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 3 — TTS 음성 손상 및 중복 연산 문제 해결</a:t>
            </a:r>
            <a:endParaRPr lang="en-US" sz="2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3950208" y="990295"/>
            <a:ext cx="4295851" cy="3712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07408" y="990295"/>
            <a:ext cx="39154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12D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스레드 동기화(Lock)를 통한 음성 합성 안정성 확보 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842" b="-842"/>
          <a:stretch/>
        </p:blipFill>
        <p:spPr>
          <a:xfrm>
            <a:off x="4140403" y="1098194"/>
            <a:ext cx="190195" cy="171907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37406" y="3776472"/>
            <a:ext cx="381305" cy="38130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4041648" y="3834079"/>
            <a:ext cx="171907" cy="2670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873898" y="3776472"/>
            <a:ext cx="381305" cy="38130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7979054" y="3834079"/>
            <a:ext cx="171907" cy="267005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7"/>
          <a:srcRect t="-3" b="-3"/>
          <a:stretch/>
        </p:blipFill>
        <p:spPr>
          <a:xfrm>
            <a:off x="571500" y="1647749"/>
            <a:ext cx="3174797" cy="4638751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571500" y="2543861"/>
            <a:ext cx="3181198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7"/>
          <p:cNvSpPr/>
          <p:nvPr/>
        </p:nvSpPr>
        <p:spPr>
          <a:xfrm>
            <a:off x="761695" y="1895551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EB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905256" y="2009851"/>
            <a:ext cx="171907" cy="228600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1362456" y="1907438"/>
            <a:ext cx="22887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3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</a:t>
            </a:r>
            <a:endParaRPr lang="en-US" sz="900" dirty="0"/>
          </a:p>
        </p:txBody>
      </p:sp>
      <p:sp>
        <p:nvSpPr>
          <p:cNvPr id="19" name="Text 9"/>
          <p:cNvSpPr txBox="1"/>
          <p:nvPr/>
        </p:nvSpPr>
        <p:spPr>
          <a:xfrm>
            <a:off x="1362456" y="2112264"/>
            <a:ext cx="2376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손상 및 중복 연산</a:t>
            </a:r>
            <a:endParaRPr lang="en-US" sz="15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695" y="2838298"/>
            <a:ext cx="114300" cy="114300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1181405" y="2790749"/>
            <a:ext cx="2457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TTS 엔진 다중 스레드 동시 호출 시 내부 상태 충돌 발생</a:t>
            </a:r>
            <a:endParaRPr lang="en-US" sz="11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695" y="3409798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181405" y="3362249"/>
            <a:ext cx="2457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음성에 심한 잡음 및 끊김 현상 발생 (Audio Glitch)</a:t>
            </a:r>
            <a:endParaRPr lang="en-US" sz="110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695" y="3981298"/>
            <a:ext cx="114300" cy="114300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1181405" y="3933749"/>
            <a:ext cx="2457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텍스트 중복 합성으로 CPU 자원 낭비 및 지연</a:t>
            </a:r>
            <a:endParaRPr lang="en-US" sz="1100" dirty="0"/>
          </a:p>
        </p:txBody>
      </p:sp>
      <p:sp>
        <p:nvSpPr>
          <p:cNvPr id="26" name="Shape 13"/>
          <p:cNvSpPr/>
          <p:nvPr/>
        </p:nvSpPr>
        <p:spPr>
          <a:xfrm>
            <a:off x="571500" y="5343754"/>
            <a:ext cx="3181198" cy="942746"/>
          </a:xfrm>
          <a:prstGeom prst="roundRect">
            <a:avLst>
              <a:gd name="adj" fmla="val 39189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4"/>
          <p:cNvSpPr/>
          <p:nvPr/>
        </p:nvSpPr>
        <p:spPr>
          <a:xfrm>
            <a:off x="571500" y="5343754"/>
            <a:ext cx="3181198" cy="9144"/>
          </a:xfrm>
          <a:prstGeom prst="roundRect">
            <a:avLst>
              <a:gd name="adj" fmla="val 4040404"/>
            </a:avLst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5"/>
          <p:cNvSpPr txBox="1"/>
          <p:nvPr/>
        </p:nvSpPr>
        <p:spPr>
          <a:xfrm>
            <a:off x="1492301" y="5544007"/>
            <a:ext cx="133776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2400" dirty="0"/>
          </a:p>
        </p:txBody>
      </p:sp>
      <p:sp>
        <p:nvSpPr>
          <p:cNvPr id="29" name="Text 16"/>
          <p:cNvSpPr txBox="1"/>
          <p:nvPr/>
        </p:nvSpPr>
        <p:spPr>
          <a:xfrm>
            <a:off x="1666037" y="5896051"/>
            <a:ext cx="99395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품질 훼손</a:t>
            </a:r>
            <a:endParaRPr lang="en-US" sz="10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0"/>
          <a:srcRect t="-6" b="-6"/>
          <a:stretch/>
        </p:blipFill>
        <p:spPr>
          <a:xfrm>
            <a:off x="4508906" y="1647749"/>
            <a:ext cx="3174797" cy="4638751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4508906" y="2543861"/>
            <a:ext cx="3181198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18"/>
          <p:cNvSpPr/>
          <p:nvPr/>
        </p:nvSpPr>
        <p:spPr>
          <a:xfrm>
            <a:off x="4699102" y="1895551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4827118" y="2009851"/>
            <a:ext cx="200254" cy="228600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5298948" y="1907438"/>
            <a:ext cx="22887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65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900" dirty="0"/>
          </a:p>
        </p:txBody>
      </p:sp>
      <p:sp>
        <p:nvSpPr>
          <p:cNvPr id="35" name="Text 20"/>
          <p:cNvSpPr txBox="1"/>
          <p:nvPr/>
        </p:nvSpPr>
        <p:spPr>
          <a:xfrm>
            <a:off x="5298948" y="2112264"/>
            <a:ext cx="2332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Lock &amp; Double-Check</a:t>
            </a:r>
            <a:endParaRPr lang="en-US" sz="1500" dirty="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699102" y="2838298"/>
            <a:ext cx="114300" cy="114300"/>
          </a:xfrm>
          <a:prstGeom prst="rect">
            <a:avLst/>
          </a:prstGeom>
        </p:spPr>
      </p:pic>
      <p:sp>
        <p:nvSpPr>
          <p:cNvPr id="37" name="Text 21"/>
          <p:cNvSpPr txBox="1"/>
          <p:nvPr/>
        </p:nvSpPr>
        <p:spPr>
          <a:xfrm>
            <a:off x="4908499" y="2790749"/>
            <a:ext cx="2667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81B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threading.Lock()</a:t>
            </a: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적용하여 TTS 합성 단일 스레드 순차 처리</a:t>
            </a:r>
            <a:endParaRPr lang="en-US" sz="11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699102" y="3429000"/>
            <a:ext cx="114300" cy="114300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5117897" y="3381451"/>
            <a:ext cx="2457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파일 존재 여부를 두 번 확인하는 Double-Check 로직</a:t>
            </a:r>
            <a:endParaRPr lang="en-US" sz="1100" dirty="0"/>
          </a:p>
        </p:txBody>
      </p:sp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699102" y="4000500"/>
            <a:ext cx="114300" cy="114300"/>
          </a:xfrm>
          <a:prstGeom prst="rect">
            <a:avLst/>
          </a:prstGeom>
        </p:spPr>
      </p:pic>
      <p:sp>
        <p:nvSpPr>
          <p:cNvPr id="41" name="Text 23"/>
          <p:cNvSpPr txBox="1"/>
          <p:nvPr/>
        </p:nvSpPr>
        <p:spPr>
          <a:xfrm>
            <a:off x="5117897" y="3952951"/>
            <a:ext cx="2457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동시 접근을 원천 차단하여 상태 충돌 및 중복 방지</a:t>
            </a:r>
            <a:endParaRPr lang="en-US" sz="1100" dirty="0"/>
          </a:p>
        </p:txBody>
      </p:sp>
      <p:sp>
        <p:nvSpPr>
          <p:cNvPr id="42" name="Shape 24"/>
          <p:cNvSpPr/>
          <p:nvPr/>
        </p:nvSpPr>
        <p:spPr>
          <a:xfrm>
            <a:off x="4508906" y="5343754"/>
            <a:ext cx="3181198" cy="942746"/>
          </a:xfrm>
          <a:prstGeom prst="roundRect">
            <a:avLst>
              <a:gd name="adj" fmla="val 39189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25"/>
          <p:cNvSpPr/>
          <p:nvPr/>
        </p:nvSpPr>
        <p:spPr>
          <a:xfrm>
            <a:off x="4508906" y="5343754"/>
            <a:ext cx="3181198" cy="9144"/>
          </a:xfrm>
          <a:prstGeom prst="roundRect">
            <a:avLst>
              <a:gd name="adj" fmla="val 4040404"/>
            </a:avLst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26"/>
          <p:cNvSpPr txBox="1"/>
          <p:nvPr/>
        </p:nvSpPr>
        <p:spPr>
          <a:xfrm>
            <a:off x="5686654" y="5544007"/>
            <a:ext cx="8293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5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Sync</a:t>
            </a:r>
            <a:endParaRPr lang="en-US" sz="2400" dirty="0"/>
          </a:p>
        </p:txBody>
      </p:sp>
      <p:sp>
        <p:nvSpPr>
          <p:cNvPr id="45" name="Text 27"/>
          <p:cNvSpPr txBox="1"/>
          <p:nvPr/>
        </p:nvSpPr>
        <p:spPr>
          <a:xfrm>
            <a:off x="5644591" y="5896051"/>
            <a:ext cx="9107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스레드 동기화</a:t>
            </a:r>
            <a:endParaRPr lang="en-US" sz="1000" dirty="0"/>
          </a:p>
        </p:txBody>
      </p:sp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13"/>
          <a:srcRect t="-3" b="-3"/>
          <a:stretch/>
        </p:blipFill>
        <p:spPr>
          <a:xfrm>
            <a:off x="8445398" y="1647749"/>
            <a:ext cx="3174797" cy="4638751"/>
          </a:xfrm>
          <a:prstGeom prst="rect">
            <a:avLst/>
          </a:prstGeom>
        </p:spPr>
      </p:pic>
      <p:sp>
        <p:nvSpPr>
          <p:cNvPr id="47" name="Shape 28"/>
          <p:cNvSpPr/>
          <p:nvPr/>
        </p:nvSpPr>
        <p:spPr>
          <a:xfrm>
            <a:off x="8445398" y="2543861"/>
            <a:ext cx="3181198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29"/>
          <p:cNvSpPr/>
          <p:nvPr/>
        </p:nvSpPr>
        <p:spPr>
          <a:xfrm>
            <a:off x="8635594" y="1895551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17" descr="preencoded.png"/>
          <p:cNvPicPr>
            <a:picLocks noChangeAspect="1"/>
          </p:cNvPicPr>
          <p:nvPr/>
        </p:nvPicPr>
        <p:blipFill>
          <a:blip r:embed="rId14"/>
          <a:srcRect l="-80" r="-80"/>
          <a:stretch/>
        </p:blipFill>
        <p:spPr>
          <a:xfrm>
            <a:off x="8721547" y="2009851"/>
            <a:ext cx="286207" cy="228600"/>
          </a:xfrm>
          <a:prstGeom prst="rect">
            <a:avLst/>
          </a:prstGeom>
        </p:spPr>
      </p:pic>
      <p:sp>
        <p:nvSpPr>
          <p:cNvPr id="50" name="Text 30"/>
          <p:cNvSpPr txBox="1"/>
          <p:nvPr/>
        </p:nvSpPr>
        <p:spPr>
          <a:xfrm>
            <a:off x="9236354" y="1907438"/>
            <a:ext cx="22887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Effect</a:t>
            </a:r>
            <a:endParaRPr lang="en-US" sz="900" dirty="0"/>
          </a:p>
        </p:txBody>
      </p:sp>
      <p:sp>
        <p:nvSpPr>
          <p:cNvPr id="51" name="Text 31"/>
          <p:cNvSpPr txBox="1"/>
          <p:nvPr/>
        </p:nvSpPr>
        <p:spPr>
          <a:xfrm>
            <a:off x="9236354" y="2112264"/>
            <a:ext cx="2376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무결점 음성 및 효율성</a:t>
            </a:r>
            <a:endParaRPr lang="en-US" sz="1500" dirty="0"/>
          </a:p>
        </p:txBody>
      </p:sp>
      <p:pic>
        <p:nvPicPr>
          <p:cNvPr id="52" name="Image 18" descr="preencoded.png"/>
          <p:cNvPicPr>
            <a:picLocks noChangeAspect="1"/>
          </p:cNvPicPr>
          <p:nvPr/>
        </p:nvPicPr>
        <p:blipFill>
          <a:blip r:embed="rId15"/>
          <a:srcRect l="-133" r="-133"/>
          <a:stretch/>
        </p:blipFill>
        <p:spPr>
          <a:xfrm>
            <a:off x="8635594" y="2838298"/>
            <a:ext cx="85954" cy="114300"/>
          </a:xfrm>
          <a:prstGeom prst="rect">
            <a:avLst/>
          </a:prstGeom>
        </p:spPr>
      </p:pic>
      <p:sp>
        <p:nvSpPr>
          <p:cNvPr id="53" name="Text 32"/>
          <p:cNvSpPr txBox="1"/>
          <p:nvPr/>
        </p:nvSpPr>
        <p:spPr>
          <a:xfrm>
            <a:off x="9026042" y="2790749"/>
            <a:ext cx="24862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잡음 및 끊김 현상 완전 해소 (Clear Audio)</a:t>
            </a:r>
            <a:endParaRPr lang="en-US" sz="1100" dirty="0"/>
          </a:p>
        </p:txBody>
      </p:sp>
      <p:pic>
        <p:nvPicPr>
          <p:cNvPr id="54" name="Image 19" descr="preencoded.png"/>
          <p:cNvPicPr>
            <a:picLocks noChangeAspect="1"/>
          </p:cNvPicPr>
          <p:nvPr/>
        </p:nvPicPr>
        <p:blipFill>
          <a:blip r:embed="rId15"/>
          <a:srcRect l="-133" r="-133"/>
          <a:stretch/>
        </p:blipFill>
        <p:spPr>
          <a:xfrm>
            <a:off x="8635594" y="3409798"/>
            <a:ext cx="85954" cy="114300"/>
          </a:xfrm>
          <a:prstGeom prst="rect">
            <a:avLst/>
          </a:prstGeom>
        </p:spPr>
      </p:pic>
      <p:sp>
        <p:nvSpPr>
          <p:cNvPr id="55" name="Text 33"/>
          <p:cNvSpPr txBox="1"/>
          <p:nvPr/>
        </p:nvSpPr>
        <p:spPr>
          <a:xfrm>
            <a:off x="9026042" y="3362249"/>
            <a:ext cx="24862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요청 시 중복 연산 제거로 응답 대기 시간 단축</a:t>
            </a:r>
            <a:endParaRPr lang="en-US" sz="1100" dirty="0"/>
          </a:p>
        </p:txBody>
      </p:sp>
      <p:pic>
        <p:nvPicPr>
          <p:cNvPr id="56" name="Image 20" descr="preencoded.png"/>
          <p:cNvPicPr>
            <a:picLocks noChangeAspect="1"/>
          </p:cNvPicPr>
          <p:nvPr/>
        </p:nvPicPr>
        <p:blipFill>
          <a:blip r:embed="rId15"/>
          <a:srcRect l="-133" r="-133"/>
          <a:stretch/>
        </p:blipFill>
        <p:spPr>
          <a:xfrm>
            <a:off x="8635594" y="3981298"/>
            <a:ext cx="85954" cy="114300"/>
          </a:xfrm>
          <a:prstGeom prst="rect">
            <a:avLst/>
          </a:prstGeom>
        </p:spPr>
      </p:pic>
      <p:sp>
        <p:nvSpPr>
          <p:cNvPr id="57" name="Text 34"/>
          <p:cNvSpPr txBox="1"/>
          <p:nvPr/>
        </p:nvSpPr>
        <p:spPr>
          <a:xfrm>
            <a:off x="9026042" y="3933749"/>
            <a:ext cx="2827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안정적인 실시간 면접 음성 응답 환경 확보</a:t>
            </a:r>
            <a:endParaRPr lang="en-US" sz="1100" dirty="0"/>
          </a:p>
        </p:txBody>
      </p:sp>
      <p:sp>
        <p:nvSpPr>
          <p:cNvPr id="58" name="Shape 35"/>
          <p:cNvSpPr/>
          <p:nvPr/>
        </p:nvSpPr>
        <p:spPr>
          <a:xfrm>
            <a:off x="8445398" y="5339182"/>
            <a:ext cx="3181198" cy="952805"/>
          </a:xfrm>
          <a:prstGeom prst="roundRect">
            <a:avLst>
              <a:gd name="adj" fmla="val 38388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36"/>
          <p:cNvSpPr/>
          <p:nvPr/>
        </p:nvSpPr>
        <p:spPr>
          <a:xfrm>
            <a:off x="8445398" y="5339182"/>
            <a:ext cx="3181198" cy="9144"/>
          </a:xfrm>
          <a:prstGeom prst="roundRect">
            <a:avLst>
              <a:gd name="adj" fmla="val 4000000"/>
            </a:avLst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37"/>
          <p:cNvSpPr txBox="1"/>
          <p:nvPr/>
        </p:nvSpPr>
        <p:spPr>
          <a:xfrm>
            <a:off x="8757209" y="5538521"/>
            <a:ext cx="8293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0% </a:t>
            </a:r>
            <a:endParaRPr lang="en-US" sz="2400" dirty="0"/>
          </a:p>
        </p:txBody>
      </p:sp>
      <p:pic>
        <p:nvPicPr>
          <p:cNvPr id="61" name="Image 21" descr="preencoded.png"/>
          <p:cNvPicPr>
            <a:picLocks noChangeAspect="1"/>
          </p:cNvPicPr>
          <p:nvPr/>
        </p:nvPicPr>
        <p:blipFill>
          <a:blip r:embed="rId16"/>
          <a:srcRect l="-1648" r="-1648"/>
          <a:stretch/>
        </p:blipFill>
        <p:spPr>
          <a:xfrm>
            <a:off x="9367114" y="5658307"/>
            <a:ext cx="171907" cy="190195"/>
          </a:xfrm>
          <a:prstGeom prst="rect">
            <a:avLst/>
          </a:prstGeom>
        </p:spPr>
      </p:pic>
      <p:sp>
        <p:nvSpPr>
          <p:cNvPr id="62" name="Text 38"/>
          <p:cNvSpPr txBox="1"/>
          <p:nvPr/>
        </p:nvSpPr>
        <p:spPr>
          <a:xfrm>
            <a:off x="8757209" y="5896051"/>
            <a:ext cx="8293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잡음 발생</a:t>
            </a:r>
            <a:endParaRPr lang="en-US" sz="1000" dirty="0"/>
          </a:p>
        </p:txBody>
      </p:sp>
      <p:pic>
        <p:nvPicPr>
          <p:cNvPr id="63" name="Image 22" descr="preencoded.png"/>
          <p:cNvPicPr>
            <a:picLocks noChangeAspect="1"/>
          </p:cNvPicPr>
          <p:nvPr/>
        </p:nvPicPr>
        <p:blipFill>
          <a:blip r:embed="rId17"/>
          <a:srcRect t="-2127" b="-2127"/>
          <a:stretch/>
        </p:blipFill>
        <p:spPr>
          <a:xfrm>
            <a:off x="9953244" y="5627218"/>
            <a:ext cx="9144" cy="381305"/>
          </a:xfrm>
          <a:prstGeom prst="rect">
            <a:avLst/>
          </a:prstGeom>
        </p:spPr>
      </p:pic>
      <p:sp>
        <p:nvSpPr>
          <p:cNvPr id="64" name="Text 39"/>
          <p:cNvSpPr txBox="1"/>
          <p:nvPr/>
        </p:nvSpPr>
        <p:spPr>
          <a:xfrm>
            <a:off x="10340035" y="5538521"/>
            <a:ext cx="9720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 </a:t>
            </a:r>
            <a:endParaRPr lang="en-US" sz="2400" dirty="0"/>
          </a:p>
        </p:txBody>
      </p:sp>
      <p:pic>
        <p:nvPicPr>
          <p:cNvPr id="65" name="Image 23" descr="preencoded.png"/>
          <p:cNvPicPr>
            <a:picLocks noChangeAspect="1"/>
          </p:cNvPicPr>
          <p:nvPr/>
        </p:nvPicPr>
        <p:blipFill>
          <a:blip r:embed="rId18"/>
          <a:srcRect l="-1648" r="-1648"/>
          <a:stretch/>
        </p:blipFill>
        <p:spPr>
          <a:xfrm>
            <a:off x="11098987" y="5658307"/>
            <a:ext cx="171907" cy="190195"/>
          </a:xfrm>
          <a:prstGeom prst="rect">
            <a:avLst/>
          </a:prstGeom>
        </p:spPr>
      </p:pic>
      <p:sp>
        <p:nvSpPr>
          <p:cNvPr id="66" name="Text 40"/>
          <p:cNvSpPr txBox="1"/>
          <p:nvPr/>
        </p:nvSpPr>
        <p:spPr>
          <a:xfrm>
            <a:off x="10340035" y="5896051"/>
            <a:ext cx="9720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 속도</a:t>
            </a:r>
            <a:endParaRPr lang="en-US" sz="1000" dirty="0"/>
          </a:p>
        </p:txBody>
      </p:sp>
      <p:sp>
        <p:nvSpPr>
          <p:cNvPr id="67" name="TextBox 66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A4_Project_2AI1_MA_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조윤재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91753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DB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429500" y="-1429207"/>
            <a:ext cx="5715000" cy="57150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1143000" y="3238805"/>
            <a:ext cx="4762195" cy="4762195"/>
          </a:xfrm>
          <a:prstGeom prst="ellipse">
            <a:avLst/>
          </a:prstGeom>
          <a:solidFill>
            <a:srgbClr val="B39DD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76402" y="381305"/>
            <a:ext cx="11239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End-to-End 시스템 구현 결론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3076956" y="1095451"/>
            <a:ext cx="697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14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구현: Faster-Whisper(STT) + Supertonic-2(TTS) + MediaPipe(Vision) 통합 파이프라인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0554" y="1019556"/>
            <a:ext cx="6991502" cy="381305"/>
          </a:xfrm>
          <a:prstGeom prst="roundRect">
            <a:avLst>
              <a:gd name="adj" fmla="val 239808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2829154" y="1143000"/>
            <a:ext cx="171907" cy="152705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10" b="-10"/>
          <a:stretch/>
        </p:blipFill>
        <p:spPr>
          <a:xfrm>
            <a:off x="571500" y="1686154"/>
            <a:ext cx="3492094" cy="335493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14370" y="1828800"/>
            <a:ext cx="514807" cy="237744"/>
          </a:xfrm>
          <a:prstGeom prst="roundRect">
            <a:avLst>
              <a:gd name="adj" fmla="val 307692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3386023" y="1828800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+48%p</a:t>
            </a:r>
            <a:endParaRPr lang="en-US" sz="8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031797" y="1923898"/>
            <a:ext cx="571500" cy="571500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50669" y="2076602"/>
            <a:ext cx="333756" cy="2670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603858" y="2638044"/>
            <a:ext cx="142829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TTS 합성 성공률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1296619" y="3172054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E9E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800" dirty="0"/>
          </a:p>
        </p:txBody>
      </p:sp>
      <p:sp>
        <p:nvSpPr>
          <p:cNvPr id="17" name="Text 11"/>
          <p:cNvSpPr txBox="1"/>
          <p:nvPr/>
        </p:nvSpPr>
        <p:spPr>
          <a:xfrm>
            <a:off x="1155802" y="3366821"/>
            <a:ext cx="7717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50%</a:t>
            </a:r>
            <a:endParaRPr lang="en-US" sz="16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2061972" y="3402482"/>
            <a:ext cx="171907" cy="19019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726741" y="3086100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E9E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800" dirty="0"/>
          </a:p>
        </p:txBody>
      </p:sp>
      <p:sp>
        <p:nvSpPr>
          <p:cNvPr id="20" name="Text 13"/>
          <p:cNvSpPr txBox="1"/>
          <p:nvPr/>
        </p:nvSpPr>
        <p:spPr>
          <a:xfrm>
            <a:off x="2338121" y="3281782"/>
            <a:ext cx="11814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565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98%</a:t>
            </a:r>
            <a:endParaRPr lang="en-US" sz="2500" dirty="0"/>
          </a:p>
        </p:txBody>
      </p:sp>
      <p:sp>
        <p:nvSpPr>
          <p:cNvPr id="21" name="Text 14"/>
          <p:cNvSpPr txBox="1"/>
          <p:nvPr/>
        </p:nvSpPr>
        <p:spPr>
          <a:xfrm>
            <a:off x="1317650" y="3909974"/>
            <a:ext cx="20071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이중 스킵 로직 및 락(Lock) 적용</a:t>
            </a:r>
            <a:endParaRPr lang="en-US" sz="9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206" r="-206"/>
          <a:stretch/>
        </p:blipFill>
        <p:spPr>
          <a:xfrm>
            <a:off x="761695" y="4726534"/>
            <a:ext cx="3111703" cy="75895"/>
          </a:xfrm>
          <a:prstGeom prst="rect">
            <a:avLst/>
          </a:prstGeom>
        </p:spPr>
      </p:pic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 l="-194" r="-194"/>
          <a:stretch/>
        </p:blipFill>
        <p:spPr>
          <a:xfrm>
            <a:off x="761695" y="4726534"/>
            <a:ext cx="3048610" cy="75895"/>
          </a:xfrm>
          <a:prstGeom prst="rect">
            <a:avLst/>
          </a:prstGeom>
        </p:spPr>
      </p:pic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t="-12" b="-12"/>
          <a:stretch/>
        </p:blipFill>
        <p:spPr>
          <a:xfrm>
            <a:off x="4349801" y="1686154"/>
            <a:ext cx="3492094" cy="3354934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7283196" y="1828800"/>
            <a:ext cx="418795" cy="237744"/>
          </a:xfrm>
          <a:prstGeom prst="roundRect">
            <a:avLst>
              <a:gd name="adj" fmla="val 307692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6"/>
          <p:cNvSpPr txBox="1"/>
          <p:nvPr/>
        </p:nvSpPr>
        <p:spPr>
          <a:xfrm>
            <a:off x="7254850" y="1828800"/>
            <a:ext cx="4764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-90%</a:t>
            </a:r>
            <a:endParaRPr lang="en-US" sz="8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1923898"/>
            <a:ext cx="571500" cy="571500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962802" y="2076602"/>
            <a:ext cx="267005" cy="267005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5474513" y="2638044"/>
            <a:ext cx="12472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환각 빈도</a:t>
            </a:r>
            <a:endParaRPr lang="en-US" sz="1300" dirty="0"/>
          </a:p>
        </p:txBody>
      </p:sp>
      <p:sp>
        <p:nvSpPr>
          <p:cNvPr id="30" name="Text 18"/>
          <p:cNvSpPr txBox="1"/>
          <p:nvPr/>
        </p:nvSpPr>
        <p:spPr>
          <a:xfrm>
            <a:off x="5222138" y="3172054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E9E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800" dirty="0"/>
          </a:p>
        </p:txBody>
      </p:sp>
      <p:sp>
        <p:nvSpPr>
          <p:cNvPr id="31" name="Text 19"/>
          <p:cNvSpPr txBox="1"/>
          <p:nvPr/>
        </p:nvSpPr>
        <p:spPr>
          <a:xfrm>
            <a:off x="5210251" y="3366821"/>
            <a:ext cx="5148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15회</a:t>
            </a:r>
            <a:endParaRPr lang="en-US" sz="16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5987491" y="3402482"/>
            <a:ext cx="171907" cy="190195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6505042" y="3086100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E9E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800" dirty="0"/>
          </a:p>
        </p:txBody>
      </p:sp>
      <p:sp>
        <p:nvSpPr>
          <p:cNvPr id="34" name="Text 21"/>
          <p:cNvSpPr txBox="1"/>
          <p:nvPr/>
        </p:nvSpPr>
        <p:spPr>
          <a:xfrm>
            <a:off x="6228893" y="3281782"/>
            <a:ext cx="95646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1.5회</a:t>
            </a:r>
            <a:endParaRPr lang="en-US" sz="2500" dirty="0"/>
          </a:p>
        </p:txBody>
      </p:sp>
      <p:sp>
        <p:nvSpPr>
          <p:cNvPr id="35" name="Text 22"/>
          <p:cNvSpPr txBox="1"/>
          <p:nvPr/>
        </p:nvSpPr>
        <p:spPr>
          <a:xfrm>
            <a:off x="5169103" y="3909974"/>
            <a:ext cx="185897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면접 1회당 발생 (VAD 고도화)</a:t>
            </a:r>
            <a:endParaRPr lang="en-US" sz="90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13"/>
          <a:srcRect l="-204" r="-204"/>
          <a:stretch/>
        </p:blipFill>
        <p:spPr>
          <a:xfrm>
            <a:off x="4539996" y="4726534"/>
            <a:ext cx="3111703" cy="75895"/>
          </a:xfrm>
          <a:prstGeom prst="rect">
            <a:avLst/>
          </a:prstGeom>
        </p:spPr>
      </p:pic>
      <p:sp>
        <p:nvSpPr>
          <p:cNvPr id="37" name="Shape 23"/>
          <p:cNvSpPr/>
          <p:nvPr/>
        </p:nvSpPr>
        <p:spPr>
          <a:xfrm>
            <a:off x="4539996" y="4726534"/>
            <a:ext cx="314554" cy="75895"/>
          </a:xfrm>
          <a:prstGeom prst="roundRect">
            <a:avLst>
              <a:gd name="adj" fmla="val 1204822"/>
            </a:avLst>
          </a:prstGeom>
          <a:solidFill>
            <a:srgbClr val="C628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0"/>
          <a:srcRect t="-12" b="-12"/>
          <a:stretch/>
        </p:blipFill>
        <p:spPr>
          <a:xfrm>
            <a:off x="8128102" y="1686154"/>
            <a:ext cx="3492094" cy="3354934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10944454" y="1828800"/>
            <a:ext cx="533095" cy="237744"/>
          </a:xfrm>
          <a:prstGeom prst="roundRect">
            <a:avLst>
              <a:gd name="adj" fmla="val 307692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25"/>
          <p:cNvSpPr txBox="1"/>
          <p:nvPr/>
        </p:nvSpPr>
        <p:spPr>
          <a:xfrm>
            <a:off x="10916107" y="1828800"/>
            <a:ext cx="5907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8배 향상</a:t>
            </a:r>
            <a:endParaRPr lang="en-US" sz="800" dirty="0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588398" y="1923898"/>
            <a:ext cx="571500" cy="571500"/>
          </a:xfrm>
          <a:prstGeom prst="rect">
            <a:avLst/>
          </a:prstGeom>
        </p:spPr>
      </p:pic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15"/>
          <a:srcRect l="-685" r="-685"/>
          <a:stretch/>
        </p:blipFill>
        <p:spPr>
          <a:xfrm>
            <a:off x="9721901" y="2076602"/>
            <a:ext cx="304495" cy="267005"/>
          </a:xfrm>
          <a:prstGeom prst="rect">
            <a:avLst/>
          </a:prstGeom>
        </p:spPr>
      </p:pic>
      <p:sp>
        <p:nvSpPr>
          <p:cNvPr id="43" name="Text 26"/>
          <p:cNvSpPr txBox="1"/>
          <p:nvPr/>
        </p:nvSpPr>
        <p:spPr>
          <a:xfrm>
            <a:off x="9135770" y="2638044"/>
            <a:ext cx="14849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Vision 분석 속도</a:t>
            </a:r>
            <a:endParaRPr lang="en-US" sz="1300" dirty="0"/>
          </a:p>
        </p:txBody>
      </p:sp>
      <p:sp>
        <p:nvSpPr>
          <p:cNvPr id="44" name="Text 27"/>
          <p:cNvSpPr txBox="1"/>
          <p:nvPr/>
        </p:nvSpPr>
        <p:spPr>
          <a:xfrm>
            <a:off x="8964778" y="3200400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E9E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800" dirty="0"/>
          </a:p>
        </p:txBody>
      </p:sp>
      <p:sp>
        <p:nvSpPr>
          <p:cNvPr id="45" name="Text 28"/>
          <p:cNvSpPr txBox="1"/>
          <p:nvPr/>
        </p:nvSpPr>
        <p:spPr>
          <a:xfrm>
            <a:off x="8899855" y="3396082"/>
            <a:ext cx="6199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200ms</a:t>
            </a:r>
            <a:endParaRPr lang="en-US" sz="1300" dirty="0"/>
          </a:p>
        </p:txBody>
      </p:sp>
      <p:pic>
        <p:nvPicPr>
          <p:cNvPr id="46" name="Image 15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9730130" y="3402482"/>
            <a:ext cx="171907" cy="190195"/>
          </a:xfrm>
          <a:prstGeom prst="rect">
            <a:avLst/>
          </a:prstGeom>
        </p:spPr>
      </p:pic>
      <p:sp>
        <p:nvSpPr>
          <p:cNvPr id="47" name="Text 29"/>
          <p:cNvSpPr txBox="1"/>
          <p:nvPr/>
        </p:nvSpPr>
        <p:spPr>
          <a:xfrm>
            <a:off x="10283342" y="3086100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E9E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800" dirty="0"/>
          </a:p>
        </p:txBody>
      </p:sp>
      <p:sp>
        <p:nvSpPr>
          <p:cNvPr id="48" name="Text 30"/>
          <p:cNvSpPr txBox="1"/>
          <p:nvPr/>
        </p:nvSpPr>
        <p:spPr>
          <a:xfrm>
            <a:off x="10006279" y="3281782"/>
            <a:ext cx="962863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25ms</a:t>
            </a:r>
            <a:endParaRPr lang="en-US" sz="2500" dirty="0"/>
          </a:p>
        </p:txBody>
      </p:sp>
      <p:sp>
        <p:nvSpPr>
          <p:cNvPr id="49" name="Text 31"/>
          <p:cNvSpPr txBox="1"/>
          <p:nvPr/>
        </p:nvSpPr>
        <p:spPr>
          <a:xfrm>
            <a:off x="8943746" y="3909974"/>
            <a:ext cx="18635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DeepFace ➔ MediaPipe 전환</a:t>
            </a:r>
            <a:endParaRPr lang="en-US" sz="900" dirty="0"/>
          </a:p>
        </p:txBody>
      </p:sp>
      <p:pic>
        <p:nvPicPr>
          <p:cNvPr id="50" name="Image 16" descr="preencoded.png"/>
          <p:cNvPicPr>
            <a:picLocks noChangeAspect="1"/>
          </p:cNvPicPr>
          <p:nvPr/>
        </p:nvPicPr>
        <p:blipFill>
          <a:blip r:embed="rId13"/>
          <a:srcRect l="-204" r="-204"/>
          <a:stretch/>
        </p:blipFill>
        <p:spPr>
          <a:xfrm>
            <a:off x="8318297" y="4726534"/>
            <a:ext cx="3111703" cy="75895"/>
          </a:xfrm>
          <a:prstGeom prst="rect">
            <a:avLst/>
          </a:prstGeom>
        </p:spPr>
      </p:pic>
      <p:pic>
        <p:nvPicPr>
          <p:cNvPr id="51" name="Image 17" descr="preencoded.png"/>
          <p:cNvPicPr>
            <a:picLocks noChangeAspect="1"/>
          </p:cNvPicPr>
          <p:nvPr/>
        </p:nvPicPr>
        <p:blipFill>
          <a:blip r:embed="rId16"/>
          <a:srcRect l="-208" r="-208"/>
          <a:stretch/>
        </p:blipFill>
        <p:spPr>
          <a:xfrm>
            <a:off x="8318297" y="4726534"/>
            <a:ext cx="2956255" cy="75895"/>
          </a:xfrm>
          <a:prstGeom prst="rect">
            <a:avLst/>
          </a:prstGeom>
        </p:spPr>
      </p:pic>
      <p:pic>
        <p:nvPicPr>
          <p:cNvPr id="52" name="Image 18" descr="preencoded.png"/>
          <p:cNvPicPr>
            <a:picLocks noChangeAspect="1"/>
          </p:cNvPicPr>
          <p:nvPr/>
        </p:nvPicPr>
        <p:blipFill>
          <a:blip r:embed="rId17"/>
          <a:srcRect l="-11" r="-11"/>
          <a:stretch/>
        </p:blipFill>
        <p:spPr>
          <a:xfrm>
            <a:off x="571500" y="5421478"/>
            <a:ext cx="11048695" cy="1055218"/>
          </a:xfrm>
          <a:prstGeom prst="rect">
            <a:avLst/>
          </a:prstGeom>
        </p:spPr>
      </p:pic>
      <p:pic>
        <p:nvPicPr>
          <p:cNvPr id="53" name="Image 19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905256" y="5758891"/>
            <a:ext cx="381305" cy="381305"/>
          </a:xfrm>
          <a:prstGeom prst="rect">
            <a:avLst/>
          </a:prstGeom>
        </p:spPr>
      </p:pic>
      <p:sp>
        <p:nvSpPr>
          <p:cNvPr id="54" name="Text 32"/>
          <p:cNvSpPr txBox="1"/>
          <p:nvPr/>
        </p:nvSpPr>
        <p:spPr>
          <a:xfrm>
            <a:off x="1524305" y="5421478"/>
            <a:ext cx="9839858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기능별 모델 공간의 </a:t>
            </a: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완벽한 분리</a:t>
            </a: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와, 예외 상황에서도 시스템이 멈추지 않는 </a:t>
            </a: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방어적 설계 문화</a:t>
            </a: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기반으로 안정적인 </a:t>
            </a: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아키텍처</a:t>
            </a: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구축을 완료했습니다. </a:t>
            </a:r>
            <a:endParaRPr lang="en-US" sz="1400" dirty="0"/>
          </a:p>
        </p:txBody>
      </p:sp>
      <p:sp>
        <p:nvSpPr>
          <p:cNvPr id="55" name="TextBox 54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A4_Project_2AI1_MA_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조윤재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43751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DB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B39DD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286000" y="-1067105"/>
            <a:ext cx="7619695" cy="7619695"/>
          </a:xfrm>
          <a:prstGeom prst="ellipse">
            <a:avLst/>
          </a:prstGeom>
          <a:noFill/>
          <a:ln w="254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18795" y="381305"/>
            <a:ext cx="113541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소감 및 인사이트</a:t>
            </a:r>
            <a:endParaRPr lang="en-US" sz="2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4497934" y="1019556"/>
            <a:ext cx="3200400" cy="37124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98441" y="1019556"/>
            <a:ext cx="28767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14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과정에서 얻은 교훈과 핵심 가치 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773" r="-1773"/>
          <a:stretch/>
        </p:blipFill>
        <p:spPr>
          <a:xfrm>
            <a:off x="4688129" y="1126541"/>
            <a:ext cx="133502" cy="171907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11" b="-11"/>
          <a:stretch/>
        </p:blipFill>
        <p:spPr>
          <a:xfrm>
            <a:off x="571500" y="1676095"/>
            <a:ext cx="5405018" cy="230063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33602" y="2563063"/>
            <a:ext cx="4762195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933602" y="1926641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1043330" y="2050085"/>
            <a:ext cx="256946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552651" y="2100377"/>
            <a:ext cx="148132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배운 점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933602" y="2795321"/>
            <a:ext cx="57607" cy="57607"/>
          </a:xfrm>
          <a:prstGeom prst="ellipse">
            <a:avLst/>
          </a:prstGeom>
          <a:solidFill>
            <a:srgbClr val="1565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1"/>
          <p:cNvSpPr txBox="1"/>
          <p:nvPr/>
        </p:nvSpPr>
        <p:spPr>
          <a:xfrm>
            <a:off x="1104595" y="2710282"/>
            <a:ext cx="4668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"가장 정확한 비전 모델(DeepFace)"보다 빠른 속도와 리소스 효율성을 보장하는 것이 중요함.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933602" y="3366821"/>
            <a:ext cx="57607" cy="57607"/>
          </a:xfrm>
          <a:prstGeom prst="ellipse">
            <a:avLst/>
          </a:prstGeom>
          <a:solidFill>
            <a:srgbClr val="1565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 txBox="1"/>
          <p:nvPr/>
        </p:nvSpPr>
        <p:spPr>
          <a:xfrm>
            <a:off x="1104595" y="3281782"/>
            <a:ext cx="4668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"도메인 환경에 맞는 효율적 모델(MediaPipe)"</a:t>
            </a:r>
            <a:r>
              <a:rPr lang="en-US" sz="12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선택하는 것이 설계자의 핵심 역량임을 깨달음.</a:t>
            </a:r>
            <a:endParaRPr lang="en-US" sz="12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 t="-11" b="-11"/>
          <a:stretch/>
        </p:blipFill>
        <p:spPr>
          <a:xfrm>
            <a:off x="6215177" y="1676095"/>
            <a:ext cx="5405018" cy="230063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577279" y="2563063"/>
            <a:ext cx="4762195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5"/>
          <p:cNvSpPr/>
          <p:nvPr/>
        </p:nvSpPr>
        <p:spPr>
          <a:xfrm>
            <a:off x="6577279" y="1926641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00723" y="2050085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196328" y="2100377"/>
            <a:ext cx="116311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잘한 점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6577279" y="3023921"/>
            <a:ext cx="57607" cy="57607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 txBox="1"/>
          <p:nvPr/>
        </p:nvSpPr>
        <p:spPr>
          <a:xfrm>
            <a:off x="6748272" y="2938882"/>
            <a:ext cx="4689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TTS 스레드 락 및 이중 스킵 로직 적용으로 동시성 문제 해결.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6577279" y="3366821"/>
            <a:ext cx="57607" cy="57607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0"/>
          <p:cNvSpPr txBox="1"/>
          <p:nvPr/>
        </p:nvSpPr>
        <p:spPr>
          <a:xfrm>
            <a:off x="6748272" y="3281782"/>
            <a:ext cx="5366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환각 방어 등 </a:t>
            </a: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주도적인 방어 설계</a:t>
            </a:r>
            <a:r>
              <a:rPr lang="en-US" sz="12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도입하여 시스템 안정성 확보.</a:t>
            </a:r>
            <a:endParaRPr lang="en-US" sz="12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rcRect t="-11" b="-11"/>
          <a:stretch/>
        </p:blipFill>
        <p:spPr>
          <a:xfrm>
            <a:off x="571500" y="4214470"/>
            <a:ext cx="5405018" cy="2300630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933602" y="5101438"/>
            <a:ext cx="4762195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2"/>
          <p:cNvSpPr/>
          <p:nvPr/>
        </p:nvSpPr>
        <p:spPr>
          <a:xfrm>
            <a:off x="933602" y="4465015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57046" y="4588459"/>
            <a:ext cx="228600" cy="2286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552651" y="4638751"/>
            <a:ext cx="185166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아쉬운 점</a:t>
            </a:r>
            <a:endParaRPr lang="en-US" sz="1600" dirty="0"/>
          </a:p>
        </p:txBody>
      </p:sp>
      <p:sp>
        <p:nvSpPr>
          <p:cNvPr id="34" name="Shape 24"/>
          <p:cNvSpPr/>
          <p:nvPr/>
        </p:nvSpPr>
        <p:spPr>
          <a:xfrm>
            <a:off x="933602" y="5447995"/>
            <a:ext cx="57607" cy="57607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5"/>
          <p:cNvSpPr txBox="1"/>
          <p:nvPr/>
        </p:nvSpPr>
        <p:spPr>
          <a:xfrm>
            <a:off x="1104595" y="5362956"/>
            <a:ext cx="4668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프론트엔드·백엔드 담당자들과의 데이터 포맷, 전송 타이밍 등 </a:t>
            </a: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인터페이스 사전 합의 부족</a:t>
            </a:r>
            <a:r>
              <a:rPr lang="en-US" sz="12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933602" y="6019495"/>
            <a:ext cx="57607" cy="57607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7"/>
          <p:cNvSpPr txBox="1"/>
          <p:nvPr/>
        </p:nvSpPr>
        <p:spPr>
          <a:xfrm>
            <a:off x="1104595" y="5934456"/>
            <a:ext cx="43424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이로 인해 WebRTC 통합 단계에서 잦은 에러와 충돌 발생.</a:t>
            </a:r>
            <a:endParaRPr lang="en-US" sz="12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rcRect t="-11" b="-11"/>
          <a:stretch/>
        </p:blipFill>
        <p:spPr>
          <a:xfrm>
            <a:off x="6215177" y="4214470"/>
            <a:ext cx="5405018" cy="230063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7717536" y="4870094"/>
            <a:ext cx="24771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14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"개별 AI 모델의 성능과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4A14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이를 조합한 실시간 시스템 성능은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4A14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완전히 다른 차원입니다."</a:t>
            </a:r>
            <a:endParaRPr lang="en-US" sz="1300" dirty="0"/>
          </a:p>
        </p:txBody>
      </p:sp>
      <p:sp>
        <p:nvSpPr>
          <p:cNvPr id="40" name="Text 29"/>
          <p:cNvSpPr txBox="1"/>
          <p:nvPr/>
        </p:nvSpPr>
        <p:spPr>
          <a:xfrm>
            <a:off x="6633972" y="5784494"/>
            <a:ext cx="46488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14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 파이프라인 위에서 무중단으로 구동될 수 있는 </a:t>
            </a:r>
            <a:r>
              <a:rPr lang="en-US" sz="1100" b="1" u="sng" dirty="0">
                <a:solidFill>
                  <a:srgbClr val="4A14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튼튼한 환경</a:t>
            </a:r>
            <a:r>
              <a:rPr lang="en-US" sz="1100" dirty="0">
                <a:solidFill>
                  <a:srgbClr val="4A14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조율하고 엮어내는 것이 진정한 엔지니어링임을 확신함.</a:t>
            </a:r>
            <a:endParaRPr lang="en-US" sz="1100" dirty="0"/>
          </a:p>
        </p:txBody>
      </p:sp>
      <p:sp>
        <p:nvSpPr>
          <p:cNvPr id="41" name="Text 30"/>
          <p:cNvSpPr txBox="1"/>
          <p:nvPr/>
        </p:nvSpPr>
        <p:spPr>
          <a:xfrm>
            <a:off x="1552651" y="1914754"/>
            <a:ext cx="15179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1565C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 &amp; Learning</a:t>
            </a:r>
            <a:endParaRPr lang="en-US" sz="900" dirty="0"/>
          </a:p>
        </p:txBody>
      </p:sp>
      <p:sp>
        <p:nvSpPr>
          <p:cNvPr id="42" name="Text 31"/>
          <p:cNvSpPr txBox="1"/>
          <p:nvPr/>
        </p:nvSpPr>
        <p:spPr>
          <a:xfrm>
            <a:off x="7196328" y="1914754"/>
            <a:ext cx="11804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2E7D32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Practices</a:t>
            </a:r>
            <a:endParaRPr lang="en-US" sz="900" dirty="0"/>
          </a:p>
        </p:txBody>
      </p:sp>
      <p:sp>
        <p:nvSpPr>
          <p:cNvPr id="43" name="Text 32"/>
          <p:cNvSpPr txBox="1"/>
          <p:nvPr/>
        </p:nvSpPr>
        <p:spPr>
          <a:xfrm>
            <a:off x="1552651" y="4453128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F57C0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Areas for Improvement</a:t>
            </a:r>
            <a:endParaRPr lang="en-US" sz="9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2">
            <a:alphaModFix amt="50000"/>
          </a:blip>
          <a:srcRect l="-57" r="-57"/>
          <a:stretch/>
        </p:blipFill>
        <p:spPr>
          <a:xfrm>
            <a:off x="8855964" y="4545482"/>
            <a:ext cx="200254" cy="2286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A4_Project_2AI1_MA_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조윤재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58953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B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5902" y="-1904695"/>
            <a:ext cx="5715000" cy="57150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-952805" y="4000500"/>
            <a:ext cx="3810305" cy="3810305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70402" y="586130"/>
            <a:ext cx="4858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35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Development Project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936455" y="1123798"/>
            <a:ext cx="64623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0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Development</a:t>
            </a: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5524805" y="2833726"/>
            <a:ext cx="1143000" cy="384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84118" y="3252521"/>
            <a:ext cx="48298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페르소나 맞춤형 고성능 SPA 및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 무결성 API 엔진 개발 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3793846" y="4243730"/>
            <a:ext cx="972007" cy="333756"/>
          </a:xfrm>
          <a:prstGeom prst="roundRect">
            <a:avLst>
              <a:gd name="adj" fmla="val 2739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765499" y="4243730"/>
            <a:ext cx="1028700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#React 18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928616" y="4243730"/>
            <a:ext cx="895198" cy="333756"/>
          </a:xfrm>
          <a:prstGeom prst="roundRect">
            <a:avLst>
              <a:gd name="adj" fmla="val 2739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00270" y="4243730"/>
            <a:ext cx="952805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#FastAPI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90234" y="4243730"/>
            <a:ext cx="1295705" cy="333756"/>
          </a:xfrm>
          <a:prstGeom prst="roundRect">
            <a:avLst>
              <a:gd name="adj" fmla="val 2739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61888" y="4243730"/>
            <a:ext cx="135331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#Microservices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456018" y="4243730"/>
            <a:ext cx="942746" cy="333756"/>
          </a:xfrm>
          <a:prstGeom prst="roundRect">
            <a:avLst>
              <a:gd name="adj" fmla="val 2739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427671" y="4243730"/>
            <a:ext cx="1000354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#WebRTC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38421" y="5710428"/>
            <a:ext cx="381305" cy="38130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358030" y="5529377"/>
            <a:ext cx="3476549" cy="743407"/>
          </a:xfrm>
          <a:prstGeom prst="roundRect">
            <a:avLst>
              <a:gd name="adj" fmla="val 123001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15230" y="5786323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262372" y="5672023"/>
            <a:ext cx="905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5262372" y="5862218"/>
            <a:ext cx="9052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이승재</a:t>
            </a:r>
            <a:endParaRPr lang="en-US" sz="15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t="-2029" b="-2029"/>
          <a:stretch/>
        </p:blipFill>
        <p:spPr>
          <a:xfrm>
            <a:off x="6303874" y="5747918"/>
            <a:ext cx="9144" cy="3044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532474" y="5672023"/>
            <a:ext cx="1000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6532474" y="5862218"/>
            <a:ext cx="11000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smtClean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2026.03.11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5882835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DEEB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75895" cy="72420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695" y="457200"/>
            <a:ext cx="112782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배경과 목표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914400"/>
            <a:ext cx="44961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채용 시대의 대규모 데이터 처리와 시스템 고도화 전략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85900"/>
            <a:ext cx="4572000" cy="2357321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1695" y="1596572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5995" y="1710872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1704937"/>
            <a:ext cx="175564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및 필요성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1754" y="2900275"/>
            <a:ext cx="40389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시대를 맞아 대규모 채용 데이터의 효율적 처리 </a:t>
            </a:r>
            <a:r>
              <a:rPr lang="en-US" sz="13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</a:t>
            </a: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증가</a:t>
            </a:r>
            <a:endParaRPr lang="en-US" sz="13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endParaRPr lang="en-US" sz="13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이력서</a:t>
            </a:r>
            <a:r>
              <a:rPr lang="en-US" altLang="ko-KR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altLang="ko-KR" sz="13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</a:t>
            </a:r>
            <a:r>
              <a:rPr lang="en-US" altLang="ko-KR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altLang="ko-KR" sz="13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</a:t>
            </a:r>
            <a:r>
              <a:rPr lang="en-US" altLang="ko-KR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</a:t>
            </a:r>
            <a:r>
              <a:rPr lang="en-US" altLang="ko-KR" sz="13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비정형</a:t>
            </a:r>
            <a:r>
              <a:rPr lang="en-US" altLang="ko-KR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3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데이터의</a:t>
            </a:r>
            <a:r>
              <a:rPr lang="en-US" altLang="ko-KR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3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안전한</a:t>
            </a:r>
            <a:r>
              <a:rPr lang="en-US" altLang="ko-KR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3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</a:t>
            </a:r>
            <a:r>
              <a:rPr lang="en-US" altLang="ko-KR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3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</a:t>
            </a:r>
            <a:endParaRPr lang="en-US" altLang="ko-KR" sz="13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endParaRPr lang="en-US" altLang="ko-KR" sz="13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</a:t>
            </a:r>
            <a:r>
              <a:rPr lang="en-US" altLang="ko-KR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3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시스템의</a:t>
            </a:r>
            <a:r>
              <a:rPr lang="en-US" altLang="ko-KR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3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병목</a:t>
            </a:r>
            <a:r>
              <a:rPr lang="en-US" altLang="ko-KR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3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현상</a:t>
            </a:r>
            <a:r>
              <a:rPr lang="en-US" altLang="ko-KR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3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해소</a:t>
            </a:r>
            <a:r>
              <a:rPr lang="en-US" altLang="ko-KR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altLang="ko-KR" sz="13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</a:t>
            </a:r>
            <a:r>
              <a:rPr lang="en-US" altLang="ko-KR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3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신뢰도</a:t>
            </a:r>
            <a:r>
              <a:rPr lang="en-US" altLang="ko-KR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3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제고</a:t>
            </a:r>
            <a:r>
              <a:rPr lang="en-US" altLang="ko-KR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3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</a:t>
            </a:r>
            <a:endParaRPr lang="en-US" altLang="ko-KR" sz="1300" dirty="0"/>
          </a:p>
          <a:p>
            <a:endParaRPr lang="en-US" altLang="ko-KR" sz="1300" dirty="0"/>
          </a:p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960267"/>
            <a:ext cx="4572000" cy="2553005"/>
          </a:xfrm>
          <a:prstGeom prst="roundRect">
            <a:avLst>
              <a:gd name="adj" fmla="val 4277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1754" y="427482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6054" y="437559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371600" y="4359048"/>
            <a:ext cx="112196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문제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771754" y="5027371"/>
            <a:ext cx="418246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대용량 멀티미디어 데이터 처리 시 I/O 대기 발생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61695" y="5390284"/>
            <a:ext cx="41340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동기식 처리 구조로 인한 시스템 응답 지연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71754" y="5804611"/>
            <a:ext cx="41340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증가에 따른 확장성 한계 직면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340952" y="229666"/>
            <a:ext cx="6400800" cy="6398667"/>
          </a:xfrm>
          <a:prstGeom prst="roundRect">
            <a:avLst>
              <a:gd name="adj" fmla="val 7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5953658" y="419100"/>
            <a:ext cx="56674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개발 목표 및 전략 </a:t>
            </a:r>
            <a:endParaRPr lang="en-US" sz="18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5639105" y="457505"/>
            <a:ext cx="200254" cy="2286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639105" y="1012622"/>
            <a:ext cx="5595693" cy="1590065"/>
          </a:xfrm>
          <a:prstGeom prst="roundRect">
            <a:avLst>
              <a:gd name="adj" fmla="val 5702"/>
            </a:avLst>
          </a:prstGeom>
          <a:solidFill>
            <a:srgbClr val="F9FAFB"/>
          </a:solidFill>
          <a:ln/>
        </p:spPr>
      </p:sp>
      <p:sp>
        <p:nvSpPr>
          <p:cNvPr id="27" name="Shape 20"/>
          <p:cNvSpPr/>
          <p:nvPr/>
        </p:nvSpPr>
        <p:spPr>
          <a:xfrm>
            <a:off x="5639105" y="1029005"/>
            <a:ext cx="45719" cy="1573682"/>
          </a:xfrm>
          <a:prstGeom prst="roundRect">
            <a:avLst>
              <a:gd name="adj" fmla="val 28429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905195" y="1104900"/>
            <a:ext cx="192755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Frontend (Client)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10567721" y="1104900"/>
            <a:ext cx="638251" cy="228600"/>
          </a:xfrm>
          <a:prstGeom prst="roundRect">
            <a:avLst>
              <a:gd name="adj" fmla="val 13333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10567721" y="1104900"/>
            <a:ext cx="69585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18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643678" y="2743539"/>
            <a:ext cx="5591098" cy="1705093"/>
          </a:xfrm>
          <a:prstGeom prst="roundRect">
            <a:avLst>
              <a:gd name="adj" fmla="val 5702"/>
            </a:avLst>
          </a:prstGeom>
          <a:solidFill>
            <a:srgbClr val="F9FAFB"/>
          </a:solidFill>
          <a:ln/>
        </p:spPr>
      </p:sp>
      <p:sp>
        <p:nvSpPr>
          <p:cNvPr id="32" name="Shape 25"/>
          <p:cNvSpPr/>
          <p:nvPr/>
        </p:nvSpPr>
        <p:spPr>
          <a:xfrm>
            <a:off x="5643677" y="2761107"/>
            <a:ext cx="45719" cy="1687525"/>
          </a:xfrm>
          <a:prstGeom prst="roundRect">
            <a:avLst>
              <a:gd name="adj" fmla="val 284291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5905195" y="2909876"/>
            <a:ext cx="193852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 (Server)</a:t>
            </a:r>
            <a:endParaRPr lang="en-US" sz="1500" dirty="0"/>
          </a:p>
        </p:txBody>
      </p:sp>
      <p:sp>
        <p:nvSpPr>
          <p:cNvPr id="34" name="Shape 27"/>
          <p:cNvSpPr/>
          <p:nvPr/>
        </p:nvSpPr>
        <p:spPr>
          <a:xfrm>
            <a:off x="10616612" y="2923107"/>
            <a:ext cx="571500" cy="228600"/>
          </a:xfrm>
          <a:prstGeom prst="roundRect">
            <a:avLst>
              <a:gd name="adj" fmla="val 13333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10630814" y="2909876"/>
            <a:ext cx="6291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5667909" y="4614930"/>
            <a:ext cx="5591098" cy="1291331"/>
          </a:xfrm>
          <a:prstGeom prst="roundRect">
            <a:avLst>
              <a:gd name="adj" fmla="val 8568"/>
            </a:avLst>
          </a:prstGeom>
          <a:solidFill>
            <a:srgbClr val="F9FAFB"/>
          </a:solidFill>
          <a:ln/>
        </p:spPr>
      </p:sp>
      <p:sp>
        <p:nvSpPr>
          <p:cNvPr id="37" name="Shape 30"/>
          <p:cNvSpPr/>
          <p:nvPr/>
        </p:nvSpPr>
        <p:spPr>
          <a:xfrm>
            <a:off x="5667908" y="4628235"/>
            <a:ext cx="45719" cy="1278026"/>
          </a:xfrm>
          <a:prstGeom prst="roundRect">
            <a:avLst>
              <a:gd name="adj" fmla="val 348430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905195" y="4796691"/>
            <a:ext cx="174559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C1D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&amp; Security</a:t>
            </a:r>
            <a:endParaRPr lang="en-US" sz="1500" dirty="0"/>
          </a:p>
        </p:txBody>
      </p:sp>
      <p:sp>
        <p:nvSpPr>
          <p:cNvPr id="39" name="Shape 32"/>
          <p:cNvSpPr/>
          <p:nvPr/>
        </p:nvSpPr>
        <p:spPr>
          <a:xfrm>
            <a:off x="10401300" y="4796691"/>
            <a:ext cx="800100" cy="228600"/>
          </a:xfrm>
          <a:prstGeom prst="roundRect">
            <a:avLst>
              <a:gd name="adj" fmla="val 13333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10401300" y="4796691"/>
            <a:ext cx="8577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5905195" y="1486205"/>
            <a:ext cx="5410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'면접자(Candidate)'와 '관리자(Recruiter)' 페르소나 분리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5905195" y="1843735"/>
            <a:ext cx="54864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렌더링 지연 없는 고성능 </a:t>
            </a: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 아키텍처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5905195" y="2202180"/>
            <a:ext cx="54864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경험(UX) 최적화를 위한 상태 관리 고도화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5905195" y="3290266"/>
            <a:ext cx="5410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STT, LLM 등 AI 코어 통신 시 I/O 대기 타파</a:t>
            </a:r>
            <a:endParaRPr lang="en-US" sz="1200" dirty="0"/>
          </a:p>
        </p:txBody>
      </p:sp>
      <p:sp>
        <p:nvSpPr>
          <p:cNvPr id="45" name="Text 38"/>
          <p:cNvSpPr txBox="1"/>
          <p:nvPr/>
        </p:nvSpPr>
        <p:spPr>
          <a:xfrm>
            <a:off x="5905195" y="3648711"/>
            <a:ext cx="5410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비동기(Async) 논블로킹 API 엔진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완성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5905195" y="4007156"/>
            <a:ext cx="54864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정합성 보장 및 안정적 트랜잭션 처리</a:t>
            </a:r>
            <a:endParaRPr lang="en-US" sz="1200" dirty="0"/>
          </a:p>
        </p:txBody>
      </p:sp>
      <p:sp>
        <p:nvSpPr>
          <p:cNvPr id="47" name="Text 40"/>
          <p:cNvSpPr txBox="1"/>
          <p:nvPr/>
        </p:nvSpPr>
        <p:spPr>
          <a:xfrm>
            <a:off x="5905195" y="5177081"/>
            <a:ext cx="5410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비정형 데이터용 </a:t>
            </a:r>
            <a:r>
              <a:rPr lang="en-US" sz="12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JSONB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초고속 검색 </a:t>
            </a:r>
            <a:r>
              <a:rPr lang="en-US" sz="12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pgvector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도입</a:t>
            </a:r>
            <a:endParaRPr lang="en-US" sz="1200" dirty="0"/>
          </a:p>
        </p:txBody>
      </p:sp>
      <p:sp>
        <p:nvSpPr>
          <p:cNvPr id="48" name="Text 41"/>
          <p:cNvSpPr txBox="1"/>
          <p:nvPr/>
        </p:nvSpPr>
        <p:spPr>
          <a:xfrm>
            <a:off x="5905195" y="5535526"/>
            <a:ext cx="5410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JWT 기반 Stateless 인증 및 RBAC 접근 제어 적용</a:t>
            </a:r>
            <a:endParaRPr lang="en-US" sz="1200" dirty="0"/>
          </a:p>
        </p:txBody>
      </p:sp>
      <p:sp>
        <p:nvSpPr>
          <p:cNvPr id="49" name="TextBox 48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A4_Project_2AI1_SD_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이승재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5863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B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5907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381305" y="142646"/>
            <a:ext cx="487466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아키텍처: 마이크로서비스 지향 구조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885932" y="181051"/>
            <a:ext cx="390449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85932" y="181051"/>
            <a:ext cx="448056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344961" y="181051"/>
            <a:ext cx="466344" cy="228600"/>
          </a:xfrm>
          <a:prstGeom prst="roundRect">
            <a:avLst>
              <a:gd name="adj" fmla="val 133333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344961" y="181051"/>
            <a:ext cx="5239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Async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23" b="-23"/>
          <a:stretch/>
        </p:blipFill>
        <p:spPr>
          <a:xfrm>
            <a:off x="9070848" y="895198"/>
            <a:ext cx="2816352" cy="123626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566453" y="1086307"/>
            <a:ext cx="2324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 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9299448" y="1123798"/>
            <a:ext cx="190195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299448" y="1390802"/>
            <a:ext cx="2477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18 기반의 단일 페이지 애플리케이션(SPA). 외부 프레임워크 종속성을 제거하여 가벼운 번들 유지.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23" b="-23"/>
          <a:stretch/>
        </p:blipFill>
        <p:spPr>
          <a:xfrm>
            <a:off x="9070848" y="2283257"/>
            <a:ext cx="2816352" cy="12362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566453" y="2474366"/>
            <a:ext cx="2324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코어 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9299448" y="2511857"/>
            <a:ext cx="190195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99448" y="2778862"/>
            <a:ext cx="2477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 비동기 처리로 고성능 I/O 처리. SQLModel을 통한 데이터 검증 및 스키마 관리 일원화.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t="-23" b="-23"/>
          <a:stretch/>
        </p:blipFill>
        <p:spPr>
          <a:xfrm>
            <a:off x="9070848" y="3672230"/>
            <a:ext cx="2816352" cy="1236269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508846" y="3862426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하이브리드 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9299448" y="3900830"/>
            <a:ext cx="133502" cy="152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299448" y="4166921"/>
            <a:ext cx="2477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비정형 데이터(JSONB)와 벡터 임베딩(pgvector)을 단일 DB에서 처리하여 관리 효율성 극대화.</a:t>
            </a:r>
            <a:endParaRPr lang="en-US" sz="10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 t="-23" b="-23"/>
          <a:stretch/>
        </p:blipFill>
        <p:spPr>
          <a:xfrm>
            <a:off x="9070848" y="5317236"/>
            <a:ext cx="2816352" cy="1236269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9508846" y="5507431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아키텍처 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9299448" y="5545836"/>
            <a:ext cx="133502" cy="152705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9299448" y="5812841"/>
            <a:ext cx="2477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JWT 기반 무상태(Stateless) 인증 및 Role 기반 접근 제어(RBAC)로 마이크로서비스 간 보안 강화.</a:t>
            </a:r>
            <a:endParaRPr lang="en-US" sz="1000" dirty="0"/>
          </a:p>
        </p:txBody>
      </p:sp>
      <p:sp>
        <p:nvSpPr>
          <p:cNvPr id="26" name="Shape 16"/>
          <p:cNvSpPr/>
          <p:nvPr/>
        </p:nvSpPr>
        <p:spPr>
          <a:xfrm>
            <a:off x="304495" y="895198"/>
            <a:ext cx="8467344" cy="5658307"/>
          </a:xfrm>
          <a:prstGeom prst="roundRect">
            <a:avLst>
              <a:gd name="adj" fmla="val 6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162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rcRect l="-450" r="-450"/>
          <a:stretch/>
        </p:blipFill>
        <p:spPr>
          <a:xfrm>
            <a:off x="4535424" y="1095451"/>
            <a:ext cx="19202" cy="304495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1"/>
          <a:srcRect l="-450" r="-450"/>
          <a:stretch/>
        </p:blipFill>
        <p:spPr>
          <a:xfrm>
            <a:off x="4535424" y="1095451"/>
            <a:ext cx="19202" cy="304495"/>
          </a:xfrm>
          <a:prstGeom prst="rect">
            <a:avLst/>
          </a:prstGeom>
        </p:spPr>
      </p:pic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1"/>
          <a:srcRect l="-450" r="-450"/>
          <a:stretch/>
        </p:blipFill>
        <p:spPr>
          <a:xfrm>
            <a:off x="4535424" y="1095451"/>
            <a:ext cx="19202" cy="304495"/>
          </a:xfrm>
          <a:prstGeom prst="rect">
            <a:avLst/>
          </a:prstGeom>
        </p:spPr>
      </p:pic>
      <p:sp>
        <p:nvSpPr>
          <p:cNvPr id="30" name="Shape 17"/>
          <p:cNvSpPr/>
          <p:nvPr/>
        </p:nvSpPr>
        <p:spPr>
          <a:xfrm>
            <a:off x="504749" y="2401214"/>
            <a:ext cx="80677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1" name="Shape 18"/>
          <p:cNvSpPr/>
          <p:nvPr/>
        </p:nvSpPr>
        <p:spPr>
          <a:xfrm>
            <a:off x="2478024" y="1290218"/>
            <a:ext cx="1828800" cy="91440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25400">
            <a:solidFill>
              <a:srgbClr val="000000"/>
            </a:solidFill>
            <a:prstDash val="solid"/>
          </a:ln>
        </p:spPr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57" r="-57"/>
          <a:stretch/>
        </p:blipFill>
        <p:spPr>
          <a:xfrm>
            <a:off x="3291840" y="1359713"/>
            <a:ext cx="200254" cy="228600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2756916" y="1664208"/>
            <a:ext cx="12728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Candidate SPA</a:t>
            </a:r>
            <a:endParaRPr lang="en-US" sz="1200" dirty="0"/>
          </a:p>
        </p:txBody>
      </p:sp>
      <p:sp>
        <p:nvSpPr>
          <p:cNvPr id="34" name="Shape 20"/>
          <p:cNvSpPr/>
          <p:nvPr/>
        </p:nvSpPr>
        <p:spPr>
          <a:xfrm>
            <a:off x="3098902" y="1940357"/>
            <a:ext cx="590702" cy="200254"/>
          </a:xfrm>
          <a:prstGeom prst="roundRect">
            <a:avLst>
              <a:gd name="adj" fmla="val 434876"/>
            </a:avLst>
          </a:prstGeom>
          <a:solidFill>
            <a:srgbClr val="BFDB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1"/>
          <p:cNvSpPr txBox="1"/>
          <p:nvPr/>
        </p:nvSpPr>
        <p:spPr>
          <a:xfrm>
            <a:off x="3060497" y="1940357"/>
            <a:ext cx="66751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18</a:t>
            </a:r>
            <a:endParaRPr lang="en-US" sz="800" dirty="0"/>
          </a:p>
        </p:txBody>
      </p:sp>
      <p:sp>
        <p:nvSpPr>
          <p:cNvPr id="36" name="Shape 22"/>
          <p:cNvSpPr/>
          <p:nvPr/>
        </p:nvSpPr>
        <p:spPr>
          <a:xfrm>
            <a:off x="4764024" y="1290218"/>
            <a:ext cx="1828800" cy="91440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25400">
            <a:solidFill>
              <a:srgbClr val="000000"/>
            </a:solidFill>
            <a:prstDash val="solid"/>
          </a:ln>
        </p:spPr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80" r="-80"/>
          <a:stretch/>
        </p:blipFill>
        <p:spPr>
          <a:xfrm>
            <a:off x="5535778" y="1359713"/>
            <a:ext cx="286207" cy="228600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068519" y="1664208"/>
            <a:ext cx="12243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Recruiter SPA</a:t>
            </a:r>
            <a:endParaRPr lang="en-US" sz="1200" dirty="0"/>
          </a:p>
        </p:txBody>
      </p:sp>
      <p:sp>
        <p:nvSpPr>
          <p:cNvPr id="39" name="Shape 24"/>
          <p:cNvSpPr/>
          <p:nvPr/>
        </p:nvSpPr>
        <p:spPr>
          <a:xfrm>
            <a:off x="5167274" y="1940357"/>
            <a:ext cx="1028700" cy="200254"/>
          </a:xfrm>
          <a:prstGeom prst="roundRect">
            <a:avLst>
              <a:gd name="adj" fmla="val 434876"/>
            </a:avLst>
          </a:prstGeom>
          <a:solidFill>
            <a:srgbClr val="C7D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5"/>
          <p:cNvSpPr txBox="1"/>
          <p:nvPr/>
        </p:nvSpPr>
        <p:spPr>
          <a:xfrm>
            <a:off x="5128870" y="1940357"/>
            <a:ext cx="11055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18 (Admin)</a:t>
            </a:r>
            <a:endParaRPr lang="en-US" sz="800" dirty="0"/>
          </a:p>
        </p:txBody>
      </p:sp>
      <p:sp>
        <p:nvSpPr>
          <p:cNvPr id="41" name="Text 26"/>
          <p:cNvSpPr txBox="1"/>
          <p:nvPr/>
        </p:nvSpPr>
        <p:spPr>
          <a:xfrm>
            <a:off x="207569" y="1571854"/>
            <a:ext cx="103052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Client Layer</a:t>
            </a:r>
            <a:endParaRPr lang="en-US" sz="1000" dirty="0"/>
          </a:p>
        </p:txBody>
      </p:sp>
      <p:sp>
        <p:nvSpPr>
          <p:cNvPr id="42" name="Text 27"/>
          <p:cNvSpPr txBox="1"/>
          <p:nvPr/>
        </p:nvSpPr>
        <p:spPr>
          <a:xfrm>
            <a:off x="209398" y="1772107"/>
            <a:ext cx="1028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43" name="Shape 28"/>
          <p:cNvSpPr/>
          <p:nvPr/>
        </p:nvSpPr>
        <p:spPr>
          <a:xfrm>
            <a:off x="504749" y="3715207"/>
            <a:ext cx="80677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4" name="Text 29"/>
          <p:cNvSpPr txBox="1"/>
          <p:nvPr/>
        </p:nvSpPr>
        <p:spPr>
          <a:xfrm>
            <a:off x="209398" y="2885846"/>
            <a:ext cx="1028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45" name="Text 30"/>
          <p:cNvSpPr txBox="1"/>
          <p:nvPr/>
        </p:nvSpPr>
        <p:spPr>
          <a:xfrm>
            <a:off x="209398" y="3086100"/>
            <a:ext cx="1028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46" name="Shape 31"/>
          <p:cNvSpPr/>
          <p:nvPr/>
        </p:nvSpPr>
        <p:spPr>
          <a:xfrm>
            <a:off x="2706624" y="2529230"/>
            <a:ext cx="3657600" cy="1067105"/>
          </a:xfrm>
          <a:prstGeom prst="roundRect">
            <a:avLst>
              <a:gd name="adj" fmla="val 12241"/>
            </a:avLst>
          </a:prstGeom>
          <a:solidFill>
            <a:srgbClr val="F9FAFB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7" name="Shape 32"/>
          <p:cNvSpPr/>
          <p:nvPr/>
        </p:nvSpPr>
        <p:spPr>
          <a:xfrm>
            <a:off x="5984748" y="2547518"/>
            <a:ext cx="972007" cy="247802"/>
          </a:xfrm>
          <a:prstGeom prst="roundRect">
            <a:avLst>
              <a:gd name="adj" fmla="val 11354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8" name="Text 33"/>
          <p:cNvSpPr txBox="1"/>
          <p:nvPr/>
        </p:nvSpPr>
        <p:spPr>
          <a:xfrm>
            <a:off x="6222492" y="2547518"/>
            <a:ext cx="7909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JWT + RBAC </a:t>
            </a:r>
            <a:endParaRPr lang="en-US" sz="900" dirty="0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070702" y="2619756"/>
            <a:ext cx="114300" cy="114300"/>
          </a:xfrm>
          <a:prstGeom prst="rect">
            <a:avLst/>
          </a:prstGeom>
        </p:spPr>
      </p:pic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421124" y="2636215"/>
            <a:ext cx="228600" cy="228600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3527755" y="2940710"/>
            <a:ext cx="201808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 Core Engine</a:t>
            </a:r>
            <a:endParaRPr lang="en-US" sz="1300" dirty="0"/>
          </a:p>
        </p:txBody>
      </p:sp>
      <p:sp>
        <p:nvSpPr>
          <p:cNvPr id="52" name="Shape 35"/>
          <p:cNvSpPr/>
          <p:nvPr/>
        </p:nvSpPr>
        <p:spPr>
          <a:xfrm>
            <a:off x="3544214" y="3293669"/>
            <a:ext cx="1238098" cy="200254"/>
          </a:xfrm>
          <a:prstGeom prst="roundRect">
            <a:avLst>
              <a:gd name="adj" fmla="val 434876"/>
            </a:avLst>
          </a:prstGeom>
          <a:solidFill>
            <a:srgbClr val="A7F3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36"/>
          <p:cNvSpPr txBox="1"/>
          <p:nvPr/>
        </p:nvSpPr>
        <p:spPr>
          <a:xfrm>
            <a:off x="3489350" y="3293669"/>
            <a:ext cx="134874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Async / Non-blocking</a:t>
            </a:r>
            <a:endParaRPr lang="en-US" sz="800" dirty="0"/>
          </a:p>
        </p:txBody>
      </p:sp>
      <p:sp>
        <p:nvSpPr>
          <p:cNvPr id="54" name="Shape 37"/>
          <p:cNvSpPr/>
          <p:nvPr/>
        </p:nvSpPr>
        <p:spPr>
          <a:xfrm>
            <a:off x="4857293" y="3293669"/>
            <a:ext cx="676656" cy="200254"/>
          </a:xfrm>
          <a:prstGeom prst="roundRect">
            <a:avLst>
              <a:gd name="adj" fmla="val 434876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38"/>
          <p:cNvSpPr txBox="1"/>
          <p:nvPr/>
        </p:nvSpPr>
        <p:spPr>
          <a:xfrm>
            <a:off x="4819802" y="3293669"/>
            <a:ext cx="75255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SQLModel</a:t>
            </a:r>
            <a:endParaRPr lang="en-US" sz="800" dirty="0"/>
          </a:p>
        </p:txBody>
      </p:sp>
      <p:sp>
        <p:nvSpPr>
          <p:cNvPr id="56" name="Shape 39"/>
          <p:cNvSpPr/>
          <p:nvPr/>
        </p:nvSpPr>
        <p:spPr>
          <a:xfrm>
            <a:off x="504749" y="5030114"/>
            <a:ext cx="80677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7" name="Shape 40"/>
          <p:cNvSpPr/>
          <p:nvPr/>
        </p:nvSpPr>
        <p:spPr>
          <a:xfrm>
            <a:off x="3011119" y="3784702"/>
            <a:ext cx="3047695" cy="1048816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25400">
            <a:solidFill>
              <a:srgbClr val="000000"/>
            </a:solidFill>
            <a:prstDash val="solid"/>
          </a:ln>
        </p:spPr>
      </p:sp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16"/>
          <a:srcRect t="-530" b="-530"/>
          <a:stretch/>
        </p:blipFill>
        <p:spPr>
          <a:xfrm>
            <a:off x="4411066" y="3853282"/>
            <a:ext cx="247802" cy="286207"/>
          </a:xfrm>
          <a:prstGeom prst="rect">
            <a:avLst/>
          </a:prstGeom>
        </p:spPr>
      </p:pic>
      <p:sp>
        <p:nvSpPr>
          <p:cNvPr id="59" name="Text 41"/>
          <p:cNvSpPr txBox="1"/>
          <p:nvPr/>
        </p:nvSpPr>
        <p:spPr>
          <a:xfrm>
            <a:off x="4047134" y="4176979"/>
            <a:ext cx="9802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60" name="Shape 42"/>
          <p:cNvSpPr/>
          <p:nvPr/>
        </p:nvSpPr>
        <p:spPr>
          <a:xfrm>
            <a:off x="3760013" y="4428488"/>
            <a:ext cx="9144" cy="342900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61" name="Text 43"/>
          <p:cNvSpPr txBox="1"/>
          <p:nvPr/>
        </p:nvSpPr>
        <p:spPr>
          <a:xfrm>
            <a:off x="4074566" y="4427574"/>
            <a:ext cx="13203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C1D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JSONB (Unstructured)</a:t>
            </a:r>
            <a:endParaRPr lang="en-US" sz="900" dirty="0"/>
          </a:p>
        </p:txBody>
      </p:sp>
      <p:sp>
        <p:nvSpPr>
          <p:cNvPr id="62" name="Text 44"/>
          <p:cNvSpPr txBox="1"/>
          <p:nvPr/>
        </p:nvSpPr>
        <p:spPr>
          <a:xfrm>
            <a:off x="4074566" y="4618683"/>
            <a:ext cx="13149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C1D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pgvector (1024d)</a:t>
            </a:r>
            <a:endParaRPr lang="en-US" sz="900" dirty="0"/>
          </a:p>
        </p:txBody>
      </p:sp>
      <p:pic>
        <p:nvPicPr>
          <p:cNvPr id="63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3921862" y="4451348"/>
            <a:ext cx="114300" cy="114300"/>
          </a:xfrm>
          <a:prstGeom prst="rect">
            <a:avLst/>
          </a:prstGeom>
        </p:spPr>
      </p:pic>
      <p:pic>
        <p:nvPicPr>
          <p:cNvPr id="64" name="Image 17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3921862" y="4642458"/>
            <a:ext cx="114300" cy="114300"/>
          </a:xfrm>
          <a:prstGeom prst="rect">
            <a:avLst/>
          </a:prstGeom>
        </p:spPr>
      </p:pic>
      <p:sp>
        <p:nvSpPr>
          <p:cNvPr id="65" name="Text 45"/>
          <p:cNvSpPr txBox="1"/>
          <p:nvPr/>
        </p:nvSpPr>
        <p:spPr>
          <a:xfrm>
            <a:off x="209398" y="4200754"/>
            <a:ext cx="1028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66" name="Text 46"/>
          <p:cNvSpPr txBox="1"/>
          <p:nvPr/>
        </p:nvSpPr>
        <p:spPr>
          <a:xfrm>
            <a:off x="209398" y="4401007"/>
            <a:ext cx="1028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Persistence</a:t>
            </a:r>
            <a:endParaRPr lang="en-US" sz="900" dirty="0"/>
          </a:p>
        </p:txBody>
      </p:sp>
      <p:sp>
        <p:nvSpPr>
          <p:cNvPr id="67" name="Shape 47"/>
          <p:cNvSpPr/>
          <p:nvPr/>
        </p:nvSpPr>
        <p:spPr>
          <a:xfrm>
            <a:off x="2858414" y="5238598"/>
            <a:ext cx="1524305" cy="91440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25400">
            <a:solidFill>
              <a:srgbClr val="000000"/>
            </a:solidFill>
            <a:prstDash val="solid"/>
          </a:ln>
        </p:spPr>
      </p:sp>
      <p:pic>
        <p:nvPicPr>
          <p:cNvPr id="68" name="Image 18" descr="preencoded.png"/>
          <p:cNvPicPr>
            <a:picLocks noChangeAspect="1"/>
          </p:cNvPicPr>
          <p:nvPr/>
        </p:nvPicPr>
        <p:blipFill>
          <a:blip r:embed="rId18"/>
          <a:srcRect l="-133" r="-133"/>
          <a:stretch/>
        </p:blipFill>
        <p:spPr>
          <a:xfrm>
            <a:off x="3535070" y="5308092"/>
            <a:ext cx="171907" cy="228600"/>
          </a:xfrm>
          <a:prstGeom prst="rect">
            <a:avLst/>
          </a:prstGeom>
        </p:spPr>
      </p:pic>
      <p:sp>
        <p:nvSpPr>
          <p:cNvPr id="69" name="Text 48"/>
          <p:cNvSpPr txBox="1"/>
          <p:nvPr/>
        </p:nvSpPr>
        <p:spPr>
          <a:xfrm>
            <a:off x="3135478" y="5612587"/>
            <a:ext cx="9793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Engine</a:t>
            </a:r>
            <a:endParaRPr lang="en-US" sz="1200" dirty="0"/>
          </a:p>
        </p:txBody>
      </p:sp>
      <p:sp>
        <p:nvSpPr>
          <p:cNvPr id="70" name="Shape 49"/>
          <p:cNvSpPr/>
          <p:nvPr/>
        </p:nvSpPr>
        <p:spPr>
          <a:xfrm>
            <a:off x="3163824" y="5888736"/>
            <a:ext cx="914400" cy="200254"/>
          </a:xfrm>
          <a:prstGeom prst="roundRect">
            <a:avLst>
              <a:gd name="adj" fmla="val 434876"/>
            </a:avLst>
          </a:prstGeom>
          <a:solidFill>
            <a:srgbClr val="FECAC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50"/>
          <p:cNvSpPr txBox="1"/>
          <p:nvPr/>
        </p:nvSpPr>
        <p:spPr>
          <a:xfrm>
            <a:off x="3125419" y="5888736"/>
            <a:ext cx="9912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Faster-Whisper</a:t>
            </a:r>
            <a:endParaRPr lang="en-US" sz="800" dirty="0"/>
          </a:p>
        </p:txBody>
      </p:sp>
      <p:sp>
        <p:nvSpPr>
          <p:cNvPr id="72" name="Shape 51"/>
          <p:cNvSpPr/>
          <p:nvPr/>
        </p:nvSpPr>
        <p:spPr>
          <a:xfrm>
            <a:off x="4687214" y="5238598"/>
            <a:ext cx="1524305" cy="91440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25400">
            <a:solidFill>
              <a:srgbClr val="000000"/>
            </a:solidFill>
            <a:prstDash val="solid"/>
          </a:ln>
        </p:spPr>
      </p:sp>
      <p:pic>
        <p:nvPicPr>
          <p:cNvPr id="73" name="Image 19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335524" y="5308092"/>
            <a:ext cx="228600" cy="228600"/>
          </a:xfrm>
          <a:prstGeom prst="rect">
            <a:avLst/>
          </a:prstGeom>
        </p:spPr>
      </p:pic>
      <p:sp>
        <p:nvSpPr>
          <p:cNvPr id="74" name="Text 52"/>
          <p:cNvSpPr txBox="1"/>
          <p:nvPr/>
        </p:nvSpPr>
        <p:spPr>
          <a:xfrm>
            <a:off x="5061204" y="5612587"/>
            <a:ext cx="784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Core</a:t>
            </a:r>
            <a:endParaRPr lang="en-US" sz="1200" dirty="0"/>
          </a:p>
        </p:txBody>
      </p:sp>
      <p:sp>
        <p:nvSpPr>
          <p:cNvPr id="75" name="Text 53"/>
          <p:cNvSpPr txBox="1"/>
          <p:nvPr/>
        </p:nvSpPr>
        <p:spPr>
          <a:xfrm>
            <a:off x="4985309" y="5888736"/>
            <a:ext cx="9336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Vector Search</a:t>
            </a:r>
            <a:endParaRPr lang="en-US" sz="800" dirty="0"/>
          </a:p>
        </p:txBody>
      </p:sp>
      <p:sp>
        <p:nvSpPr>
          <p:cNvPr id="76" name="Text 54"/>
          <p:cNvSpPr txBox="1"/>
          <p:nvPr/>
        </p:nvSpPr>
        <p:spPr>
          <a:xfrm>
            <a:off x="209398" y="5519318"/>
            <a:ext cx="1028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Layer</a:t>
            </a:r>
            <a:endParaRPr lang="en-US" sz="1000" dirty="0"/>
          </a:p>
        </p:txBody>
      </p:sp>
      <p:sp>
        <p:nvSpPr>
          <p:cNvPr id="77" name="Text 55"/>
          <p:cNvSpPr txBox="1"/>
          <p:nvPr/>
        </p:nvSpPr>
        <p:spPr>
          <a:xfrm>
            <a:off x="209398" y="5719572"/>
            <a:ext cx="1028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</a:t>
            </a:r>
            <a:endParaRPr lang="en-US" sz="900" dirty="0"/>
          </a:p>
        </p:txBody>
      </p:sp>
      <p:sp>
        <p:nvSpPr>
          <p:cNvPr id="78" name="TextBox 77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A4_Project_2AI1_SD_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이승재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604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B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305" y="381305"/>
            <a:ext cx="57607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9107" y="381305"/>
            <a:ext cx="11373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구현 과정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29107" y="800100"/>
            <a:ext cx="11373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중심 설계와 컴포넌트 주도 개발(CDD)을 통한 효율적 구현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81305" y="1352398"/>
            <a:ext cx="5600700" cy="2829154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9049" y="1591056"/>
            <a:ext cx="476402" cy="435447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3407" y="1714500"/>
            <a:ext cx="228600" cy="20894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48156" y="1671523"/>
            <a:ext cx="1502359" cy="24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전략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48156" y="1938528"/>
            <a:ext cx="1655064" cy="174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Development Strategy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9049" y="2361895"/>
            <a:ext cx="5124298" cy="644395"/>
          </a:xfrm>
          <a:prstGeom prst="roundRect">
            <a:avLst>
              <a:gd name="adj" fmla="val 28044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10412" y="2486254"/>
            <a:ext cx="4724705" cy="208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API-First Design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743407" y="2533802"/>
            <a:ext cx="190195" cy="13957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3407" y="2752344"/>
            <a:ext cx="5067605" cy="174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클라이언트-서버 구조 분리, 명세 우선 정의로 병렬 개발 가속화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9049" y="3181198"/>
            <a:ext cx="5124298" cy="644395"/>
          </a:xfrm>
          <a:prstGeom prst="roundRect">
            <a:avLst>
              <a:gd name="adj" fmla="val 28044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91210" y="3305556"/>
            <a:ext cx="4743907" cy="208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CDD (Component Driven Development)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743407" y="3353105"/>
            <a:ext cx="171907" cy="13957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43407" y="3571646"/>
            <a:ext cx="4991710" cy="174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UI 모듈화 및 재사용성 극대화, Storybook 활용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215177" y="1352398"/>
            <a:ext cx="5600700" cy="2829154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52921" y="1591056"/>
            <a:ext cx="476402" cy="435447"/>
          </a:xfrm>
          <a:prstGeom prst="ellipse">
            <a:avLst/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6548018" y="1714500"/>
            <a:ext cx="286207" cy="20894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82028" y="1671523"/>
            <a:ext cx="2528316" cy="24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관리자(Recruiter) 도메인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082028" y="1938528"/>
            <a:ext cx="2325319" cy="174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Admin Dashboard &amp; Evaluation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452921" y="2371954"/>
            <a:ext cx="819302" cy="226499"/>
          </a:xfrm>
          <a:prstGeom prst="roundRect">
            <a:avLst>
              <a:gd name="adj" fmla="val 369004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424574" y="2371954"/>
            <a:ext cx="876910" cy="2264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SPA-in-SPA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311542" y="2371954"/>
            <a:ext cx="647395" cy="226499"/>
          </a:xfrm>
          <a:prstGeom prst="roundRect">
            <a:avLst>
              <a:gd name="adj" fmla="val 369004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283196" y="2371954"/>
            <a:ext cx="705002" cy="2264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Viz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6452921" y="2781605"/>
            <a:ext cx="5201107" cy="417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SPA-in-SPA 아키텍처: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8개의 독립 페이지 컴포넌트를 조건부 렌더링하여 성능 최적화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452921" y="3333902"/>
            <a:ext cx="5674766" cy="208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시각화: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CSS Keyframes 기반의 동적 차트 및 평가 지표 시각화 구현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6452921" y="3657600"/>
            <a:ext cx="5693054" cy="208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모달 시스템: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React Portal을 활용한 전역 모달 관리로 z-index 이슈 해결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6377026" y="3981298"/>
            <a:ext cx="5201107" cy="208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프론트엔드 UI 선행 구현 완료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381305" y="4315953"/>
            <a:ext cx="11430000" cy="2494499"/>
          </a:xfrm>
          <a:prstGeom prst="roundRect">
            <a:avLst>
              <a:gd name="adj" fmla="val 19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918704" y="4553697"/>
            <a:ext cx="9144" cy="1638605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381347" y="4373332"/>
            <a:ext cx="476402" cy="47640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4519421" y="4497690"/>
            <a:ext cx="200254" cy="22860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4719675" y="4462013"/>
            <a:ext cx="315193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면접자(Candidate) 도메인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5183276" y="4842404"/>
            <a:ext cx="22329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Interactive Interview Interface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4505642" y="5040370"/>
            <a:ext cx="657454" cy="247802"/>
          </a:xfrm>
          <a:prstGeom prst="roundRect">
            <a:avLst>
              <a:gd name="adj" fmla="val 369004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471809" y="5049599"/>
            <a:ext cx="7150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WebRTC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5610564" y="5069738"/>
            <a:ext cx="819302" cy="247802"/>
          </a:xfrm>
          <a:prstGeom prst="roundRect">
            <a:avLst>
              <a:gd name="adj" fmla="val 369004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5570331" y="5059062"/>
            <a:ext cx="8769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WebSocket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6837883" y="5073858"/>
            <a:ext cx="1047902" cy="247802"/>
          </a:xfrm>
          <a:prstGeom prst="roundRect">
            <a:avLst>
              <a:gd name="adj" fmla="val 369004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6813194" y="5069918"/>
            <a:ext cx="11055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MediaRecorder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2362810" y="5413569"/>
            <a:ext cx="3543300" cy="1343254"/>
          </a:xfrm>
          <a:prstGeom prst="roundRect">
            <a:avLst>
              <a:gd name="adj" fmla="val 1158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2781605" y="5604679"/>
            <a:ext cx="3124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 프로토콜 통합 </a:t>
            </a:r>
            <a:endParaRPr lang="en-US" sz="1200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553005" y="5642169"/>
            <a:ext cx="152705" cy="152705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2553005" y="5909174"/>
            <a:ext cx="32388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화면 내에서 WebRTC(화상), WebSocket(실시간 신호), MediaRecorder(녹화) 등 5종 이상의 Web API를 유기적으로 통합하여 끊김 없는 면접 환경 제공.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6156198" y="5413569"/>
            <a:ext cx="3543300" cy="1343254"/>
          </a:xfrm>
          <a:prstGeom prst="roundRect">
            <a:avLst>
              <a:gd name="adj" fmla="val 1158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6574993" y="5604679"/>
            <a:ext cx="3124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하이드레이션 </a:t>
            </a:r>
            <a:endParaRPr lang="en-US" sz="1200" dirty="0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346393" y="5642169"/>
            <a:ext cx="152705" cy="152705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6346393" y="5909174"/>
            <a:ext cx="32388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 새로고침 시에도 면접 상태(진행 단계, 답변 내용)를 즉시 복원하는 Session Hydration 및 비동기 폴링 파이프라인 구축.</a:t>
            </a:r>
            <a:endParaRPr lang="en-US" sz="100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10">
            <a:alphaModFix amt="30000"/>
          </a:blip>
          <a:srcRect/>
          <a:stretch/>
        </p:blipFill>
        <p:spPr>
          <a:xfrm>
            <a:off x="10352122" y="4611533"/>
            <a:ext cx="2438705" cy="243870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A4_Project_2AI1_SD_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이승재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87979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B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305" y="381305"/>
            <a:ext cx="57607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9107" y="381305"/>
            <a:ext cx="11373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 및 현상 분석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29107" y="800100"/>
            <a:ext cx="11373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안정성과 데이터 신뢰도를 저해하는 핵심 이슈 도출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81305" y="1352398"/>
            <a:ext cx="5600700" cy="2421572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1305" y="1352398"/>
            <a:ext cx="57607" cy="2399467"/>
          </a:xfrm>
          <a:prstGeom prst="rect">
            <a:avLst/>
          </a:prstGeom>
          <a:solidFill>
            <a:srgbClr val="EAB3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049" y="1591056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785470" y="1742846"/>
            <a:ext cx="200254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712818" y="1591056"/>
            <a:ext cx="1037844" cy="237744"/>
          </a:xfrm>
          <a:prstGeom prst="roundRect">
            <a:avLst>
              <a:gd name="adj" fmla="val 384615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84471" y="1591056"/>
            <a:ext cx="109545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Moderate Risk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619049" y="2352751"/>
            <a:ext cx="5315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정합성 결함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19049" y="2695651"/>
            <a:ext cx="5315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매칭 실패 원인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9049" y="2896057"/>
            <a:ext cx="5124298" cy="687629"/>
          </a:xfrm>
          <a:prstGeom prst="roundRect">
            <a:avLst>
              <a:gd name="adj" fmla="val 14477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0898" y="2971799"/>
            <a:ext cx="4877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사용자의 이력서 기업명 입력 시 </a:t>
            </a: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대소문자 혼용 및 공백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인해 정규화되지 않은 데이터가 적재됨. 이로 인해 AI 모델의 기업 식별 실패 및 매칭 정확도 하락 발생. 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10605" y="1352398"/>
            <a:ext cx="5600700" cy="2421572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0605" y="1352398"/>
            <a:ext cx="57607" cy="2399467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48349" y="1591056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6572707" y="1742846"/>
            <a:ext cx="286207" cy="2286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10638130" y="1591056"/>
            <a:ext cx="942746" cy="237744"/>
          </a:xfrm>
          <a:prstGeom prst="roundRect">
            <a:avLst>
              <a:gd name="adj" fmla="val 384615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609783" y="1591056"/>
            <a:ext cx="1000354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 Risk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6448349" y="2352751"/>
            <a:ext cx="5315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순단 및 데이터 유실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6448349" y="2695651"/>
            <a:ext cx="5315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가용성 위협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448349" y="2896057"/>
            <a:ext cx="5124298" cy="687629"/>
          </a:xfrm>
          <a:prstGeom prst="roundRect">
            <a:avLst>
              <a:gd name="adj" fmla="val 14477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610198" y="2971799"/>
            <a:ext cx="4877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화상 면접 중 </a:t>
            </a: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불안정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이나 </a:t>
            </a: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 메모리 한계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인해 대용량 음성 답변 데이터가 서버 전송 중 통째로 증발할 수 있는 치명적 위험 존재. 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81305" y="3915702"/>
            <a:ext cx="5600700" cy="2560993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381305" y="3915702"/>
            <a:ext cx="57607" cy="2537615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19049" y="4916056"/>
            <a:ext cx="52395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타임아웃(504) 장애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619049" y="5258956"/>
            <a:ext cx="5315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동기식 처리 구조의 한계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19049" y="5536019"/>
            <a:ext cx="5124298" cy="750481"/>
          </a:xfrm>
          <a:prstGeom prst="roundRect">
            <a:avLst>
              <a:gd name="adj" fmla="val 14477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780898" y="5690444"/>
            <a:ext cx="4877410" cy="460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무거운 AI 모델(Faster-Whisper)의 음성 인식(STT) 과정이 메인 서버에 </a:t>
            </a: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동기식(Synchronous)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묶여 있어, 대규모 트래픽 발생 시 병목 현상 및 504 Gateway Timeout 빈발. 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210605" y="3915702"/>
            <a:ext cx="5600700" cy="2560993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210605" y="3915702"/>
            <a:ext cx="57607" cy="2537615"/>
          </a:xfrm>
          <a:prstGeom prst="rect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448349" y="4154361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6572707" y="4307065"/>
            <a:ext cx="286207" cy="228600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10705795" y="4154361"/>
            <a:ext cx="875995" cy="237744"/>
          </a:xfrm>
          <a:prstGeom prst="roundRect">
            <a:avLst>
              <a:gd name="adj" fmla="val 384615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10676534" y="4154361"/>
            <a:ext cx="9336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 Error</a:t>
            </a:r>
            <a:endParaRPr lang="en-US" sz="800" dirty="0"/>
          </a:p>
        </p:txBody>
      </p:sp>
      <p:sp>
        <p:nvSpPr>
          <p:cNvPr id="41" name="Text 35"/>
          <p:cNvSpPr txBox="1"/>
          <p:nvPr/>
        </p:nvSpPr>
        <p:spPr>
          <a:xfrm>
            <a:off x="6448349" y="4916056"/>
            <a:ext cx="5315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세션 보존 이슈</a:t>
            </a:r>
            <a:endParaRPr lang="en-US" sz="1500" dirty="0"/>
          </a:p>
        </p:txBody>
      </p:sp>
      <p:sp>
        <p:nvSpPr>
          <p:cNvPr id="42" name="Text 36"/>
          <p:cNvSpPr txBox="1"/>
          <p:nvPr/>
        </p:nvSpPr>
        <p:spPr>
          <a:xfrm>
            <a:off x="6448349" y="5258956"/>
            <a:ext cx="5315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휴먼 에러에 의한 인증 실패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6448349" y="5536019"/>
            <a:ext cx="5124298" cy="750481"/>
          </a:xfrm>
          <a:prstGeom prst="roundRect">
            <a:avLst>
              <a:gd name="adj" fmla="val 14477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572707" y="5690444"/>
            <a:ext cx="4914901" cy="460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다수의 비동기 API 통신이 산발적으로 일어나는 환경에서 인증 토큰(JWT)을 </a:t>
            </a: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수동으로 주입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경우, 개발자의 실수(휴먼 에러)로 인한 토큰 누락 및 401 Unauthorized 에러 발생 가능성. </a:t>
            </a:r>
            <a:endParaRPr lang="en-US" sz="1000" dirty="0"/>
          </a:p>
        </p:txBody>
      </p:sp>
      <p:sp>
        <p:nvSpPr>
          <p:cNvPr id="51" name="Shape 8">
            <a:extLst>
              <a:ext uri="{FF2B5EF4-FFF2-40B4-BE49-F238E27FC236}">
                <a16:creationId xmlns:a16="http://schemas.microsoft.com/office/drawing/2014/main" id="{564A7F17-1F89-0C84-0523-6FF55DF7FE42}"/>
              </a:ext>
            </a:extLst>
          </p:cNvPr>
          <p:cNvSpPr/>
          <p:nvPr/>
        </p:nvSpPr>
        <p:spPr>
          <a:xfrm>
            <a:off x="4712818" y="4148378"/>
            <a:ext cx="1037844" cy="237744"/>
          </a:xfrm>
          <a:prstGeom prst="roundRect">
            <a:avLst>
              <a:gd name="adj" fmla="val 384615"/>
            </a:avLst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712818" y="4153447"/>
            <a:ext cx="100035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Latency</a:t>
            </a:r>
            <a:endParaRPr lang="en-US" sz="800" dirty="0"/>
          </a:p>
        </p:txBody>
      </p:sp>
      <p:sp>
        <p:nvSpPr>
          <p:cNvPr id="52" name="Shape 7">
            <a:extLst>
              <a:ext uri="{FF2B5EF4-FFF2-40B4-BE49-F238E27FC236}">
                <a16:creationId xmlns:a16="http://schemas.microsoft.com/office/drawing/2014/main" id="{6F18F548-23E6-0ED3-E5A8-EE53781D8A85}"/>
              </a:ext>
            </a:extLst>
          </p:cNvPr>
          <p:cNvSpPr/>
          <p:nvPr/>
        </p:nvSpPr>
        <p:spPr>
          <a:xfrm>
            <a:off x="631852" y="4132352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3" name="Image 2" descr="preencoded.png">
            <a:extLst>
              <a:ext uri="{FF2B5EF4-FFF2-40B4-BE49-F238E27FC236}">
                <a16:creationId xmlns:a16="http://schemas.microsoft.com/office/drawing/2014/main" id="{10E6EC66-4ABC-68B7-175A-EB5422F2AD9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89128" y="4271822"/>
            <a:ext cx="228600" cy="2286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A4_Project_2AI1_SD_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이승재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02663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B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305" y="381305"/>
            <a:ext cx="57607" cy="97200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9107" y="381305"/>
            <a:ext cx="961949" cy="247802"/>
          </a:xfrm>
          <a:prstGeom prst="roundRect">
            <a:avLst>
              <a:gd name="adj" fmla="val 369004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5878" y="381305"/>
            <a:ext cx="79552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빈도성 이슈 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2551" y="452628"/>
            <a:ext cx="114300" cy="1143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00784" y="409651"/>
            <a:ext cx="1881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Troubleshooting Case #1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9107" y="705002"/>
            <a:ext cx="11373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휴먼 에러 원천 차단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29107" y="1086307"/>
            <a:ext cx="11373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산발적인 인증 토큰 누락으로 인한 401 에러 해결 전략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381305" y="1638605"/>
            <a:ext cx="3301898" cy="474390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227478" y="1904695"/>
            <a:ext cx="1266444" cy="247802"/>
          </a:xfrm>
          <a:prstGeom prst="roundRect">
            <a:avLst>
              <a:gd name="adj" fmla="val 340619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227478" y="1904695"/>
            <a:ext cx="13240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1: Problem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51406" y="2000707"/>
            <a:ext cx="761695" cy="761695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90" r="-90"/>
          <a:stretch/>
        </p:blipFill>
        <p:spPr>
          <a:xfrm>
            <a:off x="1841602" y="2229307"/>
            <a:ext cx="381305" cy="30449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71500" y="3000146"/>
            <a:ext cx="29242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 누락 &amp; 휴먼 에러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611734" y="3381451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401 Unauthorized 빈발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66598" y="3838651"/>
            <a:ext cx="2734056" cy="2257654"/>
          </a:xfrm>
          <a:prstGeom prst="roundRect">
            <a:avLst>
              <a:gd name="adj" fmla="val 410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66851" y="4038905"/>
            <a:ext cx="2410358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다중 환경 및 팀 단위 개발 시, 수백 개의 API 호출마다 개발자가 수동으로 토큰을 주입하는 과정에서 </a:t>
            </a: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누락(Human Error)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빈번하게 발생. 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866851" y="5020056"/>
            <a:ext cx="252100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 헤더 누락 실수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866851" y="5248656"/>
            <a:ext cx="252100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만료된 토큰 재사용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866851" y="5477256"/>
            <a:ext cx="252100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디버깅 시간 소요</a:t>
            </a:r>
            <a:endParaRPr lang="en-US" sz="10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l="-607" r="-607"/>
          <a:stretch/>
        </p:blipFill>
        <p:spPr>
          <a:xfrm>
            <a:off x="3973068" y="3866998"/>
            <a:ext cx="181051" cy="286207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 t="-7" b="-7"/>
          <a:stretch/>
        </p:blipFill>
        <p:spPr>
          <a:xfrm>
            <a:off x="4444898" y="1638605"/>
            <a:ext cx="3301898" cy="4743907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257239" y="1904695"/>
            <a:ext cx="1304849" cy="247802"/>
          </a:xfrm>
          <a:prstGeom prst="roundRect">
            <a:avLst>
              <a:gd name="adj" fmla="val 34061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6257239" y="1904695"/>
            <a:ext cx="13624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2: Solution</a:t>
            </a:r>
            <a:endParaRPr lang="en-US" sz="9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15000" y="2000707"/>
            <a:ext cx="761695" cy="761695"/>
          </a:xfrm>
          <a:prstGeom prst="rect">
            <a:avLst/>
          </a:prstGeom>
        </p:spPr>
      </p:pic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 l="-107" r="-107"/>
          <a:stretch/>
        </p:blipFill>
        <p:spPr>
          <a:xfrm>
            <a:off x="5962802" y="2229307"/>
            <a:ext cx="267005" cy="30449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4676242" y="3000146"/>
            <a:ext cx="284378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Axios Interceptor</a:t>
            </a:r>
            <a:endParaRPr lang="en-US" sz="1800" dirty="0"/>
          </a:p>
        </p:txBody>
      </p:sp>
      <p:sp>
        <p:nvSpPr>
          <p:cNvPr id="30" name="Text 20"/>
          <p:cNvSpPr txBox="1"/>
          <p:nvPr/>
        </p:nvSpPr>
        <p:spPr>
          <a:xfrm>
            <a:off x="4635094" y="3381451"/>
            <a:ext cx="2924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전역 요청 가로채기</a:t>
            </a:r>
            <a:endParaRPr lang="en-US" sz="1200" dirty="0"/>
          </a:p>
        </p:txBody>
      </p:sp>
      <p:sp>
        <p:nvSpPr>
          <p:cNvPr id="31" name="Text 21"/>
          <p:cNvSpPr txBox="1"/>
          <p:nvPr/>
        </p:nvSpPr>
        <p:spPr>
          <a:xfrm>
            <a:off x="4692701" y="3762756"/>
            <a:ext cx="28099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API 요청이 전송되기 직전(Interception), </a:t>
            </a: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중앙에서 일괄적으로 토큰을 주입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로직 구현. 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4731106" y="4286707"/>
            <a:ext cx="2734056" cy="1600200"/>
          </a:xfrm>
          <a:prstGeom prst="roundRect">
            <a:avLst>
              <a:gd name="adj" fmla="val 5442"/>
            </a:avLst>
          </a:prstGeom>
          <a:solidFill>
            <a:srgbClr val="1F2937"/>
          </a:solidFill>
          <a:ln/>
        </p:spPr>
      </p:sp>
      <p:sp>
        <p:nvSpPr>
          <p:cNvPr id="33" name="Shape 23"/>
          <p:cNvSpPr/>
          <p:nvPr/>
        </p:nvSpPr>
        <p:spPr>
          <a:xfrm>
            <a:off x="4731106" y="4286707"/>
            <a:ext cx="38405" cy="1600200"/>
          </a:xfrm>
          <a:prstGeom prst="roundRect">
            <a:avLst>
              <a:gd name="adj" fmla="val 226756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4882896" y="4401007"/>
            <a:ext cx="25658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Request Interceptor</a:t>
            </a:r>
            <a:endParaRPr lang="en-US" sz="900" dirty="0"/>
          </a:p>
        </p:txBody>
      </p:sp>
      <p:sp>
        <p:nvSpPr>
          <p:cNvPr id="35" name="Text 25"/>
          <p:cNvSpPr txBox="1"/>
          <p:nvPr/>
        </p:nvSpPr>
        <p:spPr>
          <a:xfrm>
            <a:off x="4882896" y="4572000"/>
            <a:ext cx="25658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axios.interceptors.request.use(</a:t>
            </a:r>
            <a:endParaRPr lang="en-US" sz="900" dirty="0"/>
          </a:p>
        </p:txBody>
      </p:sp>
      <p:sp>
        <p:nvSpPr>
          <p:cNvPr id="36" name="Text 26"/>
          <p:cNvSpPr txBox="1"/>
          <p:nvPr/>
        </p:nvSpPr>
        <p:spPr>
          <a:xfrm>
            <a:off x="4882896" y="4743907"/>
            <a:ext cx="25658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(config) =&gt; {</a:t>
            </a:r>
            <a:endParaRPr lang="en-US" sz="900" dirty="0"/>
          </a:p>
        </p:txBody>
      </p:sp>
      <p:sp>
        <p:nvSpPr>
          <p:cNvPr id="37" name="Text 27"/>
          <p:cNvSpPr txBox="1"/>
          <p:nvPr/>
        </p:nvSpPr>
        <p:spPr>
          <a:xfrm>
            <a:off x="4882896" y="4914900"/>
            <a:ext cx="25658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config.headers.Authorization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4882896" y="5086807"/>
            <a:ext cx="25658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`Bearer ${token}`;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4882896" y="5257800"/>
            <a:ext cx="25658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config;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4882896" y="5429707"/>
            <a:ext cx="25658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4882896" y="5600700"/>
            <a:ext cx="25658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7"/>
          <a:srcRect l="-607" r="-607"/>
          <a:stretch/>
        </p:blipFill>
        <p:spPr>
          <a:xfrm>
            <a:off x="8037576" y="3866998"/>
            <a:ext cx="181051" cy="286207"/>
          </a:xfrm>
          <a:prstGeom prst="rect">
            <a:avLst/>
          </a:prstGeom>
        </p:spPr>
      </p:pic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1"/>
          <a:srcRect t="-7" b="-7"/>
          <a:stretch/>
        </p:blipFill>
        <p:spPr>
          <a:xfrm>
            <a:off x="8509406" y="1638605"/>
            <a:ext cx="3301898" cy="4743907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10495483" y="1904695"/>
            <a:ext cx="1133856" cy="247802"/>
          </a:xfrm>
          <a:prstGeom prst="roundRect">
            <a:avLst>
              <a:gd name="adj" fmla="val 34061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3"/>
          <p:cNvSpPr txBox="1"/>
          <p:nvPr/>
        </p:nvSpPr>
        <p:spPr>
          <a:xfrm>
            <a:off x="10495483" y="1904695"/>
            <a:ext cx="11914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3: Effect</a:t>
            </a:r>
            <a:endParaRPr lang="en-US" sz="9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778594" y="2000707"/>
            <a:ext cx="761695" cy="76169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8739835" y="3000146"/>
            <a:ext cx="284378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Bearer Token 자동화</a:t>
            </a:r>
            <a:endParaRPr lang="en-US" sz="1800" dirty="0"/>
          </a:p>
        </p:txBody>
      </p:sp>
      <p:sp>
        <p:nvSpPr>
          <p:cNvPr id="48" name="Text 35"/>
          <p:cNvSpPr txBox="1"/>
          <p:nvPr/>
        </p:nvSpPr>
        <p:spPr>
          <a:xfrm>
            <a:off x="8699602" y="3381451"/>
            <a:ext cx="2924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채널 단일화</a:t>
            </a:r>
            <a:endParaRPr lang="en-US" sz="1200" dirty="0"/>
          </a:p>
        </p:txBody>
      </p:sp>
      <p:sp>
        <p:nvSpPr>
          <p:cNvPr id="49" name="Shape 36"/>
          <p:cNvSpPr/>
          <p:nvPr/>
        </p:nvSpPr>
        <p:spPr>
          <a:xfrm>
            <a:off x="8794699" y="4243730"/>
            <a:ext cx="2734056" cy="647395"/>
          </a:xfrm>
          <a:prstGeom prst="roundRect">
            <a:avLst>
              <a:gd name="adj" fmla="val 3323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947404" y="4472330"/>
            <a:ext cx="190195" cy="190195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9251899" y="4395521"/>
            <a:ext cx="1467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 자동 주입</a:t>
            </a:r>
            <a:endParaRPr lang="en-US" sz="1000" dirty="0"/>
          </a:p>
        </p:txBody>
      </p:sp>
      <p:sp>
        <p:nvSpPr>
          <p:cNvPr id="52" name="Text 38"/>
          <p:cNvSpPr txBox="1"/>
          <p:nvPr/>
        </p:nvSpPr>
        <p:spPr>
          <a:xfrm>
            <a:off x="9251899" y="4586630"/>
            <a:ext cx="17026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 실수 가능성 원천 차단</a:t>
            </a:r>
            <a:endParaRPr lang="en-US" sz="900" dirty="0"/>
          </a:p>
        </p:txBody>
      </p:sp>
      <p:sp>
        <p:nvSpPr>
          <p:cNvPr id="53" name="Shape 39"/>
          <p:cNvSpPr/>
          <p:nvPr/>
        </p:nvSpPr>
        <p:spPr>
          <a:xfrm>
            <a:off x="8794699" y="5043830"/>
            <a:ext cx="2734056" cy="647395"/>
          </a:xfrm>
          <a:prstGeom prst="roundRect">
            <a:avLst>
              <a:gd name="adj" fmla="val 3323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947404" y="5272430"/>
            <a:ext cx="190195" cy="190195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9251899" y="5195621"/>
            <a:ext cx="14301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생산성 향상</a:t>
            </a:r>
            <a:endParaRPr lang="en-US" sz="1000" dirty="0"/>
          </a:p>
        </p:txBody>
      </p:sp>
      <p:sp>
        <p:nvSpPr>
          <p:cNvPr id="56" name="Text 41"/>
          <p:cNvSpPr txBox="1"/>
          <p:nvPr/>
        </p:nvSpPr>
        <p:spPr>
          <a:xfrm>
            <a:off x="9251899" y="5386730"/>
            <a:ext cx="165597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코드 제거 및 로직 집중</a:t>
            </a:r>
            <a:endParaRPr lang="en-US" sz="900" dirty="0"/>
          </a:p>
        </p:txBody>
      </p:sp>
      <p:pic>
        <p:nvPicPr>
          <p:cNvPr id="58" name="Image 14" descr="preencoded.png">
            <a:extLst>
              <a:ext uri="{FF2B5EF4-FFF2-40B4-BE49-F238E27FC236}">
                <a16:creationId xmlns:a16="http://schemas.microsoft.com/office/drawing/2014/main" id="{26736880-FFCB-0781-C629-D25B258748D7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0007194" y="2229307"/>
            <a:ext cx="304495" cy="30449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A4_Project_2AI1_SD_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이승재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33481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B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305" y="381305"/>
            <a:ext cx="57607" cy="972007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9107" y="381305"/>
            <a:ext cx="961949" cy="247802"/>
          </a:xfrm>
          <a:prstGeom prst="roundRect">
            <a:avLst>
              <a:gd name="adj" fmla="val 369004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1190" y="381305"/>
            <a:ext cx="79552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치명성 이슈 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2551" y="452628"/>
            <a:ext cx="114300" cy="1143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00784" y="409651"/>
            <a:ext cx="1881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Troubleshooting Case #2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9107" y="705002"/>
            <a:ext cx="11373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무결성 확보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29107" y="1086307"/>
            <a:ext cx="11373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불안정 상황에서도 음성 데이터 유실 없는 전송 전략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381305" y="1638605"/>
            <a:ext cx="3301898" cy="474390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227478" y="1904695"/>
            <a:ext cx="1266444" cy="247802"/>
          </a:xfrm>
          <a:prstGeom prst="roundRect">
            <a:avLst>
              <a:gd name="adj" fmla="val 340619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227478" y="1904695"/>
            <a:ext cx="13240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1: Problem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51406" y="2000707"/>
            <a:ext cx="761695" cy="761695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50" r="-50"/>
          <a:stretch/>
        </p:blipFill>
        <p:spPr>
          <a:xfrm>
            <a:off x="1917497" y="2229307"/>
            <a:ext cx="228600" cy="30449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71500" y="3000146"/>
            <a:ext cx="29242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데이터 유실 위험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3381451"/>
            <a:ext cx="2924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가용성 타격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66598" y="3838651"/>
            <a:ext cx="2734056" cy="2257654"/>
          </a:xfrm>
          <a:prstGeom prst="roundRect">
            <a:avLst>
              <a:gd name="adj" fmla="val 410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66851" y="4038905"/>
            <a:ext cx="2410358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화상 면접 중 </a:t>
            </a: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순단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이나 브라우저 메모리 한계로 인해 대용량 음성 파일 전송 실패 시, 면접 데이터가 통째로 유실되는 치명적 상황 발생. 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66851" y="5048402"/>
            <a:ext cx="2333549" cy="381305"/>
          </a:xfrm>
          <a:prstGeom prst="roundRect">
            <a:avLst>
              <a:gd name="adj" fmla="val 9592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593799" y="5143500"/>
            <a:ext cx="114300" cy="190195"/>
          </a:xfrm>
          <a:prstGeom prst="roundRect">
            <a:avLst>
              <a:gd name="adj" fmla="val 266667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746504" y="5143500"/>
            <a:ext cx="114300" cy="190195"/>
          </a:xfrm>
          <a:prstGeom prst="roundRect">
            <a:avLst>
              <a:gd name="adj" fmla="val 266667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898294" y="5143500"/>
            <a:ext cx="114300" cy="190195"/>
          </a:xfrm>
          <a:prstGeom prst="roundRect">
            <a:avLst>
              <a:gd name="adj" fmla="val 266667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2050999" y="5143500"/>
            <a:ext cx="114300" cy="190195"/>
          </a:xfrm>
          <a:prstGeom prst="roundRect">
            <a:avLst>
              <a:gd name="adj" fmla="val 266667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203704" y="5143500"/>
            <a:ext cx="114300" cy="190195"/>
          </a:xfrm>
          <a:prstGeom prst="roundRect">
            <a:avLst>
              <a:gd name="adj" fmla="val 266667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355494" y="5143500"/>
            <a:ext cx="114300" cy="190195"/>
          </a:xfrm>
          <a:prstGeom prst="roundRect">
            <a:avLst>
              <a:gd name="adj" fmla="val 266667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73582" y="5505602"/>
            <a:ext cx="252100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 1초라도 유실 시 전체 데이터 손상</a:t>
            </a:r>
            <a:endParaRPr lang="en-US" sz="9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l="-607" r="-607"/>
          <a:stretch/>
        </p:blipFill>
        <p:spPr>
          <a:xfrm>
            <a:off x="3973068" y="3866998"/>
            <a:ext cx="181051" cy="286207"/>
          </a:xfrm>
          <a:prstGeom prst="rect">
            <a:avLst/>
          </a:prstGeom>
        </p:spPr>
      </p:pic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 t="-7" b="-7"/>
          <a:stretch/>
        </p:blipFill>
        <p:spPr>
          <a:xfrm>
            <a:off x="4444898" y="1638605"/>
            <a:ext cx="3301898" cy="4743907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257239" y="1904695"/>
            <a:ext cx="1304849" cy="247802"/>
          </a:xfrm>
          <a:prstGeom prst="roundRect">
            <a:avLst>
              <a:gd name="adj" fmla="val 34061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6266840" y="1916599"/>
            <a:ext cx="13624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2: Solution</a:t>
            </a:r>
            <a:endParaRPr lang="en-US" sz="9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15000" y="2000707"/>
            <a:ext cx="761695" cy="761695"/>
          </a:xfrm>
          <a:prstGeom prst="rect">
            <a:avLst/>
          </a:prstGeom>
        </p:spPr>
      </p:pic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rcRect l="-50" r="-50"/>
          <a:stretch/>
        </p:blipFill>
        <p:spPr>
          <a:xfrm>
            <a:off x="5924398" y="2229307"/>
            <a:ext cx="342900" cy="30449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4512564" y="3000146"/>
            <a:ext cx="317113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청크(Chunking) 분산 저장</a:t>
            </a:r>
            <a:endParaRPr lang="en-US" sz="1800" dirty="0"/>
          </a:p>
        </p:txBody>
      </p:sp>
      <p:sp>
        <p:nvSpPr>
          <p:cNvPr id="35" name="Text 25"/>
          <p:cNvSpPr txBox="1"/>
          <p:nvPr/>
        </p:nvSpPr>
        <p:spPr>
          <a:xfrm>
            <a:off x="4676242" y="3381451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MediaRecorder API 활용</a:t>
            </a:r>
            <a:endParaRPr lang="en-US" sz="1200" dirty="0"/>
          </a:p>
        </p:txBody>
      </p:sp>
      <p:sp>
        <p:nvSpPr>
          <p:cNvPr id="36" name="Text 26"/>
          <p:cNvSpPr txBox="1"/>
          <p:nvPr/>
        </p:nvSpPr>
        <p:spPr>
          <a:xfrm>
            <a:off x="4692701" y="3762756"/>
            <a:ext cx="28099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전체 파일을 한 번에 보내지 않고, </a:t>
            </a: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MediaRecorder API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통해 음성을 작은 조각(Chunk)으로 나누어 실시간 분산 전송. 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4731106" y="4486046"/>
            <a:ext cx="2734056" cy="780898"/>
          </a:xfrm>
          <a:prstGeom prst="roundRect">
            <a:avLst>
              <a:gd name="adj" fmla="val 2284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4854550" y="4610405"/>
            <a:ext cx="81655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Recording...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6782105" y="4610405"/>
            <a:ext cx="66934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3s interval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5428793" y="483900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5400446" y="4839005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5771693" y="483900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5743346" y="4839005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6114593" y="483900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6086246" y="4839005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6457493" y="483900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BFDBFE">
              <a:alpha val="6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6429146" y="4839005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>
                    <a:alpha val="68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7"/>
          <a:srcRect l="-607" r="-607"/>
          <a:stretch/>
        </p:blipFill>
        <p:spPr>
          <a:xfrm>
            <a:off x="8037576" y="3866998"/>
            <a:ext cx="181051" cy="286207"/>
          </a:xfrm>
          <a:prstGeom prst="rect">
            <a:avLst/>
          </a:prstGeom>
        </p:spPr>
      </p:pic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1"/>
          <a:srcRect t="-7" b="-7"/>
          <a:stretch/>
        </p:blipFill>
        <p:spPr>
          <a:xfrm>
            <a:off x="8509406" y="1638605"/>
            <a:ext cx="3301898" cy="4743907"/>
          </a:xfrm>
          <a:prstGeom prst="rect">
            <a:avLst/>
          </a:prstGeom>
        </p:spPr>
      </p:pic>
      <p:sp>
        <p:nvSpPr>
          <p:cNvPr id="50" name="Shape 38"/>
          <p:cNvSpPr/>
          <p:nvPr/>
        </p:nvSpPr>
        <p:spPr>
          <a:xfrm>
            <a:off x="10495483" y="1904695"/>
            <a:ext cx="1133856" cy="247802"/>
          </a:xfrm>
          <a:prstGeom prst="roundRect">
            <a:avLst>
              <a:gd name="adj" fmla="val 34061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39"/>
          <p:cNvSpPr txBox="1"/>
          <p:nvPr/>
        </p:nvSpPr>
        <p:spPr>
          <a:xfrm>
            <a:off x="10495483" y="1904695"/>
            <a:ext cx="11914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3: Effect</a:t>
            </a:r>
            <a:endParaRPr lang="en-US" sz="900" dirty="0"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778594" y="2000707"/>
            <a:ext cx="761695" cy="761695"/>
          </a:xfrm>
          <a:prstGeom prst="rect">
            <a:avLst/>
          </a:prstGeom>
        </p:spPr>
      </p:pic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13"/>
          <a:srcRect l="-107" r="-107"/>
          <a:stretch/>
        </p:blipFill>
        <p:spPr>
          <a:xfrm>
            <a:off x="10026396" y="2229307"/>
            <a:ext cx="267005" cy="304495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8699602" y="3000146"/>
            <a:ext cx="29242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무결점 병합 전송</a:t>
            </a:r>
            <a:endParaRPr lang="en-US" sz="1800" dirty="0"/>
          </a:p>
        </p:txBody>
      </p:sp>
      <p:sp>
        <p:nvSpPr>
          <p:cNvPr id="55" name="Text 41"/>
          <p:cNvSpPr txBox="1"/>
          <p:nvPr/>
        </p:nvSpPr>
        <p:spPr>
          <a:xfrm>
            <a:off x="8699602" y="3381451"/>
            <a:ext cx="2924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 스트리밍 보장</a:t>
            </a:r>
            <a:endParaRPr lang="en-US" sz="1200" dirty="0"/>
          </a:p>
        </p:txBody>
      </p:sp>
      <p:sp>
        <p:nvSpPr>
          <p:cNvPr id="56" name="Shape 42"/>
          <p:cNvSpPr/>
          <p:nvPr/>
        </p:nvSpPr>
        <p:spPr>
          <a:xfrm>
            <a:off x="8794699" y="4243730"/>
            <a:ext cx="2734056" cy="647395"/>
          </a:xfrm>
          <a:prstGeom prst="roundRect">
            <a:avLst>
              <a:gd name="adj" fmla="val 3323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7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947404" y="4472330"/>
            <a:ext cx="237744" cy="190195"/>
          </a:xfrm>
          <a:prstGeom prst="rect">
            <a:avLst/>
          </a:prstGeom>
        </p:spPr>
      </p:pic>
      <p:sp>
        <p:nvSpPr>
          <p:cNvPr id="58" name="Text 43"/>
          <p:cNvSpPr txBox="1"/>
          <p:nvPr/>
        </p:nvSpPr>
        <p:spPr>
          <a:xfrm>
            <a:off x="9299448" y="4395521"/>
            <a:ext cx="16568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순단 방어</a:t>
            </a:r>
            <a:endParaRPr lang="en-US" sz="1000" dirty="0"/>
          </a:p>
        </p:txBody>
      </p:sp>
      <p:sp>
        <p:nvSpPr>
          <p:cNvPr id="59" name="Text 44"/>
          <p:cNvSpPr txBox="1"/>
          <p:nvPr/>
        </p:nvSpPr>
        <p:spPr>
          <a:xfrm>
            <a:off x="9299448" y="4586630"/>
            <a:ext cx="189280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복구 시 누락된 청크 재전송</a:t>
            </a:r>
            <a:endParaRPr lang="en-US" sz="900" dirty="0"/>
          </a:p>
        </p:txBody>
      </p:sp>
      <p:sp>
        <p:nvSpPr>
          <p:cNvPr id="60" name="Shape 45"/>
          <p:cNvSpPr/>
          <p:nvPr/>
        </p:nvSpPr>
        <p:spPr>
          <a:xfrm>
            <a:off x="8794699" y="5043830"/>
            <a:ext cx="2734056" cy="647395"/>
          </a:xfrm>
          <a:prstGeom prst="roundRect">
            <a:avLst>
              <a:gd name="adj" fmla="val 3323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947404" y="5272430"/>
            <a:ext cx="190195" cy="190195"/>
          </a:xfrm>
          <a:prstGeom prst="rect">
            <a:avLst/>
          </a:prstGeom>
        </p:spPr>
      </p:pic>
      <p:sp>
        <p:nvSpPr>
          <p:cNvPr id="62" name="Text 46"/>
          <p:cNvSpPr txBox="1"/>
          <p:nvPr/>
        </p:nvSpPr>
        <p:spPr>
          <a:xfrm>
            <a:off x="9251899" y="5195621"/>
            <a:ext cx="1800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사이드 병합</a:t>
            </a:r>
            <a:endParaRPr lang="en-US" sz="1000" dirty="0"/>
          </a:p>
        </p:txBody>
      </p:sp>
      <p:sp>
        <p:nvSpPr>
          <p:cNvPr id="63" name="Text 47"/>
          <p:cNvSpPr txBox="1"/>
          <p:nvPr/>
        </p:nvSpPr>
        <p:spPr>
          <a:xfrm>
            <a:off x="9251899" y="5386730"/>
            <a:ext cx="20811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조각 수신 후 완벽한 파일 복원</a:t>
            </a:r>
            <a:endParaRPr lang="en-US" sz="900" dirty="0"/>
          </a:p>
        </p:txBody>
      </p:sp>
      <p:sp>
        <p:nvSpPr>
          <p:cNvPr id="64" name="TextBox 63"/>
          <p:cNvSpPr txBox="1"/>
          <p:nvPr/>
        </p:nvSpPr>
        <p:spPr>
          <a:xfrm>
            <a:off x="93285" y="6613257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A4_Project_2AI1_SD_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이승재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26206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B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305" y="381305"/>
            <a:ext cx="57607" cy="972007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9107" y="381305"/>
            <a:ext cx="1095451" cy="247802"/>
          </a:xfrm>
          <a:prstGeom prst="roundRect">
            <a:avLst>
              <a:gd name="adj" fmla="val 369004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2219" y="381305"/>
            <a:ext cx="90068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난이도 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752551" y="452628"/>
            <a:ext cx="142646" cy="1143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34286" y="409651"/>
            <a:ext cx="1881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Troubleshooting Case #3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9107" y="705002"/>
            <a:ext cx="11373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아키텍처의 진화: 비동기 분산 처리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29107" y="1086307"/>
            <a:ext cx="11373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동기식 STT 처리의 한계 극복 및 시스템 병목 해소 전략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381305" y="1638605"/>
            <a:ext cx="3301898" cy="474390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227478" y="1904695"/>
            <a:ext cx="1266444" cy="247802"/>
          </a:xfrm>
          <a:prstGeom prst="roundRect">
            <a:avLst>
              <a:gd name="adj" fmla="val 340619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227478" y="1904695"/>
            <a:ext cx="13240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1: Problem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51406" y="2000707"/>
            <a:ext cx="761695" cy="761695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50" r="-50"/>
          <a:stretch/>
        </p:blipFill>
        <p:spPr>
          <a:xfrm>
            <a:off x="1917497" y="2229307"/>
            <a:ext cx="228600" cy="30449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71500" y="3000146"/>
            <a:ext cx="29242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타임아웃 한계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3381451"/>
            <a:ext cx="2924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서버 동기식 병목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66598" y="3838651"/>
            <a:ext cx="2734056" cy="2257654"/>
          </a:xfrm>
          <a:prstGeom prst="roundRect">
            <a:avLst>
              <a:gd name="adj" fmla="val 410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28446" y="4105656"/>
            <a:ext cx="2410358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무거운 AI 모델(Faster-Whisper)의 음성 인식 과정이 메인 서버에 </a:t>
            </a: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동기식(Synchronous)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묶여 있어 대규모 트래픽 시 처리 지연 발생. 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66851" y="5124298"/>
            <a:ext cx="2333549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949147" y="5248656"/>
            <a:ext cx="216987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504 Gateway Timeout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907085" y="5553151"/>
            <a:ext cx="22530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 대기 시간 초과로 연결 종료</a:t>
            </a:r>
            <a:endParaRPr lang="en-US" sz="9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l="-607" r="-607"/>
          <a:stretch/>
        </p:blipFill>
        <p:spPr>
          <a:xfrm>
            <a:off x="3973068" y="3866998"/>
            <a:ext cx="181051" cy="286207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 t="-7" b="-7"/>
          <a:stretch/>
        </p:blipFill>
        <p:spPr>
          <a:xfrm>
            <a:off x="4444898" y="1638605"/>
            <a:ext cx="3301898" cy="4743907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257239" y="1904695"/>
            <a:ext cx="1304849" cy="247802"/>
          </a:xfrm>
          <a:prstGeom prst="roundRect">
            <a:avLst>
              <a:gd name="adj" fmla="val 34061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6257239" y="1904695"/>
            <a:ext cx="13624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2: Solution</a:t>
            </a:r>
            <a:endParaRPr lang="en-US" sz="9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15000" y="2000707"/>
            <a:ext cx="761695" cy="761695"/>
          </a:xfrm>
          <a:prstGeom prst="rect">
            <a:avLst/>
          </a:prstGeom>
        </p:spPr>
      </p:pic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 l="-90" r="-90"/>
          <a:stretch/>
        </p:blipFill>
        <p:spPr>
          <a:xfrm>
            <a:off x="5905195" y="2229307"/>
            <a:ext cx="381305" cy="30449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4635094" y="3000146"/>
            <a:ext cx="29242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 워커 분리</a:t>
            </a:r>
            <a:endParaRPr lang="en-US" sz="1800" dirty="0"/>
          </a:p>
        </p:txBody>
      </p:sp>
      <p:sp>
        <p:nvSpPr>
          <p:cNvPr id="30" name="Text 20"/>
          <p:cNvSpPr txBox="1"/>
          <p:nvPr/>
        </p:nvSpPr>
        <p:spPr>
          <a:xfrm>
            <a:off x="4676242" y="3381451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Celery + Redis Broker</a:t>
            </a:r>
            <a:endParaRPr lang="en-US" sz="1200" dirty="0"/>
          </a:p>
        </p:txBody>
      </p:sp>
      <p:sp>
        <p:nvSpPr>
          <p:cNvPr id="31" name="Text 21"/>
          <p:cNvSpPr txBox="1"/>
          <p:nvPr/>
        </p:nvSpPr>
        <p:spPr>
          <a:xfrm>
            <a:off x="4692701" y="3762756"/>
            <a:ext cx="28099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 코드 수정을 넘어 </a:t>
            </a: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큐(Queue)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도입하여 무거운 AI 연산을 별도 워커 프로세스로 위임. 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4731106" y="5000854"/>
            <a:ext cx="2734056" cy="1095451"/>
          </a:xfrm>
          <a:prstGeom prst="roundRect">
            <a:avLst>
              <a:gd name="adj" fmla="val 1742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1"/>
          <a:srcRect l="-620" r="-620"/>
          <a:stretch/>
        </p:blipFill>
        <p:spPr>
          <a:xfrm>
            <a:off x="4882896" y="5152644"/>
            <a:ext cx="638251" cy="485546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854550" y="5152644"/>
            <a:ext cx="69585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(Main)</a:t>
            </a:r>
            <a:endParaRPr lang="en-US" sz="800" dirty="0"/>
          </a:p>
        </p:txBody>
      </p:sp>
      <p:sp>
        <p:nvSpPr>
          <p:cNvPr id="35" name="Text 24"/>
          <p:cNvSpPr txBox="1"/>
          <p:nvPr/>
        </p:nvSpPr>
        <p:spPr>
          <a:xfrm>
            <a:off x="5589727" y="5319979"/>
            <a:ext cx="200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9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2"/>
          <a:srcRect l="-632" r="-632"/>
          <a:stretch/>
        </p:blipFill>
        <p:spPr>
          <a:xfrm>
            <a:off x="5780837" y="5152644"/>
            <a:ext cx="638251" cy="485546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5752490" y="5152644"/>
            <a:ext cx="69585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Redis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(Broker)</a:t>
            </a:r>
            <a:endParaRPr lang="en-US" sz="800" dirty="0"/>
          </a:p>
        </p:txBody>
      </p:sp>
      <p:sp>
        <p:nvSpPr>
          <p:cNvPr id="38" name="Text 26"/>
          <p:cNvSpPr txBox="1"/>
          <p:nvPr/>
        </p:nvSpPr>
        <p:spPr>
          <a:xfrm>
            <a:off x="6487668" y="5319979"/>
            <a:ext cx="200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9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1"/>
          <a:srcRect l="-620" r="-620"/>
          <a:stretch/>
        </p:blipFill>
        <p:spPr>
          <a:xfrm>
            <a:off x="6677863" y="5152644"/>
            <a:ext cx="638251" cy="485546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6649517" y="5152644"/>
            <a:ext cx="69585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Celery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(Worker)</a:t>
            </a:r>
            <a:endParaRPr lang="en-US" sz="800" dirty="0"/>
          </a:p>
        </p:txBody>
      </p:sp>
      <p:sp>
        <p:nvSpPr>
          <p:cNvPr id="41" name="Text 28"/>
          <p:cNvSpPr txBox="1"/>
          <p:nvPr/>
        </p:nvSpPr>
        <p:spPr>
          <a:xfrm>
            <a:off x="4834433" y="5790895"/>
            <a:ext cx="252648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Task Offloading Pattern</a:t>
            </a:r>
            <a:endParaRPr lang="en-US" sz="90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7"/>
          <a:srcRect l="-607" r="-607"/>
          <a:stretch/>
        </p:blipFill>
        <p:spPr>
          <a:xfrm>
            <a:off x="8037576" y="3866998"/>
            <a:ext cx="181051" cy="286207"/>
          </a:xfrm>
          <a:prstGeom prst="rect">
            <a:avLst/>
          </a:prstGeom>
        </p:spPr>
      </p:pic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3"/>
          <a:srcRect t="-7" b="-7"/>
          <a:stretch/>
        </p:blipFill>
        <p:spPr>
          <a:xfrm>
            <a:off x="8509406" y="1638605"/>
            <a:ext cx="3301898" cy="4743907"/>
          </a:xfrm>
          <a:prstGeom prst="rect">
            <a:avLst/>
          </a:prstGeom>
        </p:spPr>
      </p:pic>
      <p:sp>
        <p:nvSpPr>
          <p:cNvPr id="44" name="Shape 29"/>
          <p:cNvSpPr/>
          <p:nvPr/>
        </p:nvSpPr>
        <p:spPr>
          <a:xfrm>
            <a:off x="10495483" y="1904695"/>
            <a:ext cx="1133856" cy="247802"/>
          </a:xfrm>
          <a:prstGeom prst="roundRect">
            <a:avLst>
              <a:gd name="adj" fmla="val 34061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0"/>
          <p:cNvSpPr txBox="1"/>
          <p:nvPr/>
        </p:nvSpPr>
        <p:spPr>
          <a:xfrm>
            <a:off x="10495483" y="1904695"/>
            <a:ext cx="11914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3: Effect</a:t>
            </a:r>
            <a:endParaRPr lang="en-US" sz="900" dirty="0"/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778594" y="2000707"/>
            <a:ext cx="761695" cy="761695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0007194" y="2229307"/>
            <a:ext cx="304495" cy="304495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8699602" y="3000146"/>
            <a:ext cx="29242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서버 병목 해소</a:t>
            </a:r>
            <a:endParaRPr lang="en-US" sz="1800" dirty="0"/>
          </a:p>
        </p:txBody>
      </p:sp>
      <p:sp>
        <p:nvSpPr>
          <p:cNvPr id="49" name="Text 32"/>
          <p:cNvSpPr txBox="1"/>
          <p:nvPr/>
        </p:nvSpPr>
        <p:spPr>
          <a:xfrm>
            <a:off x="8739835" y="3381451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Non-blocking Architecture</a:t>
            </a:r>
            <a:endParaRPr lang="en-US" sz="1200" dirty="0"/>
          </a:p>
        </p:txBody>
      </p:sp>
      <p:sp>
        <p:nvSpPr>
          <p:cNvPr id="50" name="Shape 33"/>
          <p:cNvSpPr/>
          <p:nvPr/>
        </p:nvSpPr>
        <p:spPr>
          <a:xfrm>
            <a:off x="8794699" y="4243730"/>
            <a:ext cx="2734056" cy="647395"/>
          </a:xfrm>
          <a:prstGeom prst="roundRect">
            <a:avLst>
              <a:gd name="adj" fmla="val 3323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16"/>
          <a:srcRect l="-1648" r="-1648"/>
          <a:stretch/>
        </p:blipFill>
        <p:spPr>
          <a:xfrm>
            <a:off x="8947404" y="4472330"/>
            <a:ext cx="171907" cy="190195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9232697" y="4395521"/>
            <a:ext cx="15023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응답성 극대화</a:t>
            </a:r>
            <a:endParaRPr lang="en-US" sz="1000" dirty="0"/>
          </a:p>
        </p:txBody>
      </p:sp>
      <p:sp>
        <p:nvSpPr>
          <p:cNvPr id="53" name="Text 35"/>
          <p:cNvSpPr txBox="1"/>
          <p:nvPr/>
        </p:nvSpPr>
        <p:spPr>
          <a:xfrm>
            <a:off x="9232697" y="4586630"/>
            <a:ext cx="17026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응답 후 백그라운드 처리</a:t>
            </a:r>
            <a:endParaRPr lang="en-US" sz="900" dirty="0"/>
          </a:p>
        </p:txBody>
      </p:sp>
      <p:sp>
        <p:nvSpPr>
          <p:cNvPr id="54" name="Shape 36"/>
          <p:cNvSpPr/>
          <p:nvPr/>
        </p:nvSpPr>
        <p:spPr>
          <a:xfrm>
            <a:off x="8794699" y="5043830"/>
            <a:ext cx="2734056" cy="647395"/>
          </a:xfrm>
          <a:prstGeom prst="roundRect">
            <a:avLst>
              <a:gd name="adj" fmla="val 3323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5" name="Image 16" descr="preencoded.png"/>
          <p:cNvPicPr>
            <a:picLocks noChangeAspect="1"/>
          </p:cNvPicPr>
          <p:nvPr/>
        </p:nvPicPr>
        <p:blipFill>
          <a:blip r:embed="rId17"/>
          <a:srcRect l="-1282" r="-1282"/>
          <a:stretch/>
        </p:blipFill>
        <p:spPr>
          <a:xfrm>
            <a:off x="8947404" y="5272430"/>
            <a:ext cx="219456" cy="190195"/>
          </a:xfrm>
          <a:prstGeom prst="rect">
            <a:avLst/>
          </a:prstGeom>
        </p:spPr>
      </p:pic>
      <p:sp>
        <p:nvSpPr>
          <p:cNvPr id="56" name="Text 37"/>
          <p:cNvSpPr txBox="1"/>
          <p:nvPr/>
        </p:nvSpPr>
        <p:spPr>
          <a:xfrm>
            <a:off x="9280246" y="5195621"/>
            <a:ext cx="1543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한계 극복</a:t>
            </a:r>
            <a:endParaRPr lang="en-US" sz="1000" dirty="0"/>
          </a:p>
        </p:txBody>
      </p:sp>
      <p:sp>
        <p:nvSpPr>
          <p:cNvPr id="57" name="Text 38"/>
          <p:cNvSpPr txBox="1"/>
          <p:nvPr/>
        </p:nvSpPr>
        <p:spPr>
          <a:xfrm>
            <a:off x="9280246" y="5386730"/>
            <a:ext cx="17748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 방식 탈피 및 확장성 확보</a:t>
            </a:r>
            <a:endParaRPr lang="en-US" sz="900" dirty="0"/>
          </a:p>
        </p:txBody>
      </p:sp>
      <p:sp>
        <p:nvSpPr>
          <p:cNvPr id="58" name="TextBox 57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A4_Project_2AI1_SD_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이승재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51338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B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305" y="381305"/>
            <a:ext cx="57607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9107" y="381305"/>
            <a:ext cx="11373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결과 및 성과 분석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29107" y="800100"/>
            <a:ext cx="11373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안정성과 확장성을 모두 갖춘 엔터프라이즈급 시스템 완성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9" r="-9"/>
          <a:stretch/>
        </p:blipFill>
        <p:spPr>
          <a:xfrm>
            <a:off x="381305" y="1304849"/>
            <a:ext cx="2686507" cy="404804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0057" y="1004926"/>
            <a:ext cx="1143000" cy="11430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l="-9" r="-9"/>
          <a:stretch/>
        </p:blipFill>
        <p:spPr>
          <a:xfrm>
            <a:off x="3295498" y="1304849"/>
            <a:ext cx="2686507" cy="404804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171846" y="972007"/>
            <a:ext cx="1143000" cy="114300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rcRect l="-9" r="-9"/>
          <a:stretch/>
        </p:blipFill>
        <p:spPr>
          <a:xfrm>
            <a:off x="6210605" y="1304849"/>
            <a:ext cx="2686507" cy="404804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086954" y="972007"/>
            <a:ext cx="1143000" cy="11430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rcRect l="-9" r="-9"/>
          <a:stretch/>
        </p:blipFill>
        <p:spPr>
          <a:xfrm>
            <a:off x="9124798" y="1304849"/>
            <a:ext cx="2686507" cy="4048049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11001146" y="972007"/>
            <a:ext cx="1143000" cy="114300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381305" y="5581498"/>
            <a:ext cx="11430000" cy="895198"/>
          </a:xfrm>
          <a:prstGeom prst="roundRect">
            <a:avLst>
              <a:gd name="adj" fmla="val 3477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76656" y="5800954"/>
            <a:ext cx="457200" cy="45720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3018" y="5934456"/>
            <a:ext cx="142646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85646" y="5781751"/>
            <a:ext cx="10344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Architectural Insight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1285646" y="6086246"/>
            <a:ext cx="10420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단순한 기능 구현을 넘어, </a:t>
            </a: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"사용자 경험의 최전선에서 데이터 무결성을 보장"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견고한 아키텍처를 통해 엔터프라이즈급 서비스의 기반을 마련했습니다. </a:t>
            </a:r>
            <a:endParaRPr lang="en-US" sz="10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>
            <a:alphaModFix amt="40000"/>
          </a:blip>
          <a:srcRect/>
          <a:stretch/>
        </p:blipFill>
        <p:spPr>
          <a:xfrm>
            <a:off x="10463479" y="4715103"/>
            <a:ext cx="2438705" cy="2438705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619049" y="1543507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0956" y="1714500"/>
            <a:ext cx="267005" cy="267005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19049" y="2343607"/>
            <a:ext cx="238658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상용 퀄리티</a:t>
            </a:r>
            <a:endParaRPr lang="en-US" sz="13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7"/>
          <a:srcRect t="-360" b="-360"/>
          <a:stretch/>
        </p:blipFill>
        <p:spPr>
          <a:xfrm>
            <a:off x="619049" y="2648102"/>
            <a:ext cx="381305" cy="38405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619049" y="2838298"/>
            <a:ext cx="229880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Performance</a:t>
            </a:r>
            <a:endParaRPr lang="en-US" sz="2400" dirty="0"/>
          </a:p>
        </p:txBody>
      </p:sp>
      <p:sp>
        <p:nvSpPr>
          <p:cNvPr id="27" name="Text 16"/>
          <p:cNvSpPr txBox="1"/>
          <p:nvPr/>
        </p:nvSpPr>
        <p:spPr>
          <a:xfrm>
            <a:off x="619049" y="3646627"/>
            <a:ext cx="2386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고성능 SPA 아키텍처</a:t>
            </a:r>
            <a:endParaRPr lang="en-US" sz="1000" dirty="0"/>
          </a:p>
        </p:txBody>
      </p:sp>
      <p:sp>
        <p:nvSpPr>
          <p:cNvPr id="28" name="Text 17"/>
          <p:cNvSpPr txBox="1"/>
          <p:nvPr/>
        </p:nvSpPr>
        <p:spPr>
          <a:xfrm>
            <a:off x="619049" y="3951122"/>
            <a:ext cx="2298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B2B(관리자) &amp; B2C(지원자) 통합</a:t>
            </a:r>
            <a:endParaRPr lang="en-US" sz="900" dirty="0"/>
          </a:p>
        </p:txBody>
      </p:sp>
      <p:sp>
        <p:nvSpPr>
          <p:cNvPr id="29" name="Text 18"/>
          <p:cNvSpPr txBox="1"/>
          <p:nvPr/>
        </p:nvSpPr>
        <p:spPr>
          <a:xfrm>
            <a:off x="619049" y="4181551"/>
            <a:ext cx="23865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소실 방어 로직 완비</a:t>
            </a:r>
            <a:endParaRPr lang="en-US" sz="900" dirty="0"/>
          </a:p>
        </p:txBody>
      </p:sp>
      <p:sp>
        <p:nvSpPr>
          <p:cNvPr id="30" name="Text 19"/>
          <p:cNvSpPr txBox="1"/>
          <p:nvPr/>
        </p:nvSpPr>
        <p:spPr>
          <a:xfrm>
            <a:off x="619049" y="4411980"/>
            <a:ext cx="23865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렌더링 지연 없는 UX 구현</a:t>
            </a:r>
            <a:endParaRPr lang="en-US" sz="900" dirty="0"/>
          </a:p>
        </p:txBody>
      </p:sp>
      <p:sp>
        <p:nvSpPr>
          <p:cNvPr id="31" name="Shape 20"/>
          <p:cNvSpPr/>
          <p:nvPr/>
        </p:nvSpPr>
        <p:spPr>
          <a:xfrm>
            <a:off x="3534156" y="1543507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8"/>
          <a:srcRect l="-685" r="-685"/>
          <a:stretch/>
        </p:blipFill>
        <p:spPr>
          <a:xfrm>
            <a:off x="3685946" y="1714500"/>
            <a:ext cx="304495" cy="267005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3534156" y="2343607"/>
            <a:ext cx="238658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독립 생태계</a:t>
            </a:r>
            <a:endParaRPr lang="en-US" sz="130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9"/>
          <a:srcRect t="-360" b="-360"/>
          <a:stretch/>
        </p:blipFill>
        <p:spPr>
          <a:xfrm>
            <a:off x="3534156" y="2648102"/>
            <a:ext cx="381305" cy="38405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3534156" y="2838298"/>
            <a:ext cx="22988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30+ JSX</a:t>
            </a:r>
            <a:endParaRPr lang="en-US" sz="2400" dirty="0"/>
          </a:p>
        </p:txBody>
      </p:sp>
      <p:sp>
        <p:nvSpPr>
          <p:cNvPr id="36" name="Text 23"/>
          <p:cNvSpPr txBox="1"/>
          <p:nvPr/>
        </p:nvSpPr>
        <p:spPr>
          <a:xfrm>
            <a:off x="3534156" y="3280867"/>
            <a:ext cx="2386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자가 구현 컴포넌트</a:t>
            </a:r>
            <a:endParaRPr lang="en-US" sz="1000" dirty="0"/>
          </a:p>
        </p:txBody>
      </p:sp>
      <p:sp>
        <p:nvSpPr>
          <p:cNvPr id="37" name="Text 24"/>
          <p:cNvSpPr txBox="1"/>
          <p:nvPr/>
        </p:nvSpPr>
        <p:spPr>
          <a:xfrm>
            <a:off x="3534156" y="3585362"/>
            <a:ext cx="23865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UI 프레임워크 의존성 제거</a:t>
            </a:r>
            <a:endParaRPr lang="en-US" sz="900" dirty="0"/>
          </a:p>
        </p:txBody>
      </p:sp>
      <p:sp>
        <p:nvSpPr>
          <p:cNvPr id="38" name="Text 25"/>
          <p:cNvSpPr txBox="1"/>
          <p:nvPr/>
        </p:nvSpPr>
        <p:spPr>
          <a:xfrm>
            <a:off x="3534156" y="3815791"/>
            <a:ext cx="23865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11개 전용 스타일시트 최적화</a:t>
            </a:r>
            <a:endParaRPr lang="en-US" sz="900" dirty="0"/>
          </a:p>
        </p:txBody>
      </p:sp>
      <p:sp>
        <p:nvSpPr>
          <p:cNvPr id="39" name="Text 26"/>
          <p:cNvSpPr txBox="1"/>
          <p:nvPr/>
        </p:nvSpPr>
        <p:spPr>
          <a:xfrm>
            <a:off x="3534156" y="4046220"/>
            <a:ext cx="23865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시스템 일관성 유지</a:t>
            </a:r>
            <a:endParaRPr lang="en-US" sz="900" dirty="0"/>
          </a:p>
        </p:txBody>
      </p:sp>
      <p:sp>
        <p:nvSpPr>
          <p:cNvPr id="40" name="Shape 27"/>
          <p:cNvSpPr/>
          <p:nvPr/>
        </p:nvSpPr>
        <p:spPr>
          <a:xfrm>
            <a:off x="6448349" y="1543507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20256" y="1714500"/>
            <a:ext cx="267005" cy="267005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6448349" y="2343607"/>
            <a:ext cx="238658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무결성 방어벽</a:t>
            </a:r>
            <a:endParaRPr lang="en-US" sz="1300" dirty="0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1"/>
          <a:srcRect t="-360" b="-360"/>
          <a:stretch/>
        </p:blipFill>
        <p:spPr>
          <a:xfrm>
            <a:off x="6448349" y="2648102"/>
            <a:ext cx="381305" cy="38405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6448349" y="2838298"/>
            <a:ext cx="22988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Zero Loss</a:t>
            </a:r>
            <a:endParaRPr lang="en-US" sz="2400" dirty="0"/>
          </a:p>
        </p:txBody>
      </p:sp>
      <p:sp>
        <p:nvSpPr>
          <p:cNvPr id="45" name="Text 30"/>
          <p:cNvSpPr txBox="1"/>
          <p:nvPr/>
        </p:nvSpPr>
        <p:spPr>
          <a:xfrm>
            <a:off x="6448349" y="3280867"/>
            <a:ext cx="2386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데이터/인증 오류 통제</a:t>
            </a:r>
            <a:endParaRPr lang="en-US" sz="1000" dirty="0"/>
          </a:p>
        </p:txBody>
      </p:sp>
      <p:sp>
        <p:nvSpPr>
          <p:cNvPr id="46" name="Text 31"/>
          <p:cNvSpPr txBox="1"/>
          <p:nvPr/>
        </p:nvSpPr>
        <p:spPr>
          <a:xfrm>
            <a:off x="6448349" y="3585362"/>
            <a:ext cx="2298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청크(Chunking) 분산 전송 기술</a:t>
            </a:r>
            <a:endParaRPr lang="en-US" sz="900" dirty="0"/>
          </a:p>
        </p:txBody>
      </p:sp>
      <p:sp>
        <p:nvSpPr>
          <p:cNvPr id="47" name="Text 32"/>
          <p:cNvSpPr txBox="1"/>
          <p:nvPr/>
        </p:nvSpPr>
        <p:spPr>
          <a:xfrm>
            <a:off x="6448349" y="3815791"/>
            <a:ext cx="2298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전역 Axios 인터셉터 보안</a:t>
            </a:r>
            <a:endParaRPr lang="en-US" sz="900" dirty="0"/>
          </a:p>
        </p:txBody>
      </p:sp>
      <p:sp>
        <p:nvSpPr>
          <p:cNvPr id="48" name="Text 33"/>
          <p:cNvSpPr txBox="1"/>
          <p:nvPr/>
        </p:nvSpPr>
        <p:spPr>
          <a:xfrm>
            <a:off x="6448349" y="4046220"/>
            <a:ext cx="23865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불안정 완벽 대응</a:t>
            </a:r>
            <a:endParaRPr lang="en-US" sz="900" dirty="0"/>
          </a:p>
        </p:txBody>
      </p:sp>
      <p:sp>
        <p:nvSpPr>
          <p:cNvPr id="49" name="Shape 34"/>
          <p:cNvSpPr/>
          <p:nvPr/>
        </p:nvSpPr>
        <p:spPr>
          <a:xfrm>
            <a:off x="9363456" y="1543507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534449" y="1714500"/>
            <a:ext cx="267005" cy="267005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9363456" y="2343607"/>
            <a:ext cx="2298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DX 효과</a:t>
            </a:r>
            <a:endParaRPr lang="en-US" sz="1300" dirty="0"/>
          </a:p>
        </p:txBody>
      </p:sp>
      <p:pic>
        <p:nvPicPr>
          <p:cNvPr id="52" name="Image 14" descr="preencoded.png"/>
          <p:cNvPicPr>
            <a:picLocks noChangeAspect="1"/>
          </p:cNvPicPr>
          <p:nvPr/>
        </p:nvPicPr>
        <p:blipFill>
          <a:blip r:embed="rId13"/>
          <a:srcRect t="-360" b="-360"/>
          <a:stretch/>
        </p:blipFill>
        <p:spPr>
          <a:xfrm>
            <a:off x="9363456" y="2648102"/>
            <a:ext cx="381305" cy="38405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9363456" y="2838298"/>
            <a:ext cx="22988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 Digital</a:t>
            </a:r>
            <a:endParaRPr lang="en-US" sz="2400" dirty="0"/>
          </a:p>
        </p:txBody>
      </p:sp>
      <p:sp>
        <p:nvSpPr>
          <p:cNvPr id="54" name="Text 37"/>
          <p:cNvSpPr txBox="1"/>
          <p:nvPr/>
        </p:nvSpPr>
        <p:spPr>
          <a:xfrm>
            <a:off x="9363456" y="3280867"/>
            <a:ext cx="2386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전환 가속화</a:t>
            </a:r>
            <a:endParaRPr lang="en-US" sz="1000" dirty="0"/>
          </a:p>
        </p:txBody>
      </p:sp>
      <p:sp>
        <p:nvSpPr>
          <p:cNvPr id="55" name="Text 38"/>
          <p:cNvSpPr txBox="1"/>
          <p:nvPr/>
        </p:nvSpPr>
        <p:spPr>
          <a:xfrm>
            <a:off x="9363456" y="3585362"/>
            <a:ext cx="23865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아날로그 기획 문서의 시스템화</a:t>
            </a:r>
            <a:endParaRPr lang="en-US" sz="900" dirty="0"/>
          </a:p>
        </p:txBody>
      </p:sp>
      <p:sp>
        <p:nvSpPr>
          <p:cNvPr id="56" name="Text 39"/>
          <p:cNvSpPr txBox="1"/>
          <p:nvPr/>
        </p:nvSpPr>
        <p:spPr>
          <a:xfrm>
            <a:off x="9363456" y="3815791"/>
            <a:ext cx="2298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상호작용 가능한 UI/UX</a:t>
            </a:r>
            <a:endParaRPr lang="en-US" sz="900" dirty="0"/>
          </a:p>
        </p:txBody>
      </p:sp>
      <p:sp>
        <p:nvSpPr>
          <p:cNvPr id="57" name="Text 40"/>
          <p:cNvSpPr txBox="1"/>
          <p:nvPr/>
        </p:nvSpPr>
        <p:spPr>
          <a:xfrm>
            <a:off x="9363456" y="4046220"/>
            <a:ext cx="23865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통계화 시너지 극대화</a:t>
            </a:r>
            <a:endParaRPr lang="en-US" sz="900" dirty="0"/>
          </a:p>
        </p:txBody>
      </p:sp>
      <p:sp>
        <p:nvSpPr>
          <p:cNvPr id="58" name="TextBox 57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A4_Project_2AI1_SD_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이승재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78435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B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6402" y="381305"/>
            <a:ext cx="57607" cy="6858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24205" y="381305"/>
            <a:ext cx="111831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진행 회고 및 소감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24205" y="800100"/>
            <a:ext cx="111831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성장과 아키텍처 설계에 대한 고찰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9" r="-9"/>
          <a:stretch/>
        </p:blipFill>
        <p:spPr>
          <a:xfrm>
            <a:off x="476402" y="1352398"/>
            <a:ext cx="3594506" cy="295259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05002" y="1638605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8446" y="1762049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193999" y="1638605"/>
            <a:ext cx="647395" cy="228600"/>
          </a:xfrm>
          <a:prstGeom prst="roundRect">
            <a:avLst>
              <a:gd name="adj" fmla="val 13333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193999" y="1638605"/>
            <a:ext cx="7050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705002" y="2266798"/>
            <a:ext cx="3333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배운 점 (역량)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05002" y="2686507"/>
            <a:ext cx="32196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풀스택 관점 확보: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프론트엔드가 단순 UI를 넘어 데이터 흐름을 통제하는 '핵심 엔진'임을 체득. 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705002" y="3381451"/>
            <a:ext cx="32196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 아키텍처 이해: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FastAPI의 Non-blocking 이점과 JSONB, pgvector 등 DB 설계의 유기적 연결 이해. 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-9" r="-9"/>
          <a:stretch/>
        </p:blipFill>
        <p:spPr>
          <a:xfrm>
            <a:off x="4298594" y="1352398"/>
            <a:ext cx="3594506" cy="295259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27194" y="1638605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51553" y="1762049"/>
            <a:ext cx="228600" cy="2286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260336" y="1638605"/>
            <a:ext cx="409651" cy="228600"/>
          </a:xfrm>
          <a:prstGeom prst="roundRect">
            <a:avLst>
              <a:gd name="adj" fmla="val 133333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260336" y="1638605"/>
            <a:ext cx="46725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Pros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4527194" y="2266798"/>
            <a:ext cx="3333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잘한 점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4527194" y="2686507"/>
            <a:ext cx="32196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CDD (컴포넌트 주도 개발):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공통 모듈 선행 개발로 UI 일관성 유지 및 전체 개발 속도 가속화. 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4527194" y="3381451"/>
            <a:ext cx="32196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방어적 프로그래밍: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청크 분산 저장 및 인터셉터 토큰 주입으로 보이지 않는 시스템 안정성까지 확보. </a:t>
            </a:r>
            <a:endParaRPr lang="en-US" sz="10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l="-7" r="-7"/>
          <a:stretch/>
        </p:blipFill>
        <p:spPr>
          <a:xfrm>
            <a:off x="8121701" y="1352398"/>
            <a:ext cx="3594506" cy="295259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350301" y="1638605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73745" y="1762049"/>
            <a:ext cx="228600" cy="22860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11057839" y="1638605"/>
            <a:ext cx="437998" cy="228600"/>
          </a:xfrm>
          <a:prstGeom prst="roundRect">
            <a:avLst>
              <a:gd name="adj" fmla="val 133333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11057839" y="1638605"/>
            <a:ext cx="4956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8350301" y="2266798"/>
            <a:ext cx="3333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아쉬운 점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8350301" y="2686507"/>
            <a:ext cx="32196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도메인 연동 미완: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면접자 기능 완성도에 집중하느라 시간적 제약으로 관리자 API 연동을 완수하지 못함. 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8350301" y="3381451"/>
            <a:ext cx="32196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자동화 부족: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프론트엔드 단위 테스트(Unit Test) 자동화 파이프라인 구축 미흡. </a:t>
            </a:r>
            <a:endParaRPr lang="en-US" sz="10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 l="-1" r="-1"/>
          <a:stretch/>
        </p:blipFill>
        <p:spPr>
          <a:xfrm>
            <a:off x="476402" y="4533595"/>
            <a:ext cx="11239805" cy="1943100"/>
          </a:xfrm>
          <a:prstGeom prst="rect">
            <a:avLst/>
          </a:prstGeom>
        </p:spPr>
      </p:pic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rcRect l="-17" r="-17"/>
          <a:stretch/>
        </p:blipFill>
        <p:spPr>
          <a:xfrm>
            <a:off x="838505" y="5333695"/>
            <a:ext cx="333756" cy="38130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399946" y="4935017"/>
            <a:ext cx="102019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12E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소감</a:t>
            </a:r>
            <a:endParaRPr lang="en-US" sz="1300" dirty="0"/>
          </a:p>
        </p:txBody>
      </p:sp>
      <p:sp>
        <p:nvSpPr>
          <p:cNvPr id="34" name="Text 24"/>
          <p:cNvSpPr txBox="1"/>
          <p:nvPr/>
        </p:nvSpPr>
        <p:spPr>
          <a:xfrm>
            <a:off x="1399946" y="5239512"/>
            <a:ext cx="10087661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"기술적 화려함보다 중요한 것은 </a:t>
            </a: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신뢰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데이터가 유실되지 않는 견고한 아키텍처를 설계하며, </a:t>
            </a: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보이지 않는 곳에서의 엔지니어링이 서비스의 품질을 결정한다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것을 깊이 깨달았습니다." </a:t>
            </a:r>
            <a:endParaRPr lang="en-US" sz="13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>
            <a:alphaModFix amt="30000"/>
          </a:blip>
          <a:srcRect/>
          <a:stretch/>
        </p:blipFill>
        <p:spPr>
          <a:xfrm>
            <a:off x="10134295" y="4800600"/>
            <a:ext cx="2438705" cy="243870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A4_Project_2AI1_SD_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이승재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77291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9296705" y="-761695"/>
            <a:ext cx="3657600" cy="36576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/>
          <a:stretch/>
        </p:blipFill>
        <p:spPr>
          <a:xfrm>
            <a:off x="-381305" y="4190695"/>
            <a:ext cx="3047695" cy="3047695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691518" y="6362395"/>
            <a:ext cx="2770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3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rcRect t="-177" b="-177"/>
          <a:stretch/>
        </p:blipFill>
        <p:spPr>
          <a:xfrm>
            <a:off x="609905" y="457200"/>
            <a:ext cx="75895" cy="809244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914400" y="495605"/>
            <a:ext cx="4353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구현 결과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914400" y="1067105"/>
            <a:ext cx="4991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환경 구축, 핵심 기능 개발 및 시스템 검증 완료</a:t>
            </a:r>
            <a:endParaRPr lang="en-US" sz="1500" dirty="0"/>
          </a:p>
        </p:txBody>
      </p:sp>
      <p:sp>
        <p:nvSpPr>
          <p:cNvPr id="10" name="Shape 4"/>
          <p:cNvSpPr/>
          <p:nvPr/>
        </p:nvSpPr>
        <p:spPr>
          <a:xfrm>
            <a:off x="685800" y="1561795"/>
            <a:ext cx="3457346" cy="480060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5"/>
          <p:cNvSpPr/>
          <p:nvPr/>
        </p:nvSpPr>
        <p:spPr>
          <a:xfrm>
            <a:off x="685800" y="1561795"/>
            <a:ext cx="3457346" cy="57607"/>
          </a:xfrm>
          <a:prstGeom prst="roundRect">
            <a:avLst>
              <a:gd name="adj" fmla="val 139928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07692" y="1923897"/>
            <a:ext cx="609905" cy="60990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279599" y="2094890"/>
            <a:ext cx="267005" cy="26700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959559" y="2723997"/>
            <a:ext cx="112196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환경</a:t>
            </a:r>
            <a:endParaRPr lang="en-US" sz="1800" dirty="0"/>
          </a:p>
        </p:txBody>
      </p:sp>
      <p:sp>
        <p:nvSpPr>
          <p:cNvPr id="15" name="Text 7"/>
          <p:cNvSpPr txBox="1"/>
          <p:nvPr/>
        </p:nvSpPr>
        <p:spPr>
          <a:xfrm>
            <a:off x="1723644" y="3105302"/>
            <a:ext cx="1457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6" name="Shape 8"/>
          <p:cNvSpPr/>
          <p:nvPr/>
        </p:nvSpPr>
        <p:spPr>
          <a:xfrm>
            <a:off x="990295" y="3524097"/>
            <a:ext cx="2848356" cy="571500"/>
          </a:xfrm>
          <a:prstGeom prst="roundRect">
            <a:avLst>
              <a:gd name="adj" fmla="val 4266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9"/>
          <p:cNvSpPr/>
          <p:nvPr/>
        </p:nvSpPr>
        <p:spPr>
          <a:xfrm>
            <a:off x="1085393" y="3638397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>
            <a:off x="1128369" y="3695090"/>
            <a:ext cx="142646" cy="11430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428293" y="3619195"/>
            <a:ext cx="15124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Docker 컨테이너 기반</a:t>
            </a:r>
            <a:endParaRPr lang="en-US" sz="1000" dirty="0"/>
          </a:p>
        </p:txBody>
      </p:sp>
      <p:sp>
        <p:nvSpPr>
          <p:cNvPr id="20" name="Text 11"/>
          <p:cNvSpPr txBox="1"/>
          <p:nvPr/>
        </p:nvSpPr>
        <p:spPr>
          <a:xfrm>
            <a:off x="1428293" y="3847795"/>
            <a:ext cx="17748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일관된 배포 및 실행 환경 보장</a:t>
            </a:r>
            <a:endParaRPr lang="en-US" sz="900" dirty="0"/>
          </a:p>
        </p:txBody>
      </p:sp>
      <p:sp>
        <p:nvSpPr>
          <p:cNvPr id="21" name="Shape 12"/>
          <p:cNvSpPr/>
          <p:nvPr/>
        </p:nvSpPr>
        <p:spPr>
          <a:xfrm>
            <a:off x="990295" y="4209897"/>
            <a:ext cx="2848356" cy="571500"/>
          </a:xfrm>
          <a:prstGeom prst="roundRect">
            <a:avLst>
              <a:gd name="adj" fmla="val 4266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3"/>
          <p:cNvSpPr/>
          <p:nvPr/>
        </p:nvSpPr>
        <p:spPr>
          <a:xfrm>
            <a:off x="1085393" y="4324197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1156716" y="4380890"/>
            <a:ext cx="85954" cy="11430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1428293" y="4304995"/>
            <a:ext cx="13578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 인프라</a:t>
            </a:r>
            <a:endParaRPr lang="en-US" sz="1000" dirty="0"/>
          </a:p>
        </p:txBody>
      </p:sp>
      <p:sp>
        <p:nvSpPr>
          <p:cNvPr id="25" name="Text 15"/>
          <p:cNvSpPr txBox="1"/>
          <p:nvPr/>
        </p:nvSpPr>
        <p:spPr>
          <a:xfrm>
            <a:off x="1428293" y="4533595"/>
            <a:ext cx="151333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클라우드 의존성 제거</a:t>
            </a:r>
            <a:endParaRPr lang="en-US" sz="900" dirty="0"/>
          </a:p>
        </p:txBody>
      </p:sp>
      <p:sp>
        <p:nvSpPr>
          <p:cNvPr id="26" name="Shape 16"/>
          <p:cNvSpPr/>
          <p:nvPr/>
        </p:nvSpPr>
        <p:spPr>
          <a:xfrm>
            <a:off x="990295" y="4895697"/>
            <a:ext cx="2848356" cy="571500"/>
          </a:xfrm>
          <a:prstGeom prst="roundRect">
            <a:avLst>
              <a:gd name="adj" fmla="val 4266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1085393" y="5009997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43000" y="5066690"/>
            <a:ext cx="114300" cy="11430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1428293" y="4990795"/>
            <a:ext cx="1543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주권 확보</a:t>
            </a:r>
            <a:endParaRPr lang="en-US" sz="1000" dirty="0"/>
          </a:p>
        </p:txBody>
      </p:sp>
      <p:sp>
        <p:nvSpPr>
          <p:cNvPr id="30" name="Text 19"/>
          <p:cNvSpPr txBox="1"/>
          <p:nvPr/>
        </p:nvSpPr>
        <p:spPr>
          <a:xfrm>
            <a:off x="1428293" y="5219395"/>
            <a:ext cx="17748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채용 데이터 보안 및 자체 관리</a:t>
            </a:r>
            <a:endParaRPr lang="en-US" sz="900" dirty="0"/>
          </a:p>
        </p:txBody>
      </p:sp>
      <p:sp>
        <p:nvSpPr>
          <p:cNvPr id="31" name="Shape 20"/>
          <p:cNvSpPr/>
          <p:nvPr/>
        </p:nvSpPr>
        <p:spPr>
          <a:xfrm>
            <a:off x="990295" y="5734202"/>
            <a:ext cx="2848356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32" name="Text 21"/>
          <p:cNvSpPr txBox="1"/>
          <p:nvPr/>
        </p:nvSpPr>
        <p:spPr>
          <a:xfrm>
            <a:off x="933602" y="5896051"/>
            <a:ext cx="29626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Independent &amp; Secure Infrastructure</a:t>
            </a:r>
            <a:endParaRPr lang="en-US" sz="900" dirty="0"/>
          </a:p>
        </p:txBody>
      </p:sp>
      <p:sp>
        <p:nvSpPr>
          <p:cNvPr id="33" name="Shape 22"/>
          <p:cNvSpPr/>
          <p:nvPr/>
        </p:nvSpPr>
        <p:spPr>
          <a:xfrm>
            <a:off x="4444898" y="1561795"/>
            <a:ext cx="3457346" cy="480060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4" name="Shape 23"/>
          <p:cNvSpPr/>
          <p:nvPr/>
        </p:nvSpPr>
        <p:spPr>
          <a:xfrm>
            <a:off x="4444898" y="1561795"/>
            <a:ext cx="3457346" cy="57607"/>
          </a:xfrm>
          <a:prstGeom prst="roundRect">
            <a:avLst>
              <a:gd name="adj" fmla="val 139928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66790" y="1923897"/>
            <a:ext cx="609905" cy="609905"/>
          </a:xfrm>
          <a:prstGeom prst="rect">
            <a:avLst/>
          </a:prstGeom>
        </p:spPr>
      </p:pic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2"/>
          <a:srcRect l="-685" r="-685"/>
          <a:stretch/>
        </p:blipFill>
        <p:spPr>
          <a:xfrm>
            <a:off x="6019495" y="2094890"/>
            <a:ext cx="304495" cy="267005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5719572" y="2723997"/>
            <a:ext cx="112196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1800" dirty="0"/>
          </a:p>
        </p:txBody>
      </p:sp>
      <p:sp>
        <p:nvSpPr>
          <p:cNvPr id="38" name="Text 25"/>
          <p:cNvSpPr txBox="1"/>
          <p:nvPr/>
        </p:nvSpPr>
        <p:spPr>
          <a:xfrm>
            <a:off x="5550408" y="3105302"/>
            <a:ext cx="1324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39" name="Shape 26"/>
          <p:cNvSpPr/>
          <p:nvPr/>
        </p:nvSpPr>
        <p:spPr>
          <a:xfrm>
            <a:off x="4749393" y="3524097"/>
            <a:ext cx="2848356" cy="571500"/>
          </a:xfrm>
          <a:prstGeom prst="roundRect">
            <a:avLst>
              <a:gd name="adj" fmla="val 4266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27"/>
          <p:cNvSpPr/>
          <p:nvPr/>
        </p:nvSpPr>
        <p:spPr>
          <a:xfrm>
            <a:off x="4844491" y="3638397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3"/>
          <a:srcRect l="-1911" r="-1911"/>
          <a:stretch/>
        </p:blipFill>
        <p:spPr>
          <a:xfrm>
            <a:off x="4892040" y="3695090"/>
            <a:ext cx="133502" cy="11430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5187391" y="3619195"/>
            <a:ext cx="15096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WebRTC 실시간 인터뷰</a:t>
            </a:r>
            <a:endParaRPr lang="en-US" sz="1000" dirty="0"/>
          </a:p>
        </p:txBody>
      </p:sp>
      <p:sp>
        <p:nvSpPr>
          <p:cNvPr id="43" name="Text 29"/>
          <p:cNvSpPr txBox="1"/>
          <p:nvPr/>
        </p:nvSpPr>
        <p:spPr>
          <a:xfrm>
            <a:off x="5187391" y="3847795"/>
            <a:ext cx="159014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지연 없는 양방향 소통 환경</a:t>
            </a:r>
            <a:endParaRPr lang="en-US" sz="900" dirty="0"/>
          </a:p>
        </p:txBody>
      </p:sp>
      <p:sp>
        <p:nvSpPr>
          <p:cNvPr id="44" name="Shape 30"/>
          <p:cNvSpPr/>
          <p:nvPr/>
        </p:nvSpPr>
        <p:spPr>
          <a:xfrm>
            <a:off x="4749393" y="4209897"/>
            <a:ext cx="2848356" cy="571500"/>
          </a:xfrm>
          <a:prstGeom prst="roundRect">
            <a:avLst>
              <a:gd name="adj" fmla="val 4266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1"/>
          <p:cNvSpPr/>
          <p:nvPr/>
        </p:nvSpPr>
        <p:spPr>
          <a:xfrm>
            <a:off x="4844491" y="4324197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4"/>
          <a:srcRect t="-80" b="-80"/>
          <a:stretch/>
        </p:blipFill>
        <p:spPr>
          <a:xfrm>
            <a:off x="4887468" y="4380890"/>
            <a:ext cx="142646" cy="114300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5187391" y="4304995"/>
            <a:ext cx="1467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개인화 질문</a:t>
            </a:r>
            <a:endParaRPr lang="en-US" sz="1000" dirty="0"/>
          </a:p>
        </p:txBody>
      </p:sp>
      <p:sp>
        <p:nvSpPr>
          <p:cNvPr id="48" name="Text 33"/>
          <p:cNvSpPr txBox="1"/>
          <p:nvPr/>
        </p:nvSpPr>
        <p:spPr>
          <a:xfrm>
            <a:off x="5187391" y="4533595"/>
            <a:ext cx="17026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이력서 기반 맞춤형 질문 생성</a:t>
            </a:r>
            <a:endParaRPr lang="en-US" sz="900" dirty="0"/>
          </a:p>
        </p:txBody>
      </p:sp>
      <p:sp>
        <p:nvSpPr>
          <p:cNvPr id="49" name="Shape 34"/>
          <p:cNvSpPr/>
          <p:nvPr/>
        </p:nvSpPr>
        <p:spPr>
          <a:xfrm>
            <a:off x="4749393" y="4895697"/>
            <a:ext cx="2848356" cy="571500"/>
          </a:xfrm>
          <a:prstGeom prst="roundRect">
            <a:avLst>
              <a:gd name="adj" fmla="val 4266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35"/>
          <p:cNvSpPr/>
          <p:nvPr/>
        </p:nvSpPr>
        <p:spPr>
          <a:xfrm>
            <a:off x="4844491" y="5009997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15"/>
          <a:srcRect l="-1911" r="-1911"/>
          <a:stretch/>
        </p:blipFill>
        <p:spPr>
          <a:xfrm>
            <a:off x="4892040" y="5066690"/>
            <a:ext cx="133502" cy="114300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5187391" y="4990795"/>
            <a:ext cx="14401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멀티모달 행동 분석</a:t>
            </a:r>
            <a:endParaRPr lang="en-US" sz="1000" dirty="0"/>
          </a:p>
        </p:txBody>
      </p:sp>
      <p:sp>
        <p:nvSpPr>
          <p:cNvPr id="53" name="Text 37"/>
          <p:cNvSpPr txBox="1"/>
          <p:nvPr/>
        </p:nvSpPr>
        <p:spPr>
          <a:xfrm>
            <a:off x="5187391" y="5219395"/>
            <a:ext cx="15873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· 시선 · 표정 종합 분석</a:t>
            </a:r>
            <a:endParaRPr lang="en-US" sz="900" dirty="0"/>
          </a:p>
        </p:txBody>
      </p:sp>
      <p:sp>
        <p:nvSpPr>
          <p:cNvPr id="54" name="Shape 38"/>
          <p:cNvSpPr/>
          <p:nvPr/>
        </p:nvSpPr>
        <p:spPr>
          <a:xfrm>
            <a:off x="4749393" y="5581497"/>
            <a:ext cx="2848356" cy="571500"/>
          </a:xfrm>
          <a:prstGeom prst="roundRect">
            <a:avLst>
              <a:gd name="adj" fmla="val 4266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39"/>
          <p:cNvSpPr/>
          <p:nvPr/>
        </p:nvSpPr>
        <p:spPr>
          <a:xfrm>
            <a:off x="4844491" y="5695797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16"/>
          <a:srcRect l="-133" r="-133"/>
          <a:stretch/>
        </p:blipFill>
        <p:spPr>
          <a:xfrm>
            <a:off x="4915814" y="5752490"/>
            <a:ext cx="85954" cy="114300"/>
          </a:xfrm>
          <a:prstGeom prst="rect">
            <a:avLst/>
          </a:prstGeom>
        </p:spPr>
      </p:pic>
      <p:sp>
        <p:nvSpPr>
          <p:cNvPr id="57" name="Text 40"/>
          <p:cNvSpPr txBox="1"/>
          <p:nvPr/>
        </p:nvSpPr>
        <p:spPr>
          <a:xfrm>
            <a:off x="5187391" y="5676595"/>
            <a:ext cx="12289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 리포트 생성</a:t>
            </a:r>
            <a:endParaRPr lang="en-US" sz="1000" dirty="0"/>
          </a:p>
        </p:txBody>
      </p:sp>
      <p:sp>
        <p:nvSpPr>
          <p:cNvPr id="58" name="Text 41"/>
          <p:cNvSpPr txBox="1"/>
          <p:nvPr/>
        </p:nvSpPr>
        <p:spPr>
          <a:xfrm>
            <a:off x="5187391" y="5905195"/>
            <a:ext cx="13953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역량 평가 보고서 자동화</a:t>
            </a:r>
            <a:endParaRPr lang="en-US" sz="900" dirty="0"/>
          </a:p>
        </p:txBody>
      </p:sp>
      <p:sp>
        <p:nvSpPr>
          <p:cNvPr id="59" name="Shape 42"/>
          <p:cNvSpPr/>
          <p:nvPr/>
        </p:nvSpPr>
        <p:spPr>
          <a:xfrm>
            <a:off x="8203997" y="1561795"/>
            <a:ext cx="3457346" cy="480060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60" name="Shape 43"/>
          <p:cNvSpPr/>
          <p:nvPr/>
        </p:nvSpPr>
        <p:spPr>
          <a:xfrm>
            <a:off x="8203997" y="1561795"/>
            <a:ext cx="3457346" cy="57607"/>
          </a:xfrm>
          <a:prstGeom prst="roundRect">
            <a:avLst>
              <a:gd name="adj" fmla="val 139928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9625889" y="1923897"/>
            <a:ext cx="609905" cy="609905"/>
          </a:xfrm>
          <a:prstGeom prst="rect">
            <a:avLst/>
          </a:prstGeom>
        </p:spPr>
      </p:pic>
      <p:pic>
        <p:nvPicPr>
          <p:cNvPr id="62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9830714" y="2094890"/>
            <a:ext cx="200254" cy="267005"/>
          </a:xfrm>
          <a:prstGeom prst="rect">
            <a:avLst/>
          </a:prstGeom>
        </p:spPr>
      </p:pic>
      <p:sp>
        <p:nvSpPr>
          <p:cNvPr id="63" name="Text 44"/>
          <p:cNvSpPr txBox="1"/>
          <p:nvPr/>
        </p:nvSpPr>
        <p:spPr>
          <a:xfrm>
            <a:off x="9373514" y="2723997"/>
            <a:ext cx="136611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검증</a:t>
            </a:r>
            <a:endParaRPr lang="en-US" sz="1800" dirty="0"/>
          </a:p>
        </p:txBody>
      </p:sp>
      <p:sp>
        <p:nvSpPr>
          <p:cNvPr id="64" name="Text 45"/>
          <p:cNvSpPr txBox="1"/>
          <p:nvPr/>
        </p:nvSpPr>
        <p:spPr>
          <a:xfrm>
            <a:off x="9394545" y="3105302"/>
            <a:ext cx="118231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65" name="Shape 46"/>
          <p:cNvSpPr/>
          <p:nvPr/>
        </p:nvSpPr>
        <p:spPr>
          <a:xfrm>
            <a:off x="8508492" y="3524097"/>
            <a:ext cx="2848356" cy="1067105"/>
          </a:xfrm>
          <a:prstGeom prst="roundRect">
            <a:avLst>
              <a:gd name="adj" fmla="val 18362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47"/>
          <p:cNvSpPr txBox="1"/>
          <p:nvPr/>
        </p:nvSpPr>
        <p:spPr>
          <a:xfrm>
            <a:off x="8609990" y="3676802"/>
            <a:ext cx="264535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Total Pass Rate</a:t>
            </a:r>
            <a:endParaRPr lang="en-US" sz="900" dirty="0"/>
          </a:p>
        </p:txBody>
      </p:sp>
      <p:sp>
        <p:nvSpPr>
          <p:cNvPr id="67" name="Text 48"/>
          <p:cNvSpPr txBox="1"/>
          <p:nvPr/>
        </p:nvSpPr>
        <p:spPr>
          <a:xfrm>
            <a:off x="8566099" y="3866997"/>
            <a:ext cx="27340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99.2%</a:t>
            </a:r>
            <a:endParaRPr lang="en-US" sz="2700" dirty="0"/>
          </a:p>
        </p:txBody>
      </p:sp>
      <p:sp>
        <p:nvSpPr>
          <p:cNvPr id="68" name="Text 49"/>
          <p:cNvSpPr txBox="1"/>
          <p:nvPr/>
        </p:nvSpPr>
        <p:spPr>
          <a:xfrm>
            <a:off x="8609990" y="4285793"/>
            <a:ext cx="264535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131 / 132 Test Cases</a:t>
            </a:r>
            <a:endParaRPr lang="en-US" sz="900" dirty="0"/>
          </a:p>
        </p:txBody>
      </p:sp>
      <p:sp>
        <p:nvSpPr>
          <p:cNvPr id="69" name="Text 50"/>
          <p:cNvSpPr txBox="1"/>
          <p:nvPr/>
        </p:nvSpPr>
        <p:spPr>
          <a:xfrm>
            <a:off x="8508492" y="4819802"/>
            <a:ext cx="114482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테스트 (64/65)</a:t>
            </a:r>
            <a:endParaRPr lang="en-US" sz="900" dirty="0"/>
          </a:p>
        </p:txBody>
      </p:sp>
      <p:sp>
        <p:nvSpPr>
          <p:cNvPr id="70" name="Text 51"/>
          <p:cNvSpPr txBox="1"/>
          <p:nvPr/>
        </p:nvSpPr>
        <p:spPr>
          <a:xfrm>
            <a:off x="10936224" y="4819802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98.46%</a:t>
            </a:r>
            <a:endParaRPr lang="en-US" sz="900" dirty="0"/>
          </a:p>
        </p:txBody>
      </p:sp>
      <p:pic>
        <p:nvPicPr>
          <p:cNvPr id="71" name="Image 17" descr="preencoded.png"/>
          <p:cNvPicPr>
            <a:picLocks noChangeAspect="1"/>
          </p:cNvPicPr>
          <p:nvPr/>
        </p:nvPicPr>
        <p:blipFill>
          <a:blip r:embed="rId19"/>
          <a:srcRect l="-201" r="-201"/>
          <a:stretch/>
        </p:blipFill>
        <p:spPr>
          <a:xfrm>
            <a:off x="8508492" y="5029200"/>
            <a:ext cx="2844698" cy="75895"/>
          </a:xfrm>
          <a:prstGeom prst="rect">
            <a:avLst/>
          </a:prstGeom>
        </p:spPr>
      </p:pic>
      <p:pic>
        <p:nvPicPr>
          <p:cNvPr id="72" name="Image 18" descr="preencoded.png"/>
          <p:cNvPicPr>
            <a:picLocks noChangeAspect="1"/>
          </p:cNvPicPr>
          <p:nvPr/>
        </p:nvPicPr>
        <p:blipFill>
          <a:blip r:embed="rId20"/>
          <a:srcRect l="-201" r="-201"/>
          <a:stretch/>
        </p:blipFill>
        <p:spPr>
          <a:xfrm>
            <a:off x="8508492" y="5029200"/>
            <a:ext cx="2800807" cy="75895"/>
          </a:xfrm>
          <a:prstGeom prst="rect">
            <a:avLst/>
          </a:prstGeom>
        </p:spPr>
      </p:pic>
      <p:sp>
        <p:nvSpPr>
          <p:cNvPr id="73" name="Text 52"/>
          <p:cNvSpPr txBox="1"/>
          <p:nvPr/>
        </p:nvSpPr>
        <p:spPr>
          <a:xfrm>
            <a:off x="8508492" y="5219395"/>
            <a:ext cx="114482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 테스트 (67/67)</a:t>
            </a:r>
            <a:endParaRPr lang="en-US" sz="900" dirty="0"/>
          </a:p>
        </p:txBody>
      </p:sp>
      <p:sp>
        <p:nvSpPr>
          <p:cNvPr id="74" name="Text 53"/>
          <p:cNvSpPr txBox="1"/>
          <p:nvPr/>
        </p:nvSpPr>
        <p:spPr>
          <a:xfrm>
            <a:off x="11041380" y="5219395"/>
            <a:ext cx="3913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900" dirty="0"/>
          </a:p>
        </p:txBody>
      </p:sp>
      <p:pic>
        <p:nvPicPr>
          <p:cNvPr id="75" name="Image 19" descr="preencoded.png"/>
          <p:cNvPicPr>
            <a:picLocks noChangeAspect="1"/>
          </p:cNvPicPr>
          <p:nvPr/>
        </p:nvPicPr>
        <p:blipFill>
          <a:blip r:embed="rId19"/>
          <a:srcRect l="-201" r="-201"/>
          <a:stretch/>
        </p:blipFill>
        <p:spPr>
          <a:xfrm>
            <a:off x="8508492" y="5428793"/>
            <a:ext cx="2844698" cy="75895"/>
          </a:xfrm>
          <a:prstGeom prst="rect">
            <a:avLst/>
          </a:prstGeom>
        </p:spPr>
      </p:pic>
      <p:pic>
        <p:nvPicPr>
          <p:cNvPr id="76" name="Image 20" descr="preencoded.png"/>
          <p:cNvPicPr>
            <a:picLocks noChangeAspect="1"/>
          </p:cNvPicPr>
          <p:nvPr/>
        </p:nvPicPr>
        <p:blipFill>
          <a:blip r:embed="rId21"/>
          <a:srcRect l="-201" r="-201"/>
          <a:stretch/>
        </p:blipFill>
        <p:spPr>
          <a:xfrm>
            <a:off x="8508492" y="5428793"/>
            <a:ext cx="2844698" cy="75895"/>
          </a:xfrm>
          <a:prstGeom prst="rect">
            <a:avLst/>
          </a:prstGeom>
        </p:spPr>
      </p:pic>
      <p:sp>
        <p:nvSpPr>
          <p:cNvPr id="77" name="Shape 54"/>
          <p:cNvSpPr/>
          <p:nvPr/>
        </p:nvSpPr>
        <p:spPr>
          <a:xfrm>
            <a:off x="8508492" y="5734202"/>
            <a:ext cx="2848356" cy="342900"/>
          </a:xfrm>
          <a:prstGeom prst="roundRect">
            <a:avLst>
              <a:gd name="adj" fmla="val 118519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8" name="Image 21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9069019" y="5829300"/>
            <a:ext cx="152705" cy="152705"/>
          </a:xfrm>
          <a:prstGeom prst="rect">
            <a:avLst/>
          </a:prstGeom>
        </p:spPr>
      </p:pic>
      <p:sp>
        <p:nvSpPr>
          <p:cNvPr id="79" name="Text 55"/>
          <p:cNvSpPr txBox="1"/>
          <p:nvPr/>
        </p:nvSpPr>
        <p:spPr>
          <a:xfrm>
            <a:off x="9297619" y="5734202"/>
            <a:ext cx="15553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기능 검증 100% 달성</a:t>
            </a:r>
            <a:endParaRPr lang="en-US" sz="1000" dirty="0"/>
          </a:p>
        </p:txBody>
      </p:sp>
      <p:sp>
        <p:nvSpPr>
          <p:cNvPr id="80" name="TextBox 79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A4_Project_2AI1_PA_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함유라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/>
          <a:stretch/>
        </p:blipFill>
        <p:spPr>
          <a:xfrm>
            <a:off x="9296705" y="-761695"/>
            <a:ext cx="3657600" cy="36576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alphaModFix amt="30000"/>
          </a:blip>
          <a:srcRect/>
          <a:stretch/>
        </p:blipFill>
        <p:spPr>
          <a:xfrm>
            <a:off x="-381305" y="4190695"/>
            <a:ext cx="3047695" cy="3047695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691518" y="6362395"/>
            <a:ext cx="2770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3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t="-177" b="-177"/>
          <a:stretch/>
        </p:blipFill>
        <p:spPr>
          <a:xfrm>
            <a:off x="609905" y="457200"/>
            <a:ext cx="75895" cy="809244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914400" y="495605"/>
            <a:ext cx="34482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분석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914400" y="1067105"/>
            <a:ext cx="38944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KPI 달성도 및 주요 성과 지표 분석</a:t>
            </a:r>
            <a:endParaRPr lang="en-US" sz="15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9905" y="1733702"/>
            <a:ext cx="152705" cy="152705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838505" y="1676095"/>
            <a:ext cx="20071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KPI 8대 지표 결과</a:t>
            </a:r>
            <a:endParaRPr lang="en-US" sz="1300" dirty="0"/>
          </a:p>
        </p:txBody>
      </p:sp>
      <p:sp>
        <p:nvSpPr>
          <p:cNvPr id="12" name="Shape 5"/>
          <p:cNvSpPr/>
          <p:nvPr/>
        </p:nvSpPr>
        <p:spPr>
          <a:xfrm>
            <a:off x="609905" y="2057400"/>
            <a:ext cx="2657246" cy="733349"/>
          </a:xfrm>
          <a:prstGeom prst="roundRect">
            <a:avLst>
              <a:gd name="adj" fmla="val 3886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6"/>
          <p:cNvSpPr/>
          <p:nvPr/>
        </p:nvSpPr>
        <p:spPr>
          <a:xfrm>
            <a:off x="609905" y="2057400"/>
            <a:ext cx="38405" cy="733349"/>
          </a:xfrm>
          <a:prstGeom prst="roundRect">
            <a:avLst>
              <a:gd name="adj" fmla="val 74211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800100" y="2171700"/>
            <a:ext cx="95371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(지연시간)</a:t>
            </a:r>
            <a:endParaRPr lang="en-US" sz="900" dirty="0"/>
          </a:p>
        </p:txBody>
      </p:sp>
      <p:sp>
        <p:nvSpPr>
          <p:cNvPr id="15" name="Shape 8"/>
          <p:cNvSpPr/>
          <p:nvPr/>
        </p:nvSpPr>
        <p:spPr>
          <a:xfrm>
            <a:off x="2769718" y="2171700"/>
            <a:ext cx="352044" cy="200254"/>
          </a:xfrm>
          <a:prstGeom prst="roundRect">
            <a:avLst>
              <a:gd name="adj" fmla="val 173951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2769718" y="2171700"/>
            <a:ext cx="4288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미달</a:t>
            </a:r>
            <a:endParaRPr lang="en-US" sz="800" dirty="0"/>
          </a:p>
        </p:txBody>
      </p:sp>
      <p:sp>
        <p:nvSpPr>
          <p:cNvPr id="17" name="Text 10"/>
          <p:cNvSpPr txBox="1"/>
          <p:nvPr/>
        </p:nvSpPr>
        <p:spPr>
          <a:xfrm>
            <a:off x="800100" y="2367382"/>
            <a:ext cx="7342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11.0s</a:t>
            </a:r>
            <a:endParaRPr lang="en-US" sz="1800" dirty="0"/>
          </a:p>
        </p:txBody>
      </p:sp>
      <p:sp>
        <p:nvSpPr>
          <p:cNvPr id="18" name="Text 11"/>
          <p:cNvSpPr txBox="1"/>
          <p:nvPr/>
        </p:nvSpPr>
        <p:spPr>
          <a:xfrm>
            <a:off x="2537460" y="2519172"/>
            <a:ext cx="69220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7.0s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3381451" y="2057400"/>
            <a:ext cx="2657246" cy="733349"/>
          </a:xfrm>
          <a:prstGeom prst="roundRect">
            <a:avLst>
              <a:gd name="adj" fmla="val 3886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3381451" y="2057400"/>
            <a:ext cx="38405" cy="733349"/>
          </a:xfrm>
          <a:prstGeom prst="roundRect">
            <a:avLst>
              <a:gd name="adj" fmla="val 74211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3571646" y="2171700"/>
            <a:ext cx="95371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(분석성공)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5541264" y="2171700"/>
            <a:ext cx="352044" cy="200254"/>
          </a:xfrm>
          <a:prstGeom prst="roundRect">
            <a:avLst>
              <a:gd name="adj" fmla="val 17395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5541264" y="2171700"/>
            <a:ext cx="4288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달성</a:t>
            </a:r>
            <a:endParaRPr lang="en-US" sz="800" dirty="0"/>
          </a:p>
        </p:txBody>
      </p:sp>
      <p:sp>
        <p:nvSpPr>
          <p:cNvPr id="24" name="Text 17"/>
          <p:cNvSpPr txBox="1"/>
          <p:nvPr/>
        </p:nvSpPr>
        <p:spPr>
          <a:xfrm>
            <a:off x="3571646" y="2367382"/>
            <a:ext cx="800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99.0%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5288890" y="2519172"/>
            <a:ext cx="7104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99%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6152998" y="2057400"/>
            <a:ext cx="2657246" cy="733349"/>
          </a:xfrm>
          <a:prstGeom prst="roundRect">
            <a:avLst>
              <a:gd name="adj" fmla="val 3886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152998" y="2057400"/>
            <a:ext cx="38405" cy="733349"/>
          </a:xfrm>
          <a:prstGeom prst="roundRect">
            <a:avLst>
              <a:gd name="adj" fmla="val 742111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6344107" y="2171700"/>
            <a:ext cx="95371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 (일치도)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8090611" y="2171700"/>
            <a:ext cx="571500" cy="200254"/>
          </a:xfrm>
          <a:prstGeom prst="roundRect">
            <a:avLst>
              <a:gd name="adj" fmla="val 17395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090611" y="2171700"/>
            <a:ext cx="6483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초과 달성</a:t>
            </a:r>
            <a:endParaRPr lang="en-US" sz="800" dirty="0"/>
          </a:p>
        </p:txBody>
      </p:sp>
      <p:sp>
        <p:nvSpPr>
          <p:cNvPr id="31" name="Text 24"/>
          <p:cNvSpPr txBox="1"/>
          <p:nvPr/>
        </p:nvSpPr>
        <p:spPr>
          <a:xfrm>
            <a:off x="6344107" y="2367382"/>
            <a:ext cx="800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90.2%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8060436" y="2519172"/>
            <a:ext cx="7104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80%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8924544" y="2057400"/>
            <a:ext cx="2657246" cy="733349"/>
          </a:xfrm>
          <a:prstGeom prst="roundRect">
            <a:avLst>
              <a:gd name="adj" fmla="val 3886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924544" y="2057400"/>
            <a:ext cx="38405" cy="733349"/>
          </a:xfrm>
          <a:prstGeom prst="roundRect">
            <a:avLst>
              <a:gd name="adj" fmla="val 74211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9115654" y="2171700"/>
            <a:ext cx="10753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(작업성공)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11084357" y="2171700"/>
            <a:ext cx="352044" cy="200254"/>
          </a:xfrm>
          <a:prstGeom prst="roundRect">
            <a:avLst>
              <a:gd name="adj" fmla="val 17395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11084357" y="2171700"/>
            <a:ext cx="4288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달성</a:t>
            </a:r>
            <a:endParaRPr lang="en-US" sz="800" dirty="0"/>
          </a:p>
        </p:txBody>
      </p:sp>
      <p:sp>
        <p:nvSpPr>
          <p:cNvPr id="38" name="Text 31"/>
          <p:cNvSpPr txBox="1"/>
          <p:nvPr/>
        </p:nvSpPr>
        <p:spPr>
          <a:xfrm>
            <a:off x="9115654" y="2367382"/>
            <a:ext cx="9436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99.95%</a:t>
            </a:r>
            <a:endParaRPr lang="en-US" sz="1800" dirty="0"/>
          </a:p>
        </p:txBody>
      </p:sp>
      <p:sp>
        <p:nvSpPr>
          <p:cNvPr id="39" name="Text 32"/>
          <p:cNvSpPr txBox="1"/>
          <p:nvPr/>
        </p:nvSpPr>
        <p:spPr>
          <a:xfrm>
            <a:off x="10737799" y="2519172"/>
            <a:ext cx="82753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99.9%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609905" y="2900477"/>
            <a:ext cx="2657246" cy="733349"/>
          </a:xfrm>
          <a:prstGeom prst="roundRect">
            <a:avLst>
              <a:gd name="adj" fmla="val 3886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09905" y="2900477"/>
            <a:ext cx="38405" cy="733349"/>
          </a:xfrm>
          <a:prstGeom prst="roundRect">
            <a:avLst>
              <a:gd name="adj" fmla="val 74211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800100" y="3014777"/>
            <a:ext cx="83210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준수율 (일정)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2769718" y="3014777"/>
            <a:ext cx="352044" cy="200254"/>
          </a:xfrm>
          <a:prstGeom prst="roundRect">
            <a:avLst>
              <a:gd name="adj" fmla="val 173951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2769718" y="3014777"/>
            <a:ext cx="4288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미달</a:t>
            </a:r>
            <a:endParaRPr lang="en-US" sz="800" dirty="0"/>
          </a:p>
        </p:txBody>
      </p:sp>
      <p:sp>
        <p:nvSpPr>
          <p:cNvPr id="45" name="Text 38"/>
          <p:cNvSpPr txBox="1"/>
          <p:nvPr/>
        </p:nvSpPr>
        <p:spPr>
          <a:xfrm>
            <a:off x="800100" y="3209544"/>
            <a:ext cx="800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60.8%</a:t>
            </a:r>
            <a:endParaRPr lang="en-US" sz="1800" dirty="0"/>
          </a:p>
        </p:txBody>
      </p:sp>
      <p:sp>
        <p:nvSpPr>
          <p:cNvPr id="46" name="Text 39"/>
          <p:cNvSpPr txBox="1"/>
          <p:nvPr/>
        </p:nvSpPr>
        <p:spPr>
          <a:xfrm>
            <a:off x="2517343" y="3362249"/>
            <a:ext cx="7104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90%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3381451" y="2900477"/>
            <a:ext cx="2657246" cy="733349"/>
          </a:xfrm>
          <a:prstGeom prst="roundRect">
            <a:avLst>
              <a:gd name="adj" fmla="val 3886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3381451" y="2900477"/>
            <a:ext cx="38405" cy="733349"/>
          </a:xfrm>
          <a:prstGeom prst="roundRect">
            <a:avLst>
              <a:gd name="adj" fmla="val 74211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3571646" y="3014777"/>
            <a:ext cx="10753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반영률 (요구사항)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5541264" y="3014777"/>
            <a:ext cx="352044" cy="200254"/>
          </a:xfrm>
          <a:prstGeom prst="roundRect">
            <a:avLst>
              <a:gd name="adj" fmla="val 17395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5541264" y="3014777"/>
            <a:ext cx="4288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달성</a:t>
            </a:r>
            <a:endParaRPr lang="en-US" sz="800" dirty="0"/>
          </a:p>
        </p:txBody>
      </p:sp>
      <p:sp>
        <p:nvSpPr>
          <p:cNvPr id="52" name="Text 45"/>
          <p:cNvSpPr txBox="1"/>
          <p:nvPr/>
        </p:nvSpPr>
        <p:spPr>
          <a:xfrm>
            <a:off x="3571646" y="3209544"/>
            <a:ext cx="800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95.2%</a:t>
            </a:r>
            <a:endParaRPr lang="en-US" sz="1800" dirty="0"/>
          </a:p>
        </p:txBody>
      </p:sp>
      <p:sp>
        <p:nvSpPr>
          <p:cNvPr id="53" name="Text 46"/>
          <p:cNvSpPr txBox="1"/>
          <p:nvPr/>
        </p:nvSpPr>
        <p:spPr>
          <a:xfrm>
            <a:off x="5288890" y="3362249"/>
            <a:ext cx="7104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95%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6152998" y="2900477"/>
            <a:ext cx="2657246" cy="733349"/>
          </a:xfrm>
          <a:prstGeom prst="roundRect">
            <a:avLst>
              <a:gd name="adj" fmla="val 3886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5" name="Shape 48"/>
          <p:cNvSpPr/>
          <p:nvPr/>
        </p:nvSpPr>
        <p:spPr>
          <a:xfrm>
            <a:off x="6152998" y="2900477"/>
            <a:ext cx="38405" cy="733349"/>
          </a:xfrm>
          <a:prstGeom prst="roundRect">
            <a:avLst>
              <a:gd name="adj" fmla="val 742111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6344107" y="3014777"/>
            <a:ext cx="95371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유효율 (데이터)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8312810" y="3014777"/>
            <a:ext cx="352044" cy="200254"/>
          </a:xfrm>
          <a:prstGeom prst="roundRect">
            <a:avLst>
              <a:gd name="adj" fmla="val 173951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1"/>
          <p:cNvSpPr txBox="1"/>
          <p:nvPr/>
        </p:nvSpPr>
        <p:spPr>
          <a:xfrm>
            <a:off x="8312810" y="3014777"/>
            <a:ext cx="4288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근접</a:t>
            </a:r>
            <a:endParaRPr lang="en-US" sz="800" dirty="0"/>
          </a:p>
        </p:txBody>
      </p:sp>
      <p:sp>
        <p:nvSpPr>
          <p:cNvPr id="59" name="Text 52"/>
          <p:cNvSpPr txBox="1"/>
          <p:nvPr/>
        </p:nvSpPr>
        <p:spPr>
          <a:xfrm>
            <a:off x="6344107" y="3209544"/>
            <a:ext cx="800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94.1%</a:t>
            </a:r>
            <a:endParaRPr lang="en-US" sz="1800" dirty="0"/>
          </a:p>
        </p:txBody>
      </p:sp>
      <p:sp>
        <p:nvSpPr>
          <p:cNvPr id="60" name="Text 53"/>
          <p:cNvSpPr txBox="1"/>
          <p:nvPr/>
        </p:nvSpPr>
        <p:spPr>
          <a:xfrm>
            <a:off x="8060436" y="3362249"/>
            <a:ext cx="7104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95%</a:t>
            </a:r>
            <a:endParaRPr lang="en-US" sz="900" dirty="0"/>
          </a:p>
        </p:txBody>
      </p:sp>
      <p:sp>
        <p:nvSpPr>
          <p:cNvPr id="61" name="Shape 54"/>
          <p:cNvSpPr/>
          <p:nvPr/>
        </p:nvSpPr>
        <p:spPr>
          <a:xfrm>
            <a:off x="8924544" y="2900477"/>
            <a:ext cx="2657246" cy="733349"/>
          </a:xfrm>
          <a:prstGeom prst="roundRect">
            <a:avLst>
              <a:gd name="adj" fmla="val 3886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62" name="Shape 55"/>
          <p:cNvSpPr/>
          <p:nvPr/>
        </p:nvSpPr>
        <p:spPr>
          <a:xfrm>
            <a:off x="8924544" y="2900477"/>
            <a:ext cx="38405" cy="733349"/>
          </a:xfrm>
          <a:prstGeom prst="roundRect">
            <a:avLst>
              <a:gd name="adj" fmla="val 742111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3" name="Text 56"/>
          <p:cNvSpPr txBox="1"/>
          <p:nvPr/>
        </p:nvSpPr>
        <p:spPr>
          <a:xfrm>
            <a:off x="9115654" y="3014777"/>
            <a:ext cx="10753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자동율 (프로세스)</a:t>
            </a:r>
            <a:endParaRPr lang="en-US" sz="900" dirty="0"/>
          </a:p>
        </p:txBody>
      </p:sp>
      <p:sp>
        <p:nvSpPr>
          <p:cNvPr id="64" name="Shape 57"/>
          <p:cNvSpPr/>
          <p:nvPr/>
        </p:nvSpPr>
        <p:spPr>
          <a:xfrm>
            <a:off x="10863072" y="3014777"/>
            <a:ext cx="571500" cy="200254"/>
          </a:xfrm>
          <a:prstGeom prst="roundRect">
            <a:avLst>
              <a:gd name="adj" fmla="val 17395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58"/>
          <p:cNvSpPr txBox="1"/>
          <p:nvPr/>
        </p:nvSpPr>
        <p:spPr>
          <a:xfrm>
            <a:off x="10863072" y="3014777"/>
            <a:ext cx="6483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초과 달성</a:t>
            </a:r>
            <a:endParaRPr lang="en-US" sz="800" dirty="0"/>
          </a:p>
        </p:txBody>
      </p:sp>
      <p:sp>
        <p:nvSpPr>
          <p:cNvPr id="66" name="Text 59"/>
          <p:cNvSpPr txBox="1"/>
          <p:nvPr/>
        </p:nvSpPr>
        <p:spPr>
          <a:xfrm>
            <a:off x="9115654" y="3209544"/>
            <a:ext cx="800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95.5%</a:t>
            </a:r>
            <a:endParaRPr lang="en-US" sz="1800" dirty="0"/>
          </a:p>
        </p:txBody>
      </p:sp>
      <p:sp>
        <p:nvSpPr>
          <p:cNvPr id="67" name="Text 60"/>
          <p:cNvSpPr txBox="1"/>
          <p:nvPr/>
        </p:nvSpPr>
        <p:spPr>
          <a:xfrm>
            <a:off x="10832897" y="3362249"/>
            <a:ext cx="7104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70%</a:t>
            </a:r>
            <a:endParaRPr lang="en-US" sz="900" dirty="0"/>
          </a:p>
        </p:txBody>
      </p:sp>
      <p:pic>
        <p:nvPicPr>
          <p:cNvPr id="6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09905" y="3715207"/>
            <a:ext cx="152705" cy="152705"/>
          </a:xfrm>
          <a:prstGeom prst="rect">
            <a:avLst/>
          </a:prstGeom>
        </p:spPr>
      </p:pic>
      <p:sp>
        <p:nvSpPr>
          <p:cNvPr id="69" name="Text 61"/>
          <p:cNvSpPr txBox="1"/>
          <p:nvPr/>
        </p:nvSpPr>
        <p:spPr>
          <a:xfrm>
            <a:off x="838505" y="3657600"/>
            <a:ext cx="13176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성과 분석</a:t>
            </a:r>
            <a:endParaRPr lang="en-US" sz="1300" dirty="0"/>
          </a:p>
        </p:txBody>
      </p:sp>
      <p:sp>
        <p:nvSpPr>
          <p:cNvPr id="70" name="Shape 62"/>
          <p:cNvSpPr/>
          <p:nvPr/>
        </p:nvSpPr>
        <p:spPr>
          <a:xfrm>
            <a:off x="609905" y="4038905"/>
            <a:ext cx="2572207" cy="2438705"/>
          </a:xfrm>
          <a:prstGeom prst="roundRect">
            <a:avLst>
              <a:gd name="adj" fmla="val 4687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71" name="Shape 63"/>
          <p:cNvSpPr/>
          <p:nvPr/>
        </p:nvSpPr>
        <p:spPr>
          <a:xfrm>
            <a:off x="809244" y="4238244"/>
            <a:ext cx="304495" cy="304495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86054" y="4315054"/>
            <a:ext cx="152705" cy="152705"/>
          </a:xfrm>
          <a:prstGeom prst="rect">
            <a:avLst/>
          </a:prstGeom>
        </p:spPr>
      </p:pic>
      <p:sp>
        <p:nvSpPr>
          <p:cNvPr id="73" name="Text 64"/>
          <p:cNvSpPr txBox="1"/>
          <p:nvPr/>
        </p:nvSpPr>
        <p:spPr>
          <a:xfrm>
            <a:off x="1228954" y="4276649"/>
            <a:ext cx="748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혁신</a:t>
            </a:r>
            <a:endParaRPr lang="en-US" sz="1200" dirty="0"/>
          </a:p>
        </p:txBody>
      </p:sp>
      <p:sp>
        <p:nvSpPr>
          <p:cNvPr id="74" name="Text 65"/>
          <p:cNvSpPr txBox="1"/>
          <p:nvPr/>
        </p:nvSpPr>
        <p:spPr>
          <a:xfrm>
            <a:off x="809244" y="4895698"/>
            <a:ext cx="4882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000" dirty="0"/>
          </a:p>
        </p:txBody>
      </p:sp>
      <p:sp>
        <p:nvSpPr>
          <p:cNvPr id="75" name="Text 66"/>
          <p:cNvSpPr txBox="1"/>
          <p:nvPr/>
        </p:nvSpPr>
        <p:spPr>
          <a:xfrm>
            <a:off x="2685593" y="4895698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000" dirty="0"/>
          </a:p>
        </p:txBody>
      </p:sp>
      <p:sp>
        <p:nvSpPr>
          <p:cNvPr id="76" name="Text 67"/>
          <p:cNvSpPr txBox="1"/>
          <p:nvPr/>
        </p:nvSpPr>
        <p:spPr>
          <a:xfrm>
            <a:off x="809244" y="5124298"/>
            <a:ext cx="4672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120s</a:t>
            </a:r>
            <a:endParaRPr lang="en-US" sz="1300" dirty="0"/>
          </a:p>
        </p:txBody>
      </p:sp>
      <p:pic>
        <p:nvPicPr>
          <p:cNvPr id="77" name="Image 7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1775765" y="5219395"/>
            <a:ext cx="133502" cy="152705"/>
          </a:xfrm>
          <a:prstGeom prst="rect">
            <a:avLst/>
          </a:prstGeom>
        </p:spPr>
      </p:pic>
      <p:sp>
        <p:nvSpPr>
          <p:cNvPr id="78" name="Text 68"/>
          <p:cNvSpPr txBox="1"/>
          <p:nvPr/>
        </p:nvSpPr>
        <p:spPr>
          <a:xfrm>
            <a:off x="2487168" y="5124298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11s</a:t>
            </a:r>
            <a:endParaRPr lang="en-US" sz="2200" dirty="0"/>
          </a:p>
        </p:txBody>
      </p:sp>
      <p:sp>
        <p:nvSpPr>
          <p:cNvPr id="79" name="Shape 69"/>
          <p:cNvSpPr/>
          <p:nvPr/>
        </p:nvSpPr>
        <p:spPr>
          <a:xfrm>
            <a:off x="809244" y="5581498"/>
            <a:ext cx="2171700" cy="495605"/>
          </a:xfrm>
          <a:prstGeom prst="roundRect">
            <a:avLst>
              <a:gd name="adj" fmla="val 5677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70"/>
          <p:cNvSpPr txBox="1"/>
          <p:nvPr/>
        </p:nvSpPr>
        <p:spPr>
          <a:xfrm>
            <a:off x="1502359" y="5658307"/>
            <a:ext cx="14840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90%+ 시간 단축</a:t>
            </a:r>
            <a:endParaRPr lang="en-US" sz="1000" dirty="0"/>
          </a:p>
        </p:txBody>
      </p:sp>
      <p:sp>
        <p:nvSpPr>
          <p:cNvPr id="81" name="Text 71"/>
          <p:cNvSpPr txBox="1"/>
          <p:nvPr/>
        </p:nvSpPr>
        <p:spPr>
          <a:xfrm>
            <a:off x="845820" y="5848502"/>
            <a:ext cx="21003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병목 해소</a:t>
            </a:r>
            <a:endParaRPr lang="en-US" sz="900" dirty="0"/>
          </a:p>
        </p:txBody>
      </p:sp>
      <p:sp>
        <p:nvSpPr>
          <p:cNvPr id="82" name="Shape 72"/>
          <p:cNvSpPr/>
          <p:nvPr/>
        </p:nvSpPr>
        <p:spPr>
          <a:xfrm>
            <a:off x="3409798" y="4038905"/>
            <a:ext cx="2572207" cy="2438705"/>
          </a:xfrm>
          <a:prstGeom prst="roundRect">
            <a:avLst>
              <a:gd name="adj" fmla="val 4687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83" name="Shape 73"/>
          <p:cNvSpPr/>
          <p:nvPr/>
        </p:nvSpPr>
        <p:spPr>
          <a:xfrm>
            <a:off x="3610051" y="4238244"/>
            <a:ext cx="304495" cy="30449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4" name="Image 8" descr="preencoded.png"/>
          <p:cNvPicPr>
            <a:picLocks noChangeAspect="1"/>
          </p:cNvPicPr>
          <p:nvPr/>
        </p:nvPicPr>
        <p:blipFill>
          <a:blip r:embed="rId11"/>
          <a:srcRect t="-43" b="-43"/>
          <a:stretch/>
        </p:blipFill>
        <p:spPr>
          <a:xfrm>
            <a:off x="3696005" y="4315054"/>
            <a:ext cx="133502" cy="152705"/>
          </a:xfrm>
          <a:prstGeom prst="rect">
            <a:avLst/>
          </a:prstGeom>
        </p:spPr>
      </p:pic>
      <p:sp>
        <p:nvSpPr>
          <p:cNvPr id="85" name="Text 74"/>
          <p:cNvSpPr txBox="1"/>
          <p:nvPr/>
        </p:nvSpPr>
        <p:spPr>
          <a:xfrm>
            <a:off x="4028846" y="4276649"/>
            <a:ext cx="9107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정확도</a:t>
            </a:r>
            <a:endParaRPr lang="en-US" sz="1200" dirty="0"/>
          </a:p>
        </p:txBody>
      </p:sp>
      <p:sp>
        <p:nvSpPr>
          <p:cNvPr id="86" name="Text 75"/>
          <p:cNvSpPr txBox="1"/>
          <p:nvPr/>
        </p:nvSpPr>
        <p:spPr>
          <a:xfrm>
            <a:off x="3610051" y="4772254"/>
            <a:ext cx="54406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생성</a:t>
            </a:r>
            <a:endParaRPr lang="en-US" sz="900" dirty="0"/>
          </a:p>
        </p:txBody>
      </p:sp>
      <p:sp>
        <p:nvSpPr>
          <p:cNvPr id="87" name="Text 76"/>
          <p:cNvSpPr txBox="1"/>
          <p:nvPr/>
        </p:nvSpPr>
        <p:spPr>
          <a:xfrm>
            <a:off x="5364785" y="4772254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99.17%</a:t>
            </a:r>
            <a:endParaRPr lang="en-US" sz="900" dirty="0"/>
          </a:p>
        </p:txBody>
      </p:sp>
      <p:pic>
        <p:nvPicPr>
          <p:cNvPr id="88" name="Image 9" descr="preencoded.png"/>
          <p:cNvPicPr>
            <a:picLocks noChangeAspect="1"/>
          </p:cNvPicPr>
          <p:nvPr/>
        </p:nvPicPr>
        <p:blipFill>
          <a:blip r:embed="rId12"/>
          <a:srcRect t="-400" b="-400"/>
          <a:stretch/>
        </p:blipFill>
        <p:spPr>
          <a:xfrm>
            <a:off x="3610051" y="5000854"/>
            <a:ext cx="2171700" cy="57607"/>
          </a:xfrm>
          <a:prstGeom prst="rect">
            <a:avLst/>
          </a:prstGeom>
        </p:spPr>
      </p:pic>
      <p:pic>
        <p:nvPicPr>
          <p:cNvPr id="89" name="Image 10" descr="preencoded.png"/>
          <p:cNvPicPr>
            <a:picLocks noChangeAspect="1"/>
          </p:cNvPicPr>
          <p:nvPr/>
        </p:nvPicPr>
        <p:blipFill>
          <a:blip r:embed="rId13"/>
          <a:srcRect t="-405" b="-405"/>
          <a:stretch/>
        </p:blipFill>
        <p:spPr>
          <a:xfrm>
            <a:off x="3610051" y="5000854"/>
            <a:ext cx="2149754" cy="57607"/>
          </a:xfrm>
          <a:prstGeom prst="rect">
            <a:avLst/>
          </a:prstGeom>
        </p:spPr>
      </p:pic>
      <p:sp>
        <p:nvSpPr>
          <p:cNvPr id="90" name="Text 77"/>
          <p:cNvSpPr txBox="1"/>
          <p:nvPr/>
        </p:nvSpPr>
        <p:spPr>
          <a:xfrm>
            <a:off x="3610051" y="5134356"/>
            <a:ext cx="523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인식</a:t>
            </a:r>
            <a:endParaRPr lang="en-US" sz="900" dirty="0"/>
          </a:p>
        </p:txBody>
      </p:sp>
      <p:sp>
        <p:nvSpPr>
          <p:cNvPr id="91" name="Text 78"/>
          <p:cNvSpPr txBox="1"/>
          <p:nvPr/>
        </p:nvSpPr>
        <p:spPr>
          <a:xfrm>
            <a:off x="5364785" y="5134356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85.71%</a:t>
            </a:r>
            <a:endParaRPr lang="en-US" sz="900" dirty="0"/>
          </a:p>
        </p:txBody>
      </p:sp>
      <p:pic>
        <p:nvPicPr>
          <p:cNvPr id="92" name="Image 11" descr="preencoded.png"/>
          <p:cNvPicPr>
            <a:picLocks noChangeAspect="1"/>
          </p:cNvPicPr>
          <p:nvPr/>
        </p:nvPicPr>
        <p:blipFill>
          <a:blip r:embed="rId12"/>
          <a:srcRect t="-400" b="-400"/>
          <a:stretch/>
        </p:blipFill>
        <p:spPr>
          <a:xfrm>
            <a:off x="3610051" y="5362956"/>
            <a:ext cx="2171700" cy="57607"/>
          </a:xfrm>
          <a:prstGeom prst="rect">
            <a:avLst/>
          </a:prstGeom>
        </p:spPr>
      </p:pic>
      <p:pic>
        <p:nvPicPr>
          <p:cNvPr id="93" name="Image 12" descr="preencoded.png"/>
          <p:cNvPicPr>
            <a:picLocks noChangeAspect="1"/>
          </p:cNvPicPr>
          <p:nvPr/>
        </p:nvPicPr>
        <p:blipFill>
          <a:blip r:embed="rId14"/>
          <a:srcRect t="-412" b="-412"/>
          <a:stretch/>
        </p:blipFill>
        <p:spPr>
          <a:xfrm>
            <a:off x="3610051" y="5362956"/>
            <a:ext cx="1867205" cy="57607"/>
          </a:xfrm>
          <a:prstGeom prst="rect">
            <a:avLst/>
          </a:prstGeom>
        </p:spPr>
      </p:pic>
      <p:sp>
        <p:nvSpPr>
          <p:cNvPr id="94" name="Text 79"/>
          <p:cNvSpPr txBox="1"/>
          <p:nvPr/>
        </p:nvSpPr>
        <p:spPr>
          <a:xfrm>
            <a:off x="3610051" y="5495544"/>
            <a:ext cx="54406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점수</a:t>
            </a:r>
            <a:endParaRPr lang="en-US" sz="900" dirty="0"/>
          </a:p>
        </p:txBody>
      </p:sp>
      <p:sp>
        <p:nvSpPr>
          <p:cNvPr id="95" name="Text 80"/>
          <p:cNvSpPr txBox="1"/>
          <p:nvPr/>
        </p:nvSpPr>
        <p:spPr>
          <a:xfrm>
            <a:off x="5364785" y="5495544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85.71%</a:t>
            </a:r>
            <a:endParaRPr lang="en-US" sz="900" dirty="0"/>
          </a:p>
        </p:txBody>
      </p:sp>
      <p:pic>
        <p:nvPicPr>
          <p:cNvPr id="96" name="Image 13" descr="preencoded.png"/>
          <p:cNvPicPr>
            <a:picLocks noChangeAspect="1"/>
          </p:cNvPicPr>
          <p:nvPr/>
        </p:nvPicPr>
        <p:blipFill>
          <a:blip r:embed="rId12"/>
          <a:srcRect t="-400" b="-400"/>
          <a:stretch/>
        </p:blipFill>
        <p:spPr>
          <a:xfrm>
            <a:off x="3610051" y="5724144"/>
            <a:ext cx="2171700" cy="57607"/>
          </a:xfrm>
          <a:prstGeom prst="rect">
            <a:avLst/>
          </a:prstGeom>
        </p:spPr>
      </p:pic>
      <p:pic>
        <p:nvPicPr>
          <p:cNvPr id="97" name="Image 14" descr="preencoded.png"/>
          <p:cNvPicPr>
            <a:picLocks noChangeAspect="1"/>
          </p:cNvPicPr>
          <p:nvPr/>
        </p:nvPicPr>
        <p:blipFill>
          <a:blip r:embed="rId14"/>
          <a:srcRect t="-412" b="-412"/>
          <a:stretch/>
        </p:blipFill>
        <p:spPr>
          <a:xfrm>
            <a:off x="3610051" y="5724144"/>
            <a:ext cx="1867205" cy="57607"/>
          </a:xfrm>
          <a:prstGeom prst="rect">
            <a:avLst/>
          </a:prstGeom>
        </p:spPr>
      </p:pic>
      <p:sp>
        <p:nvSpPr>
          <p:cNvPr id="98" name="Shape 81"/>
          <p:cNvSpPr/>
          <p:nvPr/>
        </p:nvSpPr>
        <p:spPr>
          <a:xfrm>
            <a:off x="6210605" y="4038905"/>
            <a:ext cx="2572207" cy="2438705"/>
          </a:xfrm>
          <a:prstGeom prst="roundRect">
            <a:avLst>
              <a:gd name="adj" fmla="val 4687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9" name="Shape 82"/>
          <p:cNvSpPr/>
          <p:nvPr/>
        </p:nvSpPr>
        <p:spPr>
          <a:xfrm>
            <a:off x="6409944" y="4238244"/>
            <a:ext cx="304495" cy="304495"/>
          </a:xfrm>
          <a:prstGeom prst="ellipse">
            <a:avLst/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0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486754" y="4315054"/>
            <a:ext cx="152705" cy="152705"/>
          </a:xfrm>
          <a:prstGeom prst="rect">
            <a:avLst/>
          </a:prstGeom>
        </p:spPr>
      </p:pic>
      <p:sp>
        <p:nvSpPr>
          <p:cNvPr id="101" name="Text 83"/>
          <p:cNvSpPr txBox="1"/>
          <p:nvPr/>
        </p:nvSpPr>
        <p:spPr>
          <a:xfrm>
            <a:off x="6829654" y="4276649"/>
            <a:ext cx="10725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안정성</a:t>
            </a:r>
            <a:endParaRPr lang="en-US" sz="1200" dirty="0"/>
          </a:p>
        </p:txBody>
      </p:sp>
      <p:sp>
        <p:nvSpPr>
          <p:cNvPr id="102" name="Text 84"/>
          <p:cNvSpPr txBox="1"/>
          <p:nvPr/>
        </p:nvSpPr>
        <p:spPr>
          <a:xfrm>
            <a:off x="6836054" y="5453482"/>
            <a:ext cx="13267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Celery 작업 성공률</a:t>
            </a:r>
            <a:endParaRPr lang="en-US" sz="1000" dirty="0"/>
          </a:p>
        </p:txBody>
      </p:sp>
      <p:sp>
        <p:nvSpPr>
          <p:cNvPr id="103" name="Text 85"/>
          <p:cNvSpPr txBox="1"/>
          <p:nvPr/>
        </p:nvSpPr>
        <p:spPr>
          <a:xfrm>
            <a:off x="7046366" y="5682082"/>
            <a:ext cx="9052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 큐 기반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서버/AI 부하 분리</a:t>
            </a:r>
            <a:endParaRPr lang="en-US" sz="900" dirty="0"/>
          </a:p>
        </p:txBody>
      </p:sp>
      <p:sp>
        <p:nvSpPr>
          <p:cNvPr id="104" name="Shape 86"/>
          <p:cNvSpPr/>
          <p:nvPr/>
        </p:nvSpPr>
        <p:spPr>
          <a:xfrm>
            <a:off x="9010498" y="4038905"/>
            <a:ext cx="2572207" cy="2438705"/>
          </a:xfrm>
          <a:prstGeom prst="roundRect">
            <a:avLst>
              <a:gd name="adj" fmla="val 4687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5" name="Shape 87"/>
          <p:cNvSpPr/>
          <p:nvPr/>
        </p:nvSpPr>
        <p:spPr>
          <a:xfrm>
            <a:off x="9210751" y="4238244"/>
            <a:ext cx="304495" cy="304495"/>
          </a:xfrm>
          <a:prstGeom prst="ellipse">
            <a:avLst/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6" name="Image 16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9286646" y="4315054"/>
            <a:ext cx="152705" cy="152705"/>
          </a:xfrm>
          <a:prstGeom prst="rect">
            <a:avLst/>
          </a:prstGeom>
        </p:spPr>
      </p:pic>
      <p:sp>
        <p:nvSpPr>
          <p:cNvPr id="107" name="Text 88"/>
          <p:cNvSpPr txBox="1"/>
          <p:nvPr/>
        </p:nvSpPr>
        <p:spPr>
          <a:xfrm>
            <a:off x="9629546" y="4276649"/>
            <a:ext cx="650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자동화율</a:t>
            </a:r>
            <a:endParaRPr lang="en-US" sz="1200" dirty="0"/>
          </a:p>
        </p:txBody>
      </p:sp>
      <p:sp>
        <p:nvSpPr>
          <p:cNvPr id="108" name="Text 89"/>
          <p:cNvSpPr txBox="1"/>
          <p:nvPr/>
        </p:nvSpPr>
        <p:spPr>
          <a:xfrm>
            <a:off x="9554566" y="5453482"/>
            <a:ext cx="1490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End-to-End 프로세스</a:t>
            </a:r>
            <a:endParaRPr lang="en-US" sz="1000" dirty="0"/>
          </a:p>
        </p:txBody>
      </p:sp>
      <p:sp>
        <p:nvSpPr>
          <p:cNvPr id="109" name="Text 90"/>
          <p:cNvSpPr txBox="1"/>
          <p:nvPr/>
        </p:nvSpPr>
        <p:spPr>
          <a:xfrm>
            <a:off x="9790481" y="5682082"/>
            <a:ext cx="1019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질문생성 → 분석 →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 생성 자동화</a:t>
            </a:r>
            <a:endParaRPr lang="en-US" sz="900" dirty="0"/>
          </a:p>
        </p:txBody>
      </p:sp>
      <p:pic>
        <p:nvPicPr>
          <p:cNvPr id="110" name="Image 17" descr="preencoded.png"/>
          <p:cNvPicPr>
            <a:picLocks noChangeAspect="1"/>
          </p:cNvPicPr>
          <p:nvPr/>
        </p:nvPicPr>
        <p:blipFill>
          <a:blip r:embed="rId17"/>
          <a:srcRect l="-2512" r="-2512"/>
          <a:stretch/>
        </p:blipFill>
        <p:spPr>
          <a:xfrm>
            <a:off x="1358798" y="5693969"/>
            <a:ext cx="105156" cy="133502"/>
          </a:xfrm>
          <a:prstGeom prst="rect">
            <a:avLst/>
          </a:prstGeom>
        </p:spPr>
      </p:pic>
      <p:sp>
        <p:nvSpPr>
          <p:cNvPr id="111" name="Text 91"/>
          <p:cNvSpPr txBox="1"/>
          <p:nvPr/>
        </p:nvSpPr>
        <p:spPr>
          <a:xfrm>
            <a:off x="4981651" y="5838444"/>
            <a:ext cx="8001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90.2%</a:t>
            </a:r>
            <a:endParaRPr lang="en-US" sz="1800" dirty="0"/>
          </a:p>
        </p:txBody>
      </p:sp>
      <p:sp>
        <p:nvSpPr>
          <p:cNvPr id="112" name="Text 92"/>
          <p:cNvSpPr txBox="1"/>
          <p:nvPr/>
        </p:nvSpPr>
        <p:spPr>
          <a:xfrm>
            <a:off x="6796735" y="4929530"/>
            <a:ext cx="139903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99.95%</a:t>
            </a:r>
            <a:endParaRPr lang="en-US" sz="2700" dirty="0"/>
          </a:p>
        </p:txBody>
      </p:sp>
      <p:sp>
        <p:nvSpPr>
          <p:cNvPr id="113" name="Text 93"/>
          <p:cNvSpPr txBox="1"/>
          <p:nvPr/>
        </p:nvSpPr>
        <p:spPr>
          <a:xfrm>
            <a:off x="9710014" y="4929530"/>
            <a:ext cx="117317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B2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95.5%</a:t>
            </a:r>
            <a:endParaRPr lang="en-US" sz="2700" dirty="0"/>
          </a:p>
        </p:txBody>
      </p:sp>
      <p:sp>
        <p:nvSpPr>
          <p:cNvPr id="114" name="TextBox 113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A4_Project_2AI1_PA_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함유라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9296705" y="-761695"/>
            <a:ext cx="3657600" cy="36576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691518" y="6362395"/>
            <a:ext cx="2770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3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t="-177" b="-177"/>
          <a:stretch/>
        </p:blipFill>
        <p:spPr>
          <a:xfrm>
            <a:off x="609905" y="457200"/>
            <a:ext cx="75895" cy="809244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914400" y="495605"/>
            <a:ext cx="5350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한계점 및 향후 계획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914400" y="1067105"/>
            <a:ext cx="494599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현실적 제약 사항 극복을 위한 로드맵 및 고도화 전략</a:t>
            </a:r>
            <a:endParaRPr lang="en-US" sz="1500" dirty="0"/>
          </a:p>
        </p:txBody>
      </p:sp>
      <p:sp>
        <p:nvSpPr>
          <p:cNvPr id="10" name="Shape 4"/>
          <p:cNvSpPr/>
          <p:nvPr/>
        </p:nvSpPr>
        <p:spPr>
          <a:xfrm>
            <a:off x="609905" y="1676095"/>
            <a:ext cx="304495" cy="304495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5800" y="1752905"/>
            <a:ext cx="152705" cy="152705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028700" y="1695298"/>
            <a:ext cx="245973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Limitations &amp; Insights</a:t>
            </a:r>
            <a:endParaRPr lang="en-US" sz="1500" dirty="0"/>
          </a:p>
        </p:txBody>
      </p:sp>
      <p:sp>
        <p:nvSpPr>
          <p:cNvPr id="13" name="Shape 6"/>
          <p:cNvSpPr/>
          <p:nvPr/>
        </p:nvSpPr>
        <p:spPr>
          <a:xfrm>
            <a:off x="609905" y="2148973"/>
            <a:ext cx="4153205" cy="1980000"/>
          </a:xfrm>
          <a:prstGeom prst="roundRect">
            <a:avLst>
              <a:gd name="adj" fmla="val 5516"/>
            </a:avLst>
          </a:prstGeom>
          <a:solidFill>
            <a:srgbClr val="FFF1F2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Shape 7"/>
          <p:cNvSpPr/>
          <p:nvPr/>
        </p:nvSpPr>
        <p:spPr>
          <a:xfrm>
            <a:off x="609905" y="2148973"/>
            <a:ext cx="47549" cy="1980000"/>
          </a:xfrm>
          <a:prstGeom prst="roundRect">
            <a:avLst>
              <a:gd name="adj" fmla="val 260755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811530" y="2244070"/>
            <a:ext cx="102412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한계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221785" y="2377573"/>
            <a:ext cx="304495" cy="304495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297680" y="2454383"/>
            <a:ext cx="152705" cy="15270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0563" y="2666097"/>
            <a:ext cx="133502" cy="133502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049960" y="2628607"/>
            <a:ext cx="34774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 리소스 제약</a:t>
            </a:r>
            <a:endParaRPr lang="en-US" sz="1000" dirty="0"/>
          </a:p>
        </p:txBody>
      </p:sp>
      <p:sp>
        <p:nvSpPr>
          <p:cNvPr id="20" name="Text 10"/>
          <p:cNvSpPr txBox="1"/>
          <p:nvPr/>
        </p:nvSpPr>
        <p:spPr>
          <a:xfrm>
            <a:off x="1049960" y="2955829"/>
            <a:ext cx="38935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모델 탑재로 Docker 이미지 100GB 부담 및 로컬 인프라 자원 부족</a:t>
            </a:r>
            <a:endParaRPr lang="en-US" sz="9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0563" y="3161702"/>
            <a:ext cx="133502" cy="133502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1049960" y="3123297"/>
            <a:ext cx="3400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처리 병목</a:t>
            </a:r>
            <a:endParaRPr lang="en-US" sz="1000" dirty="0"/>
          </a:p>
        </p:txBody>
      </p:sp>
      <p:sp>
        <p:nvSpPr>
          <p:cNvPr id="23" name="Text 12"/>
          <p:cNvSpPr txBox="1"/>
          <p:nvPr/>
        </p:nvSpPr>
        <p:spPr>
          <a:xfrm>
            <a:off x="1049960" y="3351897"/>
            <a:ext cx="38057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사용자 동시 접속 시 AI 추론(Inference) 처리 지연 발생 가능성</a:t>
            </a:r>
            <a:endParaRPr lang="en-US" sz="9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0563" y="3657307"/>
            <a:ext cx="133502" cy="133502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1049960" y="3618902"/>
            <a:ext cx="25365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분석 한계</a:t>
            </a:r>
            <a:endParaRPr lang="en-US" sz="1000" dirty="0"/>
          </a:p>
        </p:txBody>
      </p:sp>
      <p:sp>
        <p:nvSpPr>
          <p:cNvPr id="26" name="Text 14"/>
          <p:cNvSpPr txBox="1"/>
          <p:nvPr/>
        </p:nvSpPr>
        <p:spPr>
          <a:xfrm>
            <a:off x="1049960" y="3847502"/>
            <a:ext cx="29754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복합적인 감정 및 비언어적 맥락 이해의 정확도 제한</a:t>
            </a:r>
            <a:endParaRPr lang="en-US" sz="900" dirty="0"/>
          </a:p>
        </p:txBody>
      </p:sp>
      <p:sp>
        <p:nvSpPr>
          <p:cNvPr id="27" name="Shape 15"/>
          <p:cNvSpPr/>
          <p:nvPr/>
        </p:nvSpPr>
        <p:spPr>
          <a:xfrm>
            <a:off x="609905" y="4265085"/>
            <a:ext cx="4153205" cy="2266798"/>
          </a:xfrm>
          <a:prstGeom prst="roundRect">
            <a:avLst>
              <a:gd name="adj" fmla="val 5424"/>
            </a:avLst>
          </a:prstGeom>
          <a:solidFill>
            <a:srgbClr val="FFF7ED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8" name="Shape 16"/>
          <p:cNvSpPr/>
          <p:nvPr/>
        </p:nvSpPr>
        <p:spPr>
          <a:xfrm>
            <a:off x="609905" y="4265085"/>
            <a:ext cx="47549" cy="2266798"/>
          </a:xfrm>
          <a:prstGeom prst="roundRect">
            <a:avLst>
              <a:gd name="adj" fmla="val 258564"/>
            </a:avLst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9" name="Text 17"/>
          <p:cNvSpPr txBox="1"/>
          <p:nvPr/>
        </p:nvSpPr>
        <p:spPr>
          <a:xfrm>
            <a:off x="886054" y="4493685"/>
            <a:ext cx="178033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Native Dev 경험</a:t>
            </a:r>
            <a:endParaRPr lang="en-US" sz="13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290364" y="4412519"/>
            <a:ext cx="304495" cy="304495"/>
          </a:xfrm>
          <a:prstGeom prst="rect">
            <a:avLst/>
          </a:prstGeom>
        </p:spPr>
      </p:pic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9"/>
          <a:srcRect t="-100" b="-100"/>
          <a:stretch/>
        </p:blipFill>
        <p:spPr>
          <a:xfrm>
            <a:off x="4398269" y="4491079"/>
            <a:ext cx="114300" cy="152705"/>
          </a:xfrm>
          <a:prstGeom prst="rect">
            <a:avLst/>
          </a:prstGeom>
        </p:spPr>
      </p:pic>
      <p:sp>
        <p:nvSpPr>
          <p:cNvPr id="32" name="Shape 18"/>
          <p:cNvSpPr/>
          <p:nvPr/>
        </p:nvSpPr>
        <p:spPr>
          <a:xfrm>
            <a:off x="886054" y="4839431"/>
            <a:ext cx="3648456" cy="609905"/>
          </a:xfrm>
          <a:prstGeom prst="roundRect">
            <a:avLst>
              <a:gd name="adj" fmla="val 37481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19"/>
          <p:cNvSpPr txBox="1"/>
          <p:nvPr/>
        </p:nvSpPr>
        <p:spPr>
          <a:xfrm>
            <a:off x="1000354" y="4953731"/>
            <a:ext cx="34957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"생산성은 향상되었으나, 구조 이해 없는 코드 사용의 리스크 상존"</a:t>
            </a:r>
            <a:endParaRPr lang="en-US" sz="1000" dirty="0"/>
          </a:p>
        </p:txBody>
      </p:sp>
      <p:sp>
        <p:nvSpPr>
          <p:cNvPr id="34" name="Shape 20"/>
          <p:cNvSpPr/>
          <p:nvPr/>
        </p:nvSpPr>
        <p:spPr>
          <a:xfrm>
            <a:off x="886054" y="5563636"/>
            <a:ext cx="3648456" cy="437998"/>
          </a:xfrm>
          <a:prstGeom prst="roundRect">
            <a:avLst>
              <a:gd name="adj" fmla="val 72615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21"/>
          <p:cNvSpPr txBox="1"/>
          <p:nvPr/>
        </p:nvSpPr>
        <p:spPr>
          <a:xfrm>
            <a:off x="1225889" y="5700600"/>
            <a:ext cx="2861574" cy="200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 First  AI </a:t>
            </a:r>
            <a:r>
              <a:rPr lang="en-US" sz="1200" b="1" dirty="0" smtClean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Support          Test</a:t>
            </a:r>
            <a:endParaRPr lang="en-US" sz="1200" dirty="0"/>
          </a:p>
        </p:txBody>
      </p:sp>
      <p:sp>
        <p:nvSpPr>
          <p:cNvPr id="36" name="Text 22"/>
          <p:cNvSpPr txBox="1"/>
          <p:nvPr/>
        </p:nvSpPr>
        <p:spPr>
          <a:xfrm>
            <a:off x="800841" y="6125078"/>
            <a:ext cx="38386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우선 후 AI를 도구로 활용하는 개발 문화 필요</a:t>
            </a:r>
            <a:endParaRPr lang="en-US" sz="900" dirty="0"/>
          </a:p>
        </p:txBody>
      </p:sp>
      <p:sp>
        <p:nvSpPr>
          <p:cNvPr id="37" name="Shape 23"/>
          <p:cNvSpPr/>
          <p:nvPr/>
        </p:nvSpPr>
        <p:spPr>
          <a:xfrm>
            <a:off x="5779008" y="1676095"/>
            <a:ext cx="304495" cy="3044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854903" y="1752905"/>
            <a:ext cx="152705" cy="152705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6197803" y="1695298"/>
            <a:ext cx="26417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발전 방향 (Roadmap)</a:t>
            </a:r>
            <a:endParaRPr lang="en-US" sz="1500" dirty="0"/>
          </a:p>
        </p:txBody>
      </p:sp>
      <p:sp>
        <p:nvSpPr>
          <p:cNvPr id="40" name="Shape 25"/>
          <p:cNvSpPr/>
          <p:nvPr/>
        </p:nvSpPr>
        <p:spPr>
          <a:xfrm>
            <a:off x="5711436" y="2210105"/>
            <a:ext cx="2877523" cy="2000707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1" name="Shape 26"/>
          <p:cNvSpPr/>
          <p:nvPr/>
        </p:nvSpPr>
        <p:spPr>
          <a:xfrm>
            <a:off x="5711436" y="2210105"/>
            <a:ext cx="2877523" cy="57504"/>
          </a:xfrm>
          <a:prstGeom prst="roundRect">
            <a:avLst>
              <a:gd name="adj" fmla="val 21977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5921654" y="24003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026810" y="2505456"/>
            <a:ext cx="171907" cy="171907"/>
          </a:xfrm>
          <a:prstGeom prst="rect">
            <a:avLst/>
          </a:prstGeom>
        </p:spPr>
      </p:pic>
      <p:sp>
        <p:nvSpPr>
          <p:cNvPr id="44" name="Shape 28"/>
          <p:cNvSpPr/>
          <p:nvPr/>
        </p:nvSpPr>
        <p:spPr>
          <a:xfrm>
            <a:off x="7686446" y="2481682"/>
            <a:ext cx="761695" cy="181051"/>
          </a:xfrm>
          <a:prstGeom prst="roundRect">
            <a:avLst>
              <a:gd name="adj" fmla="val 505051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29"/>
          <p:cNvSpPr txBox="1"/>
          <p:nvPr/>
        </p:nvSpPr>
        <p:spPr>
          <a:xfrm>
            <a:off x="7686446" y="2481682"/>
            <a:ext cx="83850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46" name="Text 30"/>
          <p:cNvSpPr txBox="1"/>
          <p:nvPr/>
        </p:nvSpPr>
        <p:spPr>
          <a:xfrm>
            <a:off x="5921654" y="2895905"/>
            <a:ext cx="27148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엔진 고도화</a:t>
            </a:r>
            <a:endParaRPr lang="en-US" sz="1300" dirty="0"/>
          </a:p>
        </p:txBody>
      </p:sp>
      <p:sp>
        <p:nvSpPr>
          <p:cNvPr id="47" name="Text 31"/>
          <p:cNvSpPr txBox="1"/>
          <p:nvPr/>
        </p:nvSpPr>
        <p:spPr>
          <a:xfrm>
            <a:off x="6118894" y="3333108"/>
            <a:ext cx="24441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vLLM 기반 추론 가속</a:t>
            </a:r>
            <a:endParaRPr lang="en-US" sz="1000" dirty="0"/>
          </a:p>
        </p:txBody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5905519" y="3371099"/>
            <a:ext cx="105156" cy="114300"/>
          </a:xfrm>
          <a:prstGeom prst="rect">
            <a:avLst/>
          </a:prstGeom>
        </p:spPr>
      </p:pic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5921654" y="3775990"/>
            <a:ext cx="105156" cy="114300"/>
          </a:xfrm>
          <a:prstGeom prst="rect">
            <a:avLst/>
          </a:prstGeom>
        </p:spPr>
      </p:pic>
      <p:grpSp>
        <p:nvGrpSpPr>
          <p:cNvPr id="2" name="그룹 1"/>
          <p:cNvGrpSpPr/>
          <p:nvPr/>
        </p:nvGrpSpPr>
        <p:grpSpPr>
          <a:xfrm>
            <a:off x="8830361" y="2210105"/>
            <a:ext cx="2984602" cy="2000707"/>
            <a:chOff x="8775497" y="2210105"/>
            <a:chExt cx="2984602" cy="2000707"/>
          </a:xfrm>
        </p:grpSpPr>
        <p:sp>
          <p:nvSpPr>
            <p:cNvPr id="51" name="Shape 33"/>
            <p:cNvSpPr/>
            <p:nvPr/>
          </p:nvSpPr>
          <p:spPr>
            <a:xfrm>
              <a:off x="8775497" y="2210105"/>
              <a:ext cx="2984602" cy="2000707"/>
            </a:xfrm>
            <a:prstGeom prst="roundRect">
              <a:avLst>
                <a:gd name="adj" fmla="val 5223"/>
              </a:avLst>
            </a:prstGeom>
            <a:solidFill>
              <a:srgbClr val="FFFFFF"/>
            </a:solidFill>
            <a:ln/>
            <a:effectLst>
              <a:outerShdw blurRad="50800" dist="25400" dir="162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52" name="Shape 34"/>
            <p:cNvSpPr/>
            <p:nvPr/>
          </p:nvSpPr>
          <p:spPr>
            <a:xfrm>
              <a:off x="8775497" y="2210105"/>
              <a:ext cx="2984602" cy="61265"/>
            </a:xfrm>
            <a:prstGeom prst="roundRect">
              <a:avLst>
                <a:gd name="adj" fmla="val 219779"/>
              </a:avLst>
            </a:prstGeom>
            <a:solidFill>
              <a:srgbClr val="8B5CF6"/>
            </a:solidFill>
            <a:ln w="12700">
              <a:solidFill>
                <a:srgbClr val="8B5CF6">
                  <a:alpha val="0"/>
                </a:srgbClr>
              </a:solidFill>
              <a:prstDash val="solid"/>
            </a:ln>
          </p:spPr>
        </p:sp>
        <p:sp>
          <p:nvSpPr>
            <p:cNvPr id="53" name="Shape 35"/>
            <p:cNvSpPr/>
            <p:nvPr/>
          </p:nvSpPr>
          <p:spPr>
            <a:xfrm>
              <a:off x="8919058" y="2400300"/>
              <a:ext cx="381305" cy="381305"/>
            </a:xfrm>
            <a:prstGeom prst="roundRect">
              <a:avLst>
                <a:gd name="adj" fmla="val 95923"/>
              </a:avLst>
            </a:prstGeom>
            <a:solidFill>
              <a:srgbClr val="F5F3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54" name="Image 16" descr="preencoded.png"/>
            <p:cNvPicPr>
              <a:picLocks noChangeAspect="1"/>
            </p:cNvPicPr>
            <p:nvPr/>
          </p:nvPicPr>
          <p:blipFill>
            <a:blip r:embed="rId13"/>
            <a:srcRect l="-1064" r="-1064"/>
            <a:stretch/>
          </p:blipFill>
          <p:spPr>
            <a:xfrm>
              <a:off x="8999525" y="2505456"/>
              <a:ext cx="219456" cy="171907"/>
            </a:xfrm>
            <a:prstGeom prst="rect">
              <a:avLst/>
            </a:prstGeom>
          </p:spPr>
        </p:pic>
        <p:sp>
          <p:nvSpPr>
            <p:cNvPr id="55" name="Shape 36"/>
            <p:cNvSpPr/>
            <p:nvPr/>
          </p:nvSpPr>
          <p:spPr>
            <a:xfrm>
              <a:off x="10792663" y="2481682"/>
              <a:ext cx="647395" cy="181051"/>
            </a:xfrm>
            <a:prstGeom prst="roundRect">
              <a:avLst>
                <a:gd name="adj" fmla="val 505051"/>
              </a:avLst>
            </a:prstGeom>
            <a:solidFill>
              <a:srgbClr val="EDE9F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56" name="Text 37"/>
            <p:cNvSpPr txBox="1"/>
            <p:nvPr/>
          </p:nvSpPr>
          <p:spPr>
            <a:xfrm>
              <a:off x="10792663" y="2481682"/>
              <a:ext cx="724205" cy="18105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00" tIns="25400" rIns="76200" bIns="2540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D28D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Scalability</a:t>
              </a:r>
              <a:endParaRPr lang="en-US" sz="800" dirty="0"/>
            </a:p>
          </p:txBody>
        </p:sp>
        <p:sp>
          <p:nvSpPr>
            <p:cNvPr id="57" name="Text 38"/>
            <p:cNvSpPr txBox="1"/>
            <p:nvPr/>
          </p:nvSpPr>
          <p:spPr>
            <a:xfrm>
              <a:off x="8919058" y="2895905"/>
              <a:ext cx="2714854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인프라 확장</a:t>
              </a:r>
              <a:endParaRPr lang="en-US" sz="1300" dirty="0"/>
            </a:p>
          </p:txBody>
        </p:sp>
        <p:sp>
          <p:nvSpPr>
            <p:cNvPr id="58" name="Text 39"/>
            <p:cNvSpPr txBox="1"/>
            <p:nvPr/>
          </p:nvSpPr>
          <p:spPr>
            <a:xfrm>
              <a:off x="9084080" y="3343478"/>
              <a:ext cx="244419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Kubernetes </a:t>
              </a:r>
              <a:r>
                <a:rPr lang="ko-KR" alt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기반 </a:t>
              </a:r>
              <a:r>
                <a:rPr lang="en-US" altLang="ko-KR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Docker </a:t>
              </a:r>
              <a:r>
                <a:rPr lang="ko-KR" alt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컨테이너 자동 확장</a:t>
              </a:r>
              <a:endParaRPr lang="en-US" sz="1000" dirty="0"/>
            </a:p>
          </p:txBody>
        </p:sp>
        <p:pic>
          <p:nvPicPr>
            <p:cNvPr id="59" name="Image 17" descr="preencoded.png"/>
            <p:cNvPicPr>
              <a:picLocks noChangeAspect="1"/>
            </p:cNvPicPr>
            <p:nvPr/>
          </p:nvPicPr>
          <p:blipFill>
            <a:blip r:embed="rId14"/>
            <a:srcRect l="-2571" r="-2571"/>
            <a:stretch/>
          </p:blipFill>
          <p:spPr>
            <a:xfrm>
              <a:off x="8911147" y="3382331"/>
              <a:ext cx="105156" cy="114300"/>
            </a:xfrm>
            <a:prstGeom prst="rect">
              <a:avLst/>
            </a:prstGeom>
          </p:spPr>
        </p:pic>
        <p:sp>
          <p:nvSpPr>
            <p:cNvPr id="60" name="Text 40"/>
            <p:cNvSpPr txBox="1"/>
            <p:nvPr/>
          </p:nvSpPr>
          <p:spPr>
            <a:xfrm>
              <a:off x="9097096" y="3721505"/>
              <a:ext cx="253380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대규모 동시 면접 처리 구조 구축</a:t>
              </a:r>
              <a:endParaRPr lang="en-US" sz="1000" dirty="0"/>
            </a:p>
          </p:txBody>
        </p:sp>
        <p:pic>
          <p:nvPicPr>
            <p:cNvPr id="61" name="Image 18" descr="preencoded.png"/>
            <p:cNvPicPr>
              <a:picLocks noChangeAspect="1"/>
            </p:cNvPicPr>
            <p:nvPr/>
          </p:nvPicPr>
          <p:blipFill>
            <a:blip r:embed="rId14"/>
            <a:srcRect l="-2571" r="-2571"/>
            <a:stretch/>
          </p:blipFill>
          <p:spPr>
            <a:xfrm>
              <a:off x="8913407" y="3748724"/>
              <a:ext cx="105156" cy="114300"/>
            </a:xfrm>
            <a:prstGeom prst="rect">
              <a:avLst/>
            </a:prstGeom>
          </p:spPr>
        </p:pic>
      </p:grpSp>
      <p:sp>
        <p:nvSpPr>
          <p:cNvPr id="62" name="Shape 41"/>
          <p:cNvSpPr/>
          <p:nvPr/>
        </p:nvSpPr>
        <p:spPr>
          <a:xfrm>
            <a:off x="5711436" y="4401007"/>
            <a:ext cx="2877523" cy="2000707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63" name="Shape 42"/>
          <p:cNvSpPr/>
          <p:nvPr/>
        </p:nvSpPr>
        <p:spPr>
          <a:xfrm>
            <a:off x="5711436" y="4401007"/>
            <a:ext cx="2877523" cy="75895"/>
          </a:xfrm>
          <a:prstGeom prst="roundRect">
            <a:avLst>
              <a:gd name="adj" fmla="val 219779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4" name="Shape 43"/>
          <p:cNvSpPr/>
          <p:nvPr/>
        </p:nvSpPr>
        <p:spPr>
          <a:xfrm>
            <a:off x="5921654" y="459120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5" name="Image 19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026810" y="4695444"/>
            <a:ext cx="171907" cy="171907"/>
          </a:xfrm>
          <a:prstGeom prst="rect">
            <a:avLst/>
          </a:prstGeom>
        </p:spPr>
      </p:pic>
      <p:sp>
        <p:nvSpPr>
          <p:cNvPr id="66" name="Shape 44"/>
          <p:cNvSpPr/>
          <p:nvPr/>
        </p:nvSpPr>
        <p:spPr>
          <a:xfrm>
            <a:off x="7861097" y="4671670"/>
            <a:ext cx="590702" cy="181051"/>
          </a:xfrm>
          <a:prstGeom prst="roundRect">
            <a:avLst>
              <a:gd name="adj" fmla="val 505051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45"/>
          <p:cNvSpPr txBox="1"/>
          <p:nvPr/>
        </p:nvSpPr>
        <p:spPr>
          <a:xfrm>
            <a:off x="7861097" y="4671670"/>
            <a:ext cx="667512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Analytics</a:t>
            </a:r>
            <a:endParaRPr lang="en-US" sz="800" dirty="0"/>
          </a:p>
        </p:txBody>
      </p:sp>
      <p:sp>
        <p:nvSpPr>
          <p:cNvPr id="68" name="Text 46"/>
          <p:cNvSpPr txBox="1"/>
          <p:nvPr/>
        </p:nvSpPr>
        <p:spPr>
          <a:xfrm>
            <a:off x="5921654" y="5086807"/>
            <a:ext cx="27148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  <a:r>
              <a:rPr lang="ko-KR" altLang="en-US" sz="1300" b="1" dirty="0" smtClean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확장</a:t>
            </a:r>
            <a:endParaRPr lang="en-US" sz="1300" dirty="0"/>
          </a:p>
        </p:txBody>
      </p:sp>
      <p:sp>
        <p:nvSpPr>
          <p:cNvPr id="69" name="Text 47"/>
          <p:cNvSpPr txBox="1"/>
          <p:nvPr/>
        </p:nvSpPr>
        <p:spPr>
          <a:xfrm>
            <a:off x="6128913" y="5763579"/>
            <a:ext cx="2533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  <a:r>
              <a:rPr lang="ko-KR" altLang="en-US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</a:t>
            </a:r>
            <a:r>
              <a:rPr lang="en-US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Fallback </a:t>
            </a:r>
            <a:r>
              <a:rPr lang="en-US" altLang="ko-KR" sz="10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pgvector</a:t>
            </a:r>
            <a:r>
              <a:rPr lang="en-US" altLang="ko-KR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 </a:t>
            </a:r>
            <a:endParaRPr lang="en-US" altLang="ko-KR" sz="1000" dirty="0" smtClean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ko-KR" altLang="en-US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 </a:t>
            </a:r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검색</a:t>
            </a:r>
          </a:p>
          <a:p>
            <a:endParaRPr lang="en-US" sz="10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pic>
        <p:nvPicPr>
          <p:cNvPr id="70" name="Image 20" descr="preencoded.png"/>
          <p:cNvPicPr>
            <a:picLocks noChangeAspect="1"/>
          </p:cNvPicPr>
          <p:nvPr/>
        </p:nvPicPr>
        <p:blipFill>
          <a:blip r:embed="rId16"/>
          <a:srcRect l="-2571" r="-2571"/>
          <a:stretch/>
        </p:blipFill>
        <p:spPr>
          <a:xfrm>
            <a:off x="5902322" y="5687390"/>
            <a:ext cx="105156" cy="114300"/>
          </a:xfrm>
          <a:prstGeom prst="rect">
            <a:avLst/>
          </a:prstGeom>
        </p:spPr>
      </p:pic>
      <p:sp>
        <p:nvSpPr>
          <p:cNvPr id="71" name="Text 48"/>
          <p:cNvSpPr txBox="1"/>
          <p:nvPr/>
        </p:nvSpPr>
        <p:spPr>
          <a:xfrm>
            <a:off x="6112306" y="3743674"/>
            <a:ext cx="2533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WebSocket</a:t>
            </a:r>
            <a:r>
              <a:rPr lang="en-US" altLang="ko-KR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 실시간 </a:t>
            </a:r>
            <a:r>
              <a:rPr lang="ko-KR" altLang="en-US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 전환</a:t>
            </a:r>
            <a:endParaRPr lang="en-US" sz="1000" dirty="0"/>
          </a:p>
        </p:txBody>
      </p:sp>
      <p:grpSp>
        <p:nvGrpSpPr>
          <p:cNvPr id="3" name="그룹 2"/>
          <p:cNvGrpSpPr/>
          <p:nvPr/>
        </p:nvGrpSpPr>
        <p:grpSpPr>
          <a:xfrm>
            <a:off x="8868739" y="4397729"/>
            <a:ext cx="2984602" cy="2000707"/>
            <a:chOff x="8775497" y="4401007"/>
            <a:chExt cx="2984602" cy="2000707"/>
          </a:xfrm>
        </p:grpSpPr>
        <p:sp>
          <p:nvSpPr>
            <p:cNvPr id="73" name="Shape 49"/>
            <p:cNvSpPr/>
            <p:nvPr/>
          </p:nvSpPr>
          <p:spPr>
            <a:xfrm>
              <a:off x="8775497" y="4401007"/>
              <a:ext cx="2984602" cy="2000707"/>
            </a:xfrm>
            <a:prstGeom prst="roundRect">
              <a:avLst>
                <a:gd name="adj" fmla="val 5223"/>
              </a:avLst>
            </a:prstGeom>
            <a:solidFill>
              <a:srgbClr val="FFFFFF"/>
            </a:solidFill>
            <a:ln/>
            <a:effectLst>
              <a:outerShdw blurRad="50800" dist="25400" dir="162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74" name="Shape 50"/>
            <p:cNvSpPr/>
            <p:nvPr/>
          </p:nvSpPr>
          <p:spPr>
            <a:xfrm>
              <a:off x="8775497" y="4401007"/>
              <a:ext cx="2984602" cy="79173"/>
            </a:xfrm>
            <a:prstGeom prst="roundRect">
              <a:avLst>
                <a:gd name="adj" fmla="val 219779"/>
              </a:avLst>
            </a:prstGeom>
            <a:solidFill>
              <a:srgbClr val="EC4899"/>
            </a:solidFill>
            <a:ln w="12700">
              <a:solidFill>
                <a:srgbClr val="EC4899">
                  <a:alpha val="0"/>
                </a:srgbClr>
              </a:solidFill>
              <a:prstDash val="solid"/>
            </a:ln>
          </p:spPr>
        </p:sp>
        <p:sp>
          <p:nvSpPr>
            <p:cNvPr id="75" name="Shape 51"/>
            <p:cNvSpPr/>
            <p:nvPr/>
          </p:nvSpPr>
          <p:spPr>
            <a:xfrm>
              <a:off x="8919058" y="4591202"/>
              <a:ext cx="381305" cy="381305"/>
            </a:xfrm>
            <a:prstGeom prst="roundRect">
              <a:avLst>
                <a:gd name="adj" fmla="val 95923"/>
              </a:avLst>
            </a:prstGeom>
            <a:solidFill>
              <a:srgbClr val="FDF2F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76" name="Image 22" descr="preencoded.png"/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9023299" y="4695444"/>
              <a:ext cx="171907" cy="171907"/>
            </a:xfrm>
            <a:prstGeom prst="rect">
              <a:avLst/>
            </a:prstGeom>
          </p:spPr>
        </p:pic>
        <p:sp>
          <p:nvSpPr>
            <p:cNvPr id="77" name="Shape 52"/>
            <p:cNvSpPr/>
            <p:nvPr/>
          </p:nvSpPr>
          <p:spPr>
            <a:xfrm>
              <a:off x="10733227" y="4671670"/>
              <a:ext cx="714146" cy="181051"/>
            </a:xfrm>
            <a:prstGeom prst="roundRect">
              <a:avLst>
                <a:gd name="adj" fmla="val 505051"/>
              </a:avLst>
            </a:prstGeom>
            <a:solidFill>
              <a:srgbClr val="FCE7F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78" name="Text 53"/>
            <p:cNvSpPr txBox="1"/>
            <p:nvPr/>
          </p:nvSpPr>
          <p:spPr>
            <a:xfrm>
              <a:off x="10733227" y="4671670"/>
              <a:ext cx="790956" cy="18105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00" tIns="25400" rIns="76200" bIns="2540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BE185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Automation</a:t>
              </a:r>
              <a:endParaRPr lang="en-US" sz="800" dirty="0"/>
            </a:p>
          </p:txBody>
        </p:sp>
        <p:sp>
          <p:nvSpPr>
            <p:cNvPr id="79" name="Text 54"/>
            <p:cNvSpPr txBox="1"/>
            <p:nvPr/>
          </p:nvSpPr>
          <p:spPr>
            <a:xfrm>
              <a:off x="8919058" y="5086807"/>
              <a:ext cx="2714854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300" b="1" dirty="0" smtClean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운영</a:t>
              </a:r>
              <a:r>
                <a:rPr lang="en-US" sz="1300" b="1" dirty="0" smtClean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ko-KR" altLang="en-US" sz="1300" b="1" dirty="0" smtClean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확장</a:t>
              </a:r>
              <a:endParaRPr lang="en-US" sz="1300" dirty="0"/>
            </a:p>
          </p:txBody>
        </p:sp>
        <p:sp>
          <p:nvSpPr>
            <p:cNvPr id="80" name="Text 55"/>
            <p:cNvSpPr txBox="1"/>
            <p:nvPr/>
          </p:nvSpPr>
          <p:spPr>
            <a:xfrm>
              <a:off x="9070875" y="5599067"/>
              <a:ext cx="253380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관리자 페이지 </a:t>
              </a:r>
              <a:r>
                <a:rPr lang="ko-KR" altLang="en-US" sz="1000" dirty="0" err="1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백엔드</a:t>
              </a:r>
              <a:r>
                <a:rPr lang="ko-KR" alt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구축</a:t>
              </a:r>
              <a:endParaRPr lang="en-US" sz="1000" dirty="0"/>
            </a:p>
          </p:txBody>
        </p:sp>
        <p:pic>
          <p:nvPicPr>
            <p:cNvPr id="81" name="Image 23" descr="preencoded.png"/>
            <p:cNvPicPr>
              <a:picLocks noChangeAspect="1"/>
            </p:cNvPicPr>
            <p:nvPr/>
          </p:nvPicPr>
          <p:blipFill>
            <a:blip r:embed="rId18"/>
            <a:srcRect l="-2571" r="-2571"/>
            <a:stretch/>
          </p:blipFill>
          <p:spPr>
            <a:xfrm>
              <a:off x="8880680" y="5655403"/>
              <a:ext cx="105156" cy="114300"/>
            </a:xfrm>
            <a:prstGeom prst="rect">
              <a:avLst/>
            </a:prstGeom>
          </p:spPr>
        </p:pic>
        <p:sp>
          <p:nvSpPr>
            <p:cNvPr id="82" name="Text 56"/>
            <p:cNvSpPr txBox="1"/>
            <p:nvPr/>
          </p:nvSpPr>
          <p:spPr>
            <a:xfrm>
              <a:off x="9064474" y="6005933"/>
              <a:ext cx="253380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보안 시스템 고도화</a:t>
              </a:r>
              <a:endParaRPr lang="en-US" sz="1000" dirty="0"/>
            </a:p>
          </p:txBody>
        </p:sp>
        <p:pic>
          <p:nvPicPr>
            <p:cNvPr id="83" name="Image 24" descr="preencoded.png"/>
            <p:cNvPicPr>
              <a:picLocks noChangeAspect="1"/>
            </p:cNvPicPr>
            <p:nvPr/>
          </p:nvPicPr>
          <p:blipFill>
            <a:blip r:embed="rId18"/>
            <a:srcRect l="-2571" r="-2571"/>
            <a:stretch/>
          </p:blipFill>
          <p:spPr>
            <a:xfrm>
              <a:off x="8877333" y="6067959"/>
              <a:ext cx="105156" cy="114300"/>
            </a:xfrm>
            <a:prstGeom prst="rect">
              <a:avLst/>
            </a:prstGeom>
          </p:spPr>
        </p:pic>
      </p:grpSp>
      <p:pic>
        <p:nvPicPr>
          <p:cNvPr id="84" name="Image 25" descr="preencoded.png"/>
          <p:cNvPicPr>
            <a:picLocks noChangeAspect="1"/>
          </p:cNvPicPr>
          <p:nvPr/>
        </p:nvPicPr>
        <p:blipFill>
          <a:blip r:embed="rId19"/>
          <a:srcRect l="-2571" r="-2571"/>
          <a:stretch/>
        </p:blipFill>
        <p:spPr>
          <a:xfrm>
            <a:off x="2445594" y="5700600"/>
            <a:ext cx="168689" cy="183358"/>
          </a:xfrm>
          <a:prstGeom prst="rect">
            <a:avLst/>
          </a:prstGeom>
        </p:spPr>
      </p:pic>
      <p:sp>
        <p:nvSpPr>
          <p:cNvPr id="85" name="Shape 57"/>
          <p:cNvSpPr/>
          <p:nvPr/>
        </p:nvSpPr>
        <p:spPr>
          <a:xfrm>
            <a:off x="5257800" y="1676095"/>
            <a:ext cx="19202" cy="4724705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pic>
        <p:nvPicPr>
          <p:cNvPr id="86" name="Image 26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5133442" y="3838651"/>
            <a:ext cx="267005" cy="400507"/>
          </a:xfrm>
          <a:prstGeom prst="rect">
            <a:avLst/>
          </a:prstGeom>
        </p:spPr>
      </p:pic>
      <p:pic>
        <p:nvPicPr>
          <p:cNvPr id="87" name="Image 27" descr="preencoded.png"/>
          <p:cNvPicPr>
            <a:picLocks noChangeAspect="1"/>
          </p:cNvPicPr>
          <p:nvPr/>
        </p:nvPicPr>
        <p:blipFill>
          <a:blip r:embed="rId21"/>
          <a:srcRect t="-180" b="-180"/>
          <a:stretch/>
        </p:blipFill>
        <p:spPr>
          <a:xfrm>
            <a:off x="5219395" y="3972154"/>
            <a:ext cx="95098" cy="152705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A4_Project_2AI1_PA_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함유라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9" name="Image 25" descr="preencoded.png"/>
          <p:cNvPicPr>
            <a:picLocks noChangeAspect="1"/>
          </p:cNvPicPr>
          <p:nvPr/>
        </p:nvPicPr>
        <p:blipFill>
          <a:blip r:embed="rId19"/>
          <a:srcRect l="-2571" r="-2571"/>
          <a:stretch/>
        </p:blipFill>
        <p:spPr>
          <a:xfrm>
            <a:off x="3417817" y="5709275"/>
            <a:ext cx="168689" cy="183358"/>
          </a:xfrm>
          <a:prstGeom prst="rect">
            <a:avLst/>
          </a:prstGeom>
        </p:spPr>
      </p:pic>
      <p:sp>
        <p:nvSpPr>
          <p:cNvPr id="91" name="Text 48"/>
          <p:cNvSpPr txBox="1"/>
          <p:nvPr/>
        </p:nvSpPr>
        <p:spPr>
          <a:xfrm>
            <a:off x="6128913" y="6090381"/>
            <a:ext cx="2533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다국어 지원 </a:t>
            </a:r>
            <a:r>
              <a:rPr lang="ko-KR" altLang="en-US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</a:t>
            </a:r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서비스 확장</a:t>
            </a:r>
            <a:endParaRPr lang="en-US" sz="1000" dirty="0"/>
          </a:p>
        </p:txBody>
      </p:sp>
      <p:pic>
        <p:nvPicPr>
          <p:cNvPr id="92" name="Image 21" descr="preencoded.png"/>
          <p:cNvPicPr>
            <a:picLocks noChangeAspect="1"/>
          </p:cNvPicPr>
          <p:nvPr/>
        </p:nvPicPr>
        <p:blipFill>
          <a:blip r:embed="rId16"/>
          <a:srcRect l="-2571" r="-2571"/>
          <a:stretch/>
        </p:blipFill>
        <p:spPr>
          <a:xfrm>
            <a:off x="5921654" y="6121831"/>
            <a:ext cx="105156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타원 49"/>
          <p:cNvSpPr/>
          <p:nvPr/>
        </p:nvSpPr>
        <p:spPr>
          <a:xfrm>
            <a:off x="-477458" y="4592844"/>
            <a:ext cx="3240000" cy="3240000"/>
          </a:xfrm>
          <a:prstGeom prst="ellipse">
            <a:avLst/>
          </a:prstGeom>
          <a:solidFill>
            <a:srgbClr val="FBBFDF">
              <a:alpha val="54902"/>
            </a:srgbClr>
          </a:solidFill>
          <a:ln>
            <a:solidFill>
              <a:srgbClr val="FFE2F0">
                <a:alpha val="5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BBFDF"/>
              </a:solidFill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/>
        </p:blipFill>
        <p:spPr>
          <a:xfrm>
            <a:off x="9858147" y="-827990"/>
            <a:ext cx="3657600" cy="36576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800600" y="0"/>
            <a:ext cx="7184254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4"/>
          <a:srcRect t="-201" b="-201"/>
          <a:stretch/>
        </p:blipFill>
        <p:spPr>
          <a:xfrm>
            <a:off x="609905" y="1772107"/>
            <a:ext cx="75895" cy="1143000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990295" y="1695298"/>
            <a:ext cx="3848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8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CLOSING</a:t>
            </a:r>
            <a:endParaRPr lang="en-US" sz="1300" dirty="0"/>
          </a:p>
        </p:txBody>
      </p:sp>
      <p:sp>
        <p:nvSpPr>
          <p:cNvPr id="10" name="Text 3"/>
          <p:cNvSpPr txBox="1"/>
          <p:nvPr/>
        </p:nvSpPr>
        <p:spPr>
          <a:xfrm>
            <a:off x="990295" y="2115007"/>
            <a:ext cx="3883457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112" dirty="0" err="1" smtClean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프로젝트를</a:t>
            </a:r>
            <a:endParaRPr lang="en-US" sz="4500" dirty="0"/>
          </a:p>
          <a:p>
            <a:pPr marL="0" indent="0" algn="l">
              <a:buNone/>
            </a:pPr>
            <a:r>
              <a:rPr lang="en-US" sz="4500" b="1" kern="0" spc="-11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마치며 </a:t>
            </a:r>
            <a:endParaRPr lang="en-US" sz="4500" dirty="0"/>
          </a:p>
        </p:txBody>
      </p:sp>
      <p:sp>
        <p:nvSpPr>
          <p:cNvPr id="11" name="Text 4"/>
          <p:cNvSpPr txBox="1"/>
          <p:nvPr/>
        </p:nvSpPr>
        <p:spPr>
          <a:xfrm>
            <a:off x="990295" y="3771900"/>
            <a:ext cx="382036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A4 프로젝트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DB2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소감</a:t>
            </a: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회고</a:t>
            </a:r>
            <a:endParaRPr lang="en-US" sz="18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rcRect l="-743" r="-743"/>
          <a:stretch/>
        </p:blipFill>
        <p:spPr>
          <a:xfrm>
            <a:off x="990295" y="4819802"/>
            <a:ext cx="304495" cy="342900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990295" y="5238598"/>
            <a:ext cx="3810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B5563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단순한 기능 구현을 넘어,</a:t>
            </a:r>
            <a:endParaRPr lang="en-US" sz="1200" dirty="0"/>
          </a:p>
          <a:p>
            <a:r>
              <a:rPr lang="en-US" altLang="ko-KR" sz="1200" i="1" dirty="0">
                <a:solidFill>
                  <a:srgbClr val="4B5563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ko-KR" altLang="en-US" sz="1200" i="1" dirty="0">
                <a:solidFill>
                  <a:srgbClr val="4B5563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협업하며 시스템 전체 구조와 </a:t>
            </a:r>
            <a:endParaRPr lang="en-US" altLang="ko-KR" sz="1200" i="1" dirty="0">
              <a:solidFill>
                <a:srgbClr val="4B5563">
                  <a:alpha val="80000"/>
                </a:srgb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ko-KR" altLang="en-US" sz="1200" i="1" dirty="0" smtClean="0">
                <a:solidFill>
                  <a:srgbClr val="4B5563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</a:t>
            </a:r>
            <a:r>
              <a:rPr lang="ko-KR" altLang="en-US" sz="1200" i="1" dirty="0">
                <a:solidFill>
                  <a:srgbClr val="4B5563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흐름을 이해하는 </a:t>
            </a:r>
            <a:endParaRPr lang="en-US" altLang="ko-KR" sz="1200" i="1" dirty="0" smtClean="0">
              <a:solidFill>
                <a:srgbClr val="4B5563">
                  <a:alpha val="80000"/>
                </a:srgb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ko-KR" altLang="en-US" sz="1200" i="1" dirty="0">
                <a:solidFill>
                  <a:srgbClr val="4B5563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</a:t>
            </a:r>
            <a:r>
              <a:rPr lang="ko-KR" altLang="en-US" sz="1200" i="1" dirty="0" smtClean="0">
                <a:solidFill>
                  <a:srgbClr val="4B5563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발자 </a:t>
            </a:r>
            <a:r>
              <a:rPr lang="ko-KR" altLang="en-US" sz="1200" i="1" dirty="0">
                <a:solidFill>
                  <a:srgbClr val="4B5563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역량의 중요성을 느꼈다</a:t>
            </a:r>
            <a:r>
              <a:rPr lang="en-US" altLang="ko-KR" sz="1200" i="1" dirty="0">
                <a:solidFill>
                  <a:srgbClr val="4B5563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81905" y="1867205"/>
            <a:ext cx="3086100" cy="1828800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7648956" y="2029054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757770" y="2162556"/>
            <a:ext cx="237744" cy="190195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5419649" y="2180844"/>
            <a:ext cx="2714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 01</a:t>
            </a:r>
            <a:endParaRPr lang="en-US" sz="1000" dirty="0"/>
          </a:p>
        </p:txBody>
      </p:sp>
      <p:sp>
        <p:nvSpPr>
          <p:cNvPr id="18" name="Text 8"/>
          <p:cNvSpPr txBox="1"/>
          <p:nvPr/>
        </p:nvSpPr>
        <p:spPr>
          <a:xfrm>
            <a:off x="5419649" y="2409444"/>
            <a:ext cx="27148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Thinking</a:t>
            </a:r>
            <a:endParaRPr lang="en-US" sz="15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8"/>
          <a:srcRect t="-7603" b="-7603"/>
          <a:stretch/>
        </p:blipFill>
        <p:spPr>
          <a:xfrm>
            <a:off x="5419649" y="3455518"/>
            <a:ext cx="2609698" cy="2743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9"/>
          <a:srcRect t="-7563" b="-7563"/>
          <a:stretch/>
        </p:blipFill>
        <p:spPr>
          <a:xfrm>
            <a:off x="5419649" y="3455518"/>
            <a:ext cx="652882" cy="2743"/>
          </a:xfrm>
          <a:prstGeom prst="rect">
            <a:avLst/>
          </a:prstGeom>
        </p:spPr>
      </p:pic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96605" y="1867205"/>
            <a:ext cx="3086100" cy="1828800"/>
          </a:xfrm>
          <a:prstGeom prst="rect">
            <a:avLst/>
          </a:prstGeom>
        </p:spPr>
      </p:pic>
      <p:sp>
        <p:nvSpPr>
          <p:cNvPr id="23" name="Shape 10"/>
          <p:cNvSpPr/>
          <p:nvPr/>
        </p:nvSpPr>
        <p:spPr>
          <a:xfrm>
            <a:off x="10963656" y="2029054"/>
            <a:ext cx="457200" cy="45720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096244" y="2162556"/>
            <a:ext cx="190195" cy="190195"/>
          </a:xfrm>
          <a:prstGeom prst="rect">
            <a:avLst/>
          </a:prstGeom>
        </p:spPr>
      </p:pic>
      <p:sp>
        <p:nvSpPr>
          <p:cNvPr id="25" name="Text 11"/>
          <p:cNvSpPr txBox="1"/>
          <p:nvPr/>
        </p:nvSpPr>
        <p:spPr>
          <a:xfrm>
            <a:off x="8734349" y="2180844"/>
            <a:ext cx="2714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EC48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 02</a:t>
            </a:r>
            <a:endParaRPr lang="en-US" sz="1000" dirty="0"/>
          </a:p>
        </p:txBody>
      </p:sp>
      <p:sp>
        <p:nvSpPr>
          <p:cNvPr id="26" name="Text 12"/>
          <p:cNvSpPr txBox="1"/>
          <p:nvPr/>
        </p:nvSpPr>
        <p:spPr>
          <a:xfrm>
            <a:off x="8734349" y="2409444"/>
            <a:ext cx="27148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 Solving</a:t>
            </a:r>
            <a:endParaRPr lang="en-US" sz="1500" dirty="0"/>
          </a:p>
        </p:txBody>
      </p:sp>
      <p:sp>
        <p:nvSpPr>
          <p:cNvPr id="27" name="Text 13"/>
          <p:cNvSpPr txBox="1"/>
          <p:nvPr/>
        </p:nvSpPr>
        <p:spPr>
          <a:xfrm>
            <a:off x="8734349" y="2752344"/>
            <a:ext cx="26865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생성한 코드나 다른 팀원이 구현한 기능에서도 문제 원인을 분석하고 </a:t>
            </a:r>
            <a:r>
              <a:rPr lang="ko-KR" altLang="en-US" sz="1000" b="1" dirty="0">
                <a:solidFill>
                  <a:srgbClr val="F917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구조 개선을 통해 해결</a:t>
            </a:r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문제 해결 역량</a:t>
            </a:r>
            <a:endParaRPr lang="en-US" sz="1000" dirty="0"/>
          </a:p>
        </p:txBody>
      </p:sp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11"/>
          <a:srcRect t="-7603" b="-7603"/>
          <a:stretch/>
        </p:blipFill>
        <p:spPr>
          <a:xfrm>
            <a:off x="8734349" y="3455518"/>
            <a:ext cx="2609698" cy="2743"/>
          </a:xfrm>
          <a:prstGeom prst="rect">
            <a:avLst/>
          </a:prstGeom>
        </p:spPr>
      </p:pic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12"/>
          <a:srcRect t="-7563" b="-7563"/>
          <a:stretch/>
        </p:blipFill>
        <p:spPr>
          <a:xfrm>
            <a:off x="8734349" y="3455518"/>
            <a:ext cx="652882" cy="2743"/>
          </a:xfrm>
          <a:prstGeom prst="rect">
            <a:avLst/>
          </a:prstGeom>
        </p:spPr>
      </p:pic>
      <p:pic>
        <p:nvPicPr>
          <p:cNvPr id="30" name="Image 1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81905" y="3924605"/>
            <a:ext cx="3086100" cy="1828800"/>
          </a:xfrm>
          <a:prstGeom prst="rect">
            <a:avLst/>
          </a:prstGeom>
        </p:spPr>
      </p:pic>
      <p:sp>
        <p:nvSpPr>
          <p:cNvPr id="31" name="Shape 14"/>
          <p:cNvSpPr/>
          <p:nvPr/>
        </p:nvSpPr>
        <p:spPr>
          <a:xfrm>
            <a:off x="7648956" y="4086454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15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757770" y="4219956"/>
            <a:ext cx="237744" cy="190195"/>
          </a:xfrm>
          <a:prstGeom prst="rect">
            <a:avLst/>
          </a:prstGeom>
        </p:spPr>
      </p:pic>
      <p:sp>
        <p:nvSpPr>
          <p:cNvPr id="33" name="Text 15"/>
          <p:cNvSpPr txBox="1"/>
          <p:nvPr/>
        </p:nvSpPr>
        <p:spPr>
          <a:xfrm>
            <a:off x="5419649" y="4238244"/>
            <a:ext cx="2714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 03</a:t>
            </a:r>
            <a:endParaRPr lang="en-US" sz="1000" dirty="0"/>
          </a:p>
        </p:txBody>
      </p:sp>
      <p:sp>
        <p:nvSpPr>
          <p:cNvPr id="34" name="Text 16"/>
          <p:cNvSpPr txBox="1"/>
          <p:nvPr/>
        </p:nvSpPr>
        <p:spPr>
          <a:xfrm>
            <a:off x="5419649" y="4466844"/>
            <a:ext cx="27148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Structural Collab.</a:t>
            </a:r>
            <a:endParaRPr lang="en-US" sz="1500" dirty="0"/>
          </a:p>
        </p:txBody>
      </p:sp>
      <p:pic>
        <p:nvPicPr>
          <p:cNvPr id="36" name="Image 16" descr="preencoded.png"/>
          <p:cNvPicPr>
            <a:picLocks noChangeAspect="1"/>
          </p:cNvPicPr>
          <p:nvPr/>
        </p:nvPicPr>
        <p:blipFill>
          <a:blip r:embed="rId14"/>
          <a:srcRect t="-7603" b="-7603"/>
          <a:stretch/>
        </p:blipFill>
        <p:spPr>
          <a:xfrm>
            <a:off x="5419649" y="5512918"/>
            <a:ext cx="2609698" cy="2743"/>
          </a:xfrm>
          <a:prstGeom prst="rect">
            <a:avLst/>
          </a:prstGeom>
        </p:spPr>
      </p:pic>
      <p:pic>
        <p:nvPicPr>
          <p:cNvPr id="37" name="Image 17" descr="preencoded.png"/>
          <p:cNvPicPr>
            <a:picLocks noChangeAspect="1"/>
          </p:cNvPicPr>
          <p:nvPr/>
        </p:nvPicPr>
        <p:blipFill>
          <a:blip r:embed="rId15"/>
          <a:srcRect t="-7563" b="-7563"/>
          <a:stretch/>
        </p:blipFill>
        <p:spPr>
          <a:xfrm>
            <a:off x="5419649" y="5512918"/>
            <a:ext cx="652882" cy="2743"/>
          </a:xfrm>
          <a:prstGeom prst="rect">
            <a:avLst/>
          </a:prstGeom>
        </p:spPr>
      </p:pic>
      <p:pic>
        <p:nvPicPr>
          <p:cNvPr id="38" name="Image 1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96605" y="3971303"/>
            <a:ext cx="3086100" cy="1828800"/>
          </a:xfrm>
          <a:prstGeom prst="rect">
            <a:avLst/>
          </a:prstGeom>
        </p:spPr>
      </p:pic>
      <p:sp>
        <p:nvSpPr>
          <p:cNvPr id="39" name="Shape 18"/>
          <p:cNvSpPr/>
          <p:nvPr/>
        </p:nvSpPr>
        <p:spPr>
          <a:xfrm>
            <a:off x="10963656" y="4086454"/>
            <a:ext cx="457200" cy="4572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1096244" y="4219956"/>
            <a:ext cx="190195" cy="190195"/>
          </a:xfrm>
          <a:prstGeom prst="rect">
            <a:avLst/>
          </a:prstGeom>
        </p:spPr>
      </p:pic>
      <p:sp>
        <p:nvSpPr>
          <p:cNvPr id="41" name="Text 19"/>
          <p:cNvSpPr txBox="1"/>
          <p:nvPr/>
        </p:nvSpPr>
        <p:spPr>
          <a:xfrm>
            <a:off x="8734349" y="4238244"/>
            <a:ext cx="2714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6366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 04</a:t>
            </a:r>
            <a:endParaRPr lang="en-US" sz="1000" dirty="0"/>
          </a:p>
        </p:txBody>
      </p:sp>
      <p:sp>
        <p:nvSpPr>
          <p:cNvPr id="42" name="Text 20"/>
          <p:cNvSpPr txBox="1"/>
          <p:nvPr/>
        </p:nvSpPr>
        <p:spPr>
          <a:xfrm>
            <a:off x="8734349" y="4466844"/>
            <a:ext cx="27148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AI-Native Strategy</a:t>
            </a:r>
            <a:endParaRPr lang="en-US" sz="1500" dirty="0"/>
          </a:p>
        </p:txBody>
      </p:sp>
      <p:sp>
        <p:nvSpPr>
          <p:cNvPr id="43" name="Text 21"/>
          <p:cNvSpPr txBox="1"/>
          <p:nvPr/>
        </p:nvSpPr>
        <p:spPr>
          <a:xfrm>
            <a:off x="8734349" y="4886489"/>
            <a:ext cx="26865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활용해 개발 속도를 높이되</a:t>
            </a:r>
            <a:r>
              <a:rPr lang="en-US" altLang="ko-KR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생성된 코드의 구조와 동작을 이해하고 검증하는</a:t>
            </a:r>
            <a:r>
              <a:rPr lang="en-US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설계와 구현을 주도하는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주도권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확보 </a:t>
            </a:r>
            <a:endParaRPr lang="en-US" sz="1000" dirty="0"/>
          </a:p>
        </p:txBody>
      </p:sp>
      <p:pic>
        <p:nvPicPr>
          <p:cNvPr id="44" name="Image 20" descr="preencoded.png"/>
          <p:cNvPicPr>
            <a:picLocks noChangeAspect="1"/>
          </p:cNvPicPr>
          <p:nvPr/>
        </p:nvPicPr>
        <p:blipFill>
          <a:blip r:embed="rId17"/>
          <a:srcRect t="-7603" b="-7603"/>
          <a:stretch/>
        </p:blipFill>
        <p:spPr>
          <a:xfrm>
            <a:off x="8734349" y="5512918"/>
            <a:ext cx="2609698" cy="2743"/>
          </a:xfrm>
          <a:prstGeom prst="rect">
            <a:avLst/>
          </a:prstGeom>
        </p:spPr>
      </p:pic>
      <p:pic>
        <p:nvPicPr>
          <p:cNvPr id="45" name="Image 21" descr="preencoded.png"/>
          <p:cNvPicPr>
            <a:picLocks noChangeAspect="1"/>
          </p:cNvPicPr>
          <p:nvPr/>
        </p:nvPicPr>
        <p:blipFill>
          <a:blip r:embed="rId18"/>
          <a:srcRect t="-7563" b="-7563"/>
          <a:stretch/>
        </p:blipFill>
        <p:spPr>
          <a:xfrm>
            <a:off x="8734349" y="5512918"/>
            <a:ext cx="652882" cy="2743"/>
          </a:xfrm>
          <a:prstGeom prst="rect">
            <a:avLst/>
          </a:prstGeom>
        </p:spPr>
      </p:pic>
      <p:sp>
        <p:nvSpPr>
          <p:cNvPr id="46" name="Shape 22"/>
          <p:cNvSpPr/>
          <p:nvPr/>
        </p:nvSpPr>
        <p:spPr>
          <a:xfrm>
            <a:off x="609905" y="457200"/>
            <a:ext cx="1971446" cy="352044"/>
          </a:xfrm>
          <a:prstGeom prst="roundRect">
            <a:avLst>
              <a:gd name="adj" fmla="val 259740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7" name="Text 23"/>
          <p:cNvSpPr txBox="1"/>
          <p:nvPr/>
        </p:nvSpPr>
        <p:spPr>
          <a:xfrm>
            <a:off x="800100" y="533095"/>
            <a:ext cx="1666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REFLECTION</a:t>
            </a:r>
            <a:endParaRPr lang="en-US" sz="1000" dirty="0"/>
          </a:p>
        </p:txBody>
      </p:sp>
      <p:sp>
        <p:nvSpPr>
          <p:cNvPr id="48" name="Shape 24"/>
          <p:cNvSpPr/>
          <p:nvPr/>
        </p:nvSpPr>
        <p:spPr>
          <a:xfrm>
            <a:off x="2724912" y="457200"/>
            <a:ext cx="990295" cy="352044"/>
          </a:xfrm>
          <a:prstGeom prst="roundRect">
            <a:avLst>
              <a:gd name="adj" fmla="val 259740"/>
            </a:avLst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9" name="Text 25"/>
          <p:cNvSpPr txBox="1"/>
          <p:nvPr/>
        </p:nvSpPr>
        <p:spPr>
          <a:xfrm>
            <a:off x="2934310" y="533095"/>
            <a:ext cx="648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2026.03</a:t>
            </a:r>
            <a:endParaRPr lang="en-US" sz="1000" dirty="0"/>
          </a:p>
        </p:txBody>
      </p:sp>
      <p:sp>
        <p:nvSpPr>
          <p:cNvPr id="51" name="TextBox 50"/>
          <p:cNvSpPr txBox="1"/>
          <p:nvPr/>
        </p:nvSpPr>
        <p:spPr>
          <a:xfrm>
            <a:off x="93285" y="6604631"/>
            <a:ext cx="1664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A4_Project_2AI1_PA_</a:t>
            </a:r>
            <a:r>
              <a:rPr lang="ko-KR" altLang="en-US" sz="900" dirty="0" err="1" smtClean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함유라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334107" y="2738964"/>
            <a:ext cx="246623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시스템 관점에서 </a:t>
            </a:r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기능보다 </a:t>
            </a:r>
            <a:endParaRPr lang="en-US" altLang="ko-KR" sz="1000" dirty="0" smtClean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ko-KR" altLang="en-US" sz="1000" b="1" dirty="0" smtClean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</a:t>
            </a:r>
            <a:r>
              <a:rPr lang="ko-KR" alt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흐름과 구조를 이해하는 관점</a:t>
            </a:r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</a:t>
            </a:r>
            <a:endParaRPr lang="en-US" altLang="ko-KR" sz="1000" dirty="0" smtClean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en-US" altLang="ko-KR" sz="1000" b="1" dirty="0" err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통합적</a:t>
            </a:r>
            <a:r>
              <a:rPr lang="en-US" altLang="ko-KR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00" b="1" dirty="0" err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r>
              <a:rPr lang="en-US" altLang="ko-KR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00" b="1" dirty="0" err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역량</a:t>
            </a:r>
            <a:r>
              <a:rPr lang="en-US" altLang="ko-KR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중요성을 </a:t>
            </a:r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체감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5316394" y="4885703"/>
            <a:ext cx="325610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</a:t>
            </a:r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이해도 차이로 발생하는 소통 한계를 </a:t>
            </a:r>
            <a:endParaRPr lang="en-US" altLang="ko-KR" sz="1000" dirty="0" smtClean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ko-KR" altLang="en-US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극복하기 </a:t>
            </a:r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위해 </a:t>
            </a:r>
            <a:r>
              <a:rPr lang="ko-KR" altLang="en-US" sz="1000" b="1" dirty="0" smtClean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 </a:t>
            </a:r>
            <a:r>
              <a:rPr lang="ko-KR" altLang="en-US" sz="10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공유와 진행 상황을 명확히 </a:t>
            </a:r>
            <a:endParaRPr lang="en-US" altLang="ko-KR" sz="1000" b="1" dirty="0" smtClean="0">
              <a:solidFill>
                <a:srgbClr val="6D28D9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ko-KR" altLang="en-US" sz="1000" b="1" dirty="0" smtClean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관리하는 구조화된 </a:t>
            </a:r>
            <a:r>
              <a:rPr lang="ko-KR" altLang="en-US" sz="10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</a:t>
            </a:r>
            <a:r>
              <a:rPr lang="ko-KR" altLang="en-US" sz="1000" b="1" dirty="0" smtClean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방식</a:t>
            </a:r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</a:t>
            </a:r>
            <a:r>
              <a:rPr lang="ko-KR" altLang="en-US" sz="1000" b="1" dirty="0" smtClean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00" dirty="0" smtClean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필요성을 </a:t>
            </a:r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-952348" y="-959663"/>
            <a:ext cx="3810305" cy="381030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5902" y="3524098"/>
            <a:ext cx="4762195" cy="4762195"/>
          </a:xfrm>
          <a:prstGeom prst="ellipse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58707" y="952805"/>
            <a:ext cx="1429207" cy="1429207"/>
          </a:xfrm>
          <a:prstGeom prst="ellipse">
            <a:avLst/>
          </a:prstGeom>
          <a:solidFill>
            <a:srgbClr val="8B5C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952805" y="4953305"/>
            <a:ext cx="952805" cy="9528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287000" y="952805"/>
            <a:ext cx="952805" cy="952805"/>
          </a:xfrm>
          <a:prstGeom prst="rect">
            <a:avLst/>
          </a:prstGeom>
        </p:spPr>
      </p:pic>
      <p:grpSp>
        <p:nvGrpSpPr>
          <p:cNvPr id="25" name="그룹 24"/>
          <p:cNvGrpSpPr/>
          <p:nvPr/>
        </p:nvGrpSpPr>
        <p:grpSpPr>
          <a:xfrm>
            <a:off x="5285504" y="945490"/>
            <a:ext cx="1695298" cy="400507"/>
            <a:chOff x="5285504" y="945490"/>
            <a:chExt cx="1695298" cy="400507"/>
          </a:xfrm>
        </p:grpSpPr>
        <p:sp>
          <p:nvSpPr>
            <p:cNvPr id="9" name="Shape 5"/>
            <p:cNvSpPr/>
            <p:nvPr/>
          </p:nvSpPr>
          <p:spPr>
            <a:xfrm>
              <a:off x="5285504" y="945490"/>
              <a:ext cx="1695298" cy="400507"/>
            </a:xfrm>
            <a:prstGeom prst="roundRect">
              <a:avLst>
                <a:gd name="adj" fmla="val 228311"/>
              </a:avLst>
            </a:prstGeom>
            <a:solidFill>
              <a:schemeClr val="bg2"/>
            </a:solidFill>
            <a:ln w="12700">
              <a:solidFill>
                <a:srgbClr val="BFDBFE"/>
              </a:solidFill>
              <a:prstDash val="solid"/>
            </a:ln>
            <a:effectLst>
              <a:outerShdw blurRad="63500" dist="38100" dir="16200000" algn="bl" rotWithShape="0">
                <a:srgbClr val="2563EB">
                  <a:alpha val="10000"/>
                </a:srgbClr>
              </a:outerShdw>
            </a:effectLst>
          </p:spPr>
        </p:sp>
        <p:sp>
          <p:nvSpPr>
            <p:cNvPr id="11" name="Text 6"/>
            <p:cNvSpPr txBox="1"/>
            <p:nvPr/>
          </p:nvSpPr>
          <p:spPr>
            <a:xfrm>
              <a:off x="5627947" y="945490"/>
              <a:ext cx="1010412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9177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Q&amp;A Session</a:t>
              </a:r>
              <a:endParaRPr lang="en-US" sz="1200" dirty="0">
                <a:solidFill>
                  <a:srgbClr val="F9177D"/>
                </a:solidFill>
              </a:endParaRPr>
            </a:p>
          </p:txBody>
        </p:sp>
      </p:grpSp>
      <p:sp>
        <p:nvSpPr>
          <p:cNvPr id="12" name="Text 7"/>
          <p:cNvSpPr txBox="1"/>
          <p:nvPr/>
        </p:nvSpPr>
        <p:spPr>
          <a:xfrm>
            <a:off x="3955694" y="1631290"/>
            <a:ext cx="428945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108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5400" dirty="0"/>
          </a:p>
        </p:txBody>
      </p:sp>
      <p:sp>
        <p:nvSpPr>
          <p:cNvPr id="13" name="Text 8"/>
          <p:cNvSpPr txBox="1"/>
          <p:nvPr/>
        </p:nvSpPr>
        <p:spPr>
          <a:xfrm>
            <a:off x="3114936" y="2479343"/>
            <a:ext cx="5906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시간 동안 경청해 주셔서 진심으로 감사드립니다.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799420" y="2535299"/>
            <a:ext cx="58009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프로젝트에 대해 궁금한 점이 있으시면 편하게 질문해 주세요.</a:t>
            </a:r>
            <a:endParaRPr lang="en-US" sz="1800" dirty="0"/>
          </a:p>
        </p:txBody>
      </p:sp>
      <p:grpSp>
        <p:nvGrpSpPr>
          <p:cNvPr id="30" name="그룹 29"/>
          <p:cNvGrpSpPr/>
          <p:nvPr/>
        </p:nvGrpSpPr>
        <p:grpSpPr>
          <a:xfrm>
            <a:off x="392235" y="4037383"/>
            <a:ext cx="3500957" cy="1088426"/>
            <a:chOff x="793327" y="3140917"/>
            <a:chExt cx="3500957" cy="1088426"/>
          </a:xfrm>
        </p:grpSpPr>
        <p:grpSp>
          <p:nvGrpSpPr>
            <p:cNvPr id="31" name="그룹 30"/>
            <p:cNvGrpSpPr/>
            <p:nvPr/>
          </p:nvGrpSpPr>
          <p:grpSpPr>
            <a:xfrm>
              <a:off x="856435" y="3140917"/>
              <a:ext cx="3437849" cy="1080000"/>
              <a:chOff x="856435" y="3140917"/>
              <a:chExt cx="3437849" cy="1080000"/>
            </a:xfrm>
          </p:grpSpPr>
          <p:pic>
            <p:nvPicPr>
              <p:cNvPr id="40" name="Image 3" descr="preencoded.png"/>
              <p:cNvPicPr>
                <a:picLocks noChangeAspect="1"/>
              </p:cNvPicPr>
              <p:nvPr/>
            </p:nvPicPr>
            <p:blipFill>
              <a:blip r:embed="rId4"/>
              <a:srcRect l="-7" r="-7"/>
              <a:stretch/>
            </p:blipFill>
            <p:spPr>
              <a:xfrm>
                <a:off x="856435" y="3140917"/>
                <a:ext cx="3437849" cy="1080000"/>
              </a:xfrm>
              <a:prstGeom prst="rect">
                <a:avLst/>
              </a:prstGeom>
            </p:spPr>
          </p:pic>
          <p:grpSp>
            <p:nvGrpSpPr>
              <p:cNvPr id="41" name="그룹 40"/>
              <p:cNvGrpSpPr/>
              <p:nvPr/>
            </p:nvGrpSpPr>
            <p:grpSpPr>
              <a:xfrm>
                <a:off x="985431" y="3321481"/>
                <a:ext cx="761695" cy="761695"/>
                <a:chOff x="3803985" y="4846794"/>
                <a:chExt cx="761695" cy="761695"/>
              </a:xfrm>
            </p:grpSpPr>
            <p:pic>
              <p:nvPicPr>
                <p:cNvPr id="42" name="Image 4" descr="preencoded.png"/>
                <p:cNvPicPr>
                  <a:picLocks noChangeAspect="1"/>
                </p:cNvPicPr>
                <p:nvPr/>
              </p:nvPicPr>
              <p:blipFill>
                <a:blip r:embed="rId5"/>
                <a:srcRect/>
                <a:stretch/>
              </p:blipFill>
              <p:spPr>
                <a:xfrm>
                  <a:off x="3803985" y="4846794"/>
                  <a:ext cx="761695" cy="761695"/>
                </a:xfrm>
                <a:prstGeom prst="rect">
                  <a:avLst/>
                </a:prstGeom>
              </p:spPr>
            </p:pic>
            <p:pic>
              <p:nvPicPr>
                <p:cNvPr id="43" name="Image 5" descr="preencoded.png"/>
                <p:cNvPicPr>
                  <a:picLocks noChangeAspect="1"/>
                </p:cNvPicPr>
                <p:nvPr/>
              </p:nvPicPr>
              <p:blipFill>
                <a:blip r:embed="rId6"/>
                <a:srcRect l="-107" r="-107"/>
                <a:stretch/>
              </p:blipFill>
              <p:spPr>
                <a:xfrm>
                  <a:off x="4051329" y="5011625"/>
                  <a:ext cx="267005" cy="30449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2" name="그룹 31"/>
            <p:cNvGrpSpPr/>
            <p:nvPr/>
          </p:nvGrpSpPr>
          <p:grpSpPr>
            <a:xfrm>
              <a:off x="1761678" y="3213320"/>
              <a:ext cx="2264091" cy="941032"/>
              <a:chOff x="4765310" y="4731106"/>
              <a:chExt cx="2264091" cy="941032"/>
            </a:xfrm>
          </p:grpSpPr>
          <p:sp>
            <p:nvSpPr>
              <p:cNvPr id="34" name="Text 11"/>
              <p:cNvSpPr txBox="1"/>
              <p:nvPr/>
            </p:nvSpPr>
            <p:spPr>
              <a:xfrm>
                <a:off x="4765310" y="4731106"/>
                <a:ext cx="946594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ko-KR" altLang="en-US" b="1" dirty="0" err="1" smtClean="0">
                    <a:solidFill>
                      <a:srgbClr val="1F2937"/>
                    </a:solidFill>
                    <a:latin typeface="Noto Sans KR" pitchFamily="34" charset="0"/>
                    <a:ea typeface="Noto Sans KR" pitchFamily="34" charset="-122"/>
                  </a:rPr>
                  <a:t>함유라</a:t>
                </a:r>
                <a:endParaRPr lang="en-US" sz="1800" dirty="0"/>
              </a:p>
            </p:txBody>
          </p:sp>
          <p:sp>
            <p:nvSpPr>
              <p:cNvPr id="35" name="Text 12"/>
              <p:cNvSpPr txBox="1"/>
              <p:nvPr/>
            </p:nvSpPr>
            <p:spPr>
              <a:xfrm>
                <a:off x="4821999" y="5039020"/>
                <a:ext cx="2047342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Planning  Architecture</a:t>
                </a:r>
              </a:p>
            </p:txBody>
          </p:sp>
          <p:pic>
            <p:nvPicPr>
              <p:cNvPr id="36" name="Image 6" descr="preencoded.png"/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4847643" y="5298196"/>
                <a:ext cx="133502" cy="133502"/>
              </a:xfrm>
              <a:prstGeom prst="rect">
                <a:avLst/>
              </a:prstGeom>
            </p:spPr>
          </p:pic>
          <p:sp>
            <p:nvSpPr>
              <p:cNvPr id="37" name="Text 13"/>
              <p:cNvSpPr txBox="1"/>
              <p:nvPr/>
            </p:nvSpPr>
            <p:spPr>
              <a:xfrm>
                <a:off x="5038752" y="5265278"/>
                <a:ext cx="1990649" cy="2002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dirty="0" smtClean="0">
                    <a:solidFill>
                      <a:srgbClr val="4B5563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hamyoora5@gmail.com</a:t>
                </a:r>
                <a:endParaRPr lang="en-US" sz="1000" dirty="0"/>
              </a:p>
            </p:txBody>
          </p:sp>
          <p:pic>
            <p:nvPicPr>
              <p:cNvPr id="38" name="Image 7" descr="preencoded.png"/>
              <p:cNvPicPr>
                <a:picLocks noChangeAspect="1"/>
              </p:cNvPicPr>
              <p:nvPr/>
            </p:nvPicPr>
            <p:blipFill>
              <a:blip r:embed="rId8"/>
              <a:srcRect l="-1613" r="-1613"/>
              <a:stretch/>
            </p:blipFill>
            <p:spPr>
              <a:xfrm>
                <a:off x="4848557" y="5504802"/>
                <a:ext cx="133502" cy="133502"/>
              </a:xfrm>
              <a:prstGeom prst="rect">
                <a:avLst/>
              </a:prstGeom>
            </p:spPr>
          </p:pic>
          <p:sp>
            <p:nvSpPr>
              <p:cNvPr id="39" name="Text 14"/>
              <p:cNvSpPr txBox="1"/>
              <p:nvPr/>
            </p:nvSpPr>
            <p:spPr>
              <a:xfrm>
                <a:off x="5038752" y="5471884"/>
                <a:ext cx="1573682" cy="2002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dirty="0">
                    <a:solidFill>
                      <a:srgbClr val="4B5563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github.com/hamyoora5</a:t>
                </a:r>
                <a:endParaRPr lang="en-US" sz="1000" dirty="0"/>
              </a:p>
            </p:txBody>
          </p:sp>
        </p:grpSp>
        <p:sp>
          <p:nvSpPr>
            <p:cNvPr id="33" name="Shape 10"/>
            <p:cNvSpPr/>
            <p:nvPr/>
          </p:nvSpPr>
          <p:spPr>
            <a:xfrm>
              <a:off x="793327" y="3149343"/>
              <a:ext cx="57607" cy="1080000"/>
            </a:xfrm>
            <a:prstGeom prst="rect">
              <a:avLst/>
            </a:prstGeom>
            <a:solidFill>
              <a:srgbClr val="F9177D"/>
            </a:solidFill>
            <a:ln w="12700">
              <a:solidFill>
                <a:srgbClr val="F9177D">
                  <a:alpha val="0"/>
                </a:srgbClr>
              </a:solidFill>
              <a:prstDash val="solid"/>
            </a:ln>
          </p:spPr>
        </p:sp>
      </p:grpSp>
      <p:grpSp>
        <p:nvGrpSpPr>
          <p:cNvPr id="72" name="그룹 71"/>
          <p:cNvGrpSpPr/>
          <p:nvPr/>
        </p:nvGrpSpPr>
        <p:grpSpPr>
          <a:xfrm>
            <a:off x="4405783" y="4048257"/>
            <a:ext cx="3500957" cy="1088426"/>
            <a:chOff x="793327" y="3140917"/>
            <a:chExt cx="3500957" cy="1088426"/>
          </a:xfrm>
        </p:grpSpPr>
        <p:grpSp>
          <p:nvGrpSpPr>
            <p:cNvPr id="73" name="그룹 72"/>
            <p:cNvGrpSpPr/>
            <p:nvPr/>
          </p:nvGrpSpPr>
          <p:grpSpPr>
            <a:xfrm>
              <a:off x="856435" y="3140917"/>
              <a:ext cx="3437849" cy="1080000"/>
              <a:chOff x="856435" y="3140917"/>
              <a:chExt cx="3437849" cy="1080000"/>
            </a:xfrm>
          </p:grpSpPr>
          <p:pic>
            <p:nvPicPr>
              <p:cNvPr id="82" name="Image 3" descr="preencoded.png"/>
              <p:cNvPicPr>
                <a:picLocks noChangeAspect="1"/>
              </p:cNvPicPr>
              <p:nvPr/>
            </p:nvPicPr>
            <p:blipFill>
              <a:blip r:embed="rId4"/>
              <a:srcRect l="-7" r="-7"/>
              <a:stretch/>
            </p:blipFill>
            <p:spPr>
              <a:xfrm>
                <a:off x="856435" y="3140917"/>
                <a:ext cx="3437849" cy="1080000"/>
              </a:xfrm>
              <a:prstGeom prst="rect">
                <a:avLst/>
              </a:prstGeom>
            </p:spPr>
          </p:pic>
          <p:grpSp>
            <p:nvGrpSpPr>
              <p:cNvPr id="83" name="그룹 82"/>
              <p:cNvGrpSpPr/>
              <p:nvPr/>
            </p:nvGrpSpPr>
            <p:grpSpPr>
              <a:xfrm>
                <a:off x="985431" y="3321481"/>
                <a:ext cx="761695" cy="761695"/>
                <a:chOff x="3803985" y="4846794"/>
                <a:chExt cx="761695" cy="761695"/>
              </a:xfrm>
            </p:grpSpPr>
            <p:pic>
              <p:nvPicPr>
                <p:cNvPr id="84" name="Image 4" descr="preencoded.png"/>
                <p:cNvPicPr>
                  <a:picLocks noChangeAspect="1"/>
                </p:cNvPicPr>
                <p:nvPr/>
              </p:nvPicPr>
              <p:blipFill>
                <a:blip r:embed="rId5"/>
                <a:srcRect/>
                <a:stretch/>
              </p:blipFill>
              <p:spPr>
                <a:xfrm>
                  <a:off x="3803985" y="4846794"/>
                  <a:ext cx="761695" cy="761695"/>
                </a:xfrm>
                <a:prstGeom prst="rect">
                  <a:avLst/>
                </a:prstGeom>
              </p:spPr>
            </p:pic>
            <p:pic>
              <p:nvPicPr>
                <p:cNvPr id="85" name="Image 5" descr="preencoded.png"/>
                <p:cNvPicPr>
                  <a:picLocks noChangeAspect="1"/>
                </p:cNvPicPr>
                <p:nvPr/>
              </p:nvPicPr>
              <p:blipFill>
                <a:blip r:embed="rId6"/>
                <a:srcRect l="-107" r="-107"/>
                <a:stretch/>
              </p:blipFill>
              <p:spPr>
                <a:xfrm>
                  <a:off x="4051329" y="5011625"/>
                  <a:ext cx="267005" cy="30449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4" name="그룹 73"/>
            <p:cNvGrpSpPr/>
            <p:nvPr/>
          </p:nvGrpSpPr>
          <p:grpSpPr>
            <a:xfrm>
              <a:off x="1761678" y="3213320"/>
              <a:ext cx="1847124" cy="941032"/>
              <a:chOff x="4765310" y="4731106"/>
              <a:chExt cx="1847124" cy="941032"/>
            </a:xfrm>
          </p:grpSpPr>
          <p:sp>
            <p:nvSpPr>
              <p:cNvPr id="76" name="Text 11"/>
              <p:cNvSpPr txBox="1"/>
              <p:nvPr/>
            </p:nvSpPr>
            <p:spPr>
              <a:xfrm>
                <a:off x="4765310" y="4731106"/>
                <a:ext cx="946594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ko-KR" altLang="en-US" b="1" dirty="0" err="1" smtClean="0">
                    <a:solidFill>
                      <a:srgbClr val="1F2937"/>
                    </a:solidFill>
                    <a:latin typeface="Noto Sans KR" pitchFamily="34" charset="0"/>
                    <a:ea typeface="Noto Sans KR" pitchFamily="34" charset="-122"/>
                  </a:rPr>
                  <a:t>엄재민</a:t>
                </a:r>
                <a:endParaRPr lang="en-US" sz="1800" dirty="0"/>
              </a:p>
            </p:txBody>
          </p:sp>
          <p:sp>
            <p:nvSpPr>
              <p:cNvPr id="77" name="Text 12"/>
              <p:cNvSpPr txBox="1"/>
              <p:nvPr/>
            </p:nvSpPr>
            <p:spPr>
              <a:xfrm>
                <a:off x="4834701" y="5029281"/>
                <a:ext cx="175418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System Architecture</a:t>
                </a:r>
              </a:p>
            </p:txBody>
          </p:sp>
          <p:pic>
            <p:nvPicPr>
              <p:cNvPr id="78" name="Image 6" descr="preencoded.png"/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4847643" y="5298196"/>
                <a:ext cx="133502" cy="133502"/>
              </a:xfrm>
              <a:prstGeom prst="rect">
                <a:avLst/>
              </a:prstGeom>
            </p:spPr>
          </p:pic>
          <p:pic>
            <p:nvPicPr>
              <p:cNvPr id="80" name="Image 7" descr="preencoded.png"/>
              <p:cNvPicPr>
                <a:picLocks noChangeAspect="1"/>
              </p:cNvPicPr>
              <p:nvPr/>
            </p:nvPicPr>
            <p:blipFill>
              <a:blip r:embed="rId8"/>
              <a:srcRect l="-1613" r="-1613"/>
              <a:stretch/>
            </p:blipFill>
            <p:spPr>
              <a:xfrm>
                <a:off x="4848557" y="5504802"/>
                <a:ext cx="133502" cy="133502"/>
              </a:xfrm>
              <a:prstGeom prst="rect">
                <a:avLst/>
              </a:prstGeom>
            </p:spPr>
          </p:pic>
          <p:sp>
            <p:nvSpPr>
              <p:cNvPr id="81" name="Text 14"/>
              <p:cNvSpPr txBox="1"/>
              <p:nvPr/>
            </p:nvSpPr>
            <p:spPr>
              <a:xfrm>
                <a:off x="5038752" y="5471884"/>
                <a:ext cx="1573682" cy="2002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dirty="0">
                    <a:solidFill>
                      <a:srgbClr val="4B5563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github.com/jaemin1020</a:t>
                </a:r>
                <a:endParaRPr lang="en-US" sz="1000" dirty="0"/>
              </a:p>
            </p:txBody>
          </p:sp>
        </p:grpSp>
        <p:sp>
          <p:nvSpPr>
            <p:cNvPr id="75" name="Shape 10"/>
            <p:cNvSpPr/>
            <p:nvPr/>
          </p:nvSpPr>
          <p:spPr>
            <a:xfrm>
              <a:off x="793327" y="3149343"/>
              <a:ext cx="57607" cy="1080000"/>
            </a:xfrm>
            <a:prstGeom prst="rect">
              <a:avLst/>
            </a:prstGeom>
            <a:solidFill>
              <a:srgbClr val="FEA402"/>
            </a:solidFill>
            <a:ln w="12700">
              <a:solidFill>
                <a:srgbClr val="FEA402">
                  <a:alpha val="0"/>
                </a:srgbClr>
              </a:solidFill>
              <a:prstDash val="solid"/>
            </a:ln>
          </p:spPr>
        </p:sp>
      </p:grpSp>
      <p:grpSp>
        <p:nvGrpSpPr>
          <p:cNvPr id="86" name="그룹 85"/>
          <p:cNvGrpSpPr/>
          <p:nvPr/>
        </p:nvGrpSpPr>
        <p:grpSpPr>
          <a:xfrm>
            <a:off x="8358581" y="4033170"/>
            <a:ext cx="3500957" cy="1088426"/>
            <a:chOff x="793327" y="3140917"/>
            <a:chExt cx="3500957" cy="1088426"/>
          </a:xfrm>
        </p:grpSpPr>
        <p:grpSp>
          <p:nvGrpSpPr>
            <p:cNvPr id="87" name="그룹 86"/>
            <p:cNvGrpSpPr/>
            <p:nvPr/>
          </p:nvGrpSpPr>
          <p:grpSpPr>
            <a:xfrm>
              <a:off x="856435" y="3140917"/>
              <a:ext cx="3437849" cy="1080000"/>
              <a:chOff x="856435" y="3140917"/>
              <a:chExt cx="3437849" cy="1080000"/>
            </a:xfrm>
          </p:grpSpPr>
          <p:pic>
            <p:nvPicPr>
              <p:cNvPr id="96" name="Image 3" descr="preencoded.png"/>
              <p:cNvPicPr>
                <a:picLocks noChangeAspect="1"/>
              </p:cNvPicPr>
              <p:nvPr/>
            </p:nvPicPr>
            <p:blipFill>
              <a:blip r:embed="rId4"/>
              <a:srcRect l="-7" r="-7"/>
              <a:stretch/>
            </p:blipFill>
            <p:spPr>
              <a:xfrm>
                <a:off x="856435" y="3140917"/>
                <a:ext cx="3437849" cy="1080000"/>
              </a:xfrm>
              <a:prstGeom prst="rect">
                <a:avLst/>
              </a:prstGeom>
            </p:spPr>
          </p:pic>
          <p:grpSp>
            <p:nvGrpSpPr>
              <p:cNvPr id="97" name="그룹 96"/>
              <p:cNvGrpSpPr/>
              <p:nvPr/>
            </p:nvGrpSpPr>
            <p:grpSpPr>
              <a:xfrm>
                <a:off x="985431" y="3321481"/>
                <a:ext cx="761695" cy="761695"/>
                <a:chOff x="3803985" y="4846794"/>
                <a:chExt cx="761695" cy="761695"/>
              </a:xfrm>
            </p:grpSpPr>
            <p:pic>
              <p:nvPicPr>
                <p:cNvPr id="98" name="Image 4" descr="preencoded.png"/>
                <p:cNvPicPr>
                  <a:picLocks noChangeAspect="1"/>
                </p:cNvPicPr>
                <p:nvPr/>
              </p:nvPicPr>
              <p:blipFill>
                <a:blip r:embed="rId5"/>
                <a:srcRect/>
                <a:stretch/>
              </p:blipFill>
              <p:spPr>
                <a:xfrm>
                  <a:off x="3803985" y="4846794"/>
                  <a:ext cx="761695" cy="761695"/>
                </a:xfrm>
                <a:prstGeom prst="rect">
                  <a:avLst/>
                </a:prstGeom>
              </p:spPr>
            </p:pic>
            <p:pic>
              <p:nvPicPr>
                <p:cNvPr id="99" name="Image 5" descr="preencoded.png"/>
                <p:cNvPicPr>
                  <a:picLocks noChangeAspect="1"/>
                </p:cNvPicPr>
                <p:nvPr/>
              </p:nvPicPr>
              <p:blipFill>
                <a:blip r:embed="rId6"/>
                <a:srcRect l="-107" r="-107"/>
                <a:stretch/>
              </p:blipFill>
              <p:spPr>
                <a:xfrm>
                  <a:off x="4051329" y="5011625"/>
                  <a:ext cx="267005" cy="30449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8" name="그룹 87"/>
            <p:cNvGrpSpPr/>
            <p:nvPr/>
          </p:nvGrpSpPr>
          <p:grpSpPr>
            <a:xfrm>
              <a:off x="1761678" y="3213320"/>
              <a:ext cx="2264091" cy="936068"/>
              <a:chOff x="4765310" y="4731106"/>
              <a:chExt cx="2264091" cy="936068"/>
            </a:xfrm>
          </p:grpSpPr>
          <p:sp>
            <p:nvSpPr>
              <p:cNvPr id="90" name="Text 11"/>
              <p:cNvSpPr txBox="1"/>
              <p:nvPr/>
            </p:nvSpPr>
            <p:spPr>
              <a:xfrm>
                <a:off x="4765310" y="4731106"/>
                <a:ext cx="946594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ko-KR" altLang="en-US" b="1" dirty="0" err="1" smtClean="0">
                    <a:solidFill>
                      <a:srgbClr val="1F2937"/>
                    </a:solidFill>
                    <a:latin typeface="Noto Sans KR" pitchFamily="34" charset="0"/>
                    <a:ea typeface="Noto Sans KR" pitchFamily="34" charset="-122"/>
                  </a:rPr>
                  <a:t>김린</a:t>
                </a:r>
                <a:endParaRPr lang="en-US" sz="1800" dirty="0"/>
              </a:p>
            </p:txBody>
          </p:sp>
          <p:pic>
            <p:nvPicPr>
              <p:cNvPr id="92" name="Image 6" descr="preencoded.png"/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4847643" y="5298196"/>
                <a:ext cx="133502" cy="133502"/>
              </a:xfrm>
              <a:prstGeom prst="rect">
                <a:avLst/>
              </a:prstGeom>
            </p:spPr>
          </p:pic>
          <p:sp>
            <p:nvSpPr>
              <p:cNvPr id="93" name="Text 13"/>
              <p:cNvSpPr txBox="1"/>
              <p:nvPr/>
            </p:nvSpPr>
            <p:spPr>
              <a:xfrm>
                <a:off x="5038752" y="5265278"/>
                <a:ext cx="1990649" cy="2002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dirty="0" smtClean="0">
                    <a:solidFill>
                      <a:srgbClr val="4B5563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nli830052.lee@gamil.com</a:t>
                </a:r>
                <a:endParaRPr lang="en-US" sz="1000" dirty="0"/>
              </a:p>
            </p:txBody>
          </p:sp>
          <p:pic>
            <p:nvPicPr>
              <p:cNvPr id="94" name="Image 7" descr="preencoded.png"/>
              <p:cNvPicPr>
                <a:picLocks noChangeAspect="1"/>
              </p:cNvPicPr>
              <p:nvPr/>
            </p:nvPicPr>
            <p:blipFill>
              <a:blip r:embed="rId8"/>
              <a:srcRect l="-1613" r="-1613"/>
              <a:stretch/>
            </p:blipFill>
            <p:spPr>
              <a:xfrm>
                <a:off x="4848557" y="5504802"/>
                <a:ext cx="133502" cy="133502"/>
              </a:xfrm>
              <a:prstGeom prst="rect">
                <a:avLst/>
              </a:prstGeom>
            </p:spPr>
          </p:pic>
          <p:sp>
            <p:nvSpPr>
              <p:cNvPr id="95" name="Text 14"/>
              <p:cNvSpPr txBox="1"/>
              <p:nvPr/>
            </p:nvSpPr>
            <p:spPr>
              <a:xfrm>
                <a:off x="5038752" y="5471884"/>
                <a:ext cx="1930680" cy="1952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dirty="0">
                    <a:solidFill>
                      <a:srgbClr val="4B5563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github.com/nli830052-cmd</a:t>
                </a:r>
                <a:endParaRPr lang="en-US" sz="1000" dirty="0"/>
              </a:p>
            </p:txBody>
          </p:sp>
        </p:grpSp>
        <p:sp>
          <p:nvSpPr>
            <p:cNvPr id="89" name="Shape 10"/>
            <p:cNvSpPr/>
            <p:nvPr/>
          </p:nvSpPr>
          <p:spPr>
            <a:xfrm>
              <a:off x="793327" y="3149343"/>
              <a:ext cx="57607" cy="1080000"/>
            </a:xfrm>
            <a:prstGeom prst="rect">
              <a:avLst/>
            </a:prstGeom>
            <a:solidFill>
              <a:srgbClr val="1B5E20"/>
            </a:solidFill>
            <a:ln w="12700">
              <a:solidFill>
                <a:srgbClr val="1B5E20">
                  <a:alpha val="0"/>
                </a:srgbClr>
              </a:solidFill>
              <a:prstDash val="solid"/>
            </a:ln>
          </p:spPr>
        </p:sp>
      </p:grpSp>
      <p:grpSp>
        <p:nvGrpSpPr>
          <p:cNvPr id="100" name="그룹 99"/>
          <p:cNvGrpSpPr/>
          <p:nvPr/>
        </p:nvGrpSpPr>
        <p:grpSpPr>
          <a:xfrm>
            <a:off x="392235" y="5453427"/>
            <a:ext cx="4809642" cy="1088426"/>
            <a:chOff x="793327" y="3140917"/>
            <a:chExt cx="4809642" cy="1088426"/>
          </a:xfrm>
        </p:grpSpPr>
        <p:grpSp>
          <p:nvGrpSpPr>
            <p:cNvPr id="101" name="그룹 100"/>
            <p:cNvGrpSpPr/>
            <p:nvPr/>
          </p:nvGrpSpPr>
          <p:grpSpPr>
            <a:xfrm>
              <a:off x="856435" y="3140917"/>
              <a:ext cx="3437849" cy="1080000"/>
              <a:chOff x="856435" y="3140917"/>
              <a:chExt cx="3437849" cy="1080000"/>
            </a:xfrm>
          </p:grpSpPr>
          <p:pic>
            <p:nvPicPr>
              <p:cNvPr id="110" name="Image 3" descr="preencoded.png"/>
              <p:cNvPicPr>
                <a:picLocks noChangeAspect="1"/>
              </p:cNvPicPr>
              <p:nvPr/>
            </p:nvPicPr>
            <p:blipFill>
              <a:blip r:embed="rId4"/>
              <a:srcRect l="-7" r="-7"/>
              <a:stretch/>
            </p:blipFill>
            <p:spPr>
              <a:xfrm>
                <a:off x="856435" y="3140917"/>
                <a:ext cx="3437849" cy="1080000"/>
              </a:xfrm>
              <a:prstGeom prst="rect">
                <a:avLst/>
              </a:prstGeom>
            </p:spPr>
          </p:pic>
          <p:grpSp>
            <p:nvGrpSpPr>
              <p:cNvPr id="111" name="그룹 110"/>
              <p:cNvGrpSpPr/>
              <p:nvPr/>
            </p:nvGrpSpPr>
            <p:grpSpPr>
              <a:xfrm>
                <a:off x="985431" y="3321481"/>
                <a:ext cx="761695" cy="761695"/>
                <a:chOff x="3803985" y="4846794"/>
                <a:chExt cx="761695" cy="761695"/>
              </a:xfrm>
            </p:grpSpPr>
            <p:pic>
              <p:nvPicPr>
                <p:cNvPr id="112" name="Image 4" descr="preencoded.png"/>
                <p:cNvPicPr>
                  <a:picLocks noChangeAspect="1"/>
                </p:cNvPicPr>
                <p:nvPr/>
              </p:nvPicPr>
              <p:blipFill>
                <a:blip r:embed="rId5"/>
                <a:srcRect/>
                <a:stretch/>
              </p:blipFill>
              <p:spPr>
                <a:xfrm>
                  <a:off x="3803985" y="4846794"/>
                  <a:ext cx="761695" cy="761695"/>
                </a:xfrm>
                <a:prstGeom prst="rect">
                  <a:avLst/>
                </a:prstGeom>
              </p:spPr>
            </p:pic>
            <p:pic>
              <p:nvPicPr>
                <p:cNvPr id="113" name="Image 5" descr="preencoded.png"/>
                <p:cNvPicPr>
                  <a:picLocks noChangeAspect="1"/>
                </p:cNvPicPr>
                <p:nvPr/>
              </p:nvPicPr>
              <p:blipFill>
                <a:blip r:embed="rId6"/>
                <a:srcRect l="-107" r="-107"/>
                <a:stretch/>
              </p:blipFill>
              <p:spPr>
                <a:xfrm>
                  <a:off x="4051329" y="5011625"/>
                  <a:ext cx="267005" cy="30449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" name="그룹 101"/>
            <p:cNvGrpSpPr/>
            <p:nvPr/>
          </p:nvGrpSpPr>
          <p:grpSpPr>
            <a:xfrm>
              <a:off x="1761678" y="3213320"/>
              <a:ext cx="3841291" cy="941032"/>
              <a:chOff x="4765310" y="4731106"/>
              <a:chExt cx="3841291" cy="941032"/>
            </a:xfrm>
          </p:grpSpPr>
          <p:sp>
            <p:nvSpPr>
              <p:cNvPr id="104" name="Text 11"/>
              <p:cNvSpPr txBox="1"/>
              <p:nvPr/>
            </p:nvSpPr>
            <p:spPr>
              <a:xfrm>
                <a:off x="4765310" y="4731106"/>
                <a:ext cx="946594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ko-KR" altLang="en-US" b="1" dirty="0" err="1" smtClean="0">
                    <a:solidFill>
                      <a:srgbClr val="1F2937"/>
                    </a:solidFill>
                    <a:latin typeface="Noto Sans KR" pitchFamily="34" charset="0"/>
                    <a:ea typeface="Noto Sans KR" pitchFamily="34" charset="-122"/>
                  </a:rPr>
                  <a:t>조윤재</a:t>
                </a:r>
                <a:endParaRPr lang="en-US" sz="1800" dirty="0"/>
              </a:p>
            </p:txBody>
          </p:sp>
          <p:sp>
            <p:nvSpPr>
              <p:cNvPr id="105" name="Text 12"/>
              <p:cNvSpPr txBox="1"/>
              <p:nvPr/>
            </p:nvSpPr>
            <p:spPr>
              <a:xfrm>
                <a:off x="4834701" y="5029281"/>
                <a:ext cx="37719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Model Architecture</a:t>
                </a:r>
              </a:p>
            </p:txBody>
          </p:sp>
          <p:pic>
            <p:nvPicPr>
              <p:cNvPr id="106" name="Image 6" descr="preencoded.png"/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4847643" y="5298196"/>
                <a:ext cx="133502" cy="133502"/>
              </a:xfrm>
              <a:prstGeom prst="rect">
                <a:avLst/>
              </a:prstGeom>
            </p:spPr>
          </p:pic>
          <p:sp>
            <p:nvSpPr>
              <p:cNvPr id="107" name="Text 13"/>
              <p:cNvSpPr txBox="1"/>
              <p:nvPr/>
            </p:nvSpPr>
            <p:spPr>
              <a:xfrm>
                <a:off x="5038752" y="5265278"/>
                <a:ext cx="1990649" cy="2002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dirty="0" smtClean="0">
                    <a:solidFill>
                      <a:srgbClr val="4B5563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Mondaykiz489@gmail.com</a:t>
                </a:r>
                <a:endParaRPr lang="en-US" sz="1000" dirty="0"/>
              </a:p>
            </p:txBody>
          </p:sp>
          <p:pic>
            <p:nvPicPr>
              <p:cNvPr id="108" name="Image 7" descr="preencoded.png"/>
              <p:cNvPicPr>
                <a:picLocks noChangeAspect="1"/>
              </p:cNvPicPr>
              <p:nvPr/>
            </p:nvPicPr>
            <p:blipFill>
              <a:blip r:embed="rId8"/>
              <a:srcRect l="-1613" r="-1613"/>
              <a:stretch/>
            </p:blipFill>
            <p:spPr>
              <a:xfrm>
                <a:off x="4848557" y="5504802"/>
                <a:ext cx="133502" cy="133502"/>
              </a:xfrm>
              <a:prstGeom prst="rect">
                <a:avLst/>
              </a:prstGeom>
            </p:spPr>
          </p:pic>
          <p:sp>
            <p:nvSpPr>
              <p:cNvPr id="109" name="Text 14"/>
              <p:cNvSpPr txBox="1"/>
              <p:nvPr/>
            </p:nvSpPr>
            <p:spPr>
              <a:xfrm>
                <a:off x="5038752" y="5471884"/>
                <a:ext cx="1573682" cy="2002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dirty="0">
                    <a:solidFill>
                      <a:srgbClr val="4B5563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github.com/yunjae188</a:t>
                </a:r>
                <a:endParaRPr lang="en-US" sz="1000" dirty="0"/>
              </a:p>
            </p:txBody>
          </p:sp>
        </p:grpSp>
        <p:sp>
          <p:nvSpPr>
            <p:cNvPr id="103" name="Shape 10"/>
            <p:cNvSpPr/>
            <p:nvPr/>
          </p:nvSpPr>
          <p:spPr>
            <a:xfrm>
              <a:off x="793327" y="3149343"/>
              <a:ext cx="57607" cy="1080000"/>
            </a:xfrm>
            <a:prstGeom prst="rect">
              <a:avLst/>
            </a:prstGeom>
            <a:solidFill>
              <a:srgbClr val="7414BC"/>
            </a:solidFill>
            <a:ln w="12700">
              <a:solidFill>
                <a:srgbClr val="7414BC">
                  <a:alpha val="0"/>
                </a:srgbClr>
              </a:solidFill>
              <a:prstDash val="solid"/>
            </a:ln>
          </p:spPr>
        </p:sp>
      </p:grpSp>
      <p:grpSp>
        <p:nvGrpSpPr>
          <p:cNvPr id="114" name="그룹 113"/>
          <p:cNvGrpSpPr/>
          <p:nvPr/>
        </p:nvGrpSpPr>
        <p:grpSpPr>
          <a:xfrm>
            <a:off x="4382230" y="5462443"/>
            <a:ext cx="4809642" cy="1088426"/>
            <a:chOff x="793327" y="3140917"/>
            <a:chExt cx="4809642" cy="1088426"/>
          </a:xfrm>
        </p:grpSpPr>
        <p:grpSp>
          <p:nvGrpSpPr>
            <p:cNvPr id="115" name="그룹 114"/>
            <p:cNvGrpSpPr/>
            <p:nvPr/>
          </p:nvGrpSpPr>
          <p:grpSpPr>
            <a:xfrm>
              <a:off x="856435" y="3140917"/>
              <a:ext cx="3437849" cy="1080000"/>
              <a:chOff x="856435" y="3140917"/>
              <a:chExt cx="3437849" cy="1080000"/>
            </a:xfrm>
          </p:grpSpPr>
          <p:pic>
            <p:nvPicPr>
              <p:cNvPr id="124" name="Image 3" descr="preencoded.png"/>
              <p:cNvPicPr>
                <a:picLocks noChangeAspect="1"/>
              </p:cNvPicPr>
              <p:nvPr/>
            </p:nvPicPr>
            <p:blipFill>
              <a:blip r:embed="rId4"/>
              <a:srcRect l="-7" r="-7"/>
              <a:stretch/>
            </p:blipFill>
            <p:spPr>
              <a:xfrm>
                <a:off x="856435" y="3140917"/>
                <a:ext cx="3437849" cy="1080000"/>
              </a:xfrm>
              <a:prstGeom prst="rect">
                <a:avLst/>
              </a:prstGeom>
            </p:spPr>
          </p:pic>
          <p:grpSp>
            <p:nvGrpSpPr>
              <p:cNvPr id="125" name="그룹 124"/>
              <p:cNvGrpSpPr/>
              <p:nvPr/>
            </p:nvGrpSpPr>
            <p:grpSpPr>
              <a:xfrm>
                <a:off x="985431" y="3321481"/>
                <a:ext cx="761695" cy="761695"/>
                <a:chOff x="3803985" y="4846794"/>
                <a:chExt cx="761695" cy="761695"/>
              </a:xfrm>
            </p:grpSpPr>
            <p:pic>
              <p:nvPicPr>
                <p:cNvPr id="126" name="Image 4" descr="preencoded.png"/>
                <p:cNvPicPr>
                  <a:picLocks noChangeAspect="1"/>
                </p:cNvPicPr>
                <p:nvPr/>
              </p:nvPicPr>
              <p:blipFill>
                <a:blip r:embed="rId5"/>
                <a:srcRect/>
                <a:stretch/>
              </p:blipFill>
              <p:spPr>
                <a:xfrm>
                  <a:off x="3803985" y="4846794"/>
                  <a:ext cx="761695" cy="761695"/>
                </a:xfrm>
                <a:prstGeom prst="rect">
                  <a:avLst/>
                </a:prstGeom>
              </p:spPr>
            </p:pic>
            <p:pic>
              <p:nvPicPr>
                <p:cNvPr id="127" name="Image 5" descr="preencoded.png"/>
                <p:cNvPicPr>
                  <a:picLocks noChangeAspect="1"/>
                </p:cNvPicPr>
                <p:nvPr/>
              </p:nvPicPr>
              <p:blipFill>
                <a:blip r:embed="rId6"/>
                <a:srcRect l="-107" r="-107"/>
                <a:stretch/>
              </p:blipFill>
              <p:spPr>
                <a:xfrm>
                  <a:off x="4051329" y="5011625"/>
                  <a:ext cx="267005" cy="30449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16" name="그룹 115"/>
            <p:cNvGrpSpPr/>
            <p:nvPr/>
          </p:nvGrpSpPr>
          <p:grpSpPr>
            <a:xfrm>
              <a:off x="1761678" y="3213320"/>
              <a:ext cx="3841291" cy="941032"/>
              <a:chOff x="4765310" y="4731106"/>
              <a:chExt cx="3841291" cy="941032"/>
            </a:xfrm>
          </p:grpSpPr>
          <p:sp>
            <p:nvSpPr>
              <p:cNvPr id="118" name="Text 11"/>
              <p:cNvSpPr txBox="1"/>
              <p:nvPr/>
            </p:nvSpPr>
            <p:spPr>
              <a:xfrm>
                <a:off x="4765310" y="4731106"/>
                <a:ext cx="946594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800" b="1" dirty="0">
                    <a:solidFill>
                      <a:srgbClr val="1F2937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이승재</a:t>
                </a:r>
                <a:endParaRPr lang="en-US" sz="1800" dirty="0"/>
              </a:p>
            </p:txBody>
          </p:sp>
          <p:sp>
            <p:nvSpPr>
              <p:cNvPr id="119" name="Text 12"/>
              <p:cNvSpPr txBox="1"/>
              <p:nvPr/>
            </p:nvSpPr>
            <p:spPr>
              <a:xfrm>
                <a:off x="4834701" y="5029281"/>
                <a:ext cx="37719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6B7280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Frontend &amp; Backend Developer</a:t>
                </a:r>
                <a:endParaRPr lang="en-US" sz="1200" dirty="0"/>
              </a:p>
            </p:txBody>
          </p:sp>
          <p:pic>
            <p:nvPicPr>
              <p:cNvPr id="120" name="Image 6" descr="preencoded.png"/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4847643" y="5298196"/>
                <a:ext cx="133502" cy="133502"/>
              </a:xfrm>
              <a:prstGeom prst="rect">
                <a:avLst/>
              </a:prstGeom>
            </p:spPr>
          </p:pic>
          <p:sp>
            <p:nvSpPr>
              <p:cNvPr id="121" name="Text 13"/>
              <p:cNvSpPr txBox="1"/>
              <p:nvPr/>
            </p:nvSpPr>
            <p:spPr>
              <a:xfrm>
                <a:off x="5011062" y="5177912"/>
                <a:ext cx="1990649" cy="2002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endParaRPr lang="en-US" sz="10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endParaRPr>
              </a:p>
              <a:p>
                <a:r>
                  <a:rPr lang="en-US" sz="1000" dirty="0" smtClean="0">
                    <a:solidFill>
                      <a:srgbClr val="4B5563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lsj0110245@gmail.com</a:t>
                </a:r>
                <a:endParaRPr lang="en-US" sz="1000" dirty="0"/>
              </a:p>
            </p:txBody>
          </p:sp>
          <p:pic>
            <p:nvPicPr>
              <p:cNvPr id="122" name="Image 7" descr="preencoded.png"/>
              <p:cNvPicPr>
                <a:picLocks noChangeAspect="1"/>
              </p:cNvPicPr>
              <p:nvPr/>
            </p:nvPicPr>
            <p:blipFill>
              <a:blip r:embed="rId8"/>
              <a:srcRect l="-1613" r="-1613"/>
              <a:stretch/>
            </p:blipFill>
            <p:spPr>
              <a:xfrm>
                <a:off x="4848557" y="5504802"/>
                <a:ext cx="133502" cy="133502"/>
              </a:xfrm>
              <a:prstGeom prst="rect">
                <a:avLst/>
              </a:prstGeom>
            </p:spPr>
          </p:pic>
          <p:sp>
            <p:nvSpPr>
              <p:cNvPr id="123" name="Text 14"/>
              <p:cNvSpPr txBox="1"/>
              <p:nvPr/>
            </p:nvSpPr>
            <p:spPr>
              <a:xfrm>
                <a:off x="5038752" y="5471884"/>
                <a:ext cx="1573682" cy="2002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dirty="0">
                    <a:solidFill>
                      <a:srgbClr val="4B5563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github.com/lsj0110245</a:t>
                </a:r>
                <a:endParaRPr lang="en-US" sz="1000" dirty="0"/>
              </a:p>
            </p:txBody>
          </p:sp>
        </p:grpSp>
        <p:sp>
          <p:nvSpPr>
            <p:cNvPr id="117" name="Shape 10"/>
            <p:cNvSpPr/>
            <p:nvPr/>
          </p:nvSpPr>
          <p:spPr>
            <a:xfrm>
              <a:off x="793327" y="3149343"/>
              <a:ext cx="57607" cy="1080000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</p:grpSp>
      <p:grpSp>
        <p:nvGrpSpPr>
          <p:cNvPr id="128" name="그룹 127"/>
          <p:cNvGrpSpPr/>
          <p:nvPr/>
        </p:nvGrpSpPr>
        <p:grpSpPr>
          <a:xfrm>
            <a:off x="8380702" y="5454017"/>
            <a:ext cx="3500957" cy="1088426"/>
            <a:chOff x="793327" y="3140917"/>
            <a:chExt cx="3500957" cy="1088426"/>
          </a:xfrm>
        </p:grpSpPr>
        <p:grpSp>
          <p:nvGrpSpPr>
            <p:cNvPr id="129" name="그룹 128"/>
            <p:cNvGrpSpPr/>
            <p:nvPr/>
          </p:nvGrpSpPr>
          <p:grpSpPr>
            <a:xfrm>
              <a:off x="856435" y="3140917"/>
              <a:ext cx="3437849" cy="1080000"/>
              <a:chOff x="856435" y="3140917"/>
              <a:chExt cx="3437849" cy="1080000"/>
            </a:xfrm>
          </p:grpSpPr>
          <p:pic>
            <p:nvPicPr>
              <p:cNvPr id="138" name="Image 3" descr="preencoded.png"/>
              <p:cNvPicPr>
                <a:picLocks noChangeAspect="1"/>
              </p:cNvPicPr>
              <p:nvPr/>
            </p:nvPicPr>
            <p:blipFill>
              <a:blip r:embed="rId4"/>
              <a:srcRect l="-7" r="-7"/>
              <a:stretch/>
            </p:blipFill>
            <p:spPr>
              <a:xfrm>
                <a:off x="856435" y="3140917"/>
                <a:ext cx="3437849" cy="1080000"/>
              </a:xfrm>
              <a:prstGeom prst="rect">
                <a:avLst/>
              </a:prstGeom>
            </p:spPr>
          </p:pic>
          <p:grpSp>
            <p:nvGrpSpPr>
              <p:cNvPr id="139" name="그룹 138"/>
              <p:cNvGrpSpPr/>
              <p:nvPr/>
            </p:nvGrpSpPr>
            <p:grpSpPr>
              <a:xfrm>
                <a:off x="985431" y="3321481"/>
                <a:ext cx="761695" cy="761695"/>
                <a:chOff x="3803985" y="4846794"/>
                <a:chExt cx="761695" cy="761695"/>
              </a:xfrm>
            </p:grpSpPr>
            <p:pic>
              <p:nvPicPr>
                <p:cNvPr id="140" name="Image 4" descr="preencoded.png"/>
                <p:cNvPicPr>
                  <a:picLocks noChangeAspect="1"/>
                </p:cNvPicPr>
                <p:nvPr/>
              </p:nvPicPr>
              <p:blipFill>
                <a:blip r:embed="rId5"/>
                <a:srcRect/>
                <a:stretch/>
              </p:blipFill>
              <p:spPr>
                <a:xfrm>
                  <a:off x="3803985" y="4846794"/>
                  <a:ext cx="761695" cy="761695"/>
                </a:xfrm>
                <a:prstGeom prst="rect">
                  <a:avLst/>
                </a:prstGeom>
              </p:spPr>
            </p:pic>
            <p:pic>
              <p:nvPicPr>
                <p:cNvPr id="141" name="Image 5" descr="preencoded.png"/>
                <p:cNvPicPr>
                  <a:picLocks noChangeAspect="1"/>
                </p:cNvPicPr>
                <p:nvPr/>
              </p:nvPicPr>
              <p:blipFill>
                <a:blip r:embed="rId6"/>
                <a:srcRect l="-107" r="-107"/>
                <a:stretch/>
              </p:blipFill>
              <p:spPr>
                <a:xfrm>
                  <a:off x="4051329" y="5011625"/>
                  <a:ext cx="267005" cy="30449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30" name="그룹 129"/>
            <p:cNvGrpSpPr/>
            <p:nvPr/>
          </p:nvGrpSpPr>
          <p:grpSpPr>
            <a:xfrm>
              <a:off x="1761678" y="3213320"/>
              <a:ext cx="2264091" cy="941032"/>
              <a:chOff x="4765310" y="4731106"/>
              <a:chExt cx="2264091" cy="941032"/>
            </a:xfrm>
          </p:grpSpPr>
          <p:sp>
            <p:nvSpPr>
              <p:cNvPr id="132" name="Text 11"/>
              <p:cNvSpPr txBox="1"/>
              <p:nvPr/>
            </p:nvSpPr>
            <p:spPr>
              <a:xfrm>
                <a:off x="4765310" y="4731106"/>
                <a:ext cx="946594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ko-KR" altLang="en-US" b="1" dirty="0" smtClean="0">
                    <a:solidFill>
                      <a:srgbClr val="1F2937"/>
                    </a:solidFill>
                    <a:latin typeface="Noto Sans KR" pitchFamily="34" charset="0"/>
                    <a:ea typeface="Noto Sans KR" pitchFamily="34" charset="-122"/>
                  </a:rPr>
                  <a:t>권준호</a:t>
                </a:r>
                <a:endParaRPr lang="en-US" sz="1800" dirty="0"/>
              </a:p>
            </p:txBody>
          </p:sp>
          <p:pic>
            <p:nvPicPr>
              <p:cNvPr id="134" name="Image 6" descr="preencoded.png"/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4847643" y="5298196"/>
                <a:ext cx="133502" cy="133502"/>
              </a:xfrm>
              <a:prstGeom prst="rect">
                <a:avLst/>
              </a:prstGeom>
            </p:spPr>
          </p:pic>
          <p:sp>
            <p:nvSpPr>
              <p:cNvPr id="135" name="Text 13"/>
              <p:cNvSpPr txBox="1"/>
              <p:nvPr/>
            </p:nvSpPr>
            <p:spPr>
              <a:xfrm>
                <a:off x="5038752" y="5265278"/>
                <a:ext cx="1990649" cy="2002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dirty="0" smtClean="0">
                    <a:solidFill>
                      <a:srgbClr val="4B5563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jjoonyho@gmail.com</a:t>
                </a:r>
                <a:endParaRPr lang="en-US" sz="1000" dirty="0"/>
              </a:p>
            </p:txBody>
          </p:sp>
          <p:pic>
            <p:nvPicPr>
              <p:cNvPr id="136" name="Image 7" descr="preencoded.png"/>
              <p:cNvPicPr>
                <a:picLocks noChangeAspect="1"/>
              </p:cNvPicPr>
              <p:nvPr/>
            </p:nvPicPr>
            <p:blipFill>
              <a:blip r:embed="rId8"/>
              <a:srcRect l="-1613" r="-1613"/>
              <a:stretch/>
            </p:blipFill>
            <p:spPr>
              <a:xfrm>
                <a:off x="4848557" y="5504802"/>
                <a:ext cx="133502" cy="133502"/>
              </a:xfrm>
              <a:prstGeom prst="rect">
                <a:avLst/>
              </a:prstGeom>
            </p:spPr>
          </p:pic>
          <p:sp>
            <p:nvSpPr>
              <p:cNvPr id="137" name="Text 14"/>
              <p:cNvSpPr txBox="1"/>
              <p:nvPr/>
            </p:nvSpPr>
            <p:spPr>
              <a:xfrm>
                <a:off x="5038752" y="5471884"/>
                <a:ext cx="1573682" cy="2002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dirty="0">
                    <a:solidFill>
                      <a:srgbClr val="4B5563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github.com/</a:t>
                </a:r>
                <a:r>
                  <a:rPr lang="en-US" sz="1000" dirty="0" err="1">
                    <a:solidFill>
                      <a:srgbClr val="4B5563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JoonhoKwon</a:t>
                </a:r>
                <a:endParaRPr lang="en-US" sz="1000" dirty="0"/>
              </a:p>
            </p:txBody>
          </p:sp>
        </p:grpSp>
        <p:sp>
          <p:nvSpPr>
            <p:cNvPr id="131" name="Shape 10"/>
            <p:cNvSpPr/>
            <p:nvPr/>
          </p:nvSpPr>
          <p:spPr>
            <a:xfrm>
              <a:off x="793327" y="3149343"/>
              <a:ext cx="57607" cy="1080000"/>
            </a:xfrm>
            <a:prstGeom prst="rect">
              <a:avLst/>
            </a:prstGeom>
            <a:solidFill>
              <a:srgbClr val="FBEE4B"/>
            </a:solidFill>
            <a:ln w="12700">
              <a:solidFill>
                <a:srgbClr val="FBEE4B">
                  <a:alpha val="0"/>
                </a:srgbClr>
              </a:solidFill>
              <a:prstDash val="solid"/>
            </a:ln>
          </p:spPr>
        </p:sp>
      </p:grpSp>
      <p:sp>
        <p:nvSpPr>
          <p:cNvPr id="142" name="Text 12"/>
          <p:cNvSpPr txBox="1"/>
          <p:nvPr/>
        </p:nvSpPr>
        <p:spPr>
          <a:xfrm>
            <a:off x="9466396" y="5809102"/>
            <a:ext cx="1641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Architecture</a:t>
            </a:r>
          </a:p>
        </p:txBody>
      </p:sp>
      <p:sp>
        <p:nvSpPr>
          <p:cNvPr id="143" name="Text 12"/>
          <p:cNvSpPr txBox="1"/>
          <p:nvPr/>
        </p:nvSpPr>
        <p:spPr>
          <a:xfrm>
            <a:off x="9396436" y="4393652"/>
            <a:ext cx="1754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Architecture</a:t>
            </a:r>
          </a:p>
        </p:txBody>
      </p:sp>
      <p:grpSp>
        <p:nvGrpSpPr>
          <p:cNvPr id="159" name="그룹 158"/>
          <p:cNvGrpSpPr/>
          <p:nvPr/>
        </p:nvGrpSpPr>
        <p:grpSpPr>
          <a:xfrm>
            <a:off x="2765900" y="3258562"/>
            <a:ext cx="6583153" cy="494746"/>
            <a:chOff x="1355026" y="3169675"/>
            <a:chExt cx="6081995" cy="694707"/>
          </a:xfrm>
        </p:grpSpPr>
        <p:grpSp>
          <p:nvGrpSpPr>
            <p:cNvPr id="144" name="그룹 143"/>
            <p:cNvGrpSpPr/>
            <p:nvPr/>
          </p:nvGrpSpPr>
          <p:grpSpPr>
            <a:xfrm>
              <a:off x="1355026" y="3169675"/>
              <a:ext cx="6081995" cy="694707"/>
              <a:chOff x="793328" y="3140917"/>
              <a:chExt cx="6081995" cy="694707"/>
            </a:xfrm>
          </p:grpSpPr>
          <p:pic>
            <p:nvPicPr>
              <p:cNvPr id="154" name="Image 3" descr="preencoded.png"/>
              <p:cNvPicPr>
                <a:picLocks noChangeAspect="1"/>
              </p:cNvPicPr>
              <p:nvPr/>
            </p:nvPicPr>
            <p:blipFill>
              <a:blip r:embed="rId4"/>
              <a:srcRect l="-7" r="-7"/>
              <a:stretch/>
            </p:blipFill>
            <p:spPr>
              <a:xfrm>
                <a:off x="879915" y="3140917"/>
                <a:ext cx="5995408" cy="694707"/>
              </a:xfrm>
              <a:prstGeom prst="rect">
                <a:avLst/>
              </a:prstGeom>
            </p:spPr>
          </p:pic>
          <p:sp>
            <p:nvSpPr>
              <p:cNvPr id="153" name="Text 14"/>
              <p:cNvSpPr txBox="1"/>
              <p:nvPr/>
            </p:nvSpPr>
            <p:spPr>
              <a:xfrm>
                <a:off x="3705956" y="3307575"/>
                <a:ext cx="2906970" cy="33212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dirty="0" smtClean="0">
                    <a:solidFill>
                      <a:srgbClr val="4B5563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  <a:hlinkClick r:id="rId9"/>
                  </a:rPr>
                  <a:t>github.com/jaemin1020/Big20_aI_interview_project</a:t>
                </a:r>
                <a:endParaRPr lang="en-US" sz="1000" dirty="0"/>
              </a:p>
            </p:txBody>
          </p:sp>
          <p:sp>
            <p:nvSpPr>
              <p:cNvPr id="147" name="Shape 10"/>
              <p:cNvSpPr/>
              <p:nvPr/>
            </p:nvSpPr>
            <p:spPr>
              <a:xfrm>
                <a:off x="793328" y="3149343"/>
                <a:ext cx="50726" cy="662075"/>
              </a:xfrm>
              <a:prstGeom prst="rect">
                <a:avLst/>
              </a:prstGeom>
              <a:solidFill>
                <a:srgbClr val="F9177D"/>
              </a:solidFill>
              <a:ln w="12700">
                <a:solidFill>
                  <a:srgbClr val="F9177D">
                    <a:alpha val="0"/>
                  </a:srgbClr>
                </a:solidFill>
                <a:prstDash val="solid"/>
              </a:ln>
            </p:spPr>
          </p:sp>
        </p:grpSp>
        <p:sp>
          <p:nvSpPr>
            <p:cNvPr id="158" name="Text 11"/>
            <p:cNvSpPr txBox="1"/>
            <p:nvPr/>
          </p:nvSpPr>
          <p:spPr>
            <a:xfrm>
              <a:off x="1701152" y="3324582"/>
              <a:ext cx="1821591" cy="3428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 smtClean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</a:rPr>
                <a:t>2AI1_A4Project</a:t>
              </a:r>
              <a:endParaRPr lang="en-US" sz="1800" dirty="0"/>
            </a:p>
          </p:txBody>
        </p:sp>
      </p:grpSp>
      <p:sp>
        <p:nvSpPr>
          <p:cNvPr id="160" name="Text 14"/>
          <p:cNvSpPr txBox="1"/>
          <p:nvPr/>
        </p:nvSpPr>
        <p:spPr>
          <a:xfrm>
            <a:off x="5646738" y="4580019"/>
            <a:ext cx="1573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um.jm1020@gmail.com</a:t>
            </a:r>
          </a:p>
        </p:txBody>
      </p:sp>
      <p:pic>
        <p:nvPicPr>
          <p:cNvPr id="161" name="Image 7" descr="preencoded.png"/>
          <p:cNvPicPr>
            <a:picLocks noChangeAspect="1"/>
          </p:cNvPicPr>
          <p:nvPr/>
        </p:nvPicPr>
        <p:blipFill>
          <a:blip r:embed="rId8"/>
          <a:srcRect l="-1613" r="-1613"/>
          <a:stretch/>
        </p:blipFill>
        <p:spPr>
          <a:xfrm>
            <a:off x="5531698" y="3354601"/>
            <a:ext cx="299726" cy="29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07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3085</TotalTime>
  <Words>8830</Words>
  <Application>Microsoft Office PowerPoint</Application>
  <PresentationFormat>와이드스크린</PresentationFormat>
  <Paragraphs>1850</Paragraphs>
  <Slides>66</Slides>
  <Notes>62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74" baseType="lpstr">
      <vt:lpstr>Inter</vt:lpstr>
      <vt:lpstr>Noto Sans KR</vt:lpstr>
      <vt:lpstr>ui-monospace</vt:lpstr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TJ</cp:lastModifiedBy>
  <cp:revision>83</cp:revision>
  <cp:lastPrinted>2026-03-05T11:37:31Z</cp:lastPrinted>
  <dcterms:created xsi:type="dcterms:W3CDTF">2026-03-05T08:57:18Z</dcterms:created>
  <dcterms:modified xsi:type="dcterms:W3CDTF">2026-03-10T12:01:35Z</dcterms:modified>
</cp:coreProperties>
</file>