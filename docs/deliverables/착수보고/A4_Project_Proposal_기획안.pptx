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7D0"/>
    <a:srgbClr val="EADBF5"/>
    <a:srgbClr val="FFE7EF"/>
    <a:srgbClr val="FBE09B"/>
    <a:srgbClr val="E4D2F2"/>
    <a:srgbClr val="FFF8E5"/>
    <a:srgbClr val="FFD6EE"/>
    <a:srgbClr val="FF256E"/>
    <a:srgbClr val="FFB9DF"/>
    <a:srgbClr val="FFC9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BBBDB-BB64-47DC-A694-8E702746AD6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DF111-0687-43F6-9C38-D3B65F3205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1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DF111-0687-43F6-9C38-D3B65F32057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561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6DF111-0687-43F6-9C38-D3B65F32057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16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502D8-08FE-5098-58C0-F0638117A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98D3AF-3446-99CD-12F4-84B006E8E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61EDAA74-6288-1E41-A303-A2144FFB2C42}"/>
              </a:ext>
            </a:extLst>
          </p:cNvPr>
          <p:cNvSpPr txBox="1">
            <a:spLocks/>
          </p:cNvSpPr>
          <p:nvPr userDrawn="1"/>
        </p:nvSpPr>
        <p:spPr>
          <a:xfrm>
            <a:off x="0" y="6625031"/>
            <a:ext cx="3307222" cy="2329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DE788E-A794-4474-B3D3-1BAB99436FFD}" type="datetime9">
              <a:rPr lang="ko-KR" altLang="en-US" smtClean="0"/>
              <a:pPr/>
              <a:t>2026년 1월 27일 오후 5시 53분</a:t>
            </a:fld>
            <a:endParaRPr lang="ko-KR" altLang="en-US"/>
          </a:p>
        </p:txBody>
      </p:sp>
      <p:sp>
        <p:nvSpPr>
          <p:cNvPr id="11" name="바닥글 개체 틀 4">
            <a:extLst>
              <a:ext uri="{FF2B5EF4-FFF2-40B4-BE49-F238E27FC236}">
                <a16:creationId xmlns:a16="http://schemas.microsoft.com/office/drawing/2014/main" id="{1626C151-C63C-F429-85AC-1AD048B2C70F}"/>
              </a:ext>
            </a:extLst>
          </p:cNvPr>
          <p:cNvSpPr txBox="1">
            <a:spLocks/>
          </p:cNvSpPr>
          <p:nvPr userDrawn="1"/>
        </p:nvSpPr>
        <p:spPr>
          <a:xfrm>
            <a:off x="5025078" y="6625031"/>
            <a:ext cx="4114800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lang="ko-KR" altLang="en-US" sz="9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/>
              <a:t>Final_Project</a:t>
            </a:r>
            <a:r>
              <a:rPr lang="en-US" altLang="ko-KR" dirty="0"/>
              <a:t>_</a:t>
            </a:r>
            <a:r>
              <a:rPr lang="ko-KR" altLang="en-US" dirty="0"/>
              <a:t>기획안</a:t>
            </a:r>
            <a:r>
              <a:rPr lang="en-US" altLang="ko-KR" dirty="0"/>
              <a:t>_</a:t>
            </a:r>
            <a:r>
              <a:rPr lang="ko-KR" altLang="en-US" dirty="0"/>
              <a:t>함유라</a:t>
            </a: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9C21DCBE-AA37-286A-0940-E35DF71ED411}"/>
              </a:ext>
            </a:extLst>
          </p:cNvPr>
          <p:cNvSpPr txBox="1">
            <a:spLocks/>
          </p:cNvSpPr>
          <p:nvPr userDrawn="1"/>
        </p:nvSpPr>
        <p:spPr>
          <a:xfrm>
            <a:off x="11838062" y="6625031"/>
            <a:ext cx="353938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lang="ko-KR" altLang="en-US" sz="900" kern="1200" smtClean="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A37121-0FE8-400D-89B0-84448AB1177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731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C43E8-0B81-634B-1930-233A6EF1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</p:spPr>
        <p:txBody>
          <a:bodyPr>
            <a:noAutofit/>
          </a:bodyPr>
          <a:lstStyle>
            <a:lvl1pPr>
              <a:defRPr sz="2400">
                <a:latin typeface="Noto Sans KR Black" panose="020B0200000000000000" pitchFamily="34" charset="-128"/>
                <a:ea typeface="Noto Sans KR Black" panose="020B0200000000000000" pitchFamily="34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7B28A-00E8-F3CC-76E0-BB58320C5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10" y="1083633"/>
            <a:ext cx="10515600" cy="4351338"/>
          </a:xfrm>
        </p:spPr>
        <p:txBody>
          <a:bodyPr>
            <a:normAutofit/>
          </a:bodyPr>
          <a:lstStyle>
            <a:lvl1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  <a:lvl2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2pPr>
            <a:lvl3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3pPr>
            <a:lvl4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4pPr>
            <a:lvl5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D1115-36A2-5427-0B11-DB8A348E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fld id="{C4C81A30-A8E0-4230-B887-6B57095B4266}" type="datetime9">
              <a:rPr lang="ko-KR" altLang="en-US" smtClean="0"/>
              <a:t>2026년 1월 27일 오후 5시 53분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9BFC3-78C2-F5BE-71F1-913784E1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078" y="6625031"/>
            <a:ext cx="4114800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9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pPr algn="l"/>
            <a:r>
              <a:rPr lang="en-US" altLang="ko-KR"/>
              <a:t>Final_Project_</a:t>
            </a:r>
            <a:r>
              <a:rPr lang="ko-KR" altLang="en-US"/>
              <a:t>기획안</a:t>
            </a:r>
            <a:r>
              <a:rPr lang="en-US" altLang="ko-KR"/>
              <a:t>_</a:t>
            </a:r>
            <a:r>
              <a:rPr lang="ko-KR" altLang="en-US"/>
              <a:t>함유라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68BC2-870D-94E3-6AA2-DCA676E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900" smtClean="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pPr algn="l"/>
            <a:fld id="{DDA37121-0FE8-400D-89B0-84448AB1177F}" type="slidenum">
              <a:rPr lang="en-US" altLang="ko-KR" smtClean="0"/>
              <a:pPr algn="l"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F67F9F-2983-B6B4-CE10-0FBD968BE8A3}"/>
              </a:ext>
            </a:extLst>
          </p:cNvPr>
          <p:cNvSpPr/>
          <p:nvPr userDrawn="1"/>
        </p:nvSpPr>
        <p:spPr>
          <a:xfrm flipV="1">
            <a:off x="335383" y="658185"/>
            <a:ext cx="9379391" cy="45719"/>
          </a:xfrm>
          <a:prstGeom prst="rect">
            <a:avLst/>
          </a:prstGeom>
          <a:solidFill>
            <a:srgbClr val="FF256E"/>
          </a:solidFill>
          <a:ln>
            <a:solidFill>
              <a:srgbClr val="E9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76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C43E8-0B81-634B-1930-233A6EF1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83" y="319406"/>
            <a:ext cx="10515600" cy="113673"/>
          </a:xfrm>
        </p:spPr>
        <p:txBody>
          <a:bodyPr>
            <a:noAutofit/>
          </a:bodyPr>
          <a:lstStyle>
            <a:lvl1pPr>
              <a:defRPr sz="2400">
                <a:latin typeface="Noto Sans KR Black" panose="020B0200000000000000" pitchFamily="34" charset="-128"/>
                <a:ea typeface="Noto Sans KR Black" panose="020B0200000000000000" pitchFamily="34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7B28A-00E8-F3CC-76E0-BB58320C5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10" y="1083633"/>
            <a:ext cx="10515600" cy="4351338"/>
          </a:xfrm>
        </p:spPr>
        <p:txBody>
          <a:bodyPr>
            <a:normAutofit/>
          </a:bodyPr>
          <a:lstStyle>
            <a:lvl1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  <a:lvl2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2pPr>
            <a:lvl3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3pPr>
            <a:lvl4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4pPr>
            <a:lvl5pPr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D1115-36A2-5427-0B11-DB8A348E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5031"/>
            <a:ext cx="3307222" cy="232969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fld id="{B84962F4-C4F4-4544-903F-90DBD4B7DBA6}" type="datetime9">
              <a:rPr lang="ko-KR" altLang="en-US" smtClean="0"/>
              <a:t>2026년 1월 27일 오후 5시 53분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9BFC3-78C2-F5BE-71F1-913784E1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078" y="6639698"/>
            <a:ext cx="4114800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9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pPr algn="l"/>
            <a:r>
              <a:rPr lang="en-US" altLang="ko-KR"/>
              <a:t>Final_Project_</a:t>
            </a:r>
            <a:r>
              <a:rPr lang="ko-KR" altLang="en-US"/>
              <a:t>기획안</a:t>
            </a:r>
            <a:r>
              <a:rPr lang="en-US" altLang="ko-KR"/>
              <a:t>_</a:t>
            </a:r>
            <a:r>
              <a:rPr lang="ko-KR" altLang="en-US"/>
              <a:t>함유라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68BC2-870D-94E3-6AA2-DCA676E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8062" y="6625031"/>
            <a:ext cx="353938" cy="2480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900" smtClean="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1pPr>
          </a:lstStyle>
          <a:p>
            <a:pPr algn="l"/>
            <a:fld id="{DDA37121-0FE8-400D-89B0-84448AB1177F}" type="slidenum">
              <a:rPr lang="en-US" altLang="ko-KR" smtClean="0"/>
              <a:pPr algn="l"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F67F9F-2983-B6B4-CE10-0FBD968BE8A3}"/>
              </a:ext>
            </a:extLst>
          </p:cNvPr>
          <p:cNvSpPr/>
          <p:nvPr userDrawn="1"/>
        </p:nvSpPr>
        <p:spPr>
          <a:xfrm flipV="1">
            <a:off x="335383" y="658185"/>
            <a:ext cx="9379391" cy="45719"/>
          </a:xfrm>
          <a:prstGeom prst="rect">
            <a:avLst/>
          </a:prstGeom>
          <a:solidFill>
            <a:srgbClr val="FF256E"/>
          </a:solidFill>
          <a:ln>
            <a:solidFill>
              <a:srgbClr val="E90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46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9B12E9-8EDB-67D8-80C7-96A44904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42A21-3C13-5158-C5A1-27C0F1AF1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749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BCB496A-F7BE-4D5A-739A-0589954496C3}"/>
              </a:ext>
            </a:extLst>
          </p:cNvPr>
          <p:cNvSpPr/>
          <p:nvPr/>
        </p:nvSpPr>
        <p:spPr>
          <a:xfrm>
            <a:off x="0" y="6495861"/>
            <a:ext cx="12192000" cy="362139"/>
          </a:xfrm>
          <a:prstGeom prst="rect">
            <a:avLst/>
          </a:prstGeom>
          <a:solidFill>
            <a:srgbClr val="FFD6EE"/>
          </a:solidFill>
          <a:ln>
            <a:solidFill>
              <a:srgbClr val="FF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2DC1BC-0BE9-23DE-B672-BC65E2EEC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8792" y="2290526"/>
            <a:ext cx="4134416" cy="1010703"/>
          </a:xfrm>
        </p:spPr>
        <p:txBody>
          <a:bodyPr>
            <a:normAutofit fontScale="90000"/>
          </a:bodyPr>
          <a:lstStyle/>
          <a:p>
            <a:r>
              <a:rPr lang="en-US" altLang="ko-KR" sz="10700" b="1" dirty="0">
                <a:solidFill>
                  <a:srgbClr val="FF256E"/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rPr>
              <a:t>FINAL</a:t>
            </a:r>
            <a:r>
              <a:rPr lang="en-US" altLang="ko-KR" b="1" dirty="0">
                <a:solidFill>
                  <a:srgbClr val="FF256E"/>
                </a:solidFill>
              </a:rPr>
              <a:t/>
            </a:r>
            <a:br>
              <a:rPr lang="en-US" altLang="ko-KR" b="1" dirty="0">
                <a:solidFill>
                  <a:srgbClr val="FF256E"/>
                </a:solidFill>
              </a:rPr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222094-53EB-67E1-4DFC-4DED261FF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187" y="3887003"/>
            <a:ext cx="11024103" cy="1655762"/>
          </a:xfrm>
        </p:spPr>
        <p:txBody>
          <a:bodyPr/>
          <a:lstStyle/>
          <a:p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실시간 음성</a:t>
            </a:r>
            <a:r>
              <a:rPr lang="en-US" altLang="ko-KR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·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영상 분석 기반 직무</a:t>
            </a:r>
            <a:r>
              <a:rPr lang="en-US" altLang="ko-KR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·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인성 평가 </a:t>
            </a:r>
            <a:r>
              <a:rPr lang="ko-KR" altLang="en-US" dirty="0" err="1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멀티모달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생성형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AI </a:t>
            </a:r>
            <a:r>
              <a:rPr lang="ko-KR" altLang="en-US" dirty="0">
                <a:solidFill>
                  <a:schemeClr val="dk1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Noto Sans KR"/>
                <a:sym typeface="Noto Sans KR"/>
              </a:rPr>
              <a:t>면접관 플랫폼 개발</a:t>
            </a:r>
            <a:endParaRPr lang="en-US" altLang="ko-KR" dirty="0">
              <a:solidFill>
                <a:schemeClr val="dk1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Noto Sans KR"/>
              <a:sym typeface="Noto Sans KR"/>
            </a:endParaRPr>
          </a:p>
          <a:p>
            <a:r>
              <a:rPr lang="ko-KR" altLang="en-US" dirty="0" err="1" smtClean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기획안</a:t>
            </a:r>
            <a:endParaRPr lang="ko-KR" altLang="en-US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20F22C9-FD98-027D-E790-3AD22C32CB6E}"/>
              </a:ext>
            </a:extLst>
          </p:cNvPr>
          <p:cNvSpPr txBox="1">
            <a:spLocks/>
          </p:cNvSpPr>
          <p:nvPr/>
        </p:nvSpPr>
        <p:spPr>
          <a:xfrm>
            <a:off x="2774510" y="3887003"/>
            <a:ext cx="6642980" cy="10107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9600" b="1" dirty="0">
                <a:solidFill>
                  <a:srgbClr val="FF256E"/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rPr>
              <a:t>PROJECT</a:t>
            </a:r>
            <a:r>
              <a:rPr lang="en-US" altLang="ko-KR" sz="9600" b="1" dirty="0">
                <a:solidFill>
                  <a:srgbClr val="FF256E"/>
                </a:solidFill>
              </a:rPr>
              <a:t/>
            </a:r>
            <a:br>
              <a:rPr lang="en-US" altLang="ko-KR" sz="9600" b="1" dirty="0">
                <a:solidFill>
                  <a:srgbClr val="FF256E"/>
                </a:solidFill>
              </a:rPr>
            </a:br>
            <a:endParaRPr lang="ko-KR" altLang="en-US" sz="9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BAC20E-32D4-808A-3D83-56E9DE6914CC}"/>
              </a:ext>
            </a:extLst>
          </p:cNvPr>
          <p:cNvSpPr/>
          <p:nvPr/>
        </p:nvSpPr>
        <p:spPr>
          <a:xfrm>
            <a:off x="0" y="0"/>
            <a:ext cx="12192000" cy="362139"/>
          </a:xfrm>
          <a:prstGeom prst="rect">
            <a:avLst/>
          </a:prstGeom>
          <a:solidFill>
            <a:srgbClr val="FFD6EE"/>
          </a:solidFill>
          <a:ln>
            <a:solidFill>
              <a:srgbClr val="FFD6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78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0D7CA-DE5C-6276-2082-0A2E3063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Overview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76CDCE-8AFE-1255-39E7-A5927E10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579" y="4318504"/>
            <a:ext cx="10515600" cy="1959354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프로젝트 목적</a:t>
            </a: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본 프로젝트는 면접 질문 데이터를 의미 기반으로 구조화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표준화하여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직무지식과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인성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태도 질문을 구분하는 객관적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AI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평가 기반을 구축하는 것을 목표하고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.</a:t>
            </a:r>
            <a:b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</a:b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  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이를 통해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RAG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기반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AI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모의면접 시스템으로 확장 가능한 질문 지식 베이스를 마련하고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지능형 채용 </a:t>
            </a:r>
            <a:r>
              <a:rPr lang="ko-KR" altLang="en-US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어시스턴트로의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적용 가능성을 검증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비즈니스 목적</a:t>
            </a: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AI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면접 자동화를 통해 채용 운영 비용을 줄이고 평가 일관성을 높이며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기업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개인 대상 확장 가능한 채용 서비스로의 사업화를 목표로 함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ko-KR" altLang="en-US" sz="1200" b="1" dirty="0" smtClean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스터디 목적</a:t>
            </a:r>
            <a:endParaRPr lang="en-US" altLang="ko-KR" sz="1200" b="1" dirty="0" smtClean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최신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LLM·NLP·STT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기술을 실서비스 수준으로 설계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개발하며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AI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프로젝트 개발과 협업 전 과정을 경험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C7D15-7F1A-24CC-550B-FF36BDF3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A8EF-FD5B-4A3C-A11D-8366A99AEC4C}" type="datetime9">
              <a:rPr lang="ko-KR" altLang="en-US" smtClean="0"/>
              <a:t>2026년 1월 27일 오후 5시 53분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8D166-9139-61C2-5D71-3C0CA7C7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algn="l"/>
            <a:r>
              <a:rPr lang="en-US" altLang="ko-KR"/>
              <a:t>Final_Project_</a:t>
            </a:r>
            <a:r>
              <a:rPr lang="ko-KR" altLang="en-US"/>
              <a:t>기획안</a:t>
            </a:r>
            <a:r>
              <a:rPr lang="en-US" altLang="ko-KR"/>
              <a:t>_</a:t>
            </a:r>
            <a:r>
              <a:rPr lang="ko-KR" altLang="en-US"/>
              <a:t>함유라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8FFC4B-857F-1362-B5B0-15915997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/>
              <a:pPr algn="l"/>
              <a:t>2</a:t>
            </a:fld>
            <a:endParaRPr lang="en-US" altLang="ko-KR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9E6F772-47B2-8604-2858-E76DE237F48C}"/>
              </a:ext>
            </a:extLst>
          </p:cNvPr>
          <p:cNvSpPr txBox="1">
            <a:spLocks/>
          </p:cNvSpPr>
          <p:nvPr/>
        </p:nvSpPr>
        <p:spPr>
          <a:xfrm>
            <a:off x="530114" y="1165419"/>
            <a:ext cx="10804825" cy="18602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프로젝트 배경</a:t>
            </a: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최근 채용 환경은 대규모 지원자 유입과 직무의 고도화로 인해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기존의 인간 중심 면접 방식만으로는 객관성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확장성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효율성을 동시에 확보하기 어려운 한계에 직면해 있다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.</a:t>
            </a:r>
            <a:b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</a:b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기업은 짧은 시간 안에 수백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~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수천 명의 지원자를 평가해야 하며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면접관의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주관적 편향과 일정 조율 문제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높은 운영 비용은 채용 품질 저하로 이어지고 있다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한편 지원자 역시 실제 면접과 유사한 환경에서 반복 연습과 즉각적인 피드백을 받을 수 있는 도구에 대한 수요가 증가하고 있으나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기존 모의면접 서비스는 질문의 정형화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형식적인 </a:t>
            </a:r>
            <a:r>
              <a:rPr lang="ko-KR" altLang="en-US" dirty="0" err="1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피듭백</a:t>
            </a:r>
            <a:r>
              <a:rPr lang="en-US" altLang="ko-KR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직무별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차별화 부족이라는 한계를 가진다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이러한 문제를 해결하기 위해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생성형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AI(LLM)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와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RAG(Retrieval-Augmented Generation),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음성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비언어 분석 기술을 결합한 지능형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AI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모의면접 시스템이 필요하며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그 출발점으로 면접 질문 데이터를 체계적으로 분류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구조화하는 데이터 기반 접근이 요구된다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.</a:t>
            </a:r>
          </a:p>
          <a:p>
            <a:pPr marL="457200" lvl="1" indent="0">
              <a:buNone/>
            </a:pPr>
            <a:r>
              <a:rPr lang="ko-KR" altLang="en-US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즉</a:t>
            </a:r>
            <a:r>
              <a:rPr lang="en-US" altLang="ko-KR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이 프로젝트는 면접 준비의 접근성 향상</a:t>
            </a:r>
            <a:r>
              <a:rPr lang="en-US" altLang="ko-KR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정량적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평가의</a:t>
            </a:r>
            <a:r>
              <a:rPr lang="ko-KR" altLang="en-US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표준화</a:t>
            </a:r>
            <a:r>
              <a:rPr lang="en-US" altLang="ko-KR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·AI </a:t>
            </a:r>
            <a:r>
              <a:rPr lang="ko-KR" altLang="en-US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기반 면접 자동화의 필요성을 해결하기 위한 새로운 솔루션을 목표로 한다</a:t>
            </a:r>
            <a:r>
              <a:rPr lang="en-US" altLang="ko-KR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.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/>
            </a:r>
            <a:b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</a:b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8B49F-EA50-9018-6E84-C483E81D745C}"/>
              </a:ext>
            </a:extLst>
          </p:cNvPr>
          <p:cNvSpPr txBox="1"/>
          <p:nvPr/>
        </p:nvSpPr>
        <p:spPr>
          <a:xfrm>
            <a:off x="439579" y="2775689"/>
            <a:ext cx="10288777" cy="1792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ko-KR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200" b="1">
                <a:latin typeface="Noto Sans KR Black" panose="020B0200000000000000" pitchFamily="34" charset="-128"/>
                <a:ea typeface="Noto Sans KR Black" panose="020B0200000000000000" pitchFamily="34" charset="-128"/>
              </a:defRPr>
            </a:lvl1pPr>
            <a:lvl2pPr lvl="1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>
                <a:latin typeface="Noto Sans KR DemiLight" panose="020B0200000000000000" pitchFamily="34" charset="-128"/>
                <a:ea typeface="Noto Sans KR DemiLight" panose="020B0200000000000000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>
                <a:latin typeface="Noto Sans KR Light" panose="020B0200000000000000" pitchFamily="34" charset="-128"/>
                <a:ea typeface="Noto Sans KR Light" panose="020B0200000000000000" pitchFamily="34" charset="-128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dirty="0"/>
              <a:t>프로젝트 개요</a:t>
            </a:r>
            <a:endParaRPr lang="en-US" altLang="ko-KR" dirty="0"/>
          </a:p>
          <a:p>
            <a:pPr lvl="1"/>
            <a:r>
              <a:rPr lang="ko-KR" altLang="en-US" dirty="0"/>
              <a:t>본 프로젝트는 딥러닝 기반 </a:t>
            </a:r>
            <a:r>
              <a:rPr lang="en-US" altLang="ko-KR" dirty="0"/>
              <a:t>NLP</a:t>
            </a:r>
            <a:r>
              <a:rPr lang="ko-KR" altLang="en-US" dirty="0"/>
              <a:t>와 </a:t>
            </a:r>
            <a:r>
              <a:rPr lang="en-US" altLang="ko-KR" dirty="0"/>
              <a:t>STT(Speech-to-Text) </a:t>
            </a:r>
            <a:r>
              <a:rPr lang="ko-KR" altLang="en-US" dirty="0"/>
              <a:t>기술을 활용한 생성형 </a:t>
            </a:r>
            <a:r>
              <a:rPr lang="en-US" altLang="ko-KR" dirty="0"/>
              <a:t>AI </a:t>
            </a:r>
            <a:r>
              <a:rPr lang="ko-KR" altLang="en-US" dirty="0"/>
              <a:t>모의면접 시스템을 구축하는 것을 목표로 한다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기존의 </a:t>
            </a:r>
            <a:r>
              <a:rPr lang="ko-KR" altLang="en-US" dirty="0" err="1"/>
              <a:t>일방향</a:t>
            </a:r>
            <a:r>
              <a:rPr lang="ko-KR" altLang="en-US" dirty="0"/>
              <a:t> 면접 연습 방식을 넘어</a:t>
            </a:r>
            <a:r>
              <a:rPr lang="en-US" altLang="ko-KR" dirty="0"/>
              <a:t>, LLM </a:t>
            </a:r>
            <a:r>
              <a:rPr lang="ko-KR" altLang="en-US" dirty="0"/>
              <a:t>기반 모델이 실제 면접관처럼 질문 → 사용자 답변 분석 → 후속 질문 제시 → 개인별 피드백 제공의 전체 과정을 수행할 수 있도록 설계한다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사용자는 음성과 텍스트를 통해 자유롭게 응답할 수 있으며</a:t>
            </a:r>
            <a:r>
              <a:rPr lang="en-US" altLang="ko-KR" dirty="0"/>
              <a:t>, </a:t>
            </a:r>
            <a:r>
              <a:rPr lang="ko-KR" altLang="en-US" dirty="0"/>
              <a:t>시스템은 이를 자연어로 분석하여 논리성</a:t>
            </a:r>
            <a:r>
              <a:rPr lang="en-US" altLang="ko-KR" dirty="0"/>
              <a:t>·</a:t>
            </a:r>
            <a:r>
              <a:rPr lang="ko-KR" altLang="en-US" dirty="0"/>
              <a:t>명확성</a:t>
            </a:r>
            <a:r>
              <a:rPr lang="en-US" altLang="ko-KR" dirty="0"/>
              <a:t>·</a:t>
            </a:r>
            <a:r>
              <a:rPr lang="ko-KR" altLang="en-US" dirty="0" err="1"/>
              <a:t>직무적합성</a:t>
            </a:r>
            <a:r>
              <a:rPr lang="en-US" altLang="ko-KR" dirty="0" smtClean="0"/>
              <a:t>·</a:t>
            </a:r>
            <a:r>
              <a:rPr lang="ko-KR" altLang="en-US" dirty="0" smtClean="0"/>
              <a:t>인성</a:t>
            </a:r>
            <a:r>
              <a:rPr lang="en-US" altLang="ko-KR" dirty="0" smtClean="0"/>
              <a:t>·</a:t>
            </a:r>
            <a:r>
              <a:rPr lang="ko-KR" altLang="en-US" dirty="0"/>
              <a:t>발화 패턴 등을 평가한다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또한 직군</a:t>
            </a:r>
            <a:r>
              <a:rPr lang="en-US" altLang="ko-KR" dirty="0"/>
              <a:t>·</a:t>
            </a:r>
            <a:r>
              <a:rPr lang="ko-KR" altLang="en-US" dirty="0"/>
              <a:t>기업 유형에 따라 면접 질문을 자동 생성하고</a:t>
            </a:r>
            <a:r>
              <a:rPr lang="en-US" altLang="ko-KR" dirty="0"/>
              <a:t>, </a:t>
            </a:r>
            <a:r>
              <a:rPr lang="ko-KR" altLang="en-US" dirty="0"/>
              <a:t>반복 학습을 통해 사용자의 부족한 부분을 지속적으로 보완할 수 있는 맞춤형 학습 코칭 기능을 제공한다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프로젝트는 실제 취업 준비 과정에서의 비효율성과 면접 부담을 해소하고</a:t>
            </a:r>
            <a:r>
              <a:rPr lang="en-US" altLang="ko-KR" dirty="0"/>
              <a:t>, </a:t>
            </a:r>
            <a:r>
              <a:rPr lang="ko-KR" altLang="en-US" dirty="0"/>
              <a:t>기업의 면접 </a:t>
            </a:r>
            <a:r>
              <a:rPr lang="ko-KR" altLang="en-US" dirty="0" err="1"/>
              <a:t>스크리닝</a:t>
            </a:r>
            <a:r>
              <a:rPr lang="ko-KR" altLang="en-US" dirty="0"/>
              <a:t> 자동화까지 고려한 실용적인 </a:t>
            </a:r>
            <a:r>
              <a:rPr lang="en-US" altLang="ko-KR" dirty="0"/>
              <a:t>AI </a:t>
            </a:r>
            <a:r>
              <a:rPr lang="ko-KR" altLang="en-US" dirty="0"/>
              <a:t>면접 플랫폼 구축을 목표로 하며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 smtClean="0"/>
              <a:t>최신 </a:t>
            </a:r>
            <a:r>
              <a:rPr lang="en-US" altLang="ko-KR" dirty="0"/>
              <a:t>LLM </a:t>
            </a:r>
            <a:r>
              <a:rPr lang="ko-KR" altLang="en-US" dirty="0"/>
              <a:t>모델 활용</a:t>
            </a:r>
            <a:r>
              <a:rPr lang="en-US" altLang="ko-KR" dirty="0"/>
              <a:t>, </a:t>
            </a:r>
            <a:r>
              <a:rPr lang="ko-KR" altLang="en-US" dirty="0"/>
              <a:t>음성 기반 상호작용 기술 통합</a:t>
            </a:r>
            <a:r>
              <a:rPr lang="en-US" altLang="ko-KR" dirty="0"/>
              <a:t>, </a:t>
            </a:r>
            <a:r>
              <a:rPr lang="ko-KR" altLang="en-US" dirty="0"/>
              <a:t>사용자 맞춤 피드백 알고리즘 개발을 포함한 실전형 </a:t>
            </a:r>
            <a:r>
              <a:rPr lang="en-US" altLang="ko-KR" dirty="0"/>
              <a:t>AI </a:t>
            </a:r>
            <a:r>
              <a:rPr lang="ko-KR" altLang="en-US" dirty="0"/>
              <a:t>서비스 개발 경험을 제공한다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20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08BD6-79FD-5635-BA9A-B7985FA6C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E002F-A26D-2F0D-C974-DB5DFAFBB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Project Scope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1127E7-3905-31F0-9B84-69FEB077A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A520-F184-4743-8D43-E768598F523F}" type="datetime9">
              <a:rPr lang="ko-KR" altLang="en-US" smtClean="0"/>
              <a:t>2026년 1월 27일 오후 5시 53분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13678-AA6D-0C3C-894F-A5F4BADC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3477" y="6609979"/>
            <a:ext cx="4114800" cy="248021"/>
          </a:xfrm>
        </p:spPr>
        <p:txBody>
          <a:bodyPr/>
          <a:lstStyle/>
          <a:p>
            <a:pPr algn="l"/>
            <a:r>
              <a:rPr lang="en-US" altLang="ko-KR"/>
              <a:t>Final_Project_</a:t>
            </a:r>
            <a:r>
              <a:rPr lang="ko-KR" altLang="en-US"/>
              <a:t>기획안</a:t>
            </a:r>
            <a:r>
              <a:rPr lang="en-US" altLang="ko-KR"/>
              <a:t>_</a:t>
            </a:r>
            <a:r>
              <a:rPr lang="ko-KR" altLang="en-US"/>
              <a:t>함유라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CCC1E4-69DF-044E-20AD-CADE1290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/>
              <a:pPr algn="l"/>
              <a:t>3</a:t>
            </a:fld>
            <a:endParaRPr lang="en-US" altLang="ko-KR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ACF3EED-C4ED-7C58-56E5-9ED12CF3E7D6}"/>
              </a:ext>
            </a:extLst>
          </p:cNvPr>
          <p:cNvSpPr txBox="1">
            <a:spLocks/>
          </p:cNvSpPr>
          <p:nvPr/>
        </p:nvSpPr>
        <p:spPr>
          <a:xfrm>
            <a:off x="335383" y="3429000"/>
            <a:ext cx="3068720" cy="2400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Sans KR Light" panose="020B0200000000000000" pitchFamily="34" charset="-128"/>
                <a:ea typeface="Noto Sans KR Light" panose="020B0200000000000000" pitchFamily="34" charset="-128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ko-KR" sz="1300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Out-of-Scope</a:t>
            </a:r>
          </a:p>
          <a:p>
            <a:pPr marL="0" indent="0">
              <a:buNone/>
            </a:pPr>
            <a:endParaRPr lang="en-US" altLang="ko-KR" sz="1300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 </a:t>
            </a:r>
            <a:r>
              <a:rPr lang="ko-KR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상용 서비스 수준의 고도화 개발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3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3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HR </a:t>
            </a:r>
            <a:r>
              <a:rPr lang="ko-KR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시스템 연동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3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3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상업용 </a:t>
            </a:r>
            <a:r>
              <a:rPr lang="ko-KR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데이터 대규모 구축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모바일 앱 개발</a:t>
            </a:r>
            <a:endParaRPr lang="en-US" altLang="ko-KR" sz="13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개인정보 암호화</a:t>
            </a:r>
            <a:r>
              <a:rPr lang="en-US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보안 인증</a:t>
            </a:r>
            <a:r>
              <a:rPr lang="en-US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(ISMS </a:t>
            </a:r>
            <a:r>
              <a:rPr lang="ko-KR" altLang="en-US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등</a:t>
            </a:r>
            <a:r>
              <a:rPr lang="en-US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법적</a:t>
            </a:r>
            <a:r>
              <a:rPr lang="en-US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윤리적 </a:t>
            </a:r>
            <a:r>
              <a:rPr lang="en-US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AI </a:t>
            </a:r>
            <a:r>
              <a:rPr lang="ko-KR" altLang="en-US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검증</a:t>
            </a:r>
            <a:r>
              <a:rPr lang="en-US" altLang="ko-KR" sz="13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(AI Auditing)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13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endParaRPr lang="en-US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endParaRPr lang="ko-KR" altLang="en-US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</p:txBody>
      </p:sp>
      <p:sp>
        <p:nvSpPr>
          <p:cNvPr id="13" name="내용 개체 틀 11">
            <a:extLst>
              <a:ext uri="{FF2B5EF4-FFF2-40B4-BE49-F238E27FC236}">
                <a16:creationId xmlns:a16="http://schemas.microsoft.com/office/drawing/2014/main" id="{16012878-CD13-A44C-209C-0906420D9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10" y="1083633"/>
            <a:ext cx="3599775" cy="192614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In-Scope</a:t>
            </a:r>
          </a:p>
          <a:p>
            <a:pPr marL="0" indent="0">
              <a:buNone/>
            </a:pP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면접 데이터 구축 및 </a:t>
            </a:r>
            <a:r>
              <a:rPr lang="ko-KR" altLang="ko-KR" sz="1200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전처리</a:t>
            </a:r>
            <a:endParaRPr lang="ko-KR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LLM 기반 </a:t>
            </a:r>
            <a:r>
              <a:rPr lang="ko-KR" altLang="ko-KR" sz="1200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질문·답변</a:t>
            </a:r>
            <a:r>
              <a:rPr lang="ko-KR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생성 모델 개발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STT/TTS 음성 인터페이스 통합</a:t>
            </a: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en-US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기업별 맞춤 </a:t>
            </a:r>
            <a:r>
              <a:rPr lang="ko-KR" altLang="ko-KR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답변 </a:t>
            </a:r>
            <a:r>
              <a:rPr lang="ko-KR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분석 및 피드백 알고리즘 구현</a:t>
            </a:r>
            <a:endParaRPr lang="en-US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사용자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(User)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맞춤형 분석 및 피드백 제공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(Agent)</a:t>
            </a:r>
            <a:endParaRPr lang="ko-KR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웹 기반 모의면접 데모 시스템 </a:t>
            </a:r>
            <a:r>
              <a:rPr lang="ko-KR" altLang="ko-KR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제작</a:t>
            </a:r>
            <a:endParaRPr lang="en-US" altLang="ko-KR" sz="1200" dirty="0" smtClean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표정 </a:t>
            </a:r>
            <a:r>
              <a:rPr lang="ko-KR" altLang="ko-KR" sz="1200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분석·영상</a:t>
            </a:r>
            <a:r>
              <a:rPr lang="ko-KR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기반 면접 </a:t>
            </a:r>
            <a:r>
              <a:rPr lang="ko-KR" altLang="ko-KR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기능</a:t>
            </a:r>
            <a:endParaRPr lang="ko-KR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 </a:t>
            </a:r>
            <a:r>
              <a:rPr lang="ko-KR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기능 테스트 및 기본 평가</a:t>
            </a:r>
            <a:endParaRPr lang="en-US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endParaRPr lang="ko-KR" altLang="en-US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9071561-B7FB-6D41-3235-E41F2AC589E1}"/>
              </a:ext>
            </a:extLst>
          </p:cNvPr>
          <p:cNvGrpSpPr/>
          <p:nvPr/>
        </p:nvGrpSpPr>
        <p:grpSpPr>
          <a:xfrm>
            <a:off x="4123471" y="1295538"/>
            <a:ext cx="7271497" cy="1404000"/>
            <a:chOff x="4153940" y="1296779"/>
            <a:chExt cx="7271497" cy="1404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B259E33-EF19-2E3A-82B5-18B72745A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964" t="4152" r="49358" b="49404"/>
            <a:stretch>
              <a:fillRect/>
            </a:stretch>
          </p:blipFill>
          <p:spPr>
            <a:xfrm>
              <a:off x="4153940" y="1298020"/>
              <a:ext cx="1440000" cy="1402759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82AC2AA-FD6B-141C-99F0-12D9C3D48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3343" r="49885" b="5838"/>
            <a:stretch>
              <a:fillRect/>
            </a:stretch>
          </p:blipFill>
          <p:spPr>
            <a:xfrm>
              <a:off x="8038060" y="1296779"/>
              <a:ext cx="1472047" cy="1404000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CF6509F0-4E3D-D5CB-49E6-82DAA5D3E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9497" t="45148" b="9043"/>
            <a:stretch>
              <a:fillRect/>
            </a:stretch>
          </p:blipFill>
          <p:spPr>
            <a:xfrm>
              <a:off x="9985437" y="1296779"/>
              <a:ext cx="1440000" cy="1402759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D9A5EE0-36C3-8A94-E121-B289A23B8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804" t="6300" r="1727" b="50110"/>
            <a:stretch>
              <a:fillRect/>
            </a:stretch>
          </p:blipFill>
          <p:spPr>
            <a:xfrm>
              <a:off x="6069269" y="1296779"/>
              <a:ext cx="1493461" cy="140400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23A79FB-EB32-0DA8-88E7-26387BAD3F4E}"/>
              </a:ext>
            </a:extLst>
          </p:cNvPr>
          <p:cNvGrpSpPr/>
          <p:nvPr/>
        </p:nvGrpSpPr>
        <p:grpSpPr>
          <a:xfrm>
            <a:off x="4122404" y="3560993"/>
            <a:ext cx="7370102" cy="1406245"/>
            <a:chOff x="4122404" y="3560993"/>
            <a:chExt cx="7370102" cy="1406245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120FAC63-9710-626B-65D3-A667CF3E1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67" t="2771" r="50000" b="51995"/>
            <a:stretch>
              <a:fillRect/>
            </a:stretch>
          </p:blipFill>
          <p:spPr>
            <a:xfrm>
              <a:off x="4122404" y="3560993"/>
              <a:ext cx="1484658" cy="140400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38A67BB-7B2E-E082-E67F-4278B7AF4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509" t="3001" r="611" b="49850"/>
            <a:stretch>
              <a:fillRect/>
            </a:stretch>
          </p:blipFill>
          <p:spPr>
            <a:xfrm>
              <a:off x="6038800" y="3560993"/>
              <a:ext cx="1483200" cy="140400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27351B4-7B4B-6D70-4055-D31F5A979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4806" r="47510" b="6712"/>
            <a:stretch>
              <a:fillRect/>
            </a:stretch>
          </p:blipFill>
          <p:spPr>
            <a:xfrm>
              <a:off x="8026907" y="3563238"/>
              <a:ext cx="1483200" cy="1404000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341E58A1-31CF-3A96-E52C-BC0C979A3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9740" t="46262" r="218" b="11230"/>
            <a:stretch>
              <a:fillRect/>
            </a:stretch>
          </p:blipFill>
          <p:spPr>
            <a:xfrm>
              <a:off x="10009306" y="3563238"/>
              <a:ext cx="1483200" cy="140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45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CE2C6-FC46-C88F-3663-5AF5B0D9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Tasks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855E5D-EAE1-2439-7893-C0F4AB800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83" y="835611"/>
            <a:ext cx="10515600" cy="5789420"/>
          </a:xfrm>
        </p:spPr>
        <p:txBody>
          <a:bodyPr>
            <a:noAutofit/>
          </a:bodyPr>
          <a:lstStyle/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Task 1. Dataset Preparation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연관 부서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: DE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면접 질문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답변 데이터 수집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텍스트 정제 및 </a:t>
            </a:r>
            <a:r>
              <a:rPr lang="ko-KR" altLang="en-US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전처리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STT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학습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/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평가용 음성 데이터 준비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Task 2. STT Integration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연관 부서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: DE,ME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음성 → 텍스트 변환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(STT API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연동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), Whisper 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사용 예정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잡음 제거 및 인식 오류 보정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Task 3. NLP Evaluation Module Development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연관 부서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: ME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답변 요약 및 핵심 키워드 추출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논리성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명확성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직무적합성 평가 기준 설계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사용자 피드백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정량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/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정성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)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모델 개발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Task 4. LLM Prompt Engineering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연관 부서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: LE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직군별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난이도별 질문 생성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Prompt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설계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단계별 시나리오 구축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후속 질문 생성 알고리즘 구성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사용자 답변 기반 적응형 질문 및 맞춤 분석 결과 전략 개발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(Agent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기능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)</a:t>
            </a: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Task 5. UI/UX Development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연관 부서 </a:t>
            </a:r>
            <a:r>
              <a:rPr lang="en-US" altLang="ko-KR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: SD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웹 기반 모의면접 인터페이스 구성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질문 출력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음성 입력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피드백 화면 개발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사용자 흐름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(UI flow)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및 디자인 구성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Task 6. Model Testing &amp; Validation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연관 부서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: ME,DE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기능 테스트 및 버그 수정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STT·LLM·NLP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모듈 통합 테스트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면접 시나리오 기반 전체 프로토타입 검증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228600" lvl="1">
              <a:spcBef>
                <a:spcPts val="1000"/>
              </a:spcBef>
            </a:pPr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Task 7. Operation &amp; Planning </a:t>
            </a:r>
          </a:p>
          <a:p>
            <a:pPr marL="457200" lvl="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연관 부서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: </a:t>
            </a:r>
            <a:r>
              <a:rPr lang="en-US" altLang="ko-KR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PA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57200" lvl="2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사용자 시나리오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(UX Flow)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설계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기획 문서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작성 및 검증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콘텐츠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/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면접 유형 구성 기획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테스트 운영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(CS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관점의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QA),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프로젝트 일정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·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협업 관리 지원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57200" lvl="2" indent="0">
              <a:spcBef>
                <a:spcPts val="1000"/>
              </a:spcBef>
              <a:buNone/>
            </a:pPr>
            <a:endParaRPr lang="en-US" altLang="ko-KR" sz="11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628650" lvl="2" indent="-171450">
              <a:spcBef>
                <a:spcPts val="1000"/>
              </a:spcBef>
              <a:buFontTx/>
              <a:buChar char="-"/>
            </a:pPr>
            <a:endParaRPr lang="en-US" altLang="ko-KR" sz="1100" b="1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57200" lvl="1" indent="0">
              <a:buNone/>
            </a:pP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89D6C-2CF5-C812-E418-78CA0F3F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AC2BC-4CB7-4A49-9E71-6CBB8EC3E8B4}" type="datetime9">
              <a:rPr lang="ko-KR" altLang="en-US" smtClean="0"/>
              <a:t>2026년 1월 27일 오후 5시 53분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167CB0-E369-DAA4-85DB-A7009DFE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altLang="ko-KR"/>
              <a:t>Final_Project_</a:t>
            </a:r>
            <a:r>
              <a:rPr lang="ko-KR" altLang="en-US"/>
              <a:t>기획안</a:t>
            </a:r>
            <a:r>
              <a:rPr lang="en-US" altLang="ko-KR"/>
              <a:t>_</a:t>
            </a:r>
            <a:r>
              <a:rPr lang="ko-KR" altLang="en-US"/>
              <a:t>함유라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10F58-9565-759E-784E-68E0D2E2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/>
              <a:pPr algn="l"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295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B92B8-10D1-64A9-6D1A-E8155089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Structure &amp; Roles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41E236-F5A8-0FC6-238F-57403C7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1A30-A8E0-4230-B887-6B57095B4266}" type="datetime9">
              <a:rPr lang="ko-KR" altLang="en-US" smtClean="0"/>
              <a:t>2026년 1월 27일 오후 5시 53분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63FEA-8B06-D0D7-3607-9BC9BD698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altLang="ko-KR"/>
              <a:t>Final_Project_</a:t>
            </a:r>
            <a:r>
              <a:rPr lang="ko-KR" altLang="en-US"/>
              <a:t>기획안</a:t>
            </a:r>
            <a:r>
              <a:rPr lang="en-US" altLang="ko-KR"/>
              <a:t>_</a:t>
            </a:r>
            <a:r>
              <a:rPr lang="ko-KR" altLang="en-US"/>
              <a:t>함유라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03A1F-C7DE-512F-64EC-F50F3C99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/>
              <a:pPr algn="l"/>
              <a:t>5</a:t>
            </a:fld>
            <a:endParaRPr lang="en-US" altLang="ko-KR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8BCC74B-01EC-4965-0A08-FB8908D5D0A6}"/>
              </a:ext>
            </a:extLst>
          </p:cNvPr>
          <p:cNvGrpSpPr/>
          <p:nvPr/>
        </p:nvGrpSpPr>
        <p:grpSpPr>
          <a:xfrm>
            <a:off x="651701" y="825137"/>
            <a:ext cx="4941482" cy="1800000"/>
            <a:chOff x="651701" y="825137"/>
            <a:chExt cx="4941482" cy="180000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189E37B-3A9A-14EE-7737-69119F7E4AFF}"/>
                </a:ext>
              </a:extLst>
            </p:cNvPr>
            <p:cNvSpPr/>
            <p:nvPr/>
          </p:nvSpPr>
          <p:spPr>
            <a:xfrm>
              <a:off x="651701" y="825137"/>
              <a:ext cx="516195" cy="1799999"/>
            </a:xfrm>
            <a:prstGeom prst="roundRect">
              <a:avLst>
                <a:gd name="adj" fmla="val 36171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525F7715-24D3-CF85-219B-7DC2F98D2993}"/>
                </a:ext>
              </a:extLst>
            </p:cNvPr>
            <p:cNvSpPr/>
            <p:nvPr/>
          </p:nvSpPr>
          <p:spPr>
            <a:xfrm>
              <a:off x="733183" y="825137"/>
              <a:ext cx="4860000" cy="1800000"/>
            </a:xfrm>
            <a:prstGeom prst="roundRect">
              <a:avLst/>
            </a:prstGeom>
            <a:solidFill>
              <a:srgbClr val="FFF8E5"/>
            </a:solidFill>
            <a:ln>
              <a:solidFill>
                <a:srgbClr val="FFF8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Data </a:t>
              </a:r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Architecture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 (DA)</a:t>
              </a:r>
            </a:p>
            <a:p>
              <a:endParaRPr lang="en-US" altLang="ko-KR" sz="1200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음성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텍스트 데이터 수집 전략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설계                                                                 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원천 데이터 정제 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노이즈 제거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중복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결측 처리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텍스트 데이터 정규화 및 토큰화 </a:t>
              </a:r>
              <a:r>
                <a:rPr lang="ko-KR" altLang="en-US" sz="1000" dirty="0" err="1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전처리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학습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검증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테스트 데이터셋 분리 및 관리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데이터 스키마 정의 및 컬럼 단위 데이터 정의서 작성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데이터 버전 관리 및 재현성 확보</a:t>
              </a:r>
            </a:p>
            <a:p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9ECDB9-FCC8-4F0F-B420-008297724311}"/>
              </a:ext>
            </a:extLst>
          </p:cNvPr>
          <p:cNvGrpSpPr/>
          <p:nvPr/>
        </p:nvGrpSpPr>
        <p:grpSpPr>
          <a:xfrm>
            <a:off x="651701" y="2781009"/>
            <a:ext cx="4940652" cy="1800856"/>
            <a:chOff x="651701" y="2781009"/>
            <a:chExt cx="4940652" cy="180085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3C06D5C4-536C-22AC-6EF1-86F955CDA516}"/>
                </a:ext>
              </a:extLst>
            </p:cNvPr>
            <p:cNvSpPr/>
            <p:nvPr/>
          </p:nvSpPr>
          <p:spPr>
            <a:xfrm>
              <a:off x="651701" y="2781009"/>
              <a:ext cx="516195" cy="1799999"/>
            </a:xfrm>
            <a:prstGeom prst="roundRect">
              <a:avLst>
                <a:gd name="adj" fmla="val 36171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5E0BB6C6-CC71-58E7-162C-734003280FA3}"/>
                </a:ext>
              </a:extLst>
            </p:cNvPr>
            <p:cNvSpPr/>
            <p:nvPr/>
          </p:nvSpPr>
          <p:spPr>
            <a:xfrm>
              <a:off x="733183" y="2781865"/>
              <a:ext cx="4859170" cy="18000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200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Model </a:t>
              </a:r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Architecture 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(MA)</a:t>
              </a:r>
            </a:p>
            <a:p>
              <a:endParaRPr lang="en-US" altLang="ko-KR" sz="1200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문제 정의에 따른 모델 접근 방식 설계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 err="1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사전학습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(</a:t>
              </a:r>
              <a:r>
                <a:rPr lang="ko-KR" altLang="en-US" sz="1000" dirty="0" err="1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온프레미스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)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모델 활용 전략 수립 및 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NLP/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딥러닝 모델 구조 설계 및 모델 후보군 선정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학습 파이프라인 구현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(</a:t>
              </a:r>
              <a:r>
                <a:rPr lang="ko-KR" altLang="en-US" sz="1000" dirty="0" err="1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전처리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 → 학습 → 추론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성능 평가 지표 정의 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정확도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일관성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응답 품질 등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실험 결과 비교 및 모델 선택 근거 정리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최종 모델 구조 </a:t>
              </a:r>
              <a:r>
                <a:rPr lang="ko-KR" altLang="en-US" sz="1000" dirty="0" err="1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설계안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 도출</a:t>
              </a:r>
            </a:p>
            <a:p>
              <a:pPr marL="171450" indent="-171450">
                <a:buFontTx/>
                <a:buChar char="-"/>
              </a:pP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endParaRPr lang="ko-KR" altLang="en-US" sz="1200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31D9004-028E-FF8E-CB1F-E63126FE5649}"/>
              </a:ext>
            </a:extLst>
          </p:cNvPr>
          <p:cNvGrpSpPr/>
          <p:nvPr/>
        </p:nvGrpSpPr>
        <p:grpSpPr>
          <a:xfrm>
            <a:off x="651700" y="4736879"/>
            <a:ext cx="4941483" cy="1801715"/>
            <a:chOff x="651700" y="4736879"/>
            <a:chExt cx="4941483" cy="1801715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1F159300-1252-4DEC-0F8E-7875C835BF99}"/>
                </a:ext>
              </a:extLst>
            </p:cNvPr>
            <p:cNvSpPr/>
            <p:nvPr/>
          </p:nvSpPr>
          <p:spPr>
            <a:xfrm>
              <a:off x="651700" y="4736879"/>
              <a:ext cx="516195" cy="1799999"/>
            </a:xfrm>
            <a:prstGeom prst="roundRect">
              <a:avLst>
                <a:gd name="adj" fmla="val 36171"/>
              </a:avLst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567A6C4-9FC1-68A7-729F-1B5BF1D06CF7}"/>
                </a:ext>
              </a:extLst>
            </p:cNvPr>
            <p:cNvSpPr/>
            <p:nvPr/>
          </p:nvSpPr>
          <p:spPr>
            <a:xfrm>
              <a:off x="733183" y="4738594"/>
              <a:ext cx="4860000" cy="1800000"/>
            </a:xfrm>
            <a:prstGeom prst="roundRect">
              <a:avLst/>
            </a:prstGeom>
            <a:solidFill>
              <a:srgbClr val="EADBF5"/>
            </a:solidFill>
            <a:ln>
              <a:solidFill>
                <a:srgbClr val="EADB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System </a:t>
              </a:r>
              <a:r>
                <a:rPr lang="en-US" altLang="ko-KR" sz="1200" b="1" dirty="0" smtClean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Development(SD)</a:t>
              </a:r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사용자 플로우 기반 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UI/UX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화면 설계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음성 입력 및 텍스트 출력 인터페이스 구현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 err="1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백엔드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 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API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연동 및 응답 처리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모델 결과 시각화 및 피드백 화면 구성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사용자 입력 검증 및 예외 처리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데모 및 발표용 서비스 화면 구성</a:t>
              </a:r>
            </a:p>
            <a:p>
              <a:pPr marL="171450" indent="-171450">
                <a:buFontTx/>
                <a:buChar char="-"/>
              </a:pP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endParaRPr lang="en-US" altLang="ko-KR" sz="1000" b="1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endPara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625D5A2-4F2F-F20E-263A-A6B66FEB1965}"/>
              </a:ext>
            </a:extLst>
          </p:cNvPr>
          <p:cNvGrpSpPr/>
          <p:nvPr/>
        </p:nvGrpSpPr>
        <p:grpSpPr>
          <a:xfrm>
            <a:off x="6014040" y="825137"/>
            <a:ext cx="4946082" cy="1800000"/>
            <a:chOff x="6014040" y="825137"/>
            <a:chExt cx="4946082" cy="180000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8940788C-AD83-8ED7-0AA6-80F2053B979D}"/>
                </a:ext>
              </a:extLst>
            </p:cNvPr>
            <p:cNvSpPr/>
            <p:nvPr/>
          </p:nvSpPr>
          <p:spPr>
            <a:xfrm>
              <a:off x="6014040" y="825137"/>
              <a:ext cx="516195" cy="1799999"/>
            </a:xfrm>
            <a:prstGeom prst="roundRect">
              <a:avLst>
                <a:gd name="adj" fmla="val 36171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6CF54A91-60E3-1AAE-0AFD-90EB95E9387C}"/>
                </a:ext>
              </a:extLst>
            </p:cNvPr>
            <p:cNvSpPr/>
            <p:nvPr/>
          </p:nvSpPr>
          <p:spPr>
            <a:xfrm>
              <a:off x="6100122" y="825137"/>
              <a:ext cx="4860000" cy="180000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LLM </a:t>
              </a:r>
              <a:r>
                <a:rPr lang="en-US" altLang="ko-KR" sz="1200" b="1" dirty="0" smtClean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Architecture </a:t>
              </a:r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(LA)</a:t>
              </a: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면접 시나리오 및 프롬프트 구조 설계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시스템 프롬프트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·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유저 프롬프트 분리 설계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출력 형식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(JSON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등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)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및 응답 규칙 정의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LLM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모델 후보 비교 및 활용 전략 수립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STT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결과 텍스트 후처리 및 입력 품질 보정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응답 품질 평가 기준 정의 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적절성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논리성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일관성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실패 사례 분석 및 프롬프트 개선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 err="1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멀티턴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 대화 흐름 설계</a:t>
              </a:r>
            </a:p>
            <a:p>
              <a:pPr marL="171450" indent="-171450">
                <a:buFontTx/>
                <a:buChar char="-"/>
              </a:pP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endPara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3A0D615-2C2C-95E0-F04C-5874D8FC3F2D}"/>
              </a:ext>
            </a:extLst>
          </p:cNvPr>
          <p:cNvGrpSpPr/>
          <p:nvPr/>
        </p:nvGrpSpPr>
        <p:grpSpPr>
          <a:xfrm>
            <a:off x="6014039" y="2781008"/>
            <a:ext cx="4946083" cy="1800000"/>
            <a:chOff x="6014039" y="2781008"/>
            <a:chExt cx="4946083" cy="1800000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B04851C7-2161-028B-8CB2-5B712F9DF8CD}"/>
                </a:ext>
              </a:extLst>
            </p:cNvPr>
            <p:cNvSpPr/>
            <p:nvPr/>
          </p:nvSpPr>
          <p:spPr>
            <a:xfrm>
              <a:off x="6014039" y="2781009"/>
              <a:ext cx="516195" cy="1799999"/>
            </a:xfrm>
            <a:prstGeom prst="roundRect">
              <a:avLst>
                <a:gd name="adj" fmla="val 36171"/>
              </a:avLst>
            </a:prstGeom>
            <a:solidFill>
              <a:srgbClr val="FF97D0"/>
            </a:solidFill>
            <a:ln>
              <a:solidFill>
                <a:srgbClr val="FF97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91880F4-3089-1042-60E8-A1F8BBCD0826}"/>
                </a:ext>
              </a:extLst>
            </p:cNvPr>
            <p:cNvSpPr/>
            <p:nvPr/>
          </p:nvSpPr>
          <p:spPr>
            <a:xfrm>
              <a:off x="6100122" y="2781008"/>
              <a:ext cx="4860000" cy="1800000"/>
            </a:xfrm>
            <a:prstGeom prst="roundRect">
              <a:avLst/>
            </a:prstGeom>
            <a:solidFill>
              <a:srgbClr val="FFE7EF"/>
            </a:solidFill>
            <a:ln>
              <a:solidFill>
                <a:srgbClr val="FFE7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Planning Architecture </a:t>
              </a:r>
              <a:r>
                <a:rPr lang="en-US" altLang="ko-KR" sz="1200" b="1" dirty="0" smtClean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(PA)</a:t>
              </a:r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전체 프로젝트 일정 및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진행 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Task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관리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파트 간 업무 조율 및 커뮤니케이션 관리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산출물 관리 및 버전 관리 기준 수립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리스크 식별 및 대응 방안 수립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테스트 및 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QA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계획 수립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결과 정리 및 최종 보고서 관리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테스트 운영 후 개선 사항 도출 및 반영 계획 수립</a:t>
              </a:r>
            </a:p>
            <a:p>
              <a:pPr marL="171450" indent="-171450">
                <a:buFontTx/>
                <a:buChar char="-"/>
              </a:pP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A3F9A3C-9A4B-9F8D-95AF-21340B73562B}"/>
              </a:ext>
            </a:extLst>
          </p:cNvPr>
          <p:cNvGrpSpPr/>
          <p:nvPr/>
        </p:nvGrpSpPr>
        <p:grpSpPr>
          <a:xfrm>
            <a:off x="6014038" y="4736879"/>
            <a:ext cx="4941962" cy="1800000"/>
            <a:chOff x="6014038" y="4736879"/>
            <a:chExt cx="4941962" cy="1800000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E51FEB6-1784-18F6-909A-E721F62175E4}"/>
                </a:ext>
              </a:extLst>
            </p:cNvPr>
            <p:cNvSpPr/>
            <p:nvPr/>
          </p:nvSpPr>
          <p:spPr>
            <a:xfrm>
              <a:off x="6014038" y="4736879"/>
              <a:ext cx="516195" cy="1799999"/>
            </a:xfrm>
            <a:prstGeom prst="roundRect">
              <a:avLst>
                <a:gd name="adj" fmla="val 36171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5610CB2-FE83-AD30-AC17-67D67AD7BB69}"/>
                </a:ext>
              </a:extLst>
            </p:cNvPr>
            <p:cNvSpPr/>
            <p:nvPr/>
          </p:nvSpPr>
          <p:spPr>
            <a:xfrm>
              <a:off x="6096000" y="4736879"/>
              <a:ext cx="4860000" cy="1800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r>
                <a:rPr lang="en-US" altLang="ko-KR" sz="1200" b="1" dirty="0">
                  <a:solidFill>
                    <a:schemeClr val="bg1">
                      <a:lumMod val="50000"/>
                    </a:schemeClr>
                  </a:solidFill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System Architecture(SA)</a:t>
              </a: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Web / API / AI / DB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구성 정의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전체 시스템 구조 설계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Node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기반 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AI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처리 아키텍처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설계</a:t>
              </a:r>
              <a:endParaRPr lang="en-US" altLang="ko-KR" sz="1000" dirty="0" smtClean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API </a:t>
              </a:r>
              <a:r>
                <a:rPr lang="ko-KR" altLang="en-US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인터페이스 설계</a:t>
              </a:r>
              <a:endParaRPr lang="en-US" altLang="ko-KR" sz="1000" dirty="0" smtClean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 smtClean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모델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·LLM 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배치 및 호출 구조 설계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운영</a:t>
              </a:r>
              <a:r>
                <a:rPr lang="en-US" altLang="ko-KR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·</a:t>
              </a:r>
              <a:r>
                <a:rPr lang="ko-KR" altLang="en-US" sz="1000" dirty="0" err="1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비기능</a:t>
              </a:r>
              <a:r>
                <a:rPr lang="ko-KR" altLang="en-US" sz="1000" dirty="0">
                  <a:solidFill>
                    <a:schemeClr val="tx1"/>
                  </a:solidFill>
                  <a:latin typeface="Noto Sans KR DemiLight" panose="020B0200000000000000" pitchFamily="34" charset="-128"/>
                  <a:ea typeface="Noto Sans KR DemiLight" panose="020B0200000000000000" pitchFamily="34" charset="-128"/>
                </a:rPr>
                <a:t> 요구사항 설계</a:t>
              </a:r>
              <a:endParaRPr lang="en-US" altLang="ko-KR" sz="1000" dirty="0">
                <a:solidFill>
                  <a:schemeClr val="tx1"/>
                </a:solidFill>
                <a:latin typeface="Noto Sans KR DemiLight" panose="020B0200000000000000" pitchFamily="34" charset="-128"/>
                <a:ea typeface="Noto Sans KR DemiLight" panose="020B0200000000000000" pitchFamily="34" charset="-128"/>
              </a:endParaRPr>
            </a:p>
            <a:p>
              <a:endParaRPr lang="en-US" altLang="ko-KR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  <a:p>
              <a:endParaRPr lang="ko-KR" altLang="en-US" sz="1200" b="1" dirty="0">
                <a:solidFill>
                  <a:schemeClr val="bg1">
                    <a:lumMod val="50000"/>
                  </a:schemeClr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487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038AB-9AD6-626E-552B-58D45875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Initial Timeline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CAED2-51EC-17D3-0002-4250ABD2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B393E-1F90-4376-B642-4A5D761E21EF}" type="datetime9">
              <a:rPr lang="ko-KR" altLang="en-US" smtClean="0"/>
              <a:t>2026년 1월 27일 오후 5시 53분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028134-1474-41A7-EF66-09B87CA1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altLang="ko-KR"/>
              <a:t>Final_Project_</a:t>
            </a:r>
            <a:r>
              <a:rPr lang="ko-KR" altLang="en-US"/>
              <a:t>기획안</a:t>
            </a:r>
            <a:r>
              <a:rPr lang="en-US" altLang="ko-KR"/>
              <a:t>_</a:t>
            </a:r>
            <a:r>
              <a:rPr lang="ko-KR" altLang="en-US"/>
              <a:t>함유라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AEB636-2666-2ECC-DCCE-720C7492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/>
              <a:pPr algn="l"/>
              <a:t>6</a:t>
            </a:fld>
            <a:endParaRPr lang="en-US" altLang="ko-KR"/>
          </a:p>
        </p:txBody>
      </p:sp>
      <p:graphicFrame>
        <p:nvGraphicFramePr>
          <p:cNvPr id="7" name="내용 개체 틀 8">
            <a:extLst>
              <a:ext uri="{FF2B5EF4-FFF2-40B4-BE49-F238E27FC236}">
                <a16:creationId xmlns:a16="http://schemas.microsoft.com/office/drawing/2014/main" id="{DD7D7603-6CDF-4D09-10F1-CB7D7093BE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006652"/>
              </p:ext>
            </p:extLst>
          </p:nvPr>
        </p:nvGraphicFramePr>
        <p:xfrm>
          <a:off x="1154490" y="3673038"/>
          <a:ext cx="9696493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02">
                  <a:extLst>
                    <a:ext uri="{9D8B030D-6E8A-4147-A177-3AD203B41FA5}">
                      <a16:colId xmlns:a16="http://schemas.microsoft.com/office/drawing/2014/main" val="2375580786"/>
                    </a:ext>
                  </a:extLst>
                </a:gridCol>
                <a:gridCol w="3068957">
                  <a:extLst>
                    <a:ext uri="{9D8B030D-6E8A-4147-A177-3AD203B41FA5}">
                      <a16:colId xmlns:a16="http://schemas.microsoft.com/office/drawing/2014/main" val="1900113090"/>
                    </a:ext>
                  </a:extLst>
                </a:gridCol>
                <a:gridCol w="1928388">
                  <a:extLst>
                    <a:ext uri="{9D8B030D-6E8A-4147-A177-3AD203B41FA5}">
                      <a16:colId xmlns:a16="http://schemas.microsoft.com/office/drawing/2014/main" val="355779556"/>
                    </a:ext>
                  </a:extLst>
                </a:gridCol>
                <a:gridCol w="3676546">
                  <a:extLst>
                    <a:ext uri="{9D8B030D-6E8A-4147-A177-3AD203B41FA5}">
                      <a16:colId xmlns:a16="http://schemas.microsoft.com/office/drawing/2014/main" val="2492522941"/>
                    </a:ext>
                  </a:extLst>
                </a:gridCol>
              </a:tblGrid>
              <a:tr h="3236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Phase</a:t>
                      </a:r>
                      <a:endParaRPr lang="ko-KR" altLang="en-US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Task</a:t>
                      </a:r>
                      <a:endParaRPr lang="ko-KR" altLang="en-US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Department</a:t>
                      </a:r>
                      <a:endParaRPr lang="ko-KR" altLang="en-US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>
                    <a:solidFill>
                      <a:srgbClr val="FF256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Target Outputs</a:t>
                      </a:r>
                      <a:endParaRPr lang="ko-KR" altLang="en-US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>
                    <a:solidFill>
                      <a:srgbClr val="FF25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68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week1</a:t>
                      </a:r>
                      <a:endParaRPr lang="ko-KR" altLang="en-US" sz="1200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Data Preparation &amp; Planning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DS,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  <a:cs typeface="+mn-cs"/>
                        </a:rPr>
                        <a:t>OM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데이터 수집</a:t>
                      </a:r>
                      <a:r>
                        <a:rPr lang="en-US" altLang="ko-KR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·</a:t>
                      </a:r>
                      <a:r>
                        <a:rPr lang="ko-KR" altLang="en-US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정제 계획서</a:t>
                      </a: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71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week2</a:t>
                      </a:r>
                      <a:endParaRPr lang="ko-KR" altLang="en-US" sz="1200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Data Preparation 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DS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err="1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전처리</a:t>
                      </a:r>
                      <a:r>
                        <a:rPr lang="en-US" altLang="ko-KR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 </a:t>
                      </a:r>
                      <a:r>
                        <a:rPr lang="ko-KR" altLang="en-US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완료된 학습 데이터셋</a:t>
                      </a:r>
                      <a:r>
                        <a:rPr lang="en-US" altLang="ko-KR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,</a:t>
                      </a:r>
                      <a:r>
                        <a:rPr lang="ko-KR" altLang="en-US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데이터 정의서</a:t>
                      </a: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225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week3</a:t>
                      </a:r>
                      <a:endParaRPr lang="ko-KR" altLang="en-US" sz="1200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STT &amp; NLP Module Development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ME, LA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STT </a:t>
                      </a:r>
                      <a:r>
                        <a:rPr lang="ko-KR" altLang="en-US" sz="1200" b="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기반 </a:t>
                      </a:r>
                      <a:r>
                        <a:rPr lang="ko-KR" altLang="en-US" sz="1200" b="0" dirty="0" err="1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음성→텍스트</a:t>
                      </a:r>
                      <a:r>
                        <a:rPr lang="ko-KR" altLang="en-US" sz="1200" b="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 변환 모델 프로토타입</a:t>
                      </a: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96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week4</a:t>
                      </a:r>
                      <a:endParaRPr lang="ko-KR" altLang="en-US" sz="1200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STT &amp; NLP Module Development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ME, LA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NLP/LLM </a:t>
                      </a:r>
                      <a:r>
                        <a:rPr lang="ko-KR" altLang="en-US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응답 생성 모델 프로토타입</a:t>
                      </a: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0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week5</a:t>
                      </a:r>
                      <a:endParaRPr lang="ko-KR" altLang="en-US" sz="1200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UI/UX Development &amp; Linking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WD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모델 연동 완료된 </a:t>
                      </a:r>
                      <a:r>
                        <a:rPr lang="en-US" altLang="ko-KR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UI </a:t>
                      </a:r>
                      <a:r>
                        <a:rPr lang="ko-KR" altLang="en-US" sz="1200" dirty="0" smtClean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화면</a:t>
                      </a:r>
                      <a:endParaRPr lang="ko-KR" altLang="en-US" sz="1200" dirty="0">
                        <a:latin typeface="Noto Sans KR DemiLight" panose="020B0200000000000000" pitchFamily="34" charset="-128"/>
                        <a:ea typeface="Noto Sans KR DemiLight" panose="020B0200000000000000" pitchFamily="34" charset="-128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46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week6</a:t>
                      </a:r>
                      <a:endParaRPr lang="ko-KR" altLang="en-US" sz="1200" dirty="0">
                        <a:latin typeface="Noto Sans KR Black" panose="020B0200000000000000" pitchFamily="34" charset="-128"/>
                        <a:ea typeface="Noto Sans KR Black" panose="020B0200000000000000" pitchFamily="34" charset="-128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latin typeface="Noto Sans KR Black" panose="020B0200000000000000" pitchFamily="34" charset="-128"/>
                          <a:ea typeface="Noto Sans KR Black" panose="020B0200000000000000" pitchFamily="34" charset="-128"/>
                        </a:rPr>
                        <a:t>Testing &amp; Optimization &amp; QA Test</a:t>
                      </a:r>
                      <a:endParaRPr lang="ko-KR" altLang="en-US" sz="1200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ME,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  <a:cs typeface="+mn-cs"/>
                        </a:rPr>
                        <a:t>OM</a:t>
                      </a:r>
                      <a:endParaRPr lang="ko-KR" altLang="en-US" sz="1200" dirty="0">
                        <a:latin typeface="Noto Sans KR DemiLight" panose="020B0200000000000000" pitchFamily="34" charset="-128"/>
                        <a:ea typeface="Noto Sans KR DemiLight" panose="020B0200000000000000" pitchFamily="34" charset="-128"/>
                      </a:endParaRP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Noto Sans KR DemiLight" panose="020B0200000000000000" pitchFamily="34" charset="-128"/>
                          <a:ea typeface="Noto Sans KR DemiLight" panose="020B0200000000000000" pitchFamily="34" charset="-128"/>
                        </a:rPr>
                        <a:t>통합 테스트 결과 보고서</a:t>
                      </a:r>
                    </a:p>
                  </a:txBody>
                  <a:tcPr anchor="ctr">
                    <a:solidFill>
                      <a:srgbClr val="FFE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99157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530BCB31-0556-1733-E237-BFA54AF084DB}"/>
              </a:ext>
            </a:extLst>
          </p:cNvPr>
          <p:cNvGrpSpPr/>
          <p:nvPr/>
        </p:nvGrpSpPr>
        <p:grpSpPr>
          <a:xfrm>
            <a:off x="1378550" y="916811"/>
            <a:ext cx="9248371" cy="2512189"/>
            <a:chOff x="165514" y="1213026"/>
            <a:chExt cx="9248371" cy="2512189"/>
          </a:xfrm>
        </p:grpSpPr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FC0A395D-F59E-E17F-76F3-2EEF35943B75}"/>
                </a:ext>
              </a:extLst>
            </p:cNvPr>
            <p:cNvSpPr/>
            <p:nvPr/>
          </p:nvSpPr>
          <p:spPr>
            <a:xfrm>
              <a:off x="183201" y="1240073"/>
              <a:ext cx="1854000" cy="1129885"/>
            </a:xfrm>
            <a:prstGeom prst="rightArrow">
              <a:avLst/>
            </a:prstGeom>
            <a:solidFill>
              <a:srgbClr val="FFD6EE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Initiation</a:t>
              </a: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초기 기획안 수립 </a:t>
              </a:r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FA95ED9D-B7BA-9CE0-C1EA-C68BABC8517B}"/>
                </a:ext>
              </a:extLst>
            </p:cNvPr>
            <p:cNvSpPr/>
            <p:nvPr/>
          </p:nvSpPr>
          <p:spPr>
            <a:xfrm>
              <a:off x="183201" y="2587152"/>
              <a:ext cx="1852750" cy="1129885"/>
            </a:xfrm>
            <a:prstGeom prst="rightArrow">
              <a:avLst/>
            </a:prstGeom>
            <a:solidFill>
              <a:srgbClr val="FFB9DF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Implementation</a:t>
              </a:r>
            </a:p>
            <a:p>
              <a:pPr algn="ctr"/>
              <a:endPara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sp>
          <p:nvSpPr>
            <p:cNvPr id="18" name="화살표: 오른쪽 17">
              <a:extLst>
                <a:ext uri="{FF2B5EF4-FFF2-40B4-BE49-F238E27FC236}">
                  <a16:creationId xmlns:a16="http://schemas.microsoft.com/office/drawing/2014/main" id="{4836CEF9-51CA-9672-31DA-A5508D35A8EC}"/>
                </a:ext>
              </a:extLst>
            </p:cNvPr>
            <p:cNvSpPr/>
            <p:nvPr/>
          </p:nvSpPr>
          <p:spPr>
            <a:xfrm>
              <a:off x="2601502" y="2578972"/>
              <a:ext cx="1852750" cy="1129885"/>
            </a:xfrm>
            <a:prstGeom prst="rightArrow">
              <a:avLst/>
            </a:prstGeom>
            <a:solidFill>
              <a:srgbClr val="FFB9DF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Verification</a:t>
              </a: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통합 테스트 수행</a:t>
              </a:r>
            </a:p>
          </p:txBody>
        </p:sp>
        <p:sp>
          <p:nvSpPr>
            <p:cNvPr id="3" name="화살표: 오른쪽 2">
              <a:extLst>
                <a:ext uri="{FF2B5EF4-FFF2-40B4-BE49-F238E27FC236}">
                  <a16:creationId xmlns:a16="http://schemas.microsoft.com/office/drawing/2014/main" id="{449465D2-16D4-F762-44E0-5CDD164547E3}"/>
                </a:ext>
              </a:extLst>
            </p:cNvPr>
            <p:cNvSpPr/>
            <p:nvPr/>
          </p:nvSpPr>
          <p:spPr>
            <a:xfrm>
              <a:off x="2636889" y="1225552"/>
              <a:ext cx="1854000" cy="1129885"/>
            </a:xfrm>
            <a:prstGeom prst="rightArrow">
              <a:avLst/>
            </a:prstGeom>
            <a:solidFill>
              <a:srgbClr val="FFD6EE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Definition</a:t>
              </a: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킥오프 미팅</a:t>
              </a:r>
            </a:p>
          </p:txBody>
        </p:sp>
        <p:sp>
          <p:nvSpPr>
            <p:cNvPr id="8" name="화살표: 오른쪽 7">
              <a:extLst>
                <a:ext uri="{FF2B5EF4-FFF2-40B4-BE49-F238E27FC236}">
                  <a16:creationId xmlns:a16="http://schemas.microsoft.com/office/drawing/2014/main" id="{D7BDCFE7-ADC7-7CD4-9B93-72FED9B20080}"/>
                </a:ext>
              </a:extLst>
            </p:cNvPr>
            <p:cNvSpPr/>
            <p:nvPr/>
          </p:nvSpPr>
          <p:spPr>
            <a:xfrm>
              <a:off x="5099012" y="1241608"/>
              <a:ext cx="1854000" cy="1129885"/>
            </a:xfrm>
            <a:prstGeom prst="rightArrow">
              <a:avLst/>
            </a:prstGeom>
            <a:solidFill>
              <a:srgbClr val="FFD6EE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Planning</a:t>
              </a: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상세 기획서 수립</a:t>
              </a:r>
            </a:p>
          </p:txBody>
        </p:sp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5B21B05D-258B-2280-100B-4B1769FEFB8E}"/>
                </a:ext>
              </a:extLst>
            </p:cNvPr>
            <p:cNvSpPr/>
            <p:nvPr/>
          </p:nvSpPr>
          <p:spPr>
            <a:xfrm>
              <a:off x="7561135" y="1213026"/>
              <a:ext cx="1852750" cy="1129885"/>
            </a:xfrm>
            <a:prstGeom prst="rightArrow">
              <a:avLst/>
            </a:prstGeom>
            <a:solidFill>
              <a:srgbClr val="FFB9DF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Architecture</a:t>
              </a: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시스템 아키텍처 설계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0AFF97-0ECC-7E9C-A510-1646F5C9A001}"/>
                </a:ext>
              </a:extLst>
            </p:cNvPr>
            <p:cNvSpPr txBox="1"/>
            <p:nvPr/>
          </p:nvSpPr>
          <p:spPr>
            <a:xfrm>
              <a:off x="165514" y="3108169"/>
              <a:ext cx="17130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기능 개발 및 모델 구현</a:t>
              </a:r>
            </a:p>
            <a:p>
              <a:endParaRPr lang="ko-KR" altLang="en-US" sz="1200" dirty="0">
                <a:latin typeface="Noto Sans KR DemiLight" panose="020B0200000000000000" pitchFamily="50" charset="-127"/>
                <a:ea typeface="Noto Sans KR DemiLight" panose="020B0200000000000000" pitchFamily="50" charset="-127"/>
              </a:endParaRPr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9834D509-0479-EF80-A849-458E4E8A3E89}"/>
                </a:ext>
              </a:extLst>
            </p:cNvPr>
            <p:cNvSpPr/>
            <p:nvPr/>
          </p:nvSpPr>
          <p:spPr>
            <a:xfrm>
              <a:off x="5081318" y="2595330"/>
              <a:ext cx="1852750" cy="1129885"/>
            </a:xfrm>
            <a:prstGeom prst="rightArrow">
              <a:avLst/>
            </a:prstGeom>
            <a:solidFill>
              <a:srgbClr val="FF97D0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Deployment</a:t>
              </a: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운영 환경 구성</a:t>
              </a: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2365E428-9189-91DC-FC3E-950C3AD9B49E}"/>
                </a:ext>
              </a:extLst>
            </p:cNvPr>
            <p:cNvSpPr/>
            <p:nvPr/>
          </p:nvSpPr>
          <p:spPr>
            <a:xfrm>
              <a:off x="7561135" y="2543225"/>
              <a:ext cx="1852750" cy="1129885"/>
            </a:xfrm>
            <a:prstGeom prst="rightArrow">
              <a:avLst/>
            </a:prstGeom>
            <a:solidFill>
              <a:srgbClr val="FF97D0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Closure</a:t>
              </a:r>
            </a:p>
            <a:p>
              <a:pPr algn="ctr"/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DemiLight" panose="020B0200000000000000" pitchFamily="50" charset="-127"/>
                  <a:ea typeface="Noto Sans KR DemiLight" panose="020B0200000000000000" pitchFamily="50" charset="-127"/>
                </a:rPr>
                <a:t>프로젝트 결과 보고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2076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CE0EE-5812-84FB-4908-4675ED38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Objectives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4C69F0-6D36-4AC9-244D-6C48D879E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10" y="1110010"/>
            <a:ext cx="10515600" cy="2736929"/>
          </a:xfrm>
        </p:spPr>
        <p:txBody>
          <a:bodyPr>
            <a:normAutofit/>
          </a:bodyPr>
          <a:lstStyle/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Objective 1 — </a:t>
            </a:r>
            <a:r>
              <a: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실전형 </a:t>
            </a:r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AI </a:t>
            </a:r>
            <a:r>
              <a: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모의면접 경험 제공</a:t>
            </a: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sz="1200" b="1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사용자 직무 선택과 자기소개를 기반으로 단계적인 면접 질문을 생성하여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실제 면접과 유사한 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AI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모의면접 경험을 제공</a:t>
            </a:r>
            <a:endParaRPr lang="ko-KR" altLang="en-US" sz="1200" b="1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Objective 2 — STT·NLP </a:t>
            </a:r>
            <a:r>
              <a: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기반 정확한 답변 분석 구현</a:t>
            </a: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음성 인식 및 자연어 처리 기술을 활용하여 사용자 답변을 분석하고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STT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인식률 </a:t>
            </a:r>
            <a:r>
              <a:rPr lang="ko-KR" altLang="en-US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평균 </a:t>
            </a:r>
            <a:r>
              <a:rPr lang="en-US" altLang="ko-KR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90%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이상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NLP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평가 기준 충족률 </a:t>
            </a:r>
            <a:r>
              <a:rPr lang="en-US" altLang="ko-KR" sz="1200" dirty="0" smtClean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80%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이상을 목표로 함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.</a:t>
            </a: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Objective 3 — </a:t>
            </a:r>
            <a:r>
              <a: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개인 맞춤형 피드백 제공</a:t>
            </a: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사용자 답변의 내용과 구조를 분석하여 강점과 개선점을 도출하고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직무 및 수준에 맞는 개인화된 피드백을 제공</a:t>
            </a:r>
            <a:endParaRPr lang="en-US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Objective 4 — </a:t>
            </a:r>
            <a:r>
              <a:rPr lang="ko-KR" altLang="en-US" sz="1200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재사용 가능한 학습</a:t>
            </a:r>
            <a:r>
              <a:rPr lang="en-US" altLang="ko-KR" sz="1200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·</a:t>
            </a:r>
            <a:r>
              <a:rPr lang="ko-KR" altLang="en-US" sz="1200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평가 데이터 기반 구축</a:t>
            </a:r>
            <a:endParaRPr lang="en-US" altLang="ko-KR" sz="1200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면접 질문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답변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평가 결과를 </a:t>
            </a:r>
            <a:r>
              <a:rPr lang="ko-KR" altLang="en-US" sz="1200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구조화하여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향후 모델 고도화 및 서비스 확장에 활용 가능한 데이터 기반을 구축</a:t>
            </a:r>
            <a:endParaRPr lang="en-US" altLang="ko-KR" sz="1200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en-US" altLang="ko-KR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Objective 5 — MVP </a:t>
            </a:r>
            <a:r>
              <a:rPr lang="ko-KR" altLang="en-US" sz="1200" b="1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수준의 통합 모의면접 서비스 구현</a:t>
            </a:r>
            <a:endParaRPr lang="en-US" altLang="ko-KR" sz="1200" b="1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  <a:p>
            <a:pPr marL="457200" lvl="1" indent="0">
              <a:buNone/>
            </a:pP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- LLM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기반 면접 시나리오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모델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웹 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UI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를 연동한 최소 기능 제품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(MVP)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을 구현하고</a:t>
            </a:r>
            <a:r>
              <a:rPr lang="en-US" altLang="ko-KR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, </a:t>
            </a:r>
            <a:r>
              <a:rPr lang="ko-KR" altLang="en-US" sz="1200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테스트 운영을 통해 서비스 완성도를 검증</a:t>
            </a:r>
          </a:p>
          <a:p>
            <a:endParaRPr lang="ko-KR" altLang="en-US" sz="1200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09846C-928A-9AF7-2FB8-33915716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D74-97FC-48CA-82B7-80E5C5CC3314}" type="datetime9">
              <a:rPr lang="ko-KR" altLang="en-US" smtClean="0"/>
              <a:t>2026년 1월 27일 오후 5시 53분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BE6FE0-1E11-21B1-59C3-D6423E8E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altLang="ko-KR"/>
              <a:t>Final_Project_</a:t>
            </a:r>
            <a:r>
              <a:rPr lang="ko-KR" altLang="en-US"/>
              <a:t>기획안</a:t>
            </a:r>
            <a:r>
              <a:rPr lang="en-US" altLang="ko-KR"/>
              <a:t>_</a:t>
            </a:r>
            <a:r>
              <a:rPr lang="ko-KR" altLang="en-US"/>
              <a:t>함유라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86E0C5-DBBF-47B2-9443-239FBF09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DDA37121-0FE8-400D-89B0-84448AB1177F}" type="slidenum">
              <a:rPr lang="en-US" altLang="ko-KR" smtClean="0"/>
              <a:pPr algn="l"/>
              <a:t>7</a:t>
            </a:fld>
            <a:endParaRPr lang="en-US" altLang="ko-KR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BBDEED7-141D-BF17-2B8F-589AC0020548}"/>
              </a:ext>
            </a:extLst>
          </p:cNvPr>
          <p:cNvGrpSpPr/>
          <p:nvPr/>
        </p:nvGrpSpPr>
        <p:grpSpPr>
          <a:xfrm>
            <a:off x="1584356" y="4471116"/>
            <a:ext cx="8655113" cy="959668"/>
            <a:chOff x="1584356" y="4481465"/>
            <a:chExt cx="8655113" cy="959668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98F6CAA-7AC0-0F72-EBAA-C9D2A0FB1554}"/>
                </a:ext>
              </a:extLst>
            </p:cNvPr>
            <p:cNvSpPr/>
            <p:nvPr/>
          </p:nvSpPr>
          <p:spPr>
            <a:xfrm>
              <a:off x="1584356" y="4481465"/>
              <a:ext cx="8655113" cy="959668"/>
            </a:xfrm>
            <a:prstGeom prst="roundRect">
              <a:avLst/>
            </a:prstGeom>
            <a:solidFill>
              <a:srgbClr val="FFD6EE"/>
            </a:solidFill>
            <a:ln>
              <a:solidFill>
                <a:srgbClr val="FFD6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7E3261-967E-DE94-B599-20EC3FE758B9}"/>
                </a:ext>
              </a:extLst>
            </p:cNvPr>
            <p:cNvSpPr txBox="1"/>
            <p:nvPr/>
          </p:nvSpPr>
          <p:spPr>
            <a:xfrm>
              <a:off x="1835590" y="4699576"/>
              <a:ext cx="79783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본 프로젝트의 최종 </a:t>
              </a:r>
              <a:r>
                <a:rPr lang="ko-KR" altLang="en-US" sz="1400" dirty="0" smtClean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목표는</a:t>
              </a:r>
              <a:r>
                <a:rPr lang="en-US" altLang="ko-KR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 </a:t>
              </a:r>
              <a:r>
                <a:rPr lang="ko-KR" altLang="en-US" sz="1400" dirty="0" err="1" smtClean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딥러닝</a:t>
              </a:r>
              <a:r>
                <a:rPr lang="ko-KR" altLang="en-US" sz="1400" dirty="0" smtClean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 </a:t>
              </a:r>
              <a:r>
                <a:rPr lang="ko-KR" altLang="en-US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및 </a:t>
              </a:r>
              <a:r>
                <a:rPr lang="en-US" altLang="ko-KR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LLM </a:t>
              </a:r>
              <a:r>
                <a:rPr lang="ko-KR" altLang="en-US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기술을 </a:t>
              </a:r>
              <a:r>
                <a:rPr lang="ko-KR" altLang="en-US" sz="1400" dirty="0" smtClean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활용하여 사용자 맞춤형 질문을 생성하여</a:t>
              </a:r>
              <a:r>
                <a:rPr lang="ko-KR" altLang="en-US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/>
              </a:r>
              <a:br>
                <a:rPr lang="ko-KR" altLang="en-US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</a:br>
              <a:r>
                <a:rPr lang="ko-KR" altLang="en-US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실제 면접 흐름을 재현하고 분석</a:t>
              </a:r>
              <a:r>
                <a:rPr lang="en-US" altLang="ko-KR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·</a:t>
              </a:r>
              <a:r>
                <a:rPr lang="ko-KR" altLang="en-US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피드백까지 제공하는 운영 가능한 </a:t>
              </a:r>
              <a:r>
                <a:rPr lang="en-US" altLang="ko-KR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AI </a:t>
              </a:r>
              <a:r>
                <a:rPr lang="ko-KR" altLang="en-US" sz="1400" dirty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모의면접 서비스를 </a:t>
              </a:r>
              <a:r>
                <a:rPr lang="ko-KR" altLang="en-US" sz="1400" dirty="0" smtClean="0">
                  <a:latin typeface="Noto Sans KR Black" panose="020B0200000000000000" pitchFamily="34" charset="-128"/>
                  <a:ea typeface="Noto Sans KR Black" panose="020B0200000000000000" pitchFamily="34" charset="-128"/>
                </a:rPr>
                <a:t>구현</a:t>
              </a:r>
              <a:endParaRPr lang="ko-KR" altLang="en-US" sz="1400" dirty="0">
                <a:latin typeface="Noto Sans KR Black" panose="020B0200000000000000" pitchFamily="34" charset="-128"/>
                <a:ea typeface="Noto Sans KR Black" panose="020B02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428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0C6AAA5-A924-6AA8-8EF1-52E403F1FC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9600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- The End -</a:t>
            </a:r>
            <a:endParaRPr lang="ko-KR" altLang="en-US" sz="9600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sp>
        <p:nvSpPr>
          <p:cNvPr id="8" name="부제목 7">
            <a:extLst>
              <a:ext uri="{FF2B5EF4-FFF2-40B4-BE49-F238E27FC236}">
                <a16:creationId xmlns:a16="http://schemas.microsoft.com/office/drawing/2014/main" id="{851CEE8A-AC11-A6FD-B4BA-102E1B349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61914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5400" dirty="0">
                <a:latin typeface="Noto Sans KR Black" panose="020B0200000000000000" pitchFamily="34" charset="-128"/>
                <a:ea typeface="Noto Sans KR Black" panose="020B0200000000000000" pitchFamily="34" charset="-128"/>
                <a:cs typeface="+mj-cs"/>
              </a:rPr>
              <a:t>See you at the kick-off</a:t>
            </a:r>
            <a:endParaRPr lang="ko-KR" altLang="en-US" sz="5400" dirty="0">
              <a:latin typeface="Noto Sans KR Black" panose="020B0200000000000000" pitchFamily="34" charset="-128"/>
              <a:ea typeface="Noto Sans KR Black" panose="020B0200000000000000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6132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4460</TotalTime>
  <Words>1261</Words>
  <Application>Microsoft Office PowerPoint</Application>
  <PresentationFormat>와이드스크린</PresentationFormat>
  <Paragraphs>212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Noto Sans KR DemiLight</vt:lpstr>
      <vt:lpstr>Noto Sans KR Light</vt:lpstr>
      <vt:lpstr>Malgun Gothic</vt:lpstr>
      <vt:lpstr>Arial</vt:lpstr>
      <vt:lpstr>Noto Sans KR</vt:lpstr>
      <vt:lpstr>Noto Sans KR Black</vt:lpstr>
      <vt:lpstr>Noto Sans KR ExtraBold</vt:lpstr>
      <vt:lpstr>Wingdings</vt:lpstr>
      <vt:lpstr>Office 테마</vt:lpstr>
      <vt:lpstr>FINAL </vt:lpstr>
      <vt:lpstr>Overview</vt:lpstr>
      <vt:lpstr>Project Scope</vt:lpstr>
      <vt:lpstr>Project Tasks</vt:lpstr>
      <vt:lpstr>Team Structure &amp; Roles</vt:lpstr>
      <vt:lpstr>Project Initial Timeline</vt:lpstr>
      <vt:lpstr>Key Objectives</vt:lpstr>
      <vt:lpstr>- The End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</dc:title>
  <dc:creator>TJ</dc:creator>
  <cp:lastModifiedBy>TJ</cp:lastModifiedBy>
  <cp:revision>48</cp:revision>
  <dcterms:created xsi:type="dcterms:W3CDTF">2025-12-10T06:17:54Z</dcterms:created>
  <dcterms:modified xsi:type="dcterms:W3CDTF">2026-01-27T09:22:43Z</dcterms:modified>
</cp:coreProperties>
</file>