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  <p:sldId id="265" r:id="rId11"/>
    <p:sldId id="267" r:id="rId12"/>
    <p:sldId id="268" r:id="rId13"/>
  </p:sldIdLst>
  <p:sldSz cx="12192000" cy="6858000"/>
  <p:notesSz cx="6858000" cy="9144000"/>
  <p:embeddedFontLst>
    <p:embeddedFont>
      <p:font typeface="맑은 고딕" panose="020B0503020000020004" pitchFamily="50" charset="-127"/>
      <p:regular r:id="rId15"/>
      <p:bold r:id="rId16"/>
    </p:embeddedFont>
    <p:embeddedFont>
      <p:font typeface="Noto Sans KR" panose="020B0200000000000000" pitchFamily="50" charset="-127"/>
      <p:regular r:id="rId17"/>
      <p:bold r:id="rId18"/>
    </p:embeddedFont>
    <p:embeddedFont>
      <p:font typeface="Quattrocento Sans" panose="020B0600000101010101" charset="0"/>
      <p:bold r:id="rId19"/>
      <p:boldItalic r:id="rId20"/>
    </p:embeddedFont>
    <p:embeddedFont>
      <p:font typeface="Noto Sans KR ExtraBold" panose="020B0200000000000000" pitchFamily="50" charset="-127"/>
      <p:bold r:id="rId21"/>
    </p:embeddedFont>
    <p:embeddedFont>
      <p:font typeface="Noto Sans KR Black" panose="020B0200000000000000" pitchFamily="50" charset="-127"/>
      <p:bold r:id="rId22"/>
    </p:embeddedFont>
    <p:embeddedFont>
      <p:font typeface="맑은 고딕" panose="020B0503020000020004" pitchFamily="50" charset="-127"/>
      <p:regular r:id="rId15"/>
      <p:bold r:id="rId16"/>
    </p:embeddedFont>
    <p:embeddedFont>
      <p:font typeface="Arimo" panose="020B0600000101010101" charset="0"/>
      <p:regular r:id="rId23"/>
      <p:bold r:id="rId24"/>
      <p:italic r:id="rId25"/>
      <p:boldItalic r:id="rId26"/>
    </p:embeddedFont>
    <p:embeddedFont>
      <p:font typeface="Nirmala UI Semilight" panose="020B0402040204020203" pitchFamily="34" charset="0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gOJfqZqSWas403tiyZhJ1hD58E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DBF5"/>
    <a:srgbClr val="FFE2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79FDBB6-90BC-4AE6-A10D-4192380AB268}">
  <a:tblStyle styleId="{779FDBB6-90BC-4AE6-A10D-4192380AB268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599B48F-84A3-4F08-B94D-C1E9E090DF2C}" styleName="Table_1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4E6"/>
          </a:solidFill>
        </a:fill>
      </a:tcStyle>
    </a:wholeTbl>
    <a:band1H>
      <a:tcTxStyle/>
      <a:tcStyle>
        <a:tcBdr/>
        <a:fill>
          <a:solidFill>
            <a:srgbClr val="FFE8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FE8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4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" name="Google Shape;15;p15"/>
          <p:cNvSpPr txBox="1"/>
          <p:nvPr/>
        </p:nvSpPr>
        <p:spPr>
          <a:xfrm>
            <a:off x="0" y="6625031"/>
            <a:ext cx="3307222" cy="23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2026년 1월 19일 오후 7시 1분</a:t>
            </a:r>
            <a:endParaRPr sz="900" b="0" i="0" u="none" strike="noStrike" cap="non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" name="Google Shape;16;p15"/>
          <p:cNvSpPr txBox="1"/>
          <p:nvPr/>
        </p:nvSpPr>
        <p:spPr>
          <a:xfrm>
            <a:off x="11838062" y="6625031"/>
            <a:ext cx="353938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sz="900" b="0" i="0" u="none" strike="noStrike" cap="non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" name="Google Shape;17;p15"/>
          <p:cNvSpPr txBox="1">
            <a:spLocks noGrp="1"/>
          </p:cNvSpPr>
          <p:nvPr>
            <p:ph type="ftr" idx="11"/>
          </p:nvPr>
        </p:nvSpPr>
        <p:spPr>
          <a:xfrm>
            <a:off x="5025078" y="6625031"/>
            <a:ext cx="4114800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 txBox="1">
            <a:spLocks noGrp="1"/>
          </p:cNvSpPr>
          <p:nvPr>
            <p:ph type="title"/>
          </p:nvPr>
        </p:nvSpPr>
        <p:spPr>
          <a:xfrm>
            <a:off x="335383" y="319406"/>
            <a:ext cx="10515600" cy="113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KR"/>
              <a:buNone/>
              <a:defRPr sz="2400">
                <a:latin typeface="Noto Sans KR"/>
                <a:ea typeface="Noto Sans KR"/>
                <a:cs typeface="Noto Sans KR"/>
                <a:sym typeface="Noto Sans K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body" idx="1"/>
          </p:nvPr>
        </p:nvSpPr>
        <p:spPr>
          <a:xfrm>
            <a:off x="410910" y="108363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21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Noto Sans KR"/>
                <a:ea typeface="Noto Sans KR"/>
                <a:cs typeface="Noto Sans KR"/>
                <a:sym typeface="Noto Sans KR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Noto Sans KR"/>
                <a:ea typeface="Noto Sans KR"/>
                <a:cs typeface="Noto Sans KR"/>
                <a:sym typeface="Noto Sans KR"/>
              </a:defRPr>
            </a:lvl2pPr>
            <a:lvl3pPr marL="1371600" lvl="2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Noto Sans KR"/>
                <a:ea typeface="Noto Sans KR"/>
                <a:cs typeface="Noto Sans KR"/>
                <a:sym typeface="Noto Sans KR"/>
              </a:defRPr>
            </a:lvl3pPr>
            <a:lvl4pPr marL="1828800" lvl="3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Noto Sans KR"/>
                <a:ea typeface="Noto Sans KR"/>
                <a:cs typeface="Noto Sans KR"/>
                <a:sym typeface="Noto Sans KR"/>
              </a:defRPr>
            </a:lvl4pPr>
            <a:lvl5pPr marL="2286000" lvl="4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Noto Sans KR"/>
                <a:ea typeface="Noto Sans KR"/>
                <a:cs typeface="Noto Sans KR"/>
                <a:sym typeface="Noto Sans K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dt" idx="10"/>
          </p:nvPr>
        </p:nvSpPr>
        <p:spPr>
          <a:xfrm>
            <a:off x="0" y="6625031"/>
            <a:ext cx="3307222" cy="23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ftr" idx="11"/>
          </p:nvPr>
        </p:nvSpPr>
        <p:spPr>
          <a:xfrm>
            <a:off x="5025078" y="6625031"/>
            <a:ext cx="4114800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sldNum" idx="12"/>
          </p:nvPr>
        </p:nvSpPr>
        <p:spPr>
          <a:xfrm>
            <a:off x="11838062" y="6625031"/>
            <a:ext cx="353938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marL="0" marR="0" lvl="1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marL="0" marR="0" lvl="2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marL="0" marR="0" lvl="3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marL="0" marR="0" lvl="4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marL="0" marR="0" lvl="5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marL="0" marR="0" lvl="6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marL="0" marR="0" lvl="7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marL="0" marR="0" lvl="8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16"/>
          <p:cNvSpPr/>
          <p:nvPr/>
        </p:nvSpPr>
        <p:spPr>
          <a:xfrm rot="10800000" flipH="1">
            <a:off x="335383" y="658185"/>
            <a:ext cx="9379391" cy="45719"/>
          </a:xfrm>
          <a:prstGeom prst="rect">
            <a:avLst/>
          </a:prstGeom>
          <a:solidFill>
            <a:srgbClr val="FF256E"/>
          </a:solidFill>
          <a:ln w="12700" cap="flat" cmpd="sng">
            <a:solidFill>
              <a:srgbClr val="E905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및 내용">
  <p:cSld name="1_제목 및 내용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>
            <a:spLocks noGrp="1"/>
          </p:cNvSpPr>
          <p:nvPr>
            <p:ph type="title"/>
          </p:nvPr>
        </p:nvSpPr>
        <p:spPr>
          <a:xfrm>
            <a:off x="335383" y="319406"/>
            <a:ext cx="10515600" cy="113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KR"/>
              <a:buNone/>
              <a:defRPr sz="2400">
                <a:latin typeface="Noto Sans KR"/>
                <a:ea typeface="Noto Sans KR"/>
                <a:cs typeface="Noto Sans KR"/>
                <a:sym typeface="Noto Sans K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body" idx="1"/>
          </p:nvPr>
        </p:nvSpPr>
        <p:spPr>
          <a:xfrm>
            <a:off x="410910" y="108363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21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Noto Sans KR"/>
                <a:ea typeface="Noto Sans KR"/>
                <a:cs typeface="Noto Sans KR"/>
                <a:sym typeface="Noto Sans KR"/>
              </a:defRPr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Noto Sans KR"/>
                <a:ea typeface="Noto Sans KR"/>
                <a:cs typeface="Noto Sans KR"/>
                <a:sym typeface="Noto Sans KR"/>
              </a:defRPr>
            </a:lvl2pPr>
            <a:lvl3pPr marL="1371600" lvl="2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Noto Sans KR"/>
                <a:ea typeface="Noto Sans KR"/>
                <a:cs typeface="Noto Sans KR"/>
                <a:sym typeface="Noto Sans KR"/>
              </a:defRPr>
            </a:lvl3pPr>
            <a:lvl4pPr marL="1828800" lvl="3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Noto Sans KR"/>
                <a:ea typeface="Noto Sans KR"/>
                <a:cs typeface="Noto Sans KR"/>
                <a:sym typeface="Noto Sans KR"/>
              </a:defRPr>
            </a:lvl4pPr>
            <a:lvl5pPr marL="2286000" lvl="4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latin typeface="Noto Sans KR"/>
                <a:ea typeface="Noto Sans KR"/>
                <a:cs typeface="Noto Sans KR"/>
                <a:sym typeface="Noto Sans K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dt" idx="10"/>
          </p:nvPr>
        </p:nvSpPr>
        <p:spPr>
          <a:xfrm>
            <a:off x="0" y="6625031"/>
            <a:ext cx="3307222" cy="23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ftr" idx="11"/>
          </p:nvPr>
        </p:nvSpPr>
        <p:spPr>
          <a:xfrm>
            <a:off x="5025078" y="6639698"/>
            <a:ext cx="4114800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sldNum" idx="12"/>
          </p:nvPr>
        </p:nvSpPr>
        <p:spPr>
          <a:xfrm>
            <a:off x="11838062" y="6625031"/>
            <a:ext cx="353938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marL="0" marR="0" lvl="1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marL="0" marR="0" lvl="2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marL="0" marR="0" lvl="3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marL="0" marR="0" lvl="4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marL="0" marR="0" lvl="5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marL="0" marR="0" lvl="6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marL="0" marR="0" lvl="7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marL="0" marR="0" lvl="8" indent="0" algn="l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17"/>
          <p:cNvSpPr/>
          <p:nvPr/>
        </p:nvSpPr>
        <p:spPr>
          <a:xfrm rot="10800000" flipH="1">
            <a:off x="335383" y="658185"/>
            <a:ext cx="9379391" cy="45719"/>
          </a:xfrm>
          <a:prstGeom prst="rect">
            <a:avLst/>
          </a:prstGeom>
          <a:solidFill>
            <a:srgbClr val="FF256E"/>
          </a:solidFill>
          <a:ln w="12700" cap="flat" cmpd="sng">
            <a:solidFill>
              <a:srgbClr val="E905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>
            <a:spLocks noGrp="1"/>
          </p:cNvSpPr>
          <p:nvPr>
            <p:ph type="ctrTitle"/>
          </p:nvPr>
        </p:nvSpPr>
        <p:spPr>
          <a:xfrm>
            <a:off x="4028792" y="2290526"/>
            <a:ext cx="4134416" cy="1010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256E"/>
              </a:buClr>
              <a:buSzPct val="100000"/>
              <a:buFont typeface="Malgun Gothic"/>
              <a:buNone/>
            </a:pPr>
            <a:r>
              <a:rPr lang="en-US" b="1">
                <a:solidFill>
                  <a:srgbClr val="FF256E"/>
                </a:solidFill>
              </a:rPr>
              <a:t/>
            </a:r>
            <a:br>
              <a:rPr lang="en-US" b="1">
                <a:solidFill>
                  <a:srgbClr val="FF256E"/>
                </a:solidFill>
              </a:rPr>
            </a:br>
            <a:endParaRPr/>
          </a:p>
        </p:txBody>
      </p:sp>
      <p:sp>
        <p:nvSpPr>
          <p:cNvPr id="38" name="Google Shape;38;p1"/>
          <p:cNvSpPr txBox="1">
            <a:spLocks noGrp="1"/>
          </p:cNvSpPr>
          <p:nvPr>
            <p:ph type="subTitle" idx="1"/>
          </p:nvPr>
        </p:nvSpPr>
        <p:spPr>
          <a:xfrm>
            <a:off x="709187" y="3887003"/>
            <a:ext cx="11024103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ko-KR" altLang="en-US" dirty="0" err="1"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온프레미스</a:t>
            </a:r>
            <a:r>
              <a:rPr lang="ko-KR" altLang="en-US" dirty="0"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 기반 실시간 음성</a:t>
            </a:r>
            <a:r>
              <a:rPr lang="en-US" altLang="ko-KR" dirty="0"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·</a:t>
            </a:r>
            <a:r>
              <a:rPr lang="ko-KR" altLang="en-US" dirty="0"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영상 분석 직무</a:t>
            </a:r>
            <a:r>
              <a:rPr lang="en-US" altLang="ko-KR" dirty="0"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·</a:t>
            </a:r>
            <a:r>
              <a:rPr lang="ko-KR" altLang="en-US" dirty="0"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인성 </a:t>
            </a:r>
            <a:r>
              <a:rPr lang="ko-KR" altLang="en-US" dirty="0" smtClean="0"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평가</a:t>
            </a:r>
            <a:endParaRPr lang="en-US" altLang="ko-KR" dirty="0" smtClean="0">
              <a:latin typeface="Noto Sans KR ExtraBold" panose="020B0200000000000000" pitchFamily="50" charset="-127"/>
              <a:ea typeface="Noto Sans KR ExtraBold" panose="020B0200000000000000" pitchFamily="50" charset="-127"/>
              <a:cs typeface="Noto Sans KR"/>
              <a:sym typeface="Noto Sans KR"/>
            </a:endParaRPr>
          </a:p>
          <a:p>
            <a:pPr marL="0" indent="0">
              <a:spcBef>
                <a:spcPts val="0"/>
              </a:spcBef>
            </a:pPr>
            <a:r>
              <a:rPr lang="ko-KR" altLang="en-US" dirty="0" err="1" smtClean="0"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멀티모달</a:t>
            </a:r>
            <a:r>
              <a:rPr lang="ko-KR" altLang="en-US" dirty="0" smtClean="0"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 </a:t>
            </a:r>
            <a:r>
              <a:rPr lang="ko-KR" altLang="en-US" dirty="0" err="1"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생성형</a:t>
            </a:r>
            <a:r>
              <a:rPr lang="ko-KR" altLang="en-US" dirty="0"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 </a:t>
            </a:r>
            <a:r>
              <a:rPr lang="en-US" altLang="ko-KR" dirty="0"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AI </a:t>
            </a:r>
            <a:r>
              <a:rPr lang="ko-KR" altLang="en-US" dirty="0"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면접 플랫폼 개발</a:t>
            </a:r>
            <a:endParaRPr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" name="Google Shape;39;p1"/>
          <p:cNvSpPr txBox="1"/>
          <p:nvPr/>
        </p:nvSpPr>
        <p:spPr>
          <a:xfrm>
            <a:off x="2267516" y="3556772"/>
            <a:ext cx="6642980" cy="1010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256E"/>
              </a:buClr>
              <a:buSzPts val="9600"/>
              <a:buFont typeface="Malgun Gothic"/>
              <a:buNone/>
            </a:pPr>
            <a:r>
              <a:rPr lang="en-US" sz="9600" b="1" i="0" u="none" strike="noStrike" cap="none" dirty="0">
                <a:solidFill>
                  <a:srgbClr val="FF256E"/>
                </a:solidFill>
                <a:latin typeface="Malgun Gothic"/>
                <a:ea typeface="Malgun Gothic"/>
                <a:cs typeface="Malgun Gothic"/>
                <a:sym typeface="Malgun Gothic"/>
              </a:rPr>
              <a:t> Kick-off</a:t>
            </a:r>
            <a:br>
              <a:rPr lang="en-US" sz="9600" b="1" i="0" u="none" strike="noStrike" cap="none" dirty="0">
                <a:solidFill>
                  <a:srgbClr val="FF256E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9600" b="1" i="0" u="none" strike="noStrike" cap="none" dirty="0" smtClean="0">
                <a:solidFill>
                  <a:srgbClr val="FF256E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96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0" y="0"/>
            <a:ext cx="12192000" cy="362139"/>
          </a:xfrm>
          <a:prstGeom prst="rect">
            <a:avLst/>
          </a:prstGeom>
          <a:solidFill>
            <a:srgbClr val="FFD6EE"/>
          </a:solidFill>
          <a:ln w="12700" cap="flat" cmpd="sng">
            <a:solidFill>
              <a:srgbClr val="FFD6E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"/>
          <p:cNvSpPr txBox="1">
            <a:spLocks noGrp="1"/>
          </p:cNvSpPr>
          <p:nvPr>
            <p:ph type="ftr" idx="11"/>
          </p:nvPr>
        </p:nvSpPr>
        <p:spPr>
          <a:xfrm>
            <a:off x="5025078" y="6625031"/>
            <a:ext cx="4114800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Kick-off_함유라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>
            <a:spLocks noGrp="1"/>
          </p:cNvSpPr>
          <p:nvPr>
            <p:ph type="title"/>
          </p:nvPr>
        </p:nvSpPr>
        <p:spPr>
          <a:xfrm>
            <a:off x="335383" y="319406"/>
            <a:ext cx="10515600" cy="113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KR"/>
              <a:buNone/>
            </a:pPr>
            <a:r>
              <a:rPr lang="en-US"/>
              <a:t>개정이력</a:t>
            </a:r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dt" idx="10"/>
          </p:nvPr>
        </p:nvSpPr>
        <p:spPr>
          <a:xfrm>
            <a:off x="0" y="6625031"/>
            <a:ext cx="3307222" cy="23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2026년 1월 19일 오후 7시 1분</a:t>
            </a:r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ftr" idx="11"/>
          </p:nvPr>
        </p:nvSpPr>
        <p:spPr>
          <a:xfrm>
            <a:off x="5025078" y="6625031"/>
            <a:ext cx="4114800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Kick-off_함유라</a:t>
            </a:r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sldNum" idx="12"/>
          </p:nvPr>
        </p:nvSpPr>
        <p:spPr>
          <a:xfrm>
            <a:off x="11838062" y="6625031"/>
            <a:ext cx="353938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graphicFrame>
        <p:nvGraphicFramePr>
          <p:cNvPr id="50" name="Google Shape;50;p2"/>
          <p:cNvGraphicFramePr/>
          <p:nvPr>
            <p:extLst>
              <p:ext uri="{D42A27DB-BD31-4B8C-83A1-F6EECF244321}">
                <p14:modId xmlns:p14="http://schemas.microsoft.com/office/powerpoint/2010/main" val="4006427288"/>
              </p:ext>
            </p:extLst>
          </p:nvPr>
        </p:nvGraphicFramePr>
        <p:xfrm>
          <a:off x="838200" y="957954"/>
          <a:ext cx="10515575" cy="5271700"/>
        </p:xfrm>
        <a:graphic>
          <a:graphicData uri="http://schemas.openxmlformats.org/drawingml/2006/table">
            <a:tbl>
              <a:tblPr firstRow="1" bandRow="1">
                <a:noFill/>
                <a:tableStyleId>{779FDBB6-90BC-4AE6-A10D-4192380AB268}</a:tableStyleId>
              </a:tblPr>
              <a:tblGrid>
                <a:gridCol w="60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9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77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No.</a:t>
                      </a:r>
                      <a:endParaRPr sz="12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>
                    <a:solidFill>
                      <a:srgbClr val="FF25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Modifications</a:t>
                      </a:r>
                      <a:endParaRPr sz="12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>
                    <a:solidFill>
                      <a:srgbClr val="FF25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KR"/>
                        <a:buNone/>
                      </a:pPr>
                      <a:r>
                        <a:rPr lang="en-US" sz="120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Revised By</a:t>
                      </a:r>
                      <a:endParaRPr sz="12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FF25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KR"/>
                        <a:buNone/>
                      </a:pPr>
                      <a:r>
                        <a:rPr lang="en-US" sz="120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Revision Date</a:t>
                      </a:r>
                      <a:endParaRPr sz="12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FF25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Version</a:t>
                      </a:r>
                      <a:endParaRPr sz="12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>
                    <a:solidFill>
                      <a:srgbClr val="FF25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킥오프 초안 수립</a:t>
                      </a:r>
                      <a:endParaRPr sz="10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함유라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2026-01-02</a:t>
                      </a:r>
                      <a:endParaRPr sz="10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0.0.0</a:t>
                      </a: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sz="10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킥오프 미팅 진행 후 확정된 내용 업데이트 </a:t>
                      </a:r>
                      <a:endParaRPr sz="10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 err="1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함유라</a:t>
                      </a:r>
                      <a:endParaRPr sz="10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2026-01-20</a:t>
                      </a:r>
                      <a:endParaRPr sz="10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1.0.0</a:t>
                      </a:r>
                      <a:endParaRPr sz="10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sz="10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 err="1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파트별</a:t>
                      </a:r>
                      <a:r>
                        <a:rPr lang="ko-KR" altLang="en-US" sz="100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업무 내용 수정</a:t>
                      </a:r>
                      <a:r>
                        <a:rPr lang="en-US" altLang="ko-KR" sz="100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ko-KR" altLang="en-US" sz="100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문서 규칙 추가</a:t>
                      </a:r>
                      <a:endParaRPr sz="10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u="none" strike="noStrike" cap="none" dirty="0" err="1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함유라</a:t>
                      </a:r>
                      <a:endParaRPr lang="ko-KR" altLang="en-US" sz="1000" u="none" strike="noStrike" cap="none" dirty="0" smtClean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2026-01-24</a:t>
                      </a:r>
                      <a:endParaRPr sz="10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1.0.1</a:t>
                      </a:r>
                      <a:endParaRPr sz="10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</a:t>
                      </a:r>
                      <a:endParaRPr sz="10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 err="1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커밋</a:t>
                      </a:r>
                      <a:r>
                        <a:rPr lang="ko-KR" altLang="en-US" sz="100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규칙 최종 수정 </a:t>
                      </a:r>
                      <a:endParaRPr sz="10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 err="1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함유라</a:t>
                      </a:r>
                      <a:endParaRPr sz="10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2026-01-28</a:t>
                      </a:r>
                      <a:endParaRPr sz="10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1.0.2</a:t>
                      </a: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>
            <a:spLocks noGrp="1"/>
          </p:cNvSpPr>
          <p:nvPr>
            <p:ph type="title"/>
          </p:nvPr>
        </p:nvSpPr>
        <p:spPr>
          <a:xfrm>
            <a:off x="335383" y="319406"/>
            <a:ext cx="10515600" cy="113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KR"/>
              <a:buNone/>
            </a:pPr>
            <a:r>
              <a:rPr 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Overview</a:t>
            </a:r>
            <a:endParaRPr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7" name="Google Shape;57;p3"/>
          <p:cNvSpPr txBox="1">
            <a:spLocks noGrp="1"/>
          </p:cNvSpPr>
          <p:nvPr>
            <p:ph type="body" idx="1"/>
          </p:nvPr>
        </p:nvSpPr>
        <p:spPr>
          <a:xfrm>
            <a:off x="424606" y="5105737"/>
            <a:ext cx="10515600" cy="883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1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 dirty="0"/>
              <a:t> 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endParaRPr dirty="0"/>
          </a:p>
          <a:p>
            <a:pPr marL="19050" indent="0" algn="ctr">
              <a:lnSpc>
                <a:spcPct val="100000"/>
              </a:lnSpc>
              <a:spcBef>
                <a:spcPts val="0"/>
              </a:spcBef>
              <a:buSzPts val="1200"/>
              <a:buNone/>
            </a:pPr>
            <a:r>
              <a:rPr lang="ko-KR" altLang="en-US" sz="1200" dirty="0">
                <a:sym typeface="Arial"/>
              </a:rPr>
              <a:t>본 프로젝트는 </a:t>
            </a:r>
            <a:r>
              <a:rPr lang="en-US" altLang="ko-KR" sz="1200" dirty="0">
                <a:sym typeface="Arial"/>
              </a:rPr>
              <a:t>AI </a:t>
            </a:r>
            <a:r>
              <a:rPr lang="ko-KR" altLang="en-US" sz="1200" dirty="0" err="1">
                <a:sym typeface="Arial"/>
              </a:rPr>
              <a:t>면접관을</a:t>
            </a:r>
            <a:r>
              <a:rPr lang="ko-KR" altLang="en-US" sz="1200" dirty="0">
                <a:sym typeface="Arial"/>
              </a:rPr>
              <a:t> 활용한 자동화된 모의면접 환경을 구축하여</a:t>
            </a:r>
            <a:r>
              <a:rPr lang="en-US" altLang="ko-KR" sz="1200" dirty="0">
                <a:sym typeface="Arial"/>
              </a:rPr>
              <a:t>, </a:t>
            </a:r>
            <a:r>
              <a:rPr lang="ko-KR" altLang="en-US" sz="1200" dirty="0">
                <a:sym typeface="Arial"/>
              </a:rPr>
              <a:t>대규모 지원자를 효율적이고 일관된 기준으로 </a:t>
            </a:r>
            <a:r>
              <a:rPr lang="ko-KR" altLang="en-US" sz="1200" dirty="0" smtClean="0">
                <a:sym typeface="Arial"/>
              </a:rPr>
              <a:t>일차적으로 평가하는 </a:t>
            </a:r>
            <a:r>
              <a:rPr lang="ko-KR" altLang="en-US" sz="1200" dirty="0">
                <a:sym typeface="Arial"/>
              </a:rPr>
              <a:t>것을 목표로 </a:t>
            </a:r>
            <a:r>
              <a:rPr lang="ko-KR" altLang="en-US" sz="1200" dirty="0" smtClean="0">
                <a:sym typeface="Arial"/>
              </a:rPr>
              <a:t>함</a:t>
            </a:r>
            <a:r>
              <a:rPr lang="en-US" altLang="ko-KR" sz="1200" dirty="0" smtClean="0">
                <a:sym typeface="Arial"/>
              </a:rPr>
              <a:t>.</a:t>
            </a:r>
            <a:endParaRPr sz="1200" dirty="0">
              <a:sym typeface="Arial"/>
            </a:endParaRPr>
          </a:p>
        </p:txBody>
      </p:sp>
      <p:sp>
        <p:nvSpPr>
          <p:cNvPr id="58" name="Google Shape;58;p3"/>
          <p:cNvSpPr txBox="1">
            <a:spLocks noGrp="1"/>
          </p:cNvSpPr>
          <p:nvPr>
            <p:ph type="dt" idx="10"/>
          </p:nvPr>
        </p:nvSpPr>
        <p:spPr>
          <a:xfrm>
            <a:off x="0" y="6625031"/>
            <a:ext cx="3307222" cy="23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2026년 1월 19일 오후 7시 1분</a:t>
            </a:r>
            <a:endParaRPr/>
          </a:p>
        </p:txBody>
      </p:sp>
      <p:sp>
        <p:nvSpPr>
          <p:cNvPr id="59" name="Google Shape;59;p3"/>
          <p:cNvSpPr txBox="1">
            <a:spLocks noGrp="1"/>
          </p:cNvSpPr>
          <p:nvPr>
            <p:ph type="ftr" idx="11"/>
          </p:nvPr>
        </p:nvSpPr>
        <p:spPr>
          <a:xfrm>
            <a:off x="5023477" y="6609979"/>
            <a:ext cx="4114800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Kick-off_함유라</a:t>
            </a:r>
            <a:endParaRPr/>
          </a:p>
        </p:txBody>
      </p:sp>
      <p:sp>
        <p:nvSpPr>
          <p:cNvPr id="60" name="Google Shape;60;p3"/>
          <p:cNvSpPr txBox="1">
            <a:spLocks noGrp="1"/>
          </p:cNvSpPr>
          <p:nvPr>
            <p:ph type="sldNum" idx="12"/>
          </p:nvPr>
        </p:nvSpPr>
        <p:spPr>
          <a:xfrm>
            <a:off x="11838062" y="6625031"/>
            <a:ext cx="353938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61" name="Google Shape;61;p3"/>
          <p:cNvSpPr txBox="1"/>
          <p:nvPr/>
        </p:nvSpPr>
        <p:spPr>
          <a:xfrm>
            <a:off x="530114" y="962935"/>
            <a:ext cx="10515600" cy="44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ko-KR" altLang="en-US" sz="1200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"/>
                <a:sym typeface="Noto Sans KR"/>
              </a:rPr>
              <a:t>프로젝트 명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b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ko-KR" alt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온프레미스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기반 실시간 음성</a:t>
            </a:r>
            <a:r>
              <a:rPr lang="en-US" altLang="ko-KR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영상 분석 직무</a:t>
            </a:r>
            <a:r>
              <a:rPr lang="en-US" altLang="ko-KR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인성 평가멀티모달 </a:t>
            </a:r>
            <a:r>
              <a:rPr lang="ko-KR" alt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생성형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AI 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면접 플랫폼 </a:t>
            </a:r>
            <a:r>
              <a:rPr lang="ko-KR" altLang="en-US" sz="1200" dirty="0" smtClean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개발</a:t>
            </a:r>
            <a:endParaRPr lang="en-US" altLang="ko-KR" sz="1200" dirty="0" smtClean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endParaRPr lang="ko-KR" altLang="en-US" sz="120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r>
              <a:rPr lang="ko-KR" altLang="en-US" sz="1200" b="1" dirty="0" smtClean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진행 부서</a:t>
            </a:r>
            <a:endParaRPr lang="en-US" altLang="ko-KR" sz="120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r>
              <a:rPr lang="en-US" altLang="ko-KR" sz="1200" dirty="0" smtClean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2AI1</a:t>
            </a:r>
          </a:p>
          <a:p>
            <a:endParaRPr lang="ko-KR" altLang="en-US" sz="120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r>
              <a:rPr lang="ko-KR" altLang="en-US" sz="120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진행 목적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b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본 프로젝트는 본격적인 개발에 앞서</a:t>
            </a:r>
            <a:r>
              <a:rPr lang="en-US" altLang="ko-KR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팀원 간 프로젝트의 진행 방향</a:t>
            </a:r>
            <a:r>
              <a:rPr lang="en-US" altLang="ko-KR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목표</a:t>
            </a:r>
            <a:r>
              <a:rPr lang="en-US" altLang="ko-KR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범위를 명확히 공유하고 공통된 이해를 형성하기 위해 </a:t>
            </a:r>
            <a:r>
              <a:rPr lang="ko-KR" altLang="en-US" sz="1200" dirty="0" smtClean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추진됨</a:t>
            </a:r>
            <a:r>
              <a:rPr lang="en-US" altLang="ko-KR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br>
              <a:rPr lang="en-US" altLang="ko-KR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이를 통해 역할과 책임을 사전에 정리하고</a:t>
            </a:r>
            <a:r>
              <a:rPr lang="en-US" altLang="ko-KR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표준화된 작업 환경과 협업 기준을 수립하여 프로젝트 수행 과정의 혼선을 최소화하는 것을 목적으로 </a:t>
            </a:r>
            <a:r>
              <a:rPr lang="ko-KR" altLang="en-US" sz="1200" dirty="0" smtClean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r>
              <a:rPr lang="en-US" altLang="ko-KR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lang="en-US" altLang="ko-KR" sz="1200" dirty="0" smtClean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endParaRPr lang="en-US" altLang="ko-KR" sz="120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r>
              <a:rPr lang="ko-KR" altLang="en-US" sz="120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기능</a:t>
            </a:r>
          </a:p>
          <a:p>
            <a:r>
              <a:rPr lang="ko-KR" alt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생성형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AI 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기반 면접 시뮬레이션 기능</a:t>
            </a:r>
          </a:p>
          <a:p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음성</a:t>
            </a:r>
            <a:r>
              <a:rPr lang="en-US" altLang="ko-KR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영상 기반 </a:t>
            </a:r>
            <a:r>
              <a:rPr lang="ko-KR" alt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멀티모달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인터랙션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및 분석</a:t>
            </a:r>
          </a:p>
          <a:p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직무 역량 평가 기능</a:t>
            </a:r>
          </a:p>
          <a:p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인성 및 조직 적합성 평가 기능</a:t>
            </a:r>
          </a:p>
          <a:p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면접 결과 분석 및 </a:t>
            </a:r>
            <a:r>
              <a:rPr lang="ko-KR" alt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리포팅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기능</a:t>
            </a:r>
          </a:p>
          <a:p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확장성과 운영을 고려한 시스템 아키텍처 </a:t>
            </a:r>
            <a:r>
              <a:rPr lang="ko-KR" altLang="en-US" sz="1200" dirty="0" smtClean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구성</a:t>
            </a:r>
            <a:endParaRPr lang="en-US" altLang="ko-KR" sz="1200" dirty="0" smtClean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endParaRPr lang="ko-KR" altLang="en-US" sz="120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r>
              <a:rPr lang="ko-KR" altLang="en-US" sz="120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개발 기간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b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altLang="ko-KR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2026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년 </a:t>
            </a:r>
            <a:r>
              <a:rPr lang="en-US" altLang="ko-KR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월 </a:t>
            </a:r>
            <a:r>
              <a:rPr lang="en-US" altLang="ko-KR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20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일 </a:t>
            </a:r>
            <a:r>
              <a:rPr lang="en-US" altLang="ko-KR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~ 2026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년 </a:t>
            </a:r>
            <a:r>
              <a:rPr lang="en-US" altLang="ko-KR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월 </a:t>
            </a:r>
            <a:r>
              <a:rPr lang="en-US" altLang="ko-KR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일 </a:t>
            </a:r>
            <a:r>
              <a:rPr lang="en-US" altLang="ko-KR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총 </a:t>
            </a:r>
            <a:r>
              <a:rPr lang="en-US" altLang="ko-KR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6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주</a:t>
            </a:r>
            <a:r>
              <a:rPr lang="en-US" altLang="ko-KR" sz="1200" dirty="0" smtClean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</a:p>
          <a:p>
            <a:endParaRPr lang="en-US" altLang="ko-KR" sz="120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r>
              <a:rPr lang="ko-KR" altLang="en-US" sz="1200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개발 목적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b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채용 과정에서 발생하는 운영상의 비효율성과 면접 평가의 주관성 문제를 개선하고</a:t>
            </a:r>
            <a:r>
              <a:rPr lang="en-US" altLang="ko-KR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,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 음성</a:t>
            </a:r>
            <a:r>
              <a:rPr lang="en-US" altLang="ko-KR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영상 데이터를 활용한 </a:t>
            </a:r>
            <a:r>
              <a:rPr lang="en-US" altLang="ko-KR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AI 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기반의 객관적</a:t>
            </a:r>
            <a:r>
              <a:rPr lang="en-US" altLang="ko-KR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정량적 평가 체계를 </a:t>
            </a:r>
            <a:r>
              <a:rPr lang="ko-KR" alt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구축함으로써지원자와</a:t>
            </a: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기업 모두에게 신뢰도 높은 면접 평가 결과와 피드백을 제공하는 것을 </a:t>
            </a:r>
            <a:r>
              <a:rPr lang="ko-KR" altLang="en-US" sz="1200" dirty="0" smtClean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목적으로 함</a:t>
            </a:r>
            <a:endParaRPr sz="1000" b="0" i="0" u="none" strike="noStrike" cap="none" dirty="0" smtClean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 txBox="1">
            <a:spLocks noGrp="1"/>
          </p:cNvSpPr>
          <p:nvPr>
            <p:ph type="title"/>
          </p:nvPr>
        </p:nvSpPr>
        <p:spPr>
          <a:xfrm>
            <a:off x="335383" y="319406"/>
            <a:ext cx="10515600" cy="113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KR"/>
              <a:buNone/>
            </a:pPr>
            <a:r>
              <a:rPr 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Team Members</a:t>
            </a:r>
            <a:endParaRPr sz="2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7" name="Google Shape;67;p4"/>
          <p:cNvSpPr txBox="1">
            <a:spLocks noGrp="1"/>
          </p:cNvSpPr>
          <p:nvPr>
            <p:ph type="dt" idx="10"/>
          </p:nvPr>
        </p:nvSpPr>
        <p:spPr>
          <a:xfrm>
            <a:off x="0" y="6625031"/>
            <a:ext cx="3307222" cy="23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2026년 1월 19일 오후 7시 13분</a:t>
            </a:r>
            <a:endParaRPr/>
          </a:p>
        </p:txBody>
      </p:sp>
      <p:sp>
        <p:nvSpPr>
          <p:cNvPr id="68" name="Google Shape;68;p4"/>
          <p:cNvSpPr txBox="1">
            <a:spLocks noGrp="1"/>
          </p:cNvSpPr>
          <p:nvPr>
            <p:ph type="ftr" idx="11"/>
          </p:nvPr>
        </p:nvSpPr>
        <p:spPr>
          <a:xfrm>
            <a:off x="5023477" y="6609979"/>
            <a:ext cx="4114800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Kick-off_함유라</a:t>
            </a:r>
            <a:endParaRPr/>
          </a:p>
        </p:txBody>
      </p:sp>
      <p:sp>
        <p:nvSpPr>
          <p:cNvPr id="69" name="Google Shape;69;p4"/>
          <p:cNvSpPr txBox="1">
            <a:spLocks noGrp="1"/>
          </p:cNvSpPr>
          <p:nvPr>
            <p:ph type="sldNum" idx="12"/>
          </p:nvPr>
        </p:nvSpPr>
        <p:spPr>
          <a:xfrm>
            <a:off x="11838062" y="6625031"/>
            <a:ext cx="353938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70" name="Google Shape;70;p4"/>
          <p:cNvSpPr txBox="1"/>
          <p:nvPr/>
        </p:nvSpPr>
        <p:spPr>
          <a:xfrm>
            <a:off x="335383" y="942137"/>
            <a:ext cx="3527094" cy="29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"/>
                <a:sym typeface="Noto Sans KR"/>
              </a:rPr>
              <a:t>R&amp;R (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"/>
                <a:sym typeface="Noto Sans KR"/>
              </a:rPr>
              <a:t>Role and Responsibilities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"/>
                <a:sym typeface="Noto Sans KR"/>
              </a:rPr>
              <a:t>)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707130"/>
              </p:ext>
            </p:extLst>
          </p:nvPr>
        </p:nvGraphicFramePr>
        <p:xfrm>
          <a:off x="627706" y="1643391"/>
          <a:ext cx="11073196" cy="2967395"/>
        </p:xfrm>
        <a:graphic>
          <a:graphicData uri="http://schemas.openxmlformats.org/drawingml/2006/table">
            <a:tbl>
              <a:tblPr firstRow="1" bandRow="1">
                <a:tableStyleId>{779FDBB6-90BC-4AE6-A10D-4192380AB268}</a:tableStyleId>
              </a:tblPr>
              <a:tblGrid>
                <a:gridCol w="2362382">
                  <a:extLst>
                    <a:ext uri="{9D8B030D-6E8A-4147-A177-3AD203B41FA5}">
                      <a16:colId xmlns:a16="http://schemas.microsoft.com/office/drawing/2014/main" val="2657166225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3185369965"/>
                    </a:ext>
                  </a:extLst>
                </a:gridCol>
                <a:gridCol w="944445">
                  <a:extLst>
                    <a:ext uri="{9D8B030D-6E8A-4147-A177-3AD203B41FA5}">
                      <a16:colId xmlns:a16="http://schemas.microsoft.com/office/drawing/2014/main" val="3953147812"/>
                    </a:ext>
                  </a:extLst>
                </a:gridCol>
                <a:gridCol w="2725782">
                  <a:extLst>
                    <a:ext uri="{9D8B030D-6E8A-4147-A177-3AD203B41FA5}">
                      <a16:colId xmlns:a16="http://schemas.microsoft.com/office/drawing/2014/main" val="3831399535"/>
                    </a:ext>
                  </a:extLst>
                </a:gridCol>
                <a:gridCol w="905692">
                  <a:extLst>
                    <a:ext uri="{9D8B030D-6E8A-4147-A177-3AD203B41FA5}">
                      <a16:colId xmlns:a16="http://schemas.microsoft.com/office/drawing/2014/main" val="4224884014"/>
                    </a:ext>
                  </a:extLst>
                </a:gridCol>
                <a:gridCol w="3366799">
                  <a:extLst>
                    <a:ext uri="{9D8B030D-6E8A-4147-A177-3AD203B41FA5}">
                      <a16:colId xmlns:a16="http://schemas.microsoft.com/office/drawing/2014/main" val="1931099657"/>
                    </a:ext>
                  </a:extLst>
                </a:gridCol>
              </a:tblGrid>
              <a:tr h="37151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i="0" u="none" strike="noStrike" cap="none" dirty="0" smtClean="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Team</a:t>
                      </a:r>
                      <a:endParaRPr lang="ko-KR" altLang="en-US" sz="1400" b="1" i="0" u="none" strike="noStrike" cap="none" dirty="0" smtClean="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i="0" u="none" strike="noStrike" cap="none" dirty="0" smtClean="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Primary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1400" b="1" dirty="0" smtClean="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dirty="0" smtClean="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Secondary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1400" b="1" dirty="0" smtClean="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726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i="0" u="none" strike="noStrike" cap="none" dirty="0" smtClean="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Team Domain</a:t>
                      </a:r>
                      <a:endParaRPr lang="ko-KR" altLang="en-US" sz="1400" b="1" i="0" u="none" strike="noStrike" cap="none" dirty="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i="0" u="none" strike="noStrike" cap="none" dirty="0" smtClean="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Abb.</a:t>
                      </a:r>
                      <a:endParaRPr lang="ko-KR" altLang="en-US" sz="1400" b="1" i="0" u="none" strike="noStrike" cap="none" dirty="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i="0" u="none" strike="noStrike" cap="none" dirty="0" smtClean="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Name</a:t>
                      </a:r>
                      <a:endParaRPr lang="ko-KR" altLang="en-US" sz="1400" b="1" i="0" u="none" strike="noStrike" cap="none" dirty="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i="0" u="none" strike="noStrike" cap="none" dirty="0" smtClean="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Role</a:t>
                      </a:r>
                      <a:endParaRPr lang="ko-KR" altLang="en-US" sz="1400" b="1" i="0" u="none" strike="noStrike" cap="none" dirty="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i="0" u="none" strike="noStrike" cap="none" dirty="0" smtClean="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Name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i="0" u="none" strike="noStrike" cap="none" dirty="0" smtClean="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Role</a:t>
                      </a:r>
                      <a:endParaRPr lang="ko-KR" altLang="en-US" sz="1400" b="1" i="0" u="none" strike="noStrike" cap="none" dirty="0">
                        <a:solidFill>
                          <a:schemeClr val="lt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10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Noto Sans KR Black" panose="020B0200000000000000" pitchFamily="34" charset="-128"/>
                          <a:ea typeface="Noto Sans KR Black" panose="020B0200000000000000" pitchFamily="34" charset="-128"/>
                        </a:rPr>
                        <a:t>Planning Architecture </a:t>
                      </a:r>
                      <a:endParaRPr lang="ko-KR" altLang="en-US" dirty="0"/>
                    </a:p>
                  </a:txBody>
                  <a:tcPr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PA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함유라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프로젝트 전체 일정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·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범위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·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진행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·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산출물 관리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-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rgbClr val="FFE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193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Noto Sans KR Black" panose="020B0200000000000000" pitchFamily="34" charset="-128"/>
                          <a:ea typeface="Noto Sans KR Black" panose="020B0200000000000000" pitchFamily="34" charset="-128"/>
                        </a:rPr>
                        <a:t>System Architecture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SA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엄재민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전체 시스템 구조 설계 및 실행 환경 정의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함유라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시스템 설계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기술 구조 프로젝트 범위 초과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누락 여부 검토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90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Noto Sans KR Black" panose="020B0200000000000000" pitchFamily="34" charset="-128"/>
                          <a:ea typeface="Noto Sans KR Black" panose="020B0200000000000000" pitchFamily="34" charset="-128"/>
                        </a:rPr>
                        <a:t>Data </a:t>
                      </a:r>
                      <a:r>
                        <a:rPr lang="en-US" altLang="ko-KR" sz="14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Noto Sans KR Black" panose="020B0200000000000000" pitchFamily="34" charset="-128"/>
                          <a:ea typeface="Noto Sans KR Black" panose="020B0200000000000000" pitchFamily="34" charset="-128"/>
                        </a:rPr>
                        <a:t>Architecture</a:t>
                      </a:r>
                      <a:r>
                        <a:rPr lang="en-US" altLang="ko-KR" sz="1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Noto Sans KR Black" panose="020B0200000000000000" pitchFamily="34" charset="-128"/>
                          <a:ea typeface="Noto Sans KR Black" panose="020B0200000000000000" pitchFamily="34" charset="-128"/>
                        </a:rPr>
                        <a:t> 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DA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권준호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데이터 수집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정의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관리 및 데이터 구조 설계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김린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데이터 구조가 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RAG/LLM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활용에 적합한지 검토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038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Noto Sans KR Black" panose="020B0200000000000000" pitchFamily="34" charset="-128"/>
                          <a:ea typeface="Noto Sans KR Black" panose="020B0200000000000000" pitchFamily="34" charset="-128"/>
                        </a:rPr>
                        <a:t>LLM Architecture 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LA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김린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프롬프트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·LLM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흐름 설계 책임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엄재민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LLM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설계가 시스템 구조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/API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흐름에 맞는지 검토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370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Noto Sans KR Black" panose="020B0200000000000000" pitchFamily="34" charset="-128"/>
                          <a:ea typeface="Noto Sans KR Black" panose="020B0200000000000000" pitchFamily="34" charset="-128"/>
                        </a:rPr>
                        <a:t>Model </a:t>
                      </a:r>
                      <a:r>
                        <a:rPr lang="en-US" altLang="ko-KR" sz="14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Noto Sans KR Black" panose="020B0200000000000000" pitchFamily="34" charset="-128"/>
                          <a:ea typeface="Noto Sans KR Black" panose="020B0200000000000000" pitchFamily="34" charset="-128"/>
                        </a:rPr>
                        <a:t>Architecture </a:t>
                      </a:r>
                      <a:endParaRPr lang="ko-KR" altLang="en-US" dirty="0"/>
                    </a:p>
                  </a:txBody>
                  <a:tcPr>
                    <a:solidFill>
                      <a:srgbClr val="EADB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MA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rgbClr val="EADB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조윤재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rgbClr val="EADB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AI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모델 설계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구현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검증 담당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rgbClr val="EADB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이승재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rgbClr val="EADB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모델 호출 </a:t>
                      </a:r>
                      <a:r>
                        <a:rPr lang="ko-KR" altLang="en-US" sz="10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로직을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 </a:t>
                      </a:r>
                      <a:r>
                        <a:rPr lang="ko-KR" altLang="en-US" sz="10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백엔드</a:t>
                      </a:r>
                      <a:r>
                        <a:rPr lang="en-US" altLang="ko-KR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/API </a:t>
                      </a:r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구조에 맞게 조율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rgbClr val="EAD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958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Noto Sans KR Black" panose="020B0200000000000000" pitchFamily="34" charset="-128"/>
                          <a:ea typeface="Noto Sans KR Black" panose="020B0200000000000000" pitchFamily="34" charset="-128"/>
                        </a:rPr>
                        <a:t>System Development</a:t>
                      </a:r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SD</a:t>
                      </a:r>
                      <a:endParaRPr lang="ko-KR" altLang="en-US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이승재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 구현 및 통합 개발 담당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조윤재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irmala UI Semilight" panose="020B0402040204020203" pitchFamily="34" charset="0"/>
                        </a:rPr>
                        <a:t>성능 이슈 발생 시 모델 관점 개선 제안</a:t>
                      </a:r>
                      <a:endParaRPr lang="ko-KR" altLang="en-US" sz="10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irmala UI Semilight" panose="020B0402040204020203" pitchFamily="3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866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335383" y="319406"/>
            <a:ext cx="10515600" cy="113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KR"/>
              <a:buNone/>
            </a:pPr>
            <a:r>
              <a:rPr 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Project Initial Schedule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aphicFrame>
        <p:nvGraphicFramePr>
          <p:cNvPr id="101" name="Google Shape;101;p7"/>
          <p:cNvGraphicFramePr/>
          <p:nvPr>
            <p:extLst>
              <p:ext uri="{D42A27DB-BD31-4B8C-83A1-F6EECF244321}">
                <p14:modId xmlns:p14="http://schemas.microsoft.com/office/powerpoint/2010/main" val="1173702826"/>
              </p:ext>
            </p:extLst>
          </p:nvPr>
        </p:nvGraphicFramePr>
        <p:xfrm>
          <a:off x="537772" y="1143753"/>
          <a:ext cx="10110821" cy="2590870"/>
        </p:xfrm>
        <a:graphic>
          <a:graphicData uri="http://schemas.openxmlformats.org/drawingml/2006/table">
            <a:tbl>
              <a:tblPr firstRow="1" bandRow="1">
                <a:noFill/>
                <a:tableStyleId>{779FDBB6-90BC-4AE6-A10D-4192380AB268}</a:tableStyleId>
              </a:tblPr>
              <a:tblGrid>
                <a:gridCol w="12542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2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9588">
                  <a:extLst>
                    <a:ext uri="{9D8B030D-6E8A-4147-A177-3AD203B41FA5}">
                      <a16:colId xmlns:a16="http://schemas.microsoft.com/office/drawing/2014/main" val="175448673"/>
                    </a:ext>
                  </a:extLst>
                </a:gridCol>
                <a:gridCol w="3675018">
                  <a:extLst>
                    <a:ext uri="{9D8B030D-6E8A-4147-A177-3AD203B41FA5}">
                      <a16:colId xmlns:a16="http://schemas.microsoft.com/office/drawing/2014/main" val="106578050"/>
                    </a:ext>
                  </a:extLst>
                </a:gridCol>
              </a:tblGrid>
              <a:tr h="33939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Quattrocento Sans"/>
                          <a:sym typeface="Quattrocento Sans"/>
                        </a:rPr>
                        <a:t>Phase</a:t>
                      </a:r>
                      <a:endParaRPr sz="18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Quattrocento Sans"/>
                        <a:sym typeface="Quattrocento Sans"/>
                      </a:endParaRPr>
                    </a:p>
                  </a:txBody>
                  <a:tcPr marL="91450" marR="91450" marT="45725" marB="45725">
                    <a:solidFill>
                      <a:srgbClr val="FF25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dirty="0" smtClean="0"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</a:rPr>
                        <a:t>Period</a:t>
                      </a:r>
                      <a:endParaRPr sz="18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Quattrocento Sans"/>
                        <a:sym typeface="Quattrocento Sans"/>
                      </a:endParaRPr>
                    </a:p>
                  </a:txBody>
                  <a:tcPr marL="91450" marR="91450" marT="45725" marB="45725">
                    <a:solidFill>
                      <a:srgbClr val="FF25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Quattrocento Sans"/>
                          <a:sym typeface="Quattrocento Sans"/>
                        </a:rPr>
                        <a:t>Task</a:t>
                      </a:r>
                    </a:p>
                  </a:txBody>
                  <a:tcPr marL="91450" marR="91450" marT="45725" marB="45725">
                    <a:solidFill>
                      <a:srgbClr val="FF25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latin typeface="Noto Sans KR Black" panose="020B0200000000000000" pitchFamily="34" charset="-128"/>
                          <a:ea typeface="Noto Sans KR Black" panose="020B0200000000000000" pitchFamily="34" charset="-128"/>
                        </a:rPr>
                        <a:t>Outputs</a:t>
                      </a:r>
                      <a:endParaRPr lang="ko-KR" altLang="en-US" sz="1800" dirty="0" smtClean="0">
                        <a:latin typeface="Noto Sans KR Black" panose="020B0200000000000000" pitchFamily="34" charset="-128"/>
                        <a:ea typeface="Noto Sans KR Black" panose="020B0200000000000000" pitchFamily="34" charset="-128"/>
                      </a:endParaRPr>
                    </a:p>
                  </a:txBody>
                  <a:tcPr marL="91450" marR="91450" marT="45725" marB="45725">
                    <a:solidFill>
                      <a:srgbClr val="FF25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week1</a:t>
                      </a:r>
                      <a:endParaRPr sz="1200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2026-01-20</a:t>
                      </a:r>
                      <a:r>
                        <a:rPr lang="en-US" sz="1200" baseline="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~ 2026-01-23</a:t>
                      </a:r>
                      <a:endParaRPr sz="1200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기획</a:t>
                      </a:r>
                      <a:r>
                        <a:rPr lang="en-US" altLang="ko-KR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요구사항</a:t>
                      </a:r>
                      <a:r>
                        <a:rPr lang="en-US" altLang="ko-KR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아키텍처 확정</a:t>
                      </a:r>
                      <a:endParaRPr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dirty="0" err="1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착수보고서</a:t>
                      </a:r>
                      <a:r>
                        <a:rPr lang="en-US" altLang="ko-KR" sz="120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ko-KR" altLang="en-US" sz="120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기획서</a:t>
                      </a:r>
                      <a:r>
                        <a:rPr lang="en-US" altLang="ko-KR" sz="120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ko-KR" altLang="en-US" sz="120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시스템설계서</a:t>
                      </a:r>
                      <a:endParaRPr sz="1200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FFE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KR"/>
                        <a:buNone/>
                      </a:pPr>
                      <a:r>
                        <a:rPr lang="en-US" sz="1200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week2</a:t>
                      </a:r>
                      <a:endParaRPr sz="1200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2026-01-26 ~ 2026-01-30</a:t>
                      </a:r>
                      <a:endParaRPr sz="1200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모델</a:t>
                      </a:r>
                      <a:r>
                        <a:rPr lang="en-US" altLang="ko-KR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검증 </a:t>
                      </a:r>
                      <a:r>
                        <a:rPr lang="en-US" altLang="ko-KR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+ </a:t>
                      </a:r>
                      <a:r>
                        <a:rPr lang="ko-KR" altLang="en-US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데이터</a:t>
                      </a:r>
                      <a:r>
                        <a:rPr lang="en-US" altLang="ko-KR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ko-KR" altLang="en-US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시나리오 설계</a:t>
                      </a:r>
                      <a:endParaRPr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모델</a:t>
                      </a:r>
                      <a:r>
                        <a:rPr lang="ko-KR" altLang="en-US" sz="1200" baseline="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ko-KR" altLang="en-US" sz="1200" baseline="0" dirty="0" err="1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프로토타입</a:t>
                      </a:r>
                      <a:r>
                        <a:rPr lang="en-US" altLang="ko-KR" sz="1200" baseline="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ko-KR" altLang="en-US" sz="1200" baseline="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데이터 정의서</a:t>
                      </a:r>
                      <a:endParaRPr sz="1200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FFE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KR"/>
                        <a:buNone/>
                      </a:pPr>
                      <a:r>
                        <a:rPr lang="en-US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week3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2026-02-02 ~ 2025-02-06</a:t>
                      </a:r>
                      <a:endParaRPr sz="1200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AI </a:t>
                      </a:r>
                      <a:r>
                        <a:rPr lang="ko-KR" altLang="en-US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핵심 모델</a:t>
                      </a:r>
                      <a:r>
                        <a:rPr lang="en-US" altLang="ko-KR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·RAG</a:t>
                      </a:r>
                      <a:r>
                        <a:rPr lang="en-US" altLang="ko-KR" sz="120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설계</a:t>
                      </a:r>
                      <a:r>
                        <a:rPr lang="en-US" altLang="ko-KR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구현</a:t>
                      </a:r>
                      <a:endParaRPr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RAG </a:t>
                      </a:r>
                      <a:r>
                        <a:rPr lang="ko-KR" altLang="en-US" sz="120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파이프라인</a:t>
                      </a:r>
                      <a:r>
                        <a:rPr lang="en-US" altLang="ko-KR" sz="120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1</a:t>
                      </a:r>
                      <a:r>
                        <a:rPr lang="ko-KR" altLang="en-US" sz="1200" dirty="0" err="1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차모델</a:t>
                      </a:r>
                      <a:endParaRPr sz="1200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FFE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KR"/>
                        <a:buNone/>
                      </a:pPr>
                      <a:r>
                        <a:rPr lang="en-US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week4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2026-02-09 ~ 2025-02-13</a:t>
                      </a:r>
                      <a:endParaRPr sz="1200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백엔드</a:t>
                      </a:r>
                      <a:r>
                        <a:rPr lang="en-US" altLang="ko-KR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·UI </a:t>
                      </a:r>
                      <a:r>
                        <a:rPr lang="ko-KR" altLang="en-US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구현 </a:t>
                      </a:r>
                      <a:r>
                        <a:rPr lang="en-US" altLang="ko-KR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&amp; </a:t>
                      </a:r>
                      <a:r>
                        <a:rPr lang="ko-KR" altLang="en-US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통합 </a:t>
                      </a:r>
                      <a:r>
                        <a:rPr lang="ko-KR" altLang="en-US" sz="1200" dirty="0" err="1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프로토타입</a:t>
                      </a:r>
                      <a:r>
                        <a:rPr lang="ko-KR" altLang="en-US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구현</a:t>
                      </a:r>
                      <a:endParaRPr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API</a:t>
                      </a:r>
                      <a:r>
                        <a:rPr lang="ko-KR" altLang="en-US" sz="120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정의서</a:t>
                      </a:r>
                      <a:r>
                        <a:rPr lang="en-US" altLang="ko-KR" sz="120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</a:t>
                      </a:r>
                      <a:r>
                        <a:rPr lang="en-US" altLang="ko-KR" sz="1200" baseline="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ko-KR" altLang="en-US" sz="1200" baseline="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화면 </a:t>
                      </a:r>
                      <a:r>
                        <a:rPr lang="en-US" altLang="ko-KR" sz="1200" baseline="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UI</a:t>
                      </a:r>
                      <a:endParaRPr sz="1200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FFE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KR"/>
                        <a:buNone/>
                      </a:pPr>
                      <a:r>
                        <a:rPr lang="en-US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week5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2026-02-19 ~ 2026-02-20</a:t>
                      </a:r>
                      <a:endParaRPr sz="1200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통합 테스트 </a:t>
                      </a:r>
                      <a:endParaRPr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r>
                        <a:rPr lang="ko-KR" altLang="en-US" sz="120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차 통합 </a:t>
                      </a:r>
                      <a:r>
                        <a:rPr lang="ko-KR" altLang="en-US" sz="1200" dirty="0" err="1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프로토타입</a:t>
                      </a:r>
                      <a:r>
                        <a:rPr lang="ko-KR" altLang="en-US" sz="120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시스템</a:t>
                      </a:r>
                      <a:endParaRPr sz="1200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FFE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KR"/>
                        <a:buNone/>
                      </a:pPr>
                      <a:r>
                        <a:rPr lang="en-US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week6</a:t>
                      </a:r>
                      <a:endParaRPr sz="12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2026-02-23 ~ 2026-02-27</a:t>
                      </a:r>
                      <a:endParaRPr sz="1200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성능 개선 및 운영 준비</a:t>
                      </a:r>
                      <a:endParaRPr lang="ko-KR" altLang="en-US" sz="1200" dirty="0" smtClean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oto Sans KR"/>
                        <a:sym typeface="Noto Sans KR"/>
                      </a:endParaRPr>
                    </a:p>
                  </a:txBody>
                  <a:tcPr marL="91450" marR="91450" marT="45725" marB="45725"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최종 최적화 시스템</a:t>
                      </a:r>
                      <a:r>
                        <a:rPr lang="en-US" altLang="ko-KR" sz="120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ko-KR" altLang="en-US" sz="120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결과보고서</a:t>
                      </a:r>
                    </a:p>
                  </a:txBody>
                  <a:tcPr marL="91450" marR="91450" marT="45725" marB="45725" anchor="ctr">
                    <a:solidFill>
                      <a:srgbClr val="FFE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2" name="Google Shape;102;p7"/>
          <p:cNvSpPr txBox="1">
            <a:spLocks noGrp="1"/>
          </p:cNvSpPr>
          <p:nvPr>
            <p:ph type="dt" idx="10"/>
          </p:nvPr>
        </p:nvSpPr>
        <p:spPr>
          <a:xfrm>
            <a:off x="0" y="6625031"/>
            <a:ext cx="3307222" cy="23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2026년 1월 19일 오후 7시 1분</a:t>
            </a:r>
            <a:endParaRPr/>
          </a:p>
        </p:txBody>
      </p:sp>
      <p:sp>
        <p:nvSpPr>
          <p:cNvPr id="103" name="Google Shape;103;p7"/>
          <p:cNvSpPr txBox="1">
            <a:spLocks noGrp="1"/>
          </p:cNvSpPr>
          <p:nvPr>
            <p:ph type="ftr" idx="11"/>
          </p:nvPr>
        </p:nvSpPr>
        <p:spPr>
          <a:xfrm>
            <a:off x="5025078" y="6625031"/>
            <a:ext cx="4114800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Kick-off_함유라</a:t>
            </a:r>
            <a:endParaRPr/>
          </a:p>
        </p:txBody>
      </p:sp>
      <p:sp>
        <p:nvSpPr>
          <p:cNvPr id="104" name="Google Shape;104;p7"/>
          <p:cNvSpPr txBox="1">
            <a:spLocks noGrp="1"/>
          </p:cNvSpPr>
          <p:nvPr>
            <p:ph type="sldNum" idx="12"/>
          </p:nvPr>
        </p:nvSpPr>
        <p:spPr>
          <a:xfrm>
            <a:off x="11838062" y="6625031"/>
            <a:ext cx="353938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627017" y="3884023"/>
            <a:ext cx="7985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세부 일정 및 작업 단위는 기획서 진행 전 </a:t>
            </a:r>
            <a:r>
              <a:rPr lang="en-US" altLang="ko-KR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WBS, </a:t>
            </a:r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자체 </a:t>
            </a:r>
            <a:r>
              <a:rPr lang="ko-KR" altLang="en-US" sz="12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워크툴로</a:t>
            </a:r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구축 및 </a:t>
            </a:r>
            <a:r>
              <a:rPr lang="ko-KR" altLang="en-US" sz="12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진행관리</a:t>
            </a:r>
            <a:r>
              <a:rPr lang="ko-KR" altLang="en-US" sz="12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예정 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 txBox="1">
            <a:spLocks noGrp="1"/>
          </p:cNvSpPr>
          <p:nvPr>
            <p:ph type="title"/>
          </p:nvPr>
        </p:nvSpPr>
        <p:spPr>
          <a:xfrm>
            <a:off x="335383" y="319406"/>
            <a:ext cx="10515600" cy="113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KR"/>
              <a:buNone/>
            </a:pPr>
            <a:r>
              <a:rPr 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Working Tools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83" name="Google Shape;83;p5"/>
          <p:cNvSpPr txBox="1">
            <a:spLocks noGrp="1"/>
          </p:cNvSpPr>
          <p:nvPr>
            <p:ph type="body" idx="1"/>
          </p:nvPr>
        </p:nvSpPr>
        <p:spPr>
          <a:xfrm>
            <a:off x="410910" y="108363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문서</a:t>
            </a: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200" b="1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- Google Drive , Microsoft Office (Word, Excel, PPT),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프로젝트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문서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규칙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" indent="-228600">
              <a:buSzPts val="1200"/>
            </a:pPr>
            <a:r>
              <a:rPr lang="ko-KR" altLang="en-US" sz="1200" b="1" dirty="0"/>
              <a:t>개발</a:t>
            </a:r>
            <a:endParaRPr sz="1200" b="1" dirty="0"/>
          </a:p>
          <a:p>
            <a:pPr marL="457200" lvl="1" indent="0">
              <a:buSzPts val="1200"/>
              <a:buNone/>
            </a:pP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- Antigravity,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Github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200" dirty="0" smtClean="0">
                <a:latin typeface="Noto Sans KR"/>
                <a:ea typeface="Noto Sans KR"/>
                <a:cs typeface="Noto Sans KR"/>
                <a:sym typeface="Noto Sans KR"/>
              </a:rPr>
              <a:t>Python, </a:t>
            </a:r>
            <a:r>
              <a:rPr lang="en-US" sz="1200" dirty="0" err="1" smtClean="0">
                <a:latin typeface="Noto Sans KR"/>
                <a:ea typeface="Noto Sans KR"/>
                <a:cs typeface="Noto Sans KR"/>
                <a:sym typeface="Noto Sans KR"/>
              </a:rPr>
              <a:t>docker</a:t>
            </a:r>
            <a:r>
              <a:rPr lang="en-US" sz="1200" dirty="0" smtClean="0">
                <a:latin typeface="Noto Sans KR"/>
                <a:ea typeface="Noto Sans KR"/>
                <a:cs typeface="Noto Sans KR"/>
                <a:sym typeface="Noto Sans KR"/>
              </a:rPr>
              <a:t>,</a:t>
            </a:r>
            <a:r>
              <a:rPr lang="en-US" altLang="ko-KR" dirty="0"/>
              <a:t> </a:t>
            </a:r>
            <a:r>
              <a:rPr lang="en-US" altLang="ko-KR" sz="1200" dirty="0" smtClean="0"/>
              <a:t>PostgreSQL,</a:t>
            </a:r>
            <a:r>
              <a:rPr lang="en-US" altLang="ko-KR" b="1" dirty="0"/>
              <a:t> </a:t>
            </a:r>
            <a:r>
              <a:rPr lang="en-US" altLang="ko-KR" sz="1200" dirty="0" err="1" smtClean="0"/>
              <a:t>Redis</a:t>
            </a:r>
            <a:r>
              <a:rPr lang="en-US" altLang="ko-KR" sz="1200" dirty="0" smtClean="0"/>
              <a:t>, </a:t>
            </a:r>
            <a:r>
              <a:rPr lang="en-US" altLang="ko-KR" b="1" dirty="0"/>
              <a:t> </a:t>
            </a:r>
            <a:r>
              <a:rPr lang="en-US" altLang="ko-KR" sz="1200" dirty="0" err="1"/>
              <a:t>DBeaver</a:t>
            </a:r>
            <a:r>
              <a:rPr lang="en-US" altLang="ko-KR" sz="1200" dirty="0"/>
              <a:t> </a:t>
            </a:r>
            <a:r>
              <a:rPr lang="en-US" altLang="ko-KR" sz="1200" dirty="0" smtClean="0"/>
              <a:t>, </a:t>
            </a:r>
            <a:r>
              <a:rPr lang="en-US" altLang="ko-KR" sz="1200" dirty="0" err="1"/>
              <a:t>WebRTC</a:t>
            </a:r>
            <a:endParaRPr sz="12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커뮤니케이션</a:t>
            </a: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200" b="1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1" indent="0">
              <a:buSzPts val="1200"/>
              <a:buNone/>
            </a:pP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- Google </a:t>
            </a:r>
            <a:r>
              <a:rPr lang="en-US" sz="1200" dirty="0" smtClean="0">
                <a:latin typeface="Noto Sans KR"/>
                <a:ea typeface="Noto Sans KR"/>
                <a:cs typeface="Noto Sans KR"/>
                <a:sym typeface="Noto Sans KR"/>
              </a:rPr>
              <a:t>Chat, </a:t>
            </a:r>
            <a:r>
              <a:rPr lang="en-US" sz="1200" dirty="0" err="1" smtClean="0">
                <a:latin typeface="Noto Sans KR"/>
                <a:ea typeface="Noto Sans KR"/>
                <a:cs typeface="Noto Sans KR"/>
                <a:sym typeface="Noto Sans KR"/>
              </a:rPr>
              <a:t>자체</a:t>
            </a:r>
            <a:r>
              <a:rPr lang="en-US" sz="1200" dirty="0" smtClean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커뮤니케이션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200" dirty="0" smtClean="0">
                <a:latin typeface="Noto Sans KR"/>
                <a:ea typeface="Noto Sans KR"/>
                <a:cs typeface="Noto Sans KR"/>
                <a:sym typeface="Noto Sans KR"/>
              </a:rPr>
              <a:t>개발</a:t>
            </a:r>
            <a:r>
              <a:rPr lang="en-US" sz="1200" dirty="0" smtClean="0">
                <a:latin typeface="Noto Sans KR"/>
                <a:ea typeface="Noto Sans KR"/>
                <a:cs typeface="Noto Sans KR"/>
                <a:sym typeface="Noto Sans KR"/>
              </a:rPr>
              <a:t>툴, </a:t>
            </a:r>
            <a:r>
              <a:rPr lang="en-US" sz="1200" dirty="0" smtClean="0"/>
              <a:t>Jira(</a:t>
            </a:r>
            <a:r>
              <a:rPr lang="ko-KR" altLang="en-US" sz="1200" dirty="0" smtClean="0"/>
              <a:t>팀장 보조 도구</a:t>
            </a:r>
            <a:r>
              <a:rPr lang="en-US" altLang="ko-KR" sz="1200" dirty="0" smtClean="0"/>
              <a:t>),</a:t>
            </a:r>
            <a:r>
              <a:rPr lang="en-US" altLang="ko-KR" sz="1200" dirty="0"/>
              <a:t> Google </a:t>
            </a:r>
            <a:r>
              <a:rPr lang="en-US" altLang="ko-KR" sz="1200" dirty="0" err="1"/>
              <a:t>메일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카카오톡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일정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1" indent="0">
              <a:buSzPts val="1200"/>
              <a:buNone/>
            </a:pP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1200" dirty="0" smtClean="0">
                <a:latin typeface="Noto Sans KR"/>
                <a:ea typeface="Noto Sans KR"/>
                <a:cs typeface="Noto Sans KR"/>
                <a:sym typeface="Noto Sans KR"/>
              </a:rPr>
              <a:t>WBS, </a:t>
            </a:r>
            <a:r>
              <a:rPr lang="en-US" altLang="ko-KR" sz="1200" dirty="0" err="1"/>
              <a:t>자체</a:t>
            </a:r>
            <a:r>
              <a:rPr lang="en-US" altLang="ko-KR" sz="1200" dirty="0"/>
              <a:t> </a:t>
            </a:r>
            <a:r>
              <a:rPr lang="en-US" altLang="ko-KR" sz="1200" dirty="0" err="1"/>
              <a:t>커뮤니케이션</a:t>
            </a:r>
            <a:r>
              <a:rPr lang="en-US" altLang="ko-KR" sz="1200" dirty="0"/>
              <a:t> </a:t>
            </a:r>
            <a:r>
              <a:rPr lang="ko-KR" altLang="en-US" sz="1200" dirty="0"/>
              <a:t>개발</a:t>
            </a:r>
            <a:r>
              <a:rPr lang="en-US" altLang="ko-KR" sz="1200" dirty="0"/>
              <a:t>툴</a:t>
            </a:r>
            <a:endParaRPr sz="12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프로젝트</a:t>
            </a: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관리</a:t>
            </a: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200" b="1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 dirty="0" smtClean="0">
                <a:latin typeface="Noto Sans KR"/>
                <a:ea typeface="Noto Sans KR"/>
                <a:cs typeface="Noto Sans KR"/>
                <a:sym typeface="Noto Sans KR"/>
              </a:rPr>
              <a:t>Jira(</a:t>
            </a:r>
            <a:r>
              <a:rPr lang="ko-KR" altLang="en-US" sz="1200" dirty="0" smtClean="0">
                <a:latin typeface="Noto Sans KR"/>
                <a:ea typeface="Noto Sans KR"/>
                <a:cs typeface="Noto Sans KR"/>
                <a:sym typeface="Noto Sans KR"/>
              </a:rPr>
              <a:t>팀장</a:t>
            </a:r>
            <a:r>
              <a:rPr lang="en-US" altLang="ko-KR" sz="1200" dirty="0" smtClean="0"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 dirty="0" err="1" smtClean="0">
                <a:latin typeface="Noto Sans KR"/>
                <a:ea typeface="Noto Sans KR"/>
                <a:cs typeface="Noto Sans KR"/>
                <a:sym typeface="Noto Sans KR"/>
              </a:rPr>
              <a:t>주간</a:t>
            </a:r>
            <a:r>
              <a:rPr lang="en-US" sz="1200" dirty="0" smtClean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 smtClean="0">
                <a:latin typeface="Noto Sans KR"/>
                <a:ea typeface="Noto Sans KR"/>
                <a:cs typeface="Noto Sans KR"/>
                <a:sym typeface="Noto Sans KR"/>
              </a:rPr>
              <a:t>보고</a:t>
            </a:r>
            <a:endParaRPr lang="en-US" sz="1200" dirty="0" smtClean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ko-KR" altLang="en-US" sz="1200" dirty="0" smtClean="0"/>
              <a:t>주간 회의</a:t>
            </a:r>
            <a:endParaRPr lang="en-US" sz="1200" dirty="0" smtClean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>
              <a:buSzPts val="1200"/>
              <a:buFont typeface="Noto Sans KR"/>
              <a:buChar char="-"/>
            </a:pPr>
            <a:r>
              <a:rPr lang="ko-KR" altLang="en-US" sz="1200" dirty="0"/>
              <a:t>자체 커뮤니케이션 </a:t>
            </a:r>
            <a:r>
              <a:rPr lang="ko-KR" altLang="en-US" sz="1200" dirty="0" smtClean="0"/>
              <a:t>툴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 b="1" dirty="0" err="1">
                <a:sym typeface="Noto Sans KR"/>
              </a:rPr>
              <a:t>협업</a:t>
            </a:r>
            <a:r>
              <a:rPr lang="en-US" sz="1200" b="1" dirty="0">
                <a:sym typeface="Noto Sans KR"/>
              </a:rPr>
              <a:t> </a:t>
            </a:r>
            <a:r>
              <a:rPr lang="en-US" sz="1200" b="1" dirty="0" err="1">
                <a:sym typeface="Noto Sans KR"/>
              </a:rPr>
              <a:t>규칙</a:t>
            </a:r>
            <a:endParaRPr b="1" dirty="0"/>
          </a:p>
          <a:p>
            <a:pPr marL="457200" lvl="1" indent="0">
              <a:buSzPts val="1200"/>
              <a:buNone/>
            </a:pP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Git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브랜치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전략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, Documentation Rules</a:t>
            </a:r>
            <a:r>
              <a:rPr lang="en-US" sz="1200" dirty="0" smtClean="0">
                <a:latin typeface="Noto Sans KR"/>
                <a:ea typeface="Noto Sans KR"/>
                <a:cs typeface="Noto Sans KR"/>
                <a:sym typeface="Noto Sans KR"/>
              </a:rPr>
              <a:t>,</a:t>
            </a:r>
            <a:r>
              <a:rPr lang="en-US" altLang="ko-KR" sz="1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1200" dirty="0"/>
              <a:t>Naming Rules, </a:t>
            </a:r>
            <a:r>
              <a:rPr lang="en-US" sz="1200" dirty="0"/>
              <a:t>  </a:t>
            </a:r>
            <a:r>
              <a:rPr lang="en-US" sz="1200" dirty="0" err="1" smtClean="0">
                <a:latin typeface="Noto Sans KR"/>
                <a:ea typeface="Noto Sans KR"/>
                <a:cs typeface="Noto Sans KR"/>
                <a:sym typeface="Noto Sans KR"/>
              </a:rPr>
              <a:t>매주</a:t>
            </a:r>
            <a:r>
              <a:rPr lang="en-US" sz="1200" dirty="0" smtClean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수요일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주간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200" dirty="0" smtClean="0"/>
              <a:t>회의</a:t>
            </a:r>
            <a:r>
              <a:rPr lang="en-US" sz="1200" dirty="0" smtClean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진행</a:t>
            </a:r>
            <a:r>
              <a:rPr lang="en-US" sz="1200" dirty="0" smtClean="0"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200" dirty="0" err="1" smtClean="0">
                <a:latin typeface="Noto Sans KR"/>
                <a:ea typeface="Noto Sans KR"/>
                <a:cs typeface="Noto Sans KR"/>
                <a:sym typeface="Noto Sans KR"/>
              </a:rPr>
              <a:t>업무표준서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4" name="Google Shape;84;p5"/>
          <p:cNvSpPr txBox="1">
            <a:spLocks noGrp="1"/>
          </p:cNvSpPr>
          <p:nvPr>
            <p:ph type="dt" idx="10"/>
          </p:nvPr>
        </p:nvSpPr>
        <p:spPr>
          <a:xfrm>
            <a:off x="0" y="6625031"/>
            <a:ext cx="3307222" cy="23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2026년 1월 19일 오후 7시 1분</a:t>
            </a:r>
            <a:endParaRPr/>
          </a:p>
        </p:txBody>
      </p:sp>
      <p:sp>
        <p:nvSpPr>
          <p:cNvPr id="85" name="Google Shape;85;p5"/>
          <p:cNvSpPr txBox="1">
            <a:spLocks noGrp="1"/>
          </p:cNvSpPr>
          <p:nvPr>
            <p:ph type="ftr" idx="11"/>
          </p:nvPr>
        </p:nvSpPr>
        <p:spPr>
          <a:xfrm>
            <a:off x="5025078" y="6625031"/>
            <a:ext cx="4114800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Kick-off_함유라</a:t>
            </a:r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sldNum" idx="12"/>
          </p:nvPr>
        </p:nvSpPr>
        <p:spPr>
          <a:xfrm>
            <a:off x="11838062" y="6625031"/>
            <a:ext cx="353938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 txBox="1">
            <a:spLocks noGrp="1"/>
          </p:cNvSpPr>
          <p:nvPr>
            <p:ph type="title"/>
          </p:nvPr>
        </p:nvSpPr>
        <p:spPr>
          <a:xfrm>
            <a:off x="335383" y="319406"/>
            <a:ext cx="10515600" cy="113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KR"/>
              <a:buNone/>
            </a:pPr>
            <a:r>
              <a:rPr 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Environment Setup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10" name="Google Shape;110;p8"/>
          <p:cNvSpPr txBox="1">
            <a:spLocks noGrp="1"/>
          </p:cNvSpPr>
          <p:nvPr>
            <p:ph type="body" idx="1"/>
          </p:nvPr>
        </p:nvSpPr>
        <p:spPr>
          <a:xfrm>
            <a:off x="410910" y="1083632"/>
            <a:ext cx="10515600" cy="5454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Python </a:t>
            </a: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개발</a:t>
            </a: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가상환경</a:t>
            </a: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구축</a:t>
            </a:r>
            <a:endParaRPr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KR"/>
              <a:buChar char="-"/>
            </a:pP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Docker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기반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컨테이너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환경을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구축하여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Python =</a:t>
            </a:r>
            <a:r>
              <a:rPr lang="en-US" dirty="0" smtClean="0">
                <a:latin typeface="Noto Sans KR"/>
                <a:ea typeface="Noto Sans KR"/>
                <a:cs typeface="Noto Sans KR"/>
                <a:sym typeface="Noto Sans KR"/>
              </a:rPr>
              <a:t>3.10실행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환경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딥러닝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프레임워크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, GPU(CUDA/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cuDNN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)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의존성을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통합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관리하고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개발·운영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환경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간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일관성을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 smtClean="0">
                <a:latin typeface="Noto Sans KR"/>
                <a:ea typeface="Noto Sans KR"/>
                <a:cs typeface="Noto Sans KR"/>
                <a:sym typeface="Noto Sans KR"/>
              </a:rPr>
              <a:t>확보</a:t>
            </a:r>
            <a:endParaRPr lang="en-US" dirty="0" smtClean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KR"/>
              <a:buChar char="-"/>
            </a:pPr>
            <a:endParaRPr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Git</a:t>
            </a: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생성</a:t>
            </a: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복제</a:t>
            </a:r>
            <a:endParaRPr sz="1200" b="1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28650" lvl="1" indent="-171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Tx/>
              <a:buChar char="-"/>
            </a:pPr>
            <a:r>
              <a:rPr lang="en-US" dirty="0" smtClean="0">
                <a:latin typeface="Noto Sans KR"/>
                <a:ea typeface="Noto Sans KR"/>
                <a:cs typeface="Noto Sans KR"/>
                <a:sym typeface="Noto Sans KR"/>
              </a:rPr>
              <a:t>GitHub 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Repository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생성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개인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작업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브랜치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생성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, </a:t>
            </a:r>
            <a:r>
              <a:rPr lang="en-US" dirty="0">
                <a:latin typeface="Arimo"/>
                <a:ea typeface="Arimo"/>
                <a:cs typeface="Arimo"/>
                <a:sym typeface="Arimo"/>
              </a:rPr>
              <a:t>.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gitignore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제공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lang="en-US" dirty="0" smtClean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28650" lvl="1" indent="-171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Tx/>
              <a:buChar char="-"/>
            </a:pPr>
            <a:endParaRPr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프로젝트</a:t>
            </a: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폴더</a:t>
            </a: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 err="1" smtClean="0">
                <a:latin typeface="Noto Sans KR"/>
                <a:ea typeface="Noto Sans KR"/>
                <a:cs typeface="Noto Sans KR"/>
                <a:sym typeface="Noto Sans KR"/>
              </a:rPr>
              <a:t>생성</a:t>
            </a:r>
            <a:endParaRPr sz="1200" b="1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KR"/>
              <a:buChar char="-"/>
            </a:pP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프로젝트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진행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개인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PC에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‘Final’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폴더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생성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: 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프로젝트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관련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모든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최종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문서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해당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폴더에서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관리</a:t>
            </a:r>
            <a:endParaRPr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KR"/>
              <a:buChar char="-"/>
            </a:pP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Garbage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폴더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생성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: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최종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이전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버전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수정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이력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보관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 smtClean="0">
                <a:latin typeface="Noto Sans KR"/>
                <a:ea typeface="Noto Sans KR"/>
                <a:cs typeface="Noto Sans KR"/>
                <a:sym typeface="Noto Sans KR"/>
              </a:rPr>
              <a:t>폴더</a:t>
            </a:r>
            <a:endParaRPr lang="en-US" dirty="0" smtClean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KR"/>
              <a:buChar char="-"/>
            </a:pPr>
            <a:endParaRPr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" indent="-228600">
              <a:buSzPts val="1200"/>
            </a:pPr>
            <a:r>
              <a:rPr lang="en-US" sz="1200" b="1" dirty="0"/>
              <a:t>Antigravity </a:t>
            </a:r>
            <a:r>
              <a:rPr lang="en-US" sz="1200" b="1" dirty="0" err="1"/>
              <a:t>개발</a:t>
            </a:r>
            <a:r>
              <a:rPr lang="en-US" sz="1200" b="1" dirty="0"/>
              <a:t> </a:t>
            </a:r>
            <a:r>
              <a:rPr lang="en-US" sz="1200" b="1" dirty="0" err="1"/>
              <a:t>환경</a:t>
            </a:r>
            <a:r>
              <a:rPr lang="en-US" sz="1200" b="1" dirty="0"/>
              <a:t> </a:t>
            </a:r>
            <a:r>
              <a:rPr lang="en-US" sz="1200" b="1" dirty="0" err="1" smtClean="0"/>
              <a:t>통일</a:t>
            </a:r>
            <a:endParaRPr sz="1200" b="1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KR"/>
              <a:buChar char="-"/>
            </a:pP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Python Interpreter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통일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VSCode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확장팩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 smtClean="0">
                <a:latin typeface="Noto Sans KR"/>
                <a:ea typeface="Noto Sans KR"/>
                <a:cs typeface="Noto Sans KR"/>
                <a:sym typeface="Noto Sans KR"/>
              </a:rPr>
              <a:t>통일</a:t>
            </a:r>
            <a:endParaRPr lang="en-US" dirty="0" smtClean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KR"/>
              <a:buChar char="-"/>
            </a:pPr>
            <a:endParaRPr lang="en-US" dirty="0"/>
          </a:p>
          <a:p>
            <a:pPr marL="228600" indent="-228600">
              <a:buSzPts val="1200"/>
            </a:pPr>
            <a:r>
              <a:rPr lang="ko-KR" altLang="en-US" sz="1200" b="1" dirty="0"/>
              <a:t>의존성 관리 </a:t>
            </a:r>
            <a:endParaRPr lang="en-US" altLang="ko-KR" sz="1200" b="1" dirty="0"/>
          </a:p>
          <a:p>
            <a:pPr marL="685800" lvl="1" indent="-228600">
              <a:buFont typeface="Noto Sans KR"/>
              <a:buChar char="-"/>
            </a:pPr>
            <a:r>
              <a:rPr lang="en-US" altLang="ko-KR" dirty="0"/>
              <a:t>requirements.txt </a:t>
            </a:r>
            <a:r>
              <a:rPr lang="ko-KR" altLang="en-US" dirty="0"/>
              <a:t>관리 방법</a:t>
            </a:r>
          </a:p>
          <a:p>
            <a:pPr marL="685800" lvl="1" indent="-228600">
              <a:buFont typeface="Noto Sans KR"/>
              <a:buChar char="-"/>
            </a:pPr>
            <a:r>
              <a:rPr lang="en-US" altLang="ko-KR" dirty="0"/>
              <a:t>Poetry</a:t>
            </a:r>
            <a:r>
              <a:rPr lang="ko-KR" altLang="en-US" dirty="0"/>
              <a:t>를 통한 고급 의존성 관리</a:t>
            </a:r>
          </a:p>
          <a:p>
            <a:pPr marL="685800" lvl="1" indent="-228600">
              <a:buFont typeface="Noto Sans KR"/>
              <a:buChar char="-"/>
            </a:pPr>
            <a:r>
              <a:rPr lang="en-US" altLang="ko-KR" dirty="0"/>
              <a:t>Docker </a:t>
            </a:r>
            <a:r>
              <a:rPr lang="ko-KR" altLang="en-US" dirty="0"/>
              <a:t>이미지 레이어 </a:t>
            </a:r>
            <a:r>
              <a:rPr lang="ko-KR" altLang="en-US" dirty="0" err="1"/>
              <a:t>캐싱</a:t>
            </a:r>
            <a:r>
              <a:rPr lang="ko-KR" altLang="en-US" dirty="0"/>
              <a:t> </a:t>
            </a:r>
            <a:r>
              <a:rPr lang="ko-KR" altLang="en-US" dirty="0" smtClean="0"/>
              <a:t>최적화</a:t>
            </a:r>
            <a:endParaRPr lang="en-US" altLang="ko-KR" dirty="0" smtClean="0"/>
          </a:p>
          <a:p>
            <a:pPr marL="685800" lvl="1" indent="-228600">
              <a:buFont typeface="Noto Sans KR"/>
              <a:buChar char="-"/>
            </a:pPr>
            <a:endParaRPr lang="en-US" altLang="ko-KR" dirty="0" smtClean="0"/>
          </a:p>
          <a:p>
            <a:pPr marL="228600" indent="-228600">
              <a:buSzPts val="1200"/>
            </a:pPr>
            <a:r>
              <a:rPr lang="ko-KR" altLang="en-US" sz="1200" b="1" dirty="0"/>
              <a:t>환경 변수 설정 </a:t>
            </a:r>
            <a:endParaRPr lang="en-US" altLang="ko-KR" sz="1200" b="1" dirty="0"/>
          </a:p>
          <a:p>
            <a:pPr marL="685800" lvl="1" indent="-228600">
              <a:buFont typeface="Noto Sans KR"/>
              <a:buChar char="-"/>
            </a:pPr>
            <a:r>
              <a:rPr lang="en-US" altLang="ko-KR" dirty="0"/>
              <a:t>.</a:t>
            </a:r>
            <a:r>
              <a:rPr lang="en-US" altLang="ko-KR" dirty="0" err="1"/>
              <a:t>env</a:t>
            </a:r>
            <a:r>
              <a:rPr lang="en-US" altLang="ko-KR" dirty="0"/>
              <a:t> </a:t>
            </a:r>
            <a:r>
              <a:rPr lang="ko-KR" altLang="en-US" dirty="0"/>
              <a:t>파일 구조 및 관리</a:t>
            </a:r>
          </a:p>
          <a:p>
            <a:pPr marL="457200" lvl="1" indent="0">
              <a:buNone/>
            </a:pPr>
            <a:endParaRPr lang="ko-KR" altLang="en-US" dirty="0" smtClean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endParaRPr lang="en-US" dirty="0"/>
          </a:p>
        </p:txBody>
      </p:sp>
      <p:sp>
        <p:nvSpPr>
          <p:cNvPr id="111" name="Google Shape;111;p8"/>
          <p:cNvSpPr txBox="1">
            <a:spLocks noGrp="1"/>
          </p:cNvSpPr>
          <p:nvPr>
            <p:ph type="dt" idx="10"/>
          </p:nvPr>
        </p:nvSpPr>
        <p:spPr>
          <a:xfrm>
            <a:off x="0" y="6625031"/>
            <a:ext cx="3307222" cy="23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2026년 1월 19일 오후 7시 1분</a:t>
            </a:r>
            <a:endParaRPr/>
          </a:p>
        </p:txBody>
      </p:sp>
      <p:sp>
        <p:nvSpPr>
          <p:cNvPr id="112" name="Google Shape;112;p8"/>
          <p:cNvSpPr txBox="1">
            <a:spLocks noGrp="1"/>
          </p:cNvSpPr>
          <p:nvPr>
            <p:ph type="ftr" idx="11"/>
          </p:nvPr>
        </p:nvSpPr>
        <p:spPr>
          <a:xfrm>
            <a:off x="5025078" y="6625031"/>
            <a:ext cx="4114800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Kick-off_함유라</a:t>
            </a:r>
            <a:endParaRPr/>
          </a:p>
        </p:txBody>
      </p:sp>
      <p:sp>
        <p:nvSpPr>
          <p:cNvPr id="113" name="Google Shape;113;p8"/>
          <p:cNvSpPr txBox="1">
            <a:spLocks noGrp="1"/>
          </p:cNvSpPr>
          <p:nvPr>
            <p:ph type="sldNum" idx="12"/>
          </p:nvPr>
        </p:nvSpPr>
        <p:spPr>
          <a:xfrm>
            <a:off x="11838062" y="6625031"/>
            <a:ext cx="353938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 txBox="1">
            <a:spLocks noGrp="1"/>
          </p:cNvSpPr>
          <p:nvPr>
            <p:ph type="title"/>
          </p:nvPr>
        </p:nvSpPr>
        <p:spPr>
          <a:xfrm>
            <a:off x="335383" y="319406"/>
            <a:ext cx="10515600" cy="113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KR"/>
              <a:buNone/>
            </a:pPr>
            <a:r>
              <a:rPr lang="en-US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Git</a:t>
            </a:r>
            <a:r>
              <a:rPr 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Strategy (Branching Strategy)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2" name="Google Shape;92;p6"/>
          <p:cNvSpPr txBox="1">
            <a:spLocks noGrp="1"/>
          </p:cNvSpPr>
          <p:nvPr>
            <p:ph type="body" idx="1"/>
          </p:nvPr>
        </p:nvSpPr>
        <p:spPr>
          <a:xfrm>
            <a:off x="410910" y="108363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Main브랜치와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개인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작업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브랜치를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명확하게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구분하여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브랜치를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생성한다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Commit </a:t>
            </a: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규칙</a:t>
            </a:r>
            <a:endParaRPr sz="1200" b="1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main에서는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직접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작업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금지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→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main에서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개인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브랜치로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pull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받은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후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개인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브랜치에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작업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진행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main은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항상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안정적인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실행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가능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최종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버전만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머지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진행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후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유지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하나의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작업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(Task)을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하나의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commit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으로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관리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,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하나의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파일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작업이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종료되면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한번에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하나씩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최소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단위로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commit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진행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 dirty="0" err="1" smtClean="0">
                <a:latin typeface="Noto Sans KR"/>
                <a:ea typeface="Noto Sans KR"/>
                <a:cs typeface="Noto Sans KR"/>
                <a:sym typeface="Noto Sans KR"/>
              </a:rPr>
              <a:t>새로운</a:t>
            </a:r>
            <a:r>
              <a:rPr lang="en-US" sz="1200" dirty="0" smtClean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 smtClean="0">
                <a:latin typeface="Noto Sans KR"/>
                <a:ea typeface="Noto Sans KR"/>
                <a:cs typeface="Noto Sans KR"/>
                <a:sym typeface="Noto Sans KR"/>
              </a:rPr>
              <a:t>작업</a:t>
            </a:r>
            <a:r>
              <a:rPr lang="en-US" sz="1200" dirty="0" smtClean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 smtClean="0">
                <a:latin typeface="Noto Sans KR"/>
                <a:ea typeface="Noto Sans KR"/>
                <a:cs typeface="Noto Sans KR"/>
                <a:sym typeface="Noto Sans KR"/>
              </a:rPr>
              <a:t>시작</a:t>
            </a:r>
            <a:r>
              <a:rPr lang="en-US" sz="1200" dirty="0" smtClean="0">
                <a:latin typeface="Noto Sans KR"/>
                <a:ea typeface="Noto Sans KR"/>
                <a:cs typeface="Noto Sans KR"/>
                <a:sym typeface="Noto Sans KR"/>
              </a:rPr>
              <a:t> 전 </a:t>
            </a:r>
            <a:r>
              <a:rPr lang="ko-KR" altLang="en-US" sz="1200" dirty="0" smtClean="0">
                <a:latin typeface="Noto Sans KR"/>
                <a:ea typeface="Noto Sans KR"/>
                <a:cs typeface="Noto Sans KR"/>
                <a:sym typeface="Noto Sans KR"/>
              </a:rPr>
              <a:t>변경 사항 수시로  </a:t>
            </a:r>
            <a:r>
              <a:rPr lang="en-US" altLang="ko-KR" sz="1200" dirty="0" smtClean="0"/>
              <a:t>pull </a:t>
            </a:r>
            <a:r>
              <a:rPr lang="ko-KR" altLang="en-US" sz="1200" dirty="0" smtClean="0"/>
              <a:t>받은 후 작업 진행 </a:t>
            </a:r>
            <a:endParaRPr sz="1200" dirty="0" smtClean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152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None/>
            </a:pP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Commit </a:t>
            </a: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메시지</a:t>
            </a: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규칙</a:t>
            </a:r>
            <a:endParaRPr sz="1200" b="1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1" indent="0">
              <a:buSzPts val="1200"/>
              <a:buNone/>
            </a:pP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1200" dirty="0"/>
              <a:t>m</a:t>
            </a:r>
            <a:r>
              <a:rPr lang="en-US" sz="1200" dirty="0" smtClean="0">
                <a:latin typeface="Noto Sans KR"/>
                <a:ea typeface="Noto Sans KR"/>
                <a:cs typeface="Noto Sans KR"/>
                <a:sym typeface="Noto Sans KR"/>
              </a:rPr>
              <a:t>ain </a:t>
            </a:r>
            <a:r>
              <a:rPr lang="ko-KR" altLang="en-US" sz="1200" dirty="0" err="1" smtClean="0">
                <a:latin typeface="Noto Sans KR"/>
                <a:ea typeface="Noto Sans KR"/>
                <a:cs typeface="Noto Sans KR"/>
                <a:sym typeface="Noto Sans KR"/>
              </a:rPr>
              <a:t>브랜치</a:t>
            </a:r>
            <a:r>
              <a:rPr lang="ko-KR" altLang="en-US" sz="1200" dirty="0" smtClean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1200" dirty="0" smtClean="0">
                <a:latin typeface="Noto Sans KR"/>
                <a:ea typeface="Noto Sans KR"/>
                <a:cs typeface="Noto Sans KR"/>
                <a:sym typeface="Noto Sans KR"/>
              </a:rPr>
              <a:t>commit</a:t>
            </a:r>
            <a:r>
              <a:rPr lang="ko-KR" altLang="en-US" sz="1200" dirty="0" smtClean="0">
                <a:latin typeface="Noto Sans KR"/>
                <a:ea typeface="Noto Sans KR"/>
                <a:cs typeface="Noto Sans KR"/>
                <a:sym typeface="Noto Sans KR"/>
              </a:rPr>
              <a:t>시에는 반드시 메시지 규칙 적용</a:t>
            </a:r>
            <a:endParaRPr dirty="0"/>
          </a:p>
          <a:p>
            <a:pPr marL="228600" lvl="0" indent="-152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200" b="1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3" name="Google Shape;93;p6"/>
          <p:cNvSpPr txBox="1">
            <a:spLocks noGrp="1"/>
          </p:cNvSpPr>
          <p:nvPr>
            <p:ph type="dt" idx="10"/>
          </p:nvPr>
        </p:nvSpPr>
        <p:spPr>
          <a:xfrm>
            <a:off x="0" y="6625031"/>
            <a:ext cx="3307222" cy="23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2026년 1월 19일 오후 7시 1분</a:t>
            </a:r>
            <a:endParaRPr/>
          </a:p>
        </p:txBody>
      </p:sp>
      <p:sp>
        <p:nvSpPr>
          <p:cNvPr id="94" name="Google Shape;94;p6"/>
          <p:cNvSpPr txBox="1">
            <a:spLocks noGrp="1"/>
          </p:cNvSpPr>
          <p:nvPr>
            <p:ph type="ftr" idx="11"/>
          </p:nvPr>
        </p:nvSpPr>
        <p:spPr>
          <a:xfrm>
            <a:off x="5025078" y="6625031"/>
            <a:ext cx="4114800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Kick-off_함유라</a:t>
            </a:r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sldNum" idx="12"/>
          </p:nvPr>
        </p:nvSpPr>
        <p:spPr>
          <a:xfrm>
            <a:off x="11838062" y="6625031"/>
            <a:ext cx="353938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232337"/>
              </p:ext>
            </p:extLst>
          </p:nvPr>
        </p:nvGraphicFramePr>
        <p:xfrm>
          <a:off x="1437640" y="3371426"/>
          <a:ext cx="8128000" cy="2966720"/>
        </p:xfrm>
        <a:graphic>
          <a:graphicData uri="http://schemas.openxmlformats.org/drawingml/2006/table">
            <a:tbl>
              <a:tblPr firstRow="1" bandRow="1">
                <a:tableStyleId>{779FDBB6-90BC-4AE6-A10D-4192380AB268}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59770762"/>
                    </a:ext>
                  </a:extLst>
                </a:gridCol>
                <a:gridCol w="6502400">
                  <a:extLst>
                    <a:ext uri="{9D8B030D-6E8A-4147-A177-3AD203B41FA5}">
                      <a16:colId xmlns:a16="http://schemas.microsoft.com/office/drawing/2014/main" val="38438753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유형 설명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550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새로운 기능 추가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155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fix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버그 수정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677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docs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문서 수정 </a:t>
                      </a:r>
                      <a:r>
                        <a:rPr lang="en-US" altLang="ko-KR" dirty="0"/>
                        <a:t>(README, </a:t>
                      </a:r>
                      <a:r>
                        <a:rPr lang="ko-KR" altLang="en-US" dirty="0"/>
                        <a:t>주석 등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20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style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코드 의미에 영향을 주지 않는 변경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 err="1"/>
                        <a:t>포맷팅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공백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세미콜론 등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092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refactor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기능 변경 없이 코드 구조 개선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693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test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테스트 코드 추가 및 수정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741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chore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빌드 작업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패키지 매니저 설정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환경 설정 변경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4953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 txBox="1">
            <a:spLocks noGrp="1"/>
          </p:cNvSpPr>
          <p:nvPr>
            <p:ph type="title"/>
          </p:nvPr>
        </p:nvSpPr>
        <p:spPr>
          <a:xfrm>
            <a:off x="335383" y="319406"/>
            <a:ext cx="10515600" cy="113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KR"/>
              <a:buNone/>
            </a:pPr>
            <a:r>
              <a:rPr 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Documentation Rules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19" name="Google Shape;119;p9"/>
          <p:cNvSpPr txBox="1">
            <a:spLocks noGrp="1"/>
          </p:cNvSpPr>
          <p:nvPr>
            <p:ph type="body" idx="1"/>
          </p:nvPr>
        </p:nvSpPr>
        <p:spPr>
          <a:xfrm>
            <a:off x="410910" y="997195"/>
            <a:ext cx="11427152" cy="5541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문서</a:t>
            </a: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작성</a:t>
            </a: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규칙</a:t>
            </a:r>
            <a:endParaRPr sz="1200" b="1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개정이력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: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모든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문서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첫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장을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구성한다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내용은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[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인덱스번호,개정내용,개정자,개정일자,최종버전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]을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필수로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함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사용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가이드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: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모든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팀원이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진행하는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업무를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업데이트하고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취합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관리하는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문서일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경우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문서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사용법과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작성법,문서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Section에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대한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설명을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구성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문서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Section :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문서의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Section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명은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문서를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열람하는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모든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사람이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쉽게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이해할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수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있도록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명확하고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직관적인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표현을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200" dirty="0" smtClean="0"/>
              <a:t>사용</a:t>
            </a:r>
            <a:r>
              <a:rPr lang="en-US" sz="1200" dirty="0" smtClean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(01,1번과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같이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의미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없는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명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자제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문서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관리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담당자를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지정하여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모든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문서가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주기적으로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취합·업데이트되고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양식이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일관되게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유지되도록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관리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보고서</a:t>
            </a: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작성</a:t>
            </a: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규칙</a:t>
            </a:r>
            <a:endParaRPr sz="1200" b="1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대제목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: font : Noto Sans KR Black , font-size : 24, type : Title Case(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영단어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첫글자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대문자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), Style(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문체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) :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명사형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소제목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: font : Noto Sans KR Black , font-size : 12, type : Title Case(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영단어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첫글자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대문자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), Style(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문체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) :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명사형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내용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: font : Noto Sans KR </a:t>
            </a:r>
            <a:r>
              <a:rPr lang="en-US" sz="1200" dirty="0" smtClean="0"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font-size : 10 ,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검정색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고정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소제목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제목외에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밝은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색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사용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금지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), Style(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문체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) :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개조식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종결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(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함,임,기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)/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명사형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종결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부연설명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: </a:t>
            </a:r>
            <a:r>
              <a:rPr lang="en-US" sz="1200" dirty="0">
                <a:solidFill>
                  <a:srgbClr val="002060"/>
                </a:solidFill>
                <a:latin typeface="Noto Sans KR"/>
                <a:ea typeface="Noto Sans KR"/>
                <a:cs typeface="Noto Sans KR"/>
                <a:sym typeface="Noto Sans KR"/>
              </a:rPr>
              <a:t>*</a:t>
            </a:r>
            <a:r>
              <a:rPr lang="en-US" sz="1200" dirty="0" err="1">
                <a:solidFill>
                  <a:srgbClr val="002060"/>
                </a:solidFill>
                <a:latin typeface="Noto Sans KR"/>
                <a:ea typeface="Noto Sans KR"/>
                <a:cs typeface="Noto Sans KR"/>
                <a:sym typeface="Noto Sans KR"/>
              </a:rPr>
              <a:t>주석색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,</a:t>
            </a:r>
            <a:r>
              <a:rPr lang="en-US" sz="1200" dirty="0">
                <a:solidFill>
                  <a:srgbClr val="00823E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solidFill>
                  <a:srgbClr val="9A0000"/>
                </a:solidFill>
                <a:latin typeface="Noto Sans KR"/>
                <a:ea typeface="Noto Sans KR"/>
                <a:cs typeface="Noto Sans KR"/>
                <a:sym typeface="Noto Sans KR"/>
              </a:rPr>
              <a:t>강조색</a:t>
            </a:r>
            <a:endParaRPr sz="1200" dirty="0">
              <a:solidFill>
                <a:srgbClr val="9A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바닥글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: font : Noto Sans KR Light, font-size : 9,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바닥글_내용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: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좌,중,우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[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작업날짜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/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문서명_작업자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/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슬라이드번호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]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캡션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: font : Noto Sans KR Light, font-size : 9,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캡션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주체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: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표,이미지,그래프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, 색: </a:t>
            </a:r>
            <a:r>
              <a:rPr lang="en-US" sz="1200" dirty="0" err="1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해당색</a:t>
            </a:r>
            <a:r>
              <a:rPr lang="en-US" sz="120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내용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: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주체명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n.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명확한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내용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설명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900" dirty="0" err="1">
                <a:latin typeface="Noto Sans KR"/>
                <a:ea typeface="Noto Sans KR"/>
                <a:cs typeface="Noto Sans KR"/>
                <a:sym typeface="Noto Sans KR"/>
              </a:rPr>
              <a:t>예시</a:t>
            </a:r>
            <a:r>
              <a:rPr lang="en-US" sz="900" dirty="0">
                <a:latin typeface="Noto Sans KR"/>
                <a:ea typeface="Noto Sans KR"/>
                <a:cs typeface="Noto Sans KR"/>
                <a:sym typeface="Noto Sans KR"/>
              </a:rPr>
              <a:t>) 표 1. </a:t>
            </a:r>
            <a:r>
              <a:rPr lang="en-US" sz="900" dirty="0" err="1">
                <a:latin typeface="Noto Sans KR"/>
                <a:ea typeface="Noto Sans KR"/>
                <a:cs typeface="Noto Sans KR"/>
                <a:sym typeface="Noto Sans KR"/>
              </a:rPr>
              <a:t>llm모델</a:t>
            </a:r>
            <a:r>
              <a:rPr lang="en-US" sz="900" dirty="0">
                <a:latin typeface="Noto Sans KR"/>
                <a:ea typeface="Noto Sans KR"/>
                <a:cs typeface="Noto Sans KR"/>
                <a:sym typeface="Noto Sans KR"/>
              </a:rPr>
              <a:t> 1차 </a:t>
            </a:r>
            <a:r>
              <a:rPr lang="en-US" sz="900" dirty="0" err="1">
                <a:latin typeface="Noto Sans KR"/>
                <a:ea typeface="Noto Sans KR"/>
                <a:cs typeface="Noto Sans KR"/>
                <a:sym typeface="Noto Sans KR"/>
              </a:rPr>
              <a:t>결과</a:t>
            </a:r>
            <a:endParaRPr sz="9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배경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: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어두운색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사용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자제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이미지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삽입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자제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발표</a:t>
            </a: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자료</a:t>
            </a: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규칙</a:t>
            </a:r>
            <a:endParaRPr sz="1200" b="1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내용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: font : Noto Sans KR ,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크기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지정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없음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표기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방식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없음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, Style(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문체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) :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명사형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종결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,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글자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밝은색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사용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자제,주석금지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시각화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이미지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자료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위주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바닥글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: font : Noto Sans KR Light, font-size : 9,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바닥글_내용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: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좌,중,우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[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작업날짜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/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문서명_작업자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/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슬라이드번호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]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캡션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: font : Noto Sans KR Light, font-size : 9,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캡션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주체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: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표,이미지,그래프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, 색: </a:t>
            </a:r>
            <a:r>
              <a:rPr lang="en-US" sz="1200" dirty="0" err="1">
                <a:solidFill>
                  <a:srgbClr val="7F7F7F"/>
                </a:solidFill>
                <a:latin typeface="Noto Sans KR"/>
                <a:ea typeface="Noto Sans KR"/>
                <a:cs typeface="Noto Sans KR"/>
                <a:sym typeface="Noto Sans KR"/>
              </a:rPr>
              <a:t>해당색</a:t>
            </a:r>
            <a:r>
              <a:rPr lang="en-US" sz="1200" dirty="0">
                <a:solidFill>
                  <a:srgbClr val="595959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내용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: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주체명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n.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명확한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내용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설명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900" dirty="0" err="1">
                <a:latin typeface="Noto Sans KR"/>
                <a:ea typeface="Noto Sans KR"/>
                <a:cs typeface="Noto Sans KR"/>
                <a:sym typeface="Noto Sans KR"/>
              </a:rPr>
              <a:t>예시</a:t>
            </a:r>
            <a:r>
              <a:rPr lang="en-US" sz="900" dirty="0">
                <a:latin typeface="Noto Sans KR"/>
                <a:ea typeface="Noto Sans KR"/>
                <a:cs typeface="Noto Sans KR"/>
                <a:sym typeface="Noto Sans KR"/>
              </a:rPr>
              <a:t>) 표 1. </a:t>
            </a:r>
            <a:r>
              <a:rPr lang="en-US" sz="900" dirty="0" err="1">
                <a:latin typeface="Noto Sans KR"/>
                <a:ea typeface="Noto Sans KR"/>
                <a:cs typeface="Noto Sans KR"/>
                <a:sym typeface="Noto Sans KR"/>
              </a:rPr>
              <a:t>llm모델</a:t>
            </a:r>
            <a:r>
              <a:rPr lang="en-US" sz="900" dirty="0">
                <a:latin typeface="Noto Sans KR"/>
                <a:ea typeface="Noto Sans KR"/>
                <a:cs typeface="Noto Sans KR"/>
                <a:sym typeface="Noto Sans KR"/>
              </a:rPr>
              <a:t> 1차 </a:t>
            </a:r>
            <a:r>
              <a:rPr lang="en-US" sz="900" dirty="0" err="1">
                <a:latin typeface="Noto Sans KR"/>
                <a:ea typeface="Noto Sans KR"/>
                <a:cs typeface="Noto Sans KR"/>
                <a:sym typeface="Noto Sans KR"/>
              </a:rPr>
              <a:t>결과</a:t>
            </a:r>
            <a:endParaRPr sz="9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152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None/>
            </a:pP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0" name="Google Shape;120;p9"/>
          <p:cNvSpPr txBox="1">
            <a:spLocks noGrp="1"/>
          </p:cNvSpPr>
          <p:nvPr>
            <p:ph type="dt" idx="10"/>
          </p:nvPr>
        </p:nvSpPr>
        <p:spPr>
          <a:xfrm>
            <a:off x="0" y="6625031"/>
            <a:ext cx="3307222" cy="23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2026년 1월 19일 오후 7시 1분</a:t>
            </a:r>
            <a:endParaRPr/>
          </a:p>
        </p:txBody>
      </p:sp>
      <p:sp>
        <p:nvSpPr>
          <p:cNvPr id="121" name="Google Shape;121;p9"/>
          <p:cNvSpPr txBox="1">
            <a:spLocks noGrp="1"/>
          </p:cNvSpPr>
          <p:nvPr>
            <p:ph type="ftr" idx="11"/>
          </p:nvPr>
        </p:nvSpPr>
        <p:spPr>
          <a:xfrm>
            <a:off x="5025078" y="6625031"/>
            <a:ext cx="4114800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Kick-off_함유라</a:t>
            </a:r>
            <a:endParaRPr/>
          </a:p>
        </p:txBody>
      </p:sp>
      <p:sp>
        <p:nvSpPr>
          <p:cNvPr id="122" name="Google Shape;122;p9"/>
          <p:cNvSpPr txBox="1">
            <a:spLocks noGrp="1"/>
          </p:cNvSpPr>
          <p:nvPr>
            <p:ph type="sldNum" idx="12"/>
          </p:nvPr>
        </p:nvSpPr>
        <p:spPr>
          <a:xfrm>
            <a:off x="11838062" y="6625031"/>
            <a:ext cx="353938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 txBox="1">
            <a:spLocks noGrp="1"/>
          </p:cNvSpPr>
          <p:nvPr>
            <p:ph type="title"/>
          </p:nvPr>
        </p:nvSpPr>
        <p:spPr>
          <a:xfrm>
            <a:off x="335383" y="319406"/>
            <a:ext cx="10515600" cy="113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KR"/>
              <a:buNone/>
            </a:pPr>
            <a:r>
              <a:rPr 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Naming Rules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28" name="Google Shape;128;p10"/>
          <p:cNvSpPr txBox="1">
            <a:spLocks noGrp="1"/>
          </p:cNvSpPr>
          <p:nvPr>
            <p:ph type="body" idx="1"/>
          </p:nvPr>
        </p:nvSpPr>
        <p:spPr>
          <a:xfrm>
            <a:off x="410910" y="997195"/>
            <a:ext cx="11354370" cy="5541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폴더</a:t>
            </a: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생생</a:t>
            </a: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규칙</a:t>
            </a:r>
            <a:endParaRPr sz="1200" b="1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폴더명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: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폴더명은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해당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폴더가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포함하는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업무의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대표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Task명을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사용하여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직관적으로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이해할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수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있도록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구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진행순서에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따른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넘버링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부여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, type : lowercase(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모두소문자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),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snake_case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 </a:t>
            </a:r>
            <a:r>
              <a:rPr lang="en-US" sz="900" dirty="0" err="1">
                <a:latin typeface="Noto Sans KR"/>
                <a:ea typeface="Noto Sans KR"/>
                <a:cs typeface="Noto Sans KR"/>
                <a:sym typeface="Noto Sans KR"/>
              </a:rPr>
              <a:t>예시</a:t>
            </a:r>
            <a:r>
              <a:rPr lang="en-US" sz="900" dirty="0">
                <a:latin typeface="Noto Sans KR"/>
                <a:ea typeface="Noto Sans KR"/>
                <a:cs typeface="Noto Sans KR"/>
                <a:sym typeface="Noto Sans KR"/>
              </a:rPr>
              <a:t>) </a:t>
            </a:r>
            <a:r>
              <a:rPr lang="en-US" sz="900" dirty="0" err="1" smtClean="0">
                <a:latin typeface="Noto Sans KR"/>
                <a:ea typeface="Noto Sans KR"/>
                <a:cs typeface="Noto Sans KR"/>
                <a:sym typeface="Noto Sans KR"/>
              </a:rPr>
              <a:t>data_preprocessing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파일</a:t>
            </a: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생성</a:t>
            </a:r>
            <a:r>
              <a:rPr lang="en-US" sz="1200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dirty="0" err="1">
                <a:latin typeface="Noto Sans KR"/>
                <a:ea typeface="Noto Sans KR"/>
                <a:cs typeface="Noto Sans KR"/>
                <a:sym typeface="Noto Sans KR"/>
              </a:rPr>
              <a:t>규칙</a:t>
            </a:r>
            <a:endParaRPr sz="1200" b="1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파일명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: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파일명은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파일의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용도와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업무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내용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작성자를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명확하게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인식할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수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있도록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작성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파일명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구성은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‘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주요task명_세부task명_관리번호_작성자.확장자’를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필수로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함.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Type : lowercase(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모두소문자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), </a:t>
            </a:r>
            <a:r>
              <a:rPr lang="en-US" sz="1200" dirty="0" err="1">
                <a:latin typeface="Noto Sans KR"/>
                <a:ea typeface="Noto Sans KR"/>
                <a:cs typeface="Noto Sans KR"/>
                <a:sym typeface="Noto Sans KR"/>
              </a:rPr>
              <a:t>snake_case</a:t>
            </a:r>
            <a:r>
              <a:rPr lang="en-US" sz="1200" dirty="0">
                <a:latin typeface="Noto Sans KR"/>
                <a:ea typeface="Noto Sans KR"/>
                <a:cs typeface="Noto Sans KR"/>
                <a:sym typeface="Noto Sans KR"/>
              </a:rPr>
              <a:t>  </a:t>
            </a:r>
            <a:r>
              <a:rPr lang="en-US" sz="900" dirty="0" err="1">
                <a:latin typeface="Noto Sans KR"/>
                <a:ea typeface="Noto Sans KR"/>
                <a:cs typeface="Noto Sans KR"/>
                <a:sym typeface="Noto Sans KR"/>
              </a:rPr>
              <a:t>예시</a:t>
            </a:r>
            <a:r>
              <a:rPr lang="en-US" sz="900" dirty="0">
                <a:latin typeface="Noto Sans KR"/>
                <a:ea typeface="Noto Sans KR"/>
                <a:cs typeface="Noto Sans KR"/>
                <a:sym typeface="Noto Sans KR"/>
              </a:rPr>
              <a:t>)  m</a:t>
            </a:r>
            <a:r>
              <a:rPr lang="en-US" sz="900" dirty="0"/>
              <a:t>odeltraining_lgbm_00_hyl.ipynb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 b="1" dirty="0" err="1">
                <a:sym typeface="Noto Sans KR"/>
              </a:rPr>
              <a:t>함수</a:t>
            </a:r>
            <a:r>
              <a:rPr lang="en-US" sz="1200" b="1" dirty="0">
                <a:sym typeface="Noto Sans KR"/>
              </a:rPr>
              <a:t> </a:t>
            </a:r>
            <a:r>
              <a:rPr lang="en-US" sz="1200" b="1" dirty="0" err="1" smtClean="0">
                <a:sym typeface="Noto Sans KR"/>
              </a:rPr>
              <a:t>생성</a:t>
            </a:r>
            <a:r>
              <a:rPr lang="en-US" sz="1200" b="1" dirty="0" smtClean="0">
                <a:sym typeface="Noto Sans KR"/>
              </a:rPr>
              <a:t> </a:t>
            </a:r>
            <a:r>
              <a:rPr lang="en-US" sz="1200" b="1" dirty="0" err="1" smtClean="0">
                <a:sym typeface="Noto Sans KR"/>
              </a:rPr>
              <a:t>규칙</a:t>
            </a:r>
            <a:endParaRPr lang="en-US" sz="1200" b="1" dirty="0"/>
          </a:p>
          <a:p>
            <a:pPr marL="628650" lvl="1" indent="-171450">
              <a:spcBef>
                <a:spcPts val="1000"/>
              </a:spcBef>
              <a:buSzPts val="1200"/>
              <a:buFontTx/>
              <a:buChar char="-"/>
            </a:pPr>
            <a:r>
              <a:rPr lang="ko-KR" altLang="en-US" sz="1200" dirty="0" smtClean="0"/>
              <a:t>구글 </a:t>
            </a:r>
            <a:r>
              <a:rPr lang="ko-KR" altLang="en-US" sz="1200" dirty="0" err="1"/>
              <a:t>도큐스트링</a:t>
            </a:r>
            <a:r>
              <a:rPr lang="en-US" altLang="ko-KR" sz="1200" dirty="0"/>
              <a:t>(Google </a:t>
            </a:r>
            <a:r>
              <a:rPr lang="en-US" altLang="ko-KR" sz="1200" dirty="0" err="1"/>
              <a:t>Docstring</a:t>
            </a:r>
            <a:r>
              <a:rPr lang="en-US" altLang="ko-KR" sz="1200" dirty="0" smtClean="0"/>
              <a:t>)</a:t>
            </a:r>
          </a:p>
          <a:p>
            <a:pPr marL="457200" lvl="1" indent="0">
              <a:spcBef>
                <a:spcPts val="1000"/>
              </a:spcBef>
              <a:buSzPts val="1200"/>
              <a:buNone/>
            </a:pPr>
            <a:r>
              <a:rPr lang="en-US" altLang="ko-KR" sz="900" dirty="0"/>
              <a:t> """</a:t>
            </a:r>
            <a:r>
              <a:rPr lang="ko-KR" altLang="en-US" sz="900" dirty="0"/>
              <a:t>설명</a:t>
            </a:r>
            <a:r>
              <a:rPr lang="en-US" altLang="ko-KR" sz="900" dirty="0"/>
              <a:t>:</a:t>
            </a:r>
          </a:p>
          <a:p>
            <a:pPr marL="457200" lvl="1" indent="0">
              <a:spcBef>
                <a:spcPts val="1000"/>
              </a:spcBef>
              <a:buSzPts val="1200"/>
              <a:buNone/>
            </a:pPr>
            <a:r>
              <a:rPr lang="en-US" altLang="ko-KR" sz="900" dirty="0"/>
              <a:t>        </a:t>
            </a:r>
            <a:r>
              <a:rPr lang="ko-KR" altLang="en-US" sz="900" dirty="0"/>
              <a:t>함수에 대한 자세한 설명을 여기에 작성</a:t>
            </a:r>
          </a:p>
          <a:p>
            <a:pPr marL="457200" lvl="1" indent="0">
              <a:spcBef>
                <a:spcPts val="1000"/>
              </a:spcBef>
              <a:buSzPts val="1200"/>
              <a:buNone/>
            </a:pPr>
            <a:r>
              <a:rPr lang="ko-KR" altLang="en-US" sz="900" dirty="0"/>
              <a:t>        어떤 일을 하는지</a:t>
            </a:r>
            <a:r>
              <a:rPr lang="en-US" altLang="ko-KR" sz="900" dirty="0"/>
              <a:t>, </a:t>
            </a:r>
            <a:r>
              <a:rPr lang="ko-KR" altLang="en-US" sz="900" dirty="0"/>
              <a:t>언제 쓰는지 간단히 풀어서 설명</a:t>
            </a:r>
            <a:r>
              <a:rPr lang="en-US" altLang="ko-KR" sz="900" dirty="0"/>
              <a:t>.</a:t>
            </a:r>
          </a:p>
          <a:p>
            <a:pPr marL="457200" lvl="1" indent="0">
              <a:spcBef>
                <a:spcPts val="1000"/>
              </a:spcBef>
              <a:buSzPts val="1200"/>
              <a:buNone/>
            </a:pPr>
            <a:r>
              <a:rPr lang="en-US" altLang="ko-KR" sz="900" dirty="0"/>
              <a:t>    </a:t>
            </a:r>
            <a:r>
              <a:rPr lang="en-US" altLang="ko-KR" sz="900" dirty="0" err="1"/>
              <a:t>Args</a:t>
            </a:r>
            <a:r>
              <a:rPr lang="en-US" altLang="ko-KR" sz="900" dirty="0"/>
              <a:t>:</a:t>
            </a:r>
          </a:p>
          <a:p>
            <a:pPr marL="457200" lvl="1" indent="0">
              <a:spcBef>
                <a:spcPts val="1000"/>
              </a:spcBef>
              <a:buSzPts val="1200"/>
              <a:buNone/>
            </a:pPr>
            <a:r>
              <a:rPr lang="en-US" altLang="ko-KR" sz="900" dirty="0"/>
              <a:t>        param1 (type): </a:t>
            </a:r>
            <a:r>
              <a:rPr lang="ko-KR" altLang="en-US" sz="900" dirty="0"/>
              <a:t>매개변수 </a:t>
            </a:r>
            <a:r>
              <a:rPr lang="en-US" altLang="ko-KR" sz="900" dirty="0"/>
              <a:t>1</a:t>
            </a:r>
            <a:r>
              <a:rPr lang="ko-KR" altLang="en-US" sz="900" dirty="0"/>
              <a:t>에 대한 설명</a:t>
            </a:r>
            <a:r>
              <a:rPr lang="en-US" altLang="ko-KR" sz="900" dirty="0"/>
              <a:t>.</a:t>
            </a:r>
          </a:p>
          <a:p>
            <a:pPr marL="457200" lvl="1" indent="0">
              <a:spcBef>
                <a:spcPts val="1000"/>
              </a:spcBef>
              <a:buSzPts val="1200"/>
              <a:buNone/>
            </a:pPr>
            <a:r>
              <a:rPr lang="en-US" altLang="ko-KR" sz="900" dirty="0"/>
              <a:t>        param2 (type): </a:t>
            </a:r>
            <a:r>
              <a:rPr lang="ko-KR" altLang="en-US" sz="900" dirty="0"/>
              <a:t>매개변수 </a:t>
            </a:r>
            <a:r>
              <a:rPr lang="en-US" altLang="ko-KR" sz="900" dirty="0"/>
              <a:t>2</a:t>
            </a:r>
            <a:r>
              <a:rPr lang="ko-KR" altLang="en-US" sz="900" dirty="0"/>
              <a:t>에 대한 설명</a:t>
            </a:r>
            <a:r>
              <a:rPr lang="en-US" altLang="ko-KR" sz="900" dirty="0"/>
              <a:t>.</a:t>
            </a:r>
          </a:p>
          <a:p>
            <a:pPr marL="457200" lvl="1" indent="0">
              <a:spcBef>
                <a:spcPts val="1000"/>
              </a:spcBef>
              <a:buSzPts val="1200"/>
              <a:buNone/>
            </a:pPr>
            <a:r>
              <a:rPr lang="en-US" altLang="ko-KR" sz="900" dirty="0"/>
              <a:t>    Returns:</a:t>
            </a:r>
          </a:p>
          <a:p>
            <a:pPr marL="457200" lvl="1" indent="0">
              <a:spcBef>
                <a:spcPts val="1000"/>
              </a:spcBef>
              <a:buSzPts val="1200"/>
              <a:buNone/>
            </a:pPr>
            <a:r>
              <a:rPr lang="en-US" altLang="ko-KR" sz="900" dirty="0"/>
              <a:t>        </a:t>
            </a:r>
            <a:r>
              <a:rPr lang="en-US" altLang="ko-KR" sz="900" dirty="0" err="1"/>
              <a:t>return_type</a:t>
            </a:r>
            <a:r>
              <a:rPr lang="en-US" altLang="ko-KR" sz="900" dirty="0"/>
              <a:t>: </a:t>
            </a:r>
            <a:r>
              <a:rPr lang="ko-KR" altLang="en-US" sz="900" dirty="0" err="1"/>
              <a:t>반환값에</a:t>
            </a:r>
            <a:r>
              <a:rPr lang="ko-KR" altLang="en-US" sz="900" dirty="0"/>
              <a:t> 대한 설명</a:t>
            </a:r>
            <a:r>
              <a:rPr lang="en-US" altLang="ko-KR" sz="900" dirty="0"/>
              <a:t>.</a:t>
            </a:r>
          </a:p>
          <a:p>
            <a:pPr marL="457200" lvl="1" indent="0">
              <a:spcBef>
                <a:spcPts val="1000"/>
              </a:spcBef>
              <a:buSzPts val="1200"/>
              <a:buNone/>
            </a:pPr>
            <a:r>
              <a:rPr lang="en-US" altLang="ko-KR" sz="900" dirty="0"/>
              <a:t>    Raises:</a:t>
            </a:r>
          </a:p>
          <a:p>
            <a:pPr marL="457200" lvl="1" indent="0">
              <a:spcBef>
                <a:spcPts val="1000"/>
              </a:spcBef>
              <a:buSzPts val="1200"/>
              <a:buNone/>
            </a:pPr>
            <a:r>
              <a:rPr lang="en-US" altLang="ko-KR" sz="900" dirty="0"/>
              <a:t>        </a:t>
            </a:r>
            <a:r>
              <a:rPr lang="en-US" altLang="ko-KR" sz="900" dirty="0" err="1"/>
              <a:t>ExceptionType</a:t>
            </a:r>
            <a:r>
              <a:rPr lang="en-US" altLang="ko-KR" sz="900" dirty="0"/>
              <a:t>: </a:t>
            </a:r>
            <a:r>
              <a:rPr lang="ko-KR" altLang="en-US" sz="900" dirty="0"/>
              <a:t>어떤 상황에서 예외가 발생하는지</a:t>
            </a:r>
            <a:r>
              <a:rPr lang="en-US" altLang="ko-KR" sz="900" dirty="0"/>
              <a:t>.</a:t>
            </a:r>
          </a:p>
          <a:p>
            <a:pPr marL="457200" lvl="1" indent="0">
              <a:spcBef>
                <a:spcPts val="1000"/>
              </a:spcBef>
              <a:buSzPts val="1200"/>
              <a:buNone/>
            </a:pPr>
            <a:r>
              <a:rPr lang="en-US" altLang="ko-KR" sz="900" dirty="0"/>
              <a:t>   </a:t>
            </a:r>
            <a:r>
              <a:rPr lang="ko-KR" altLang="en-US" sz="900" dirty="0" err="1"/>
              <a:t>생성자</a:t>
            </a:r>
            <a:r>
              <a:rPr lang="en-US" altLang="ko-KR" sz="900" dirty="0"/>
              <a:t>:</a:t>
            </a:r>
          </a:p>
          <a:p>
            <a:pPr marL="457200" lvl="1" indent="0">
              <a:spcBef>
                <a:spcPts val="1000"/>
              </a:spcBef>
              <a:buSzPts val="1200"/>
              <a:buNone/>
            </a:pPr>
            <a:r>
              <a:rPr lang="en-US" altLang="ko-KR" sz="900" dirty="0"/>
              <a:t>   </a:t>
            </a:r>
            <a:r>
              <a:rPr lang="ko-KR" altLang="en-US" sz="900" dirty="0" err="1"/>
              <a:t>생성일자</a:t>
            </a:r>
            <a:r>
              <a:rPr lang="en-US" altLang="ko-KR" sz="900" dirty="0"/>
              <a:t>:</a:t>
            </a:r>
          </a:p>
          <a:p>
            <a:pPr marL="457200" lvl="1" indent="0">
              <a:spcBef>
                <a:spcPts val="1000"/>
              </a:spcBef>
              <a:buSzPts val="1200"/>
              <a:buNone/>
            </a:pPr>
            <a:r>
              <a:rPr lang="en-US" altLang="ko-KR" sz="900" dirty="0"/>
              <a:t>    </a:t>
            </a:r>
            <a:r>
              <a:rPr lang="en-US" altLang="ko-KR" sz="900" dirty="0" smtClean="0"/>
              <a:t>"""</a:t>
            </a:r>
            <a:endParaRPr sz="900" dirty="0">
              <a:sym typeface="Noto Sans KR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endParaRPr sz="900"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endParaRPr sz="900" dirty="0"/>
          </a:p>
          <a:p>
            <a:pPr marL="685800" lvl="1" indent="-152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None/>
            </a:pP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" name="Google Shape;129;p10"/>
          <p:cNvSpPr txBox="1">
            <a:spLocks noGrp="1"/>
          </p:cNvSpPr>
          <p:nvPr>
            <p:ph type="dt" idx="10"/>
          </p:nvPr>
        </p:nvSpPr>
        <p:spPr>
          <a:xfrm>
            <a:off x="0" y="6625031"/>
            <a:ext cx="3307222" cy="23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2026년 1월 19일 오후 7시 1분</a:t>
            </a:r>
            <a:endParaRPr/>
          </a:p>
        </p:txBody>
      </p:sp>
      <p:sp>
        <p:nvSpPr>
          <p:cNvPr id="130" name="Google Shape;130;p10"/>
          <p:cNvSpPr txBox="1">
            <a:spLocks noGrp="1"/>
          </p:cNvSpPr>
          <p:nvPr>
            <p:ph type="ftr" idx="11"/>
          </p:nvPr>
        </p:nvSpPr>
        <p:spPr>
          <a:xfrm>
            <a:off x="5025078" y="6625031"/>
            <a:ext cx="4114800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Kick-off_함유라</a:t>
            </a:r>
            <a:endParaRPr/>
          </a:p>
        </p:txBody>
      </p:sp>
      <p:sp>
        <p:nvSpPr>
          <p:cNvPr id="131" name="Google Shape;131;p10"/>
          <p:cNvSpPr txBox="1">
            <a:spLocks noGrp="1"/>
          </p:cNvSpPr>
          <p:nvPr>
            <p:ph type="sldNum" idx="12"/>
          </p:nvPr>
        </p:nvSpPr>
        <p:spPr>
          <a:xfrm>
            <a:off x="11838062" y="6625031"/>
            <a:ext cx="353938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18217" y="2760618"/>
            <a:ext cx="4049485" cy="3110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200"/>
              <a:buChar char="•"/>
            </a:pPr>
            <a:r>
              <a:rPr lang="ko-KR" altLang="en-US" sz="1200" b="1" dirty="0" smtClean="0">
                <a:latin typeface="Noto Sans KR"/>
                <a:ea typeface="Noto Sans KR"/>
                <a:cs typeface="Noto Sans KR"/>
                <a:sym typeface="Noto Sans KR"/>
              </a:rPr>
              <a:t>클래스 </a:t>
            </a:r>
            <a:r>
              <a:rPr lang="ko-KR" altLang="en-US" sz="1200" b="1" dirty="0">
                <a:latin typeface="Noto Sans KR"/>
                <a:ea typeface="Noto Sans KR"/>
                <a:cs typeface="Noto Sans KR"/>
                <a:sym typeface="Noto Sans KR"/>
              </a:rPr>
              <a:t>생성 규칙</a:t>
            </a:r>
            <a:endParaRPr lang="ko-KR" altLang="en-US" sz="1200" b="1" dirty="0"/>
          </a:p>
          <a:p>
            <a:pPr marL="628650" indent="-171450">
              <a:spcBef>
                <a:spcPts val="1000"/>
              </a:spcBef>
              <a:buSzPts val="1200"/>
              <a:buFontTx/>
              <a:buChar char="-"/>
            </a:pPr>
            <a:r>
              <a:rPr lang="ko-KR" altLang="en-US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구글 </a:t>
            </a:r>
            <a:r>
              <a:rPr lang="ko-KR" altLang="en-US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도큐스트링</a:t>
            </a:r>
            <a:r>
              <a:rPr lang="en-US" altLang="ko-KR" sz="12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(Google </a:t>
            </a:r>
            <a:r>
              <a:rPr lang="en-US" altLang="ko-KR" sz="12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Docstring</a:t>
            </a:r>
            <a:r>
              <a:rPr lang="en-US" altLang="ko-KR" sz="1200" dirty="0" smtClean="0"/>
              <a:t>)</a:t>
            </a:r>
          </a:p>
          <a:p>
            <a:pPr marL="457200" lvl="1">
              <a:spcBef>
                <a:spcPts val="1000"/>
              </a:spcBef>
              <a:buSzPts val="1200"/>
            </a:pPr>
            <a:r>
              <a:rPr lang="en-US" altLang="ko-KR" sz="900" dirty="0"/>
              <a:t> class </a:t>
            </a:r>
            <a:r>
              <a:rPr lang="en-US" altLang="ko-KR" sz="900" dirty="0" err="1"/>
              <a:t>ClassName</a:t>
            </a:r>
            <a:r>
              <a:rPr lang="en-US" altLang="ko-KR" sz="900" dirty="0" smtClean="0"/>
              <a:t>:</a:t>
            </a:r>
          </a:p>
          <a:p>
            <a:pPr marL="457200" lvl="1">
              <a:spcBef>
                <a:spcPts val="1000"/>
              </a:spcBef>
              <a:buSzPts val="1200"/>
            </a:pPr>
            <a:r>
              <a:rPr lang="en-US" altLang="ko-KR" sz="900" dirty="0" smtClean="0"/>
              <a:t> </a:t>
            </a:r>
            <a:r>
              <a:rPr lang="en-US" altLang="ko-KR" sz="900" dirty="0"/>
              <a:t> </a:t>
            </a:r>
            <a:r>
              <a:rPr lang="en-US" altLang="ko-KR" sz="900" dirty="0" smtClean="0"/>
              <a:t>""“</a:t>
            </a:r>
            <a:r>
              <a:rPr lang="ko-KR" altLang="en-US" sz="900" dirty="0" smtClean="0"/>
              <a:t>설명</a:t>
            </a:r>
            <a:r>
              <a:rPr lang="en-US" altLang="ko-KR" sz="900" dirty="0" smtClean="0"/>
              <a:t>:</a:t>
            </a:r>
          </a:p>
          <a:p>
            <a:pPr marL="457200" lvl="1">
              <a:spcBef>
                <a:spcPts val="1000"/>
              </a:spcBef>
              <a:buSzPts val="1200"/>
            </a:pPr>
            <a:r>
              <a:rPr lang="en-US" altLang="ko-KR" sz="900" dirty="0"/>
              <a:t> </a:t>
            </a:r>
            <a:r>
              <a:rPr lang="en-US" altLang="ko-KR" sz="900" dirty="0" smtClean="0"/>
              <a:t>      </a:t>
            </a:r>
            <a:r>
              <a:rPr lang="ko-KR" altLang="en-US" sz="900" dirty="0"/>
              <a:t>클래스의 역할과 책임을 간단히 </a:t>
            </a:r>
            <a:r>
              <a:rPr lang="ko-KR" altLang="en-US" sz="900" dirty="0" smtClean="0"/>
              <a:t>설명</a:t>
            </a:r>
            <a:endParaRPr lang="en-US" altLang="ko-KR" sz="900" dirty="0" smtClean="0"/>
          </a:p>
          <a:p>
            <a:pPr marL="457200" lvl="1">
              <a:spcBef>
                <a:spcPts val="1000"/>
              </a:spcBef>
              <a:buSzPts val="1200"/>
            </a:pPr>
            <a:r>
              <a:rPr lang="en-US" altLang="ko-KR" sz="900" dirty="0" smtClean="0"/>
              <a:t> </a:t>
            </a:r>
            <a:r>
              <a:rPr lang="en-US" altLang="ko-KR" sz="900" dirty="0"/>
              <a:t>Attributes: </a:t>
            </a:r>
            <a:endParaRPr lang="en-US" altLang="ko-KR" sz="900" dirty="0" smtClean="0"/>
          </a:p>
          <a:p>
            <a:pPr marL="457200" lvl="1">
              <a:spcBef>
                <a:spcPts val="1000"/>
              </a:spcBef>
              <a:buSzPts val="1200"/>
            </a:pPr>
            <a:r>
              <a:rPr lang="en-US" altLang="ko-KR" sz="900" dirty="0" smtClean="0"/>
              <a:t>attr1 </a:t>
            </a:r>
            <a:r>
              <a:rPr lang="en-US" altLang="ko-KR" sz="900" dirty="0"/>
              <a:t>(type): </a:t>
            </a:r>
            <a:r>
              <a:rPr lang="ko-KR" altLang="en-US" sz="900" dirty="0"/>
              <a:t>속성 </a:t>
            </a:r>
            <a:r>
              <a:rPr lang="ko-KR" altLang="en-US" sz="900" dirty="0" smtClean="0"/>
              <a:t>설명</a:t>
            </a:r>
            <a:endParaRPr lang="en-US" altLang="ko-KR" sz="900" dirty="0"/>
          </a:p>
          <a:p>
            <a:pPr marL="457200" lvl="1">
              <a:spcBef>
                <a:spcPts val="1000"/>
              </a:spcBef>
              <a:buSzPts val="1200"/>
            </a:pPr>
            <a:r>
              <a:rPr lang="en-US" altLang="ko-KR" sz="900" dirty="0" smtClean="0"/>
              <a:t>attr2 </a:t>
            </a:r>
            <a:r>
              <a:rPr lang="en-US" altLang="ko-KR" sz="900" dirty="0"/>
              <a:t>(type): </a:t>
            </a:r>
            <a:r>
              <a:rPr lang="ko-KR" altLang="en-US" sz="900" dirty="0"/>
              <a:t>속성 설명</a:t>
            </a:r>
            <a:r>
              <a:rPr lang="en-US" altLang="ko-KR" sz="900" dirty="0" smtClean="0"/>
              <a:t>.</a:t>
            </a:r>
          </a:p>
          <a:p>
            <a:pPr marL="457200" lvl="1">
              <a:spcBef>
                <a:spcPts val="1000"/>
              </a:spcBef>
              <a:buSzPts val="1200"/>
            </a:pPr>
            <a:r>
              <a:rPr lang="ko-KR" altLang="en-US" sz="900" dirty="0" err="1" smtClean="0"/>
              <a:t>생성자</a:t>
            </a:r>
            <a:r>
              <a:rPr lang="en-US" altLang="ko-KR" sz="900" dirty="0" smtClean="0"/>
              <a:t>:</a:t>
            </a:r>
          </a:p>
          <a:p>
            <a:pPr marL="457200" lvl="1">
              <a:spcBef>
                <a:spcPts val="1000"/>
              </a:spcBef>
              <a:buSzPts val="1200"/>
            </a:pPr>
            <a:r>
              <a:rPr lang="ko-KR" altLang="en-US" sz="900" dirty="0" err="1" smtClean="0"/>
              <a:t>생성일자</a:t>
            </a:r>
            <a:r>
              <a:rPr lang="en-US" altLang="ko-KR" sz="900" dirty="0" smtClean="0"/>
              <a:t>:</a:t>
            </a:r>
          </a:p>
          <a:p>
            <a:pPr marL="457200" lvl="1">
              <a:spcBef>
                <a:spcPts val="1000"/>
              </a:spcBef>
              <a:buSzPts val="1200"/>
            </a:pPr>
            <a:r>
              <a:rPr lang="en-US" altLang="ko-KR" sz="900" dirty="0" smtClean="0"/>
              <a:t/>
            </a:r>
            <a:br>
              <a:rPr lang="en-US" altLang="ko-KR" sz="900" dirty="0" smtClean="0"/>
            </a:br>
            <a:r>
              <a:rPr lang="en-US" altLang="ko-KR" sz="900" dirty="0" smtClean="0"/>
              <a:t> </a:t>
            </a:r>
            <a:r>
              <a:rPr lang="en-US" altLang="ko-KR" sz="900" dirty="0"/>
              <a:t>"""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 txBox="1">
            <a:spLocks noGrp="1"/>
          </p:cNvSpPr>
          <p:nvPr>
            <p:ph type="title"/>
          </p:nvPr>
        </p:nvSpPr>
        <p:spPr>
          <a:xfrm>
            <a:off x="335383" y="319406"/>
            <a:ext cx="10515600" cy="113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KR"/>
              <a:buNone/>
            </a:pPr>
            <a:r>
              <a:rPr 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Next Steps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50" name="Google Shape;150;p12"/>
          <p:cNvSpPr txBox="1">
            <a:spLocks noGrp="1"/>
          </p:cNvSpPr>
          <p:nvPr>
            <p:ph type="body" idx="1"/>
          </p:nvPr>
        </p:nvSpPr>
        <p:spPr>
          <a:xfrm>
            <a:off x="246318" y="973904"/>
            <a:ext cx="3621594" cy="4960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" lvl="0" indent="0" eaLnBrk="0" fontAlgn="base" hangingPunct="0">
              <a:spcBef>
                <a:spcPts val="0"/>
              </a:spcBef>
              <a:buNone/>
            </a:pPr>
            <a:r>
              <a:rPr lang="en-US" altLang="ko-KR" sz="1200" b="1" dirty="0" smtClean="0"/>
              <a:t>1. </a:t>
            </a:r>
            <a:r>
              <a:rPr lang="ko-KR" altLang="en-US" sz="1200" b="1" dirty="0" smtClean="0"/>
              <a:t>개발</a:t>
            </a:r>
            <a:r>
              <a:rPr lang="en-US" altLang="ko-KR" sz="1200" b="1" dirty="0"/>
              <a:t>·</a:t>
            </a:r>
            <a:r>
              <a:rPr lang="ko-KR" altLang="en-US" sz="1200" b="1" dirty="0"/>
              <a:t>협업 환경 </a:t>
            </a:r>
            <a:r>
              <a:rPr lang="ko-KR" altLang="en-US" sz="1200" b="1" dirty="0"/>
              <a:t>세팅</a:t>
            </a:r>
            <a:endParaRPr lang="en-US" altLang="ko-KR" sz="1200" b="1" dirty="0"/>
          </a:p>
          <a:p>
            <a:pPr marL="63500" lvl="0" indent="0">
              <a:spcBef>
                <a:spcPts val="0"/>
              </a:spcBef>
              <a:buNone/>
            </a:pPr>
            <a:r>
              <a:rPr lang="en-US" altLang="ko-KR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- </a:t>
            </a:r>
            <a:r>
              <a:rPr lang="ko-KR" altLang="en-US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대상 </a:t>
            </a:r>
            <a:r>
              <a:rPr lang="en-US" altLang="ko-KR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ALL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ko-KR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GitHub </a:t>
            </a:r>
            <a:r>
              <a:rPr lang="ko-KR" altLang="ko-KR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Repository</a:t>
            </a:r>
            <a:r>
              <a:rPr lang="ko-KR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clone</a:t>
            </a:r>
            <a:endParaRPr lang="ko-KR" altLang="ko-KR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ko-KR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개인 </a:t>
            </a:r>
            <a:r>
              <a:rPr lang="ko-KR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작업 </a:t>
            </a:r>
            <a:r>
              <a:rPr lang="ko-KR" altLang="ko-KR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브랜치</a:t>
            </a:r>
            <a:r>
              <a:rPr lang="ko-KR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생성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ko-KR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Python</a:t>
            </a:r>
            <a:r>
              <a:rPr lang="ko-KR" altLang="ko-KR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3.1</a:t>
            </a:r>
            <a:r>
              <a:rPr lang="en-US" altLang="ko-KR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</a:t>
            </a:r>
            <a:r>
              <a:rPr lang="ko-KR" altLang="ko-KR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가상환경 구성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ko-KR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Docker</a:t>
            </a:r>
            <a:r>
              <a:rPr lang="ko-KR" altLang="ko-KR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환경 정상 기동 확인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ko-KR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ko-KR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env</a:t>
            </a:r>
            <a:r>
              <a:rPr lang="ko-KR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템플릿 공유 및 로컬 세팅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Antigravity</a:t>
            </a:r>
            <a:r>
              <a:rPr lang="ko-KR" altLang="ko-KR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ko-KR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Python</a:t>
            </a:r>
            <a:r>
              <a:rPr lang="ko-KR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Interpreter</a:t>
            </a:r>
            <a:r>
              <a:rPr lang="ko-KR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통일</a:t>
            </a:r>
            <a:endParaRPr lang="en-US" altLang="ko-KR" dirty="0" smtClean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ko-K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ko-KR" altLang="ko-KR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63500" indent="0" eaLnBrk="0" fontAlgn="base" hangingPunct="0">
              <a:spcBef>
                <a:spcPts val="0"/>
              </a:spcBef>
              <a:buNone/>
            </a:pPr>
            <a:r>
              <a:rPr lang="en-US" altLang="ko-KR" sz="1200" b="1" dirty="0" smtClean="0"/>
              <a:t>2. </a:t>
            </a:r>
            <a:r>
              <a:rPr lang="ko-KR" altLang="en-US" sz="1200" b="1" dirty="0" smtClean="0"/>
              <a:t>문서</a:t>
            </a:r>
            <a:r>
              <a:rPr lang="en-US" altLang="ko-KR" sz="1200" b="1" dirty="0"/>
              <a:t>·</a:t>
            </a:r>
            <a:r>
              <a:rPr lang="en-US" altLang="ko-KR" sz="1200" b="1" dirty="0" err="1"/>
              <a:t>Git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규칙 숙지 및 </a:t>
            </a:r>
            <a:r>
              <a:rPr lang="ko-KR" altLang="en-US" sz="1200" b="1" dirty="0"/>
              <a:t>확인</a:t>
            </a:r>
            <a:endParaRPr lang="en-US" altLang="ko-KR" sz="1200" b="1" dirty="0"/>
          </a:p>
          <a:p>
            <a:pPr marL="234950" indent="-171450">
              <a:spcBef>
                <a:spcPts val="0"/>
              </a:spcBef>
              <a:buFontTx/>
              <a:buChar char="-"/>
            </a:pPr>
            <a:r>
              <a:rPr lang="ko-KR" altLang="en-US" dirty="0" smtClean="0"/>
              <a:t>대상 </a:t>
            </a:r>
            <a:r>
              <a:rPr lang="en-US" altLang="ko-KR" dirty="0" smtClean="0"/>
              <a:t>: ALL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ko-KR" altLang="en-US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문서 </a:t>
            </a:r>
            <a:r>
              <a: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작성 규칙 숙지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ko-KR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Naming </a:t>
            </a:r>
            <a:r>
              <a:rPr lang="en-US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Rules </a:t>
            </a:r>
            <a:r>
              <a: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숙지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ko-KR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Google </a:t>
            </a:r>
            <a:r>
              <a:rPr lang="en-US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Style </a:t>
            </a:r>
            <a:r>
              <a:rPr lang="en-US" altLang="ko-KR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Docstring</a:t>
            </a:r>
            <a:r>
              <a:rPr lang="en-US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규칙 숙지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ko-KR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Git</a:t>
            </a:r>
            <a:r>
              <a:rPr lang="en-US" altLang="ko-KR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브랜치</a:t>
            </a:r>
            <a:r>
              <a: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커밋</a:t>
            </a:r>
            <a:r>
              <a: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규칙 공유 </a:t>
            </a:r>
            <a:r>
              <a:rPr lang="ko-KR" altLang="en-US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확인</a:t>
            </a:r>
            <a:endParaRPr lang="en-US" altLang="ko-KR" dirty="0" smtClean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ko-KR" dirty="0" smtClean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3500" indent="0" eaLnBrk="0" fontAlgn="base" hangingPunct="0">
              <a:spcBef>
                <a:spcPts val="0"/>
              </a:spcBef>
              <a:buNone/>
            </a:pPr>
            <a:endParaRPr lang="en-US" altLang="ko-KR" sz="1200" b="1" dirty="0"/>
          </a:p>
          <a:p>
            <a:pPr marL="63500" indent="0" eaLnBrk="0" fontAlgn="base" hangingPunct="0">
              <a:spcBef>
                <a:spcPts val="0"/>
              </a:spcBef>
              <a:buNone/>
            </a:pPr>
            <a:r>
              <a:rPr lang="en-US" altLang="ko-KR" sz="1200" b="1" dirty="0" smtClean="0"/>
              <a:t>3</a:t>
            </a:r>
            <a:r>
              <a:rPr lang="en-US" altLang="ko-KR" sz="1200" b="1" dirty="0"/>
              <a:t>.</a:t>
            </a:r>
            <a:r>
              <a:rPr lang="ko-KR" altLang="en-US" sz="1200" b="1" dirty="0"/>
              <a:t> 데이터 수집 범위 개인 의견 </a:t>
            </a:r>
            <a:r>
              <a:rPr lang="ko-KR" altLang="en-US" sz="1200" b="1" dirty="0"/>
              <a:t>준비</a:t>
            </a:r>
            <a:endParaRPr lang="en-US" altLang="ko-KR" sz="1200" b="1" dirty="0"/>
          </a:p>
          <a:p>
            <a:pPr marL="234950" indent="-171450" eaLnBrk="0" fontAlgn="base" hangingPunct="0">
              <a:spcBef>
                <a:spcPts val="0"/>
              </a:spcBef>
              <a:buFontTx/>
              <a:buChar char="-"/>
            </a:pPr>
            <a:r>
              <a:rPr lang="ko-KR" altLang="en-US" dirty="0" smtClean="0"/>
              <a:t>대상 </a:t>
            </a:r>
            <a:r>
              <a:rPr lang="en-US" altLang="ko-KR" dirty="0" smtClean="0"/>
              <a:t>: ALL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ko-KR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IT </a:t>
            </a:r>
            <a:r>
              <a: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한정 </a:t>
            </a:r>
            <a:r>
              <a:rPr lang="en-US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vs </a:t>
            </a:r>
            <a:r>
              <a: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 직군 확장 </a:t>
            </a:r>
            <a:r>
              <a: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의견</a:t>
            </a:r>
            <a:endParaRPr lang="en-US" altLang="ko-KR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ko-KR" altLang="en-US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데이터 </a:t>
            </a:r>
            <a:r>
              <a: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규모 </a:t>
            </a:r>
            <a:r>
              <a: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예상</a:t>
            </a:r>
            <a:endParaRPr lang="en-US" altLang="ko-KR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ko-KR" altLang="en-US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수집 범위</a:t>
            </a:r>
            <a:endParaRPr lang="en-US" altLang="ko-KR" dirty="0" smtClean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ko-KR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34950" indent="-171450" eaLnBrk="0" fontAlgn="base" hangingPunct="0">
              <a:spcBef>
                <a:spcPts val="0"/>
              </a:spcBef>
              <a:buFontTx/>
              <a:buChar char="-"/>
            </a:pPr>
            <a:endParaRPr lang="ko-KR" altLang="en-US" sz="1200" b="1" dirty="0"/>
          </a:p>
          <a:p>
            <a:pPr marL="63500" indent="0" eaLnBrk="0" fontAlgn="base" hangingPunct="0">
              <a:spcBef>
                <a:spcPts val="0"/>
              </a:spcBef>
              <a:buNone/>
            </a:pPr>
            <a:r>
              <a:rPr lang="en-US" altLang="ko-KR" sz="1200" b="1" dirty="0"/>
              <a:t>4</a:t>
            </a:r>
            <a:r>
              <a:rPr lang="en-US" altLang="ko-KR" sz="1200" b="1" dirty="0"/>
              <a:t>. </a:t>
            </a:r>
            <a:r>
              <a:rPr lang="ko-KR" altLang="en-US" sz="1200" b="1" dirty="0"/>
              <a:t>평가 기준</a:t>
            </a:r>
            <a:r>
              <a:rPr lang="en-US" altLang="ko-KR" sz="1200" b="1" dirty="0"/>
              <a:t>(</a:t>
            </a:r>
            <a:r>
              <a:rPr lang="ko-KR" altLang="en-US" sz="1200" b="1" dirty="0" err="1"/>
              <a:t>루브릭</a:t>
            </a:r>
            <a:r>
              <a:rPr lang="en-US" altLang="ko-KR" sz="1200" b="1" dirty="0"/>
              <a:t>) </a:t>
            </a:r>
            <a:r>
              <a:rPr lang="ko-KR" altLang="en-US" sz="1200" b="1" dirty="0"/>
              <a:t>초안 </a:t>
            </a:r>
            <a:r>
              <a:rPr lang="ko-KR" altLang="en-US" sz="1200" b="1" dirty="0" smtClean="0"/>
              <a:t>준비</a:t>
            </a:r>
            <a:endParaRPr lang="en-US" altLang="ko-KR" sz="1200" b="1" dirty="0" smtClean="0"/>
          </a:p>
          <a:p>
            <a:pPr marL="63500" indent="0" eaLnBrk="0" fontAlgn="base" hangingPunct="0">
              <a:spcBef>
                <a:spcPts val="0"/>
              </a:spcBef>
              <a:buNone/>
            </a:pPr>
            <a:r>
              <a:rPr lang="en-US" altLang="ko-KR" dirty="0" smtClean="0"/>
              <a:t>- </a:t>
            </a:r>
            <a:r>
              <a:rPr lang="ko-KR" altLang="en-US" dirty="0" smtClean="0"/>
              <a:t>대상 </a:t>
            </a:r>
            <a:r>
              <a:rPr lang="en-US" altLang="ko-KR" dirty="0"/>
              <a:t>: ALL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ko-KR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ko-KR" altLang="ko-KR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직무평가</a:t>
            </a:r>
            <a:r>
              <a:rPr lang="ko-KR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기준 초안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인성평가 </a:t>
            </a:r>
            <a:r>
              <a:rPr lang="ko-KR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기준 초안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좋은 </a:t>
            </a:r>
            <a:r>
              <a:rPr lang="ko-KR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답변 / 나쁜 </a:t>
            </a:r>
            <a:r>
              <a:rPr lang="ko-KR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답변 </a:t>
            </a:r>
            <a:r>
              <a:rPr lang="ko-KR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구분 </a:t>
            </a:r>
            <a:r>
              <a:rPr lang="ko-KR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기준</a:t>
            </a:r>
            <a:r>
              <a: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으로</a:t>
            </a:r>
            <a:r>
              <a:rPr lang="en-US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모범답안 기준 설정</a:t>
            </a:r>
            <a:endParaRPr lang="ko-KR" altLang="ko-KR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3500" indent="0" eaLnBrk="0" fontAlgn="base" hangingPunct="0">
              <a:spcBef>
                <a:spcPts val="0"/>
              </a:spcBef>
              <a:buNone/>
            </a:pPr>
            <a:endParaRPr lang="en-US" altLang="ko-KR" sz="1200" b="1" dirty="0"/>
          </a:p>
        </p:txBody>
      </p:sp>
      <p:sp>
        <p:nvSpPr>
          <p:cNvPr id="151" name="Google Shape;151;p12"/>
          <p:cNvSpPr txBox="1">
            <a:spLocks noGrp="1"/>
          </p:cNvSpPr>
          <p:nvPr>
            <p:ph type="dt" idx="10"/>
          </p:nvPr>
        </p:nvSpPr>
        <p:spPr>
          <a:xfrm>
            <a:off x="0" y="6625031"/>
            <a:ext cx="3307222" cy="23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2026년 1월 19일 오후 7시 1분</a:t>
            </a:r>
            <a:endParaRPr/>
          </a:p>
        </p:txBody>
      </p:sp>
      <p:sp>
        <p:nvSpPr>
          <p:cNvPr id="152" name="Google Shape;152;p12"/>
          <p:cNvSpPr txBox="1">
            <a:spLocks noGrp="1"/>
          </p:cNvSpPr>
          <p:nvPr>
            <p:ph type="ftr" idx="11"/>
          </p:nvPr>
        </p:nvSpPr>
        <p:spPr>
          <a:xfrm>
            <a:off x="5025078" y="6625031"/>
            <a:ext cx="4114800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Kick-off_함유라</a:t>
            </a:r>
            <a:endParaRPr/>
          </a:p>
        </p:txBody>
      </p:sp>
      <p:sp>
        <p:nvSpPr>
          <p:cNvPr id="153" name="Google Shape;153;p12"/>
          <p:cNvSpPr txBox="1">
            <a:spLocks noGrp="1"/>
          </p:cNvSpPr>
          <p:nvPr>
            <p:ph type="sldNum" idx="12"/>
          </p:nvPr>
        </p:nvSpPr>
        <p:spPr>
          <a:xfrm>
            <a:off x="11838062" y="6625031"/>
            <a:ext cx="353938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86375" y="973904"/>
            <a:ext cx="4864608" cy="704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5. </a:t>
            </a:r>
            <a:r>
              <a:rPr lang="ko-KR" altLang="en-US" sz="1200" b="1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파트별</a:t>
            </a:r>
            <a:r>
              <a:rPr lang="ko-KR" altLang="en-US" sz="12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담당 업무 숙지</a:t>
            </a:r>
            <a:endParaRPr lang="en-US" altLang="ko-KR" sz="1200" b="1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유라 </a:t>
            </a:r>
            <a:r>
              <a:rPr lang="en-US" altLang="ko-KR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기획 메인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팀장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면접 </a:t>
            </a:r>
            <a:r>
              <a:rPr lang="ko-KR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시나리오 초안 작성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- </a:t>
            </a:r>
            <a:r>
              <a:rPr lang="ko-KR" altLang="ko-KR" sz="1000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직무평가</a:t>
            </a:r>
            <a:r>
              <a:rPr lang="ko-KR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 인성평가 흐름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- </a:t>
            </a:r>
            <a:r>
              <a:rPr lang="ko-KR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단계별 </a:t>
            </a:r>
            <a:r>
              <a:rPr lang="ko-KR" altLang="ko-KR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입력·출력</a:t>
            </a:r>
            <a:r>
              <a:rPr lang="ko-KR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정의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예외 </a:t>
            </a:r>
            <a:r>
              <a:rPr lang="ko-KR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질문 처리 정책 초안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전체 </a:t>
            </a:r>
            <a:r>
              <a:rPr lang="ko-KR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일정 관리 기준선 </a:t>
            </a:r>
            <a:r>
              <a:rPr lang="ko-KR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설정</a:t>
            </a:r>
            <a:endParaRPr lang="en-US" altLang="ko-KR" sz="1000" dirty="0" smtClean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ko-KR" altLang="en-US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재민</a:t>
            </a:r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시스템 설계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1000" dirty="0" err="1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부팀장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전체 </a:t>
            </a:r>
            <a:r>
              <a:rPr lang="ko-KR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시스템 아키텍처 흐름 설계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서비스 구조</a:t>
            </a: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및 인프라 구축</a:t>
            </a:r>
            <a:r>
              <a:rPr lang="ko-KR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정리</a:t>
            </a:r>
            <a:endParaRPr lang="en-US" altLang="ko-KR" sz="1000" dirty="0" smtClean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환경 설정 구축</a:t>
            </a:r>
            <a:endParaRPr lang="en-US" altLang="ko-KR" sz="1000" dirty="0" smtClean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ko-KR" altLang="en-US" sz="1000" b="1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준호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메인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000" dirty="0" err="1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이력서</a:t>
            </a:r>
            <a:r>
              <a:rPr lang="ko-KR" altLang="ko-KR" sz="10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·자기소개서</a:t>
            </a:r>
            <a:r>
              <a:rPr lang="ko-KR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템플릿 초안 제작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ko-KR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수집 구조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및 전략 정리</a:t>
            </a:r>
            <a:endParaRPr lang="ko-KR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부재 </a:t>
            </a:r>
            <a:r>
              <a:rPr lang="ko-KR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기간 대비 사전 작업 </a:t>
            </a:r>
            <a:r>
              <a:rPr lang="ko-KR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정리</a:t>
            </a:r>
            <a:endParaRPr lang="en-US" altLang="ko-KR" sz="1000" dirty="0" smtClean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ko-KR" altLang="en-US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린</a:t>
            </a:r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LLM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메인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LLM </a:t>
            </a:r>
            <a:r>
              <a:rPr lang="ko-KR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적용 포인트 정리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프롬프트 </a:t>
            </a:r>
            <a:r>
              <a:rPr lang="ko-KR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설계 방향 초안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RAG </a:t>
            </a:r>
            <a:r>
              <a:rPr lang="ko-KR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적용 필요성/범위 정리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ko-KR" sz="1000" dirty="0" smtClean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ko-KR" altLang="en-US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승재</a:t>
            </a:r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백엔드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개발 메인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서버 </a:t>
            </a:r>
            <a:r>
              <a:rPr lang="ko-KR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구조 초안 정리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API </a:t>
            </a:r>
            <a:r>
              <a:rPr lang="ko-KR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구조 초안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회의록 </a:t>
            </a:r>
            <a:r>
              <a:rPr lang="ko-KR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작성 자동화 에이전트 </a:t>
            </a:r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</a:t>
            </a:r>
            <a:endParaRPr lang="ko-KR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- </a:t>
            </a:r>
            <a:r>
              <a:rPr lang="ko-KR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STT </a:t>
            </a:r>
            <a:r>
              <a:rPr lang="ko-KR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 요약 파이프라인 </a:t>
            </a:r>
            <a:r>
              <a:rPr lang="ko-KR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구조</a:t>
            </a:r>
            <a:endParaRPr lang="en-US" altLang="ko-KR" sz="1000" dirty="0" smtClean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ko-KR" altLang="en-US" sz="1000" b="1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윤재</a:t>
            </a:r>
            <a:r>
              <a:rPr lang="ko-KR" altLang="en-US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모델 </a:t>
            </a:r>
            <a:r>
              <a:rPr lang="ko-KR" altLang="en-US" sz="1000" dirty="0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설계 메인 </a:t>
            </a:r>
            <a:endParaRPr lang="en-US" altLang="ko-KR" sz="1000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후보 </a:t>
            </a:r>
            <a:r>
              <a:rPr lang="ko-KR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 조사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 </a:t>
            </a:r>
            <a:r>
              <a:rPr lang="ko-KR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비교 기준 정의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000" dirty="0" smtClean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테스트 </a:t>
            </a:r>
            <a:r>
              <a:rPr lang="ko-KR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전략 초안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ko-KR" sz="1200" dirty="0" smtClean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ko-KR" sz="1200" dirty="0" smtClean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ko-KR" altLang="ko-KR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ko-KR" altLang="ko-KR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ko-KR" altLang="ko-KR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ko-KR" altLang="ko-KR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altLang="ko-KR" sz="1200" dirty="0" smtClean="0"/>
          </a:p>
          <a:p>
            <a:endParaRPr lang="en-US" altLang="ko-KR" sz="1200" b="1" dirty="0" smtClean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Noto Sans KR"/>
              <a:buNone/>
            </a:pPr>
            <a:r>
              <a:rPr lang="en-US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"/>
                <a:sym typeface="Noto Sans KR"/>
              </a:rPr>
              <a:t>Project Kick-off Completed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  <a:cs typeface="Noto Sans KR"/>
              <a:sym typeface="Noto Sans KR"/>
            </a:endParaRPr>
          </a:p>
        </p:txBody>
      </p:sp>
      <p:sp>
        <p:nvSpPr>
          <p:cNvPr id="159" name="Google Shape;159;p13"/>
          <p:cNvSpPr txBox="1"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n-US" sz="6000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"/>
                <a:sym typeface="Noto Sans KR"/>
              </a:rPr>
              <a:t>Next Steps Begin Now</a:t>
            </a:r>
            <a:endParaRPr sz="6000" dirty="0">
              <a:latin typeface="Noto Sans KR Black" panose="020B0200000000000000" pitchFamily="50" charset="-127"/>
              <a:ea typeface="Noto Sans KR Black" panose="020B0200000000000000" pitchFamily="50" charset="-127"/>
              <a:cs typeface="Noto Sans KR"/>
              <a:sym typeface="Noto Sans KR"/>
            </a:endParaRPr>
          </a:p>
        </p:txBody>
      </p:sp>
      <p:sp>
        <p:nvSpPr>
          <p:cNvPr id="160" name="Google Shape;160;p13"/>
          <p:cNvSpPr txBox="1">
            <a:spLocks noGrp="1"/>
          </p:cNvSpPr>
          <p:nvPr>
            <p:ph type="ftr" idx="11"/>
          </p:nvPr>
        </p:nvSpPr>
        <p:spPr>
          <a:xfrm>
            <a:off x="5025078" y="6625031"/>
            <a:ext cx="4114800" cy="248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Kick-off_함유라</a:t>
            </a:r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sldNum" idx="12"/>
          </p:nvPr>
        </p:nvSpPr>
        <p:spPr>
          <a:xfrm>
            <a:off x="11837988" y="6624638"/>
            <a:ext cx="35401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fld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0" y="0"/>
            <a:ext cx="12192000" cy="362139"/>
          </a:xfrm>
          <a:prstGeom prst="rect">
            <a:avLst/>
          </a:prstGeom>
          <a:solidFill>
            <a:srgbClr val="FFD6EE"/>
          </a:solidFill>
          <a:ln w="12700" cap="flat" cmpd="sng">
            <a:solidFill>
              <a:srgbClr val="FFD6E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1695</Words>
  <Application>Microsoft Office PowerPoint</Application>
  <PresentationFormat>와이드스크린</PresentationFormat>
  <Paragraphs>354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2" baseType="lpstr">
      <vt:lpstr>맑은 고딕</vt:lpstr>
      <vt:lpstr>Noto Sans KR</vt:lpstr>
      <vt:lpstr>Quattrocento Sans</vt:lpstr>
      <vt:lpstr>Noto Sans KR ExtraBold</vt:lpstr>
      <vt:lpstr>Noto Sans KR Black</vt:lpstr>
      <vt:lpstr>맑은 고딕</vt:lpstr>
      <vt:lpstr>Arial</vt:lpstr>
      <vt:lpstr>Arimo</vt:lpstr>
      <vt:lpstr>Nirmala UI Semilight</vt:lpstr>
      <vt:lpstr>Office 테마</vt:lpstr>
      <vt:lpstr> </vt:lpstr>
      <vt:lpstr>개정이력</vt:lpstr>
      <vt:lpstr>Overview</vt:lpstr>
      <vt:lpstr>Team Members</vt:lpstr>
      <vt:lpstr>Project Initial Schedule</vt:lpstr>
      <vt:lpstr>Working Tools</vt:lpstr>
      <vt:lpstr>Environment Setup</vt:lpstr>
      <vt:lpstr>Git Strategy (Branching Strategy)</vt:lpstr>
      <vt:lpstr>Documentation Rules</vt:lpstr>
      <vt:lpstr>Naming Rules</vt:lpstr>
      <vt:lpstr>Next Steps</vt:lpstr>
      <vt:lpstr>Project Kick-off Completed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TJ</dc:creator>
  <cp:lastModifiedBy>TJ</cp:lastModifiedBy>
  <cp:revision>26</cp:revision>
  <dcterms:created xsi:type="dcterms:W3CDTF">2025-12-10T06:17:54Z</dcterms:created>
  <dcterms:modified xsi:type="dcterms:W3CDTF">2026-01-29T00:53:52Z</dcterms:modified>
</cp:coreProperties>
</file>