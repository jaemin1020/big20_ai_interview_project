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65" r:id="rId3"/>
    <p:sldId id="257" r:id="rId4"/>
    <p:sldId id="258" r:id="rId5"/>
    <p:sldId id="261" r:id="rId6"/>
    <p:sldId id="344" r:id="rId7"/>
    <p:sldId id="263" r:id="rId8"/>
    <p:sldId id="272" r:id="rId9"/>
    <p:sldId id="328" r:id="rId10"/>
    <p:sldId id="345" r:id="rId11"/>
    <p:sldId id="298" r:id="rId12"/>
    <p:sldId id="299" r:id="rId13"/>
    <p:sldId id="300" r:id="rId14"/>
    <p:sldId id="324" r:id="rId15"/>
    <p:sldId id="301" r:id="rId16"/>
    <p:sldId id="302" r:id="rId17"/>
    <p:sldId id="303" r:id="rId18"/>
    <p:sldId id="304" r:id="rId19"/>
    <p:sldId id="305" r:id="rId20"/>
    <p:sldId id="325" r:id="rId21"/>
    <p:sldId id="326" r:id="rId22"/>
    <p:sldId id="306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9" r:id="rId39"/>
    <p:sldId id="330" r:id="rId40"/>
    <p:sldId id="331" r:id="rId41"/>
    <p:sldId id="332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343" r:id="rId52"/>
    <p:sldId id="333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5D38E07-F033-4859-94C9-ED68EB57CCE3}">
          <p14:sldIdLst>
            <p14:sldId id="256"/>
            <p14:sldId id="265"/>
            <p14:sldId id="257"/>
            <p14:sldId id="258"/>
            <p14:sldId id="261"/>
            <p14:sldId id="344"/>
            <p14:sldId id="263"/>
          </p14:sldIdLst>
        </p14:section>
        <p14:section name="사용자 화면" id="{5CA5CA97-B186-450D-AFB9-C9B97BF27413}">
          <p14:sldIdLst>
            <p14:sldId id="272"/>
            <p14:sldId id="328"/>
            <p14:sldId id="345"/>
            <p14:sldId id="298"/>
            <p14:sldId id="299"/>
            <p14:sldId id="300"/>
            <p14:sldId id="324"/>
            <p14:sldId id="301"/>
            <p14:sldId id="302"/>
            <p14:sldId id="303"/>
            <p14:sldId id="304"/>
            <p14:sldId id="305"/>
            <p14:sldId id="325"/>
            <p14:sldId id="326"/>
            <p14:sldId id="306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7"/>
            <p14:sldId id="318"/>
            <p14:sldId id="319"/>
            <p14:sldId id="320"/>
            <p14:sldId id="321"/>
            <p14:sldId id="322"/>
            <p14:sldId id="323"/>
            <p14:sldId id="329"/>
            <p14:sldId id="330"/>
            <p14:sldId id="331"/>
            <p14:sldId id="332"/>
          </p14:sldIdLst>
        </p14:section>
        <p14:section name="면접관리자 화면" id="{02AA9750-0E49-4249-B617-0646782151B4}">
          <p14:sldIdLst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</p14:sldIdLst>
        </p14:section>
        <p14:section name="관리자화면" id="{79136ABF-0F83-41F1-AB93-CFFB93BC80A0}">
          <p14:sldIdLst>
            <p14:sldId id="3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EB"/>
    <a:srgbClr val="FF75A3"/>
    <a:srgbClr val="FF256E"/>
    <a:srgbClr val="006600"/>
    <a:srgbClr val="F2F2F2"/>
    <a:srgbClr val="D9D9D9"/>
    <a:srgbClr val="E2E9F6"/>
    <a:srgbClr val="EDF1F9"/>
    <a:srgbClr val="254379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0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757098917322836"/>
          <c:y val="0.24927920464571821"/>
          <c:w val="0.45548314468503937"/>
          <c:h val="0.68322467499848205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종합평가</c:v>
                </c:pt>
              </c:strCache>
            </c:strRef>
          </c:tx>
          <c:spPr>
            <a:gradFill>
              <a:gsLst>
                <a:gs pos="47750">
                  <a:srgbClr val="C09AC7">
                    <a:alpha val="7843"/>
                  </a:srgbClr>
                </a:gs>
                <a:gs pos="0">
                  <a:srgbClr val="D573A9"/>
                </a:gs>
                <a:gs pos="45000">
                  <a:srgbClr val="FF256E">
                    <a:alpha val="7843"/>
                  </a:srgbClr>
                </a:gs>
                <a:gs pos="0">
                  <a:schemeClr val="accent1">
                    <a:lumMod val="5000"/>
                    <a:lumOff val="95000"/>
                  </a:schemeClr>
                </a:gs>
                <a:gs pos="98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50800">
              <a:gradFill>
                <a:gsLst>
                  <a:gs pos="3000">
                    <a:srgbClr val="FF256E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/>
          </c:spPr>
          <c:cat>
            <c:strRef>
              <c:f>Sheet1!$A$2:$A$7</c:f>
              <c:strCache>
                <c:ptCount val="6"/>
                <c:pt idx="0">
                  <c:v>직무이해</c:v>
                </c:pt>
                <c:pt idx="1">
                  <c:v>직무경험</c:v>
                </c:pt>
                <c:pt idx="2">
                  <c:v>문제해결능력</c:v>
                </c:pt>
                <c:pt idx="3">
                  <c:v>의사소통능력</c:v>
                </c:pt>
                <c:pt idx="4">
                  <c:v>책임감</c:v>
                </c:pt>
                <c:pt idx="5">
                  <c:v>성장력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10</c:v>
                </c:pt>
                <c:pt idx="2">
                  <c:v>12</c:v>
                </c:pt>
                <c:pt idx="3">
                  <c:v>15</c:v>
                </c:pt>
                <c:pt idx="4">
                  <c:v>16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64-4BBD-A065-9AB630B44F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40732432"/>
        <c:axId val="1740733264"/>
      </c:radarChart>
      <c:catAx>
        <c:axId val="1740732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0733264"/>
        <c:crosses val="autoZero"/>
        <c:auto val="1"/>
        <c:lblAlgn val="ctr"/>
        <c:lblOffset val="100"/>
        <c:noMultiLvlLbl val="0"/>
      </c:catAx>
      <c:valAx>
        <c:axId val="1740733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0732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900" baseline="0"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cat>
          <c:val>
            <c:numRef>
              <c:f>Sheet1!$B$2:$B$5</c:f>
              <c:numCache>
                <c:formatCode>0%</c:formatCode>
                <c:ptCount val="4"/>
                <c:pt idx="0">
                  <c:v>0.2</c:v>
                </c:pt>
                <c:pt idx="1">
                  <c:v>0.25</c:v>
                </c:pt>
                <c:pt idx="2">
                  <c:v>0.45</c:v>
                </c:pt>
                <c:pt idx="3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0C-4732-8329-D25300A18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18798143"/>
        <c:axId val="1918798559"/>
      </c:lineChart>
      <c:catAx>
        <c:axId val="19187981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18798559"/>
        <c:crosses val="autoZero"/>
        <c:auto val="1"/>
        <c:lblAlgn val="ctr"/>
        <c:lblOffset val="100"/>
        <c:noMultiLvlLbl val="0"/>
      </c:catAx>
      <c:valAx>
        <c:axId val="1918798559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18798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1201</c:v>
                </c:pt>
                <c:pt idx="1">
                  <c:v>1302</c:v>
                </c:pt>
                <c:pt idx="2">
                  <c:v>1222</c:v>
                </c:pt>
                <c:pt idx="3">
                  <c:v>1256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D1-452C-8C23-53227D91CE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2767455"/>
        <c:axId val="1642771199"/>
      </c:lineChart>
      <c:catAx>
        <c:axId val="164276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42771199"/>
        <c:crosses val="autoZero"/>
        <c:auto val="1"/>
        <c:lblAlgn val="ctr"/>
        <c:lblOffset val="100"/>
        <c:noMultiLvlLbl val="0"/>
      </c:catAx>
      <c:valAx>
        <c:axId val="1642771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42767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explosion val="3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37-4569-A3EF-5CB6561BF580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rgbClr val="FF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37-4569-A3EF-5CB6561BF580}"/>
              </c:ext>
            </c:extLst>
          </c:dPt>
          <c:cat>
            <c:strRef>
              <c:f>Sheet1!$A$2:$A$3</c:f>
              <c:strCache>
                <c:ptCount val="2"/>
                <c:pt idx="0">
                  <c:v>Success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37-4569-A3EF-5CB6561BF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1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9">
  <cs:axisTitle>
    <cs:lnRef idx="0"/>
    <cs:fillRef idx="0"/>
    <cs:effectRef idx="0"/>
    <cs:fontRef idx="minor">
      <a:schemeClr val="dk1">
        <a:lumMod val="50000"/>
        <a:lumOff val="50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100000">
            <a:schemeClr val="lt1">
              <a:lumMod val="95000"/>
            </a:schemeClr>
          </a:gs>
          <a:gs pos="43000">
            <a:schemeClr val="lt1"/>
          </a:gs>
        </a:gsLst>
        <a:path path="circle">
          <a:fillToRect l="50000" t="50000" r="50000" b="50000"/>
        </a:path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10196"/>
        </a:schemeClr>
      </a:solidFill>
      <a:ln w="50800">
        <a:solidFill>
          <a:schemeClr val="phClr">
            <a:alpha val="3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10196"/>
        </a:schemeClr>
      </a:solidFill>
      <a:ln w="50800">
        <a:solidFill>
          <a:schemeClr val="phClr">
            <a:alpha val="30000"/>
          </a:schemeClr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50800" cap="rnd" cmpd="sng" algn="ctr">
        <a:solidFill>
          <a:schemeClr val="phClr">
            <a:alpha val="3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2700" cap="flat" cmpd="sng" algn="ctr">
        <a:solidFill>
          <a:schemeClr val="lt1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rnd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2128" b="0" kern="1200" spc="70" baseline="0"/>
  </cs:title>
  <cs:trendline>
    <cs:lnRef idx="0">
      <cs:styleClr val="0"/>
    </cs:lnRef>
    <cs:fillRef idx="0"/>
    <cs:effectRef idx="0"/>
    <cs:fontRef idx="minor">
      <a:schemeClr val="tx1"/>
    </cs:fontRef>
    <cs:spPr>
      <a:ln w="63500" cap="rnd" cmpd="sng" algn="ctr">
        <a:solidFill>
          <a:schemeClr val="phClr">
            <a:alpha val="25000"/>
          </a:schemeClr>
        </a:solidFill>
        <a:round/>
      </a:ln>
    </cs:spPr>
  </cs:trendline>
  <cs:trendlineLabel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BBBDB-BB64-47DC-A694-8E702746AD6C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DF111-0687-43F6-9C38-D3B65F3205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12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DF111-0687-43F6-9C38-D3B65F32057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561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DF111-0687-43F6-9C38-D3B65F32057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162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7644C-DB1D-18B5-32A4-A749F2CB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98A45E-134B-1B87-839B-B0CE1F94D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13648C-8F7F-BE9B-4F9B-CE2C9D069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6F6403-C58C-8FD0-DF70-13301115E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DF111-0687-43F6-9C38-D3B65F32057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126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39177-665B-09AF-83C2-D1625C8E0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A61A7C-469C-70A9-BC2B-BF6E220CC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84FA5F-5341-B1B3-6A42-1027883EC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606C01-A795-94A8-B794-4321DE8AB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658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026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7393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875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364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3943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6651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40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292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111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54498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998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993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3886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532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503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76830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92295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38027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6819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82456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97571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9238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6070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94218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89558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5015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7952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2593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569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47923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1660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335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1317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6245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0591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05168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7157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8813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71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1245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045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1265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4628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4723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2033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4626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583-1D9B-1CF3-534F-07091CC6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6C87F-68AC-9BAD-AB8D-2C387AA3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00315-BC28-2182-E74F-1F5AFD5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26E45-2287-8848-8DB1-A461CD89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6DF111-0687-43F6-9C38-D3B65F32057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746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C43E8-0B81-634B-1930-233A6EF1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</p:spPr>
        <p:txBody>
          <a:bodyPr>
            <a:noAutofit/>
          </a:bodyPr>
          <a:lstStyle>
            <a:lvl1pPr>
              <a:defRPr sz="2400">
                <a:latin typeface="Noto Sans KR Black" panose="020B0200000000000000" pitchFamily="34" charset="-128"/>
                <a:ea typeface="Noto Sans KR Black" panose="020B0200000000000000" pitchFamily="34" charset="-12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7B28A-00E8-F3CC-76E0-BB58320C5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10" y="1083633"/>
            <a:ext cx="10515600" cy="4351338"/>
          </a:xfrm>
        </p:spPr>
        <p:txBody>
          <a:bodyPr>
            <a:normAutofit/>
          </a:bodyPr>
          <a:lstStyle>
            <a:lvl1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  <a:lvl2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2pPr>
            <a:lvl3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3pPr>
            <a:lvl4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4pPr>
            <a:lvl5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D1115-36A2-5427-0B11-DB8A348E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fld id="{3BD716F4-F495-468A-83B6-A3C3817BE3DC}" type="datetime9">
              <a:rPr lang="ko-KR" altLang="en-US" smtClean="0"/>
              <a:t>2026년 3월 6일 오전 11시 28분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9BFC3-78C2-F5BE-71F1-913784E1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9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pPr algn="l"/>
            <a:r>
              <a:rPr lang="en-US" altLang="ko-KR" smtClean="0"/>
              <a:t>A4_Project_</a:t>
            </a:r>
            <a:r>
              <a:rPr lang="ko-KR" altLang="en-US" smtClean="0"/>
              <a:t>화면정의서</a:t>
            </a:r>
            <a:r>
              <a:rPr lang="en-US" altLang="ko-KR" smtClean="0"/>
              <a:t>_</a:t>
            </a:r>
            <a:r>
              <a:rPr lang="ko-KR" altLang="en-US" smtClean="0"/>
              <a:t>함유라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68BC2-870D-94E3-6AA2-DCA676E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900" smtClean="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pPr algn="l"/>
            <a:fld id="{DDA37121-0FE8-400D-89B0-84448AB1177F}" type="slidenum">
              <a:rPr lang="en-US" altLang="ko-KR" smtClean="0"/>
              <a:pPr algn="l"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F67F9F-2983-B6B4-CE10-0FBD968BE8A3}"/>
              </a:ext>
            </a:extLst>
          </p:cNvPr>
          <p:cNvSpPr/>
          <p:nvPr userDrawn="1"/>
        </p:nvSpPr>
        <p:spPr>
          <a:xfrm flipV="1">
            <a:off x="335383" y="658185"/>
            <a:ext cx="9379391" cy="45719"/>
          </a:xfrm>
          <a:prstGeom prst="rect">
            <a:avLst/>
          </a:prstGeom>
          <a:solidFill>
            <a:srgbClr val="FF256E"/>
          </a:solidFill>
          <a:ln>
            <a:solidFill>
              <a:srgbClr val="E9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764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502D8-08FE-5098-58C0-F0638117A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98D3AF-3446-99CD-12F4-84B006E8E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61EDAA74-6288-1E41-A303-A2144FFB2C42}"/>
              </a:ext>
            </a:extLst>
          </p:cNvPr>
          <p:cNvSpPr txBox="1">
            <a:spLocks/>
          </p:cNvSpPr>
          <p:nvPr userDrawn="1"/>
        </p:nvSpPr>
        <p:spPr>
          <a:xfrm>
            <a:off x="0" y="6625031"/>
            <a:ext cx="3307222" cy="2329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DE788E-A794-4474-B3D3-1BAB99436FFD}" type="datetime9">
              <a:rPr lang="ko-KR" altLang="en-US" smtClean="0"/>
              <a:pPr/>
              <a:t>2026년 3월 6일 오전 11시 28분</a:t>
            </a:fld>
            <a:endParaRPr lang="ko-KR" altLang="en-US"/>
          </a:p>
        </p:txBody>
      </p:sp>
      <p:sp>
        <p:nvSpPr>
          <p:cNvPr id="11" name="바닥글 개체 틀 4">
            <a:extLst>
              <a:ext uri="{FF2B5EF4-FFF2-40B4-BE49-F238E27FC236}">
                <a16:creationId xmlns:a16="http://schemas.microsoft.com/office/drawing/2014/main" id="{1626C151-C63C-F429-85AC-1AD048B2C70F}"/>
              </a:ext>
            </a:extLst>
          </p:cNvPr>
          <p:cNvSpPr txBox="1">
            <a:spLocks/>
          </p:cNvSpPr>
          <p:nvPr userDrawn="1"/>
        </p:nvSpPr>
        <p:spPr>
          <a:xfrm>
            <a:off x="5025078" y="6625031"/>
            <a:ext cx="4114800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lang="ko-KR" altLang="en-US" sz="9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Final_Project</a:t>
            </a:r>
            <a:r>
              <a:rPr lang="en-US" altLang="ko-KR" dirty="0"/>
              <a:t>_</a:t>
            </a:r>
            <a:r>
              <a:rPr lang="ko-KR" altLang="en-US" dirty="0"/>
              <a:t>기획안</a:t>
            </a:r>
            <a:r>
              <a:rPr lang="en-US" altLang="ko-KR" dirty="0"/>
              <a:t>_</a:t>
            </a:r>
            <a:r>
              <a:rPr lang="ko-KR" altLang="en-US" dirty="0"/>
              <a:t>함유라</a:t>
            </a:r>
          </a:p>
        </p:txBody>
      </p: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9C21DCBE-AA37-286A-0940-E35DF71ED411}"/>
              </a:ext>
            </a:extLst>
          </p:cNvPr>
          <p:cNvSpPr txBox="1">
            <a:spLocks/>
          </p:cNvSpPr>
          <p:nvPr userDrawn="1"/>
        </p:nvSpPr>
        <p:spPr>
          <a:xfrm>
            <a:off x="11838062" y="6625031"/>
            <a:ext cx="353938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lang="ko-KR" altLang="en-US" sz="900" kern="1200" smtClean="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A37121-0FE8-400D-89B0-84448AB1177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73151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C43E8-0B81-634B-1930-233A6EF1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</p:spPr>
        <p:txBody>
          <a:bodyPr>
            <a:noAutofit/>
          </a:bodyPr>
          <a:lstStyle>
            <a:lvl1pPr>
              <a:defRPr sz="2400">
                <a:latin typeface="Noto Sans KR Black" panose="020B0200000000000000" pitchFamily="34" charset="-128"/>
                <a:ea typeface="Noto Sans KR Black" panose="020B0200000000000000" pitchFamily="34" charset="-12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7B28A-00E8-F3CC-76E0-BB58320C5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10" y="1083633"/>
            <a:ext cx="10515600" cy="4351338"/>
          </a:xfrm>
        </p:spPr>
        <p:txBody>
          <a:bodyPr>
            <a:normAutofit/>
          </a:bodyPr>
          <a:lstStyle>
            <a:lvl1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  <a:lvl2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2pPr>
            <a:lvl3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3pPr>
            <a:lvl4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4pPr>
            <a:lvl5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D1115-36A2-5427-0B11-DB8A348E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fld id="{F016968A-7144-440D-9DE4-3D26843A10F5}" type="datetime9">
              <a:rPr lang="ko-KR" altLang="en-US" smtClean="0"/>
              <a:t>2026년 3월 6일 오전 11시 28분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9BFC3-78C2-F5BE-71F1-913784E1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5078" y="6639698"/>
            <a:ext cx="4114800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9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pPr algn="l"/>
            <a:r>
              <a:rPr lang="en-US" altLang="ko-KR" smtClean="0"/>
              <a:t>A4_Project_</a:t>
            </a:r>
            <a:r>
              <a:rPr lang="ko-KR" altLang="en-US" smtClean="0"/>
              <a:t>화면정의서</a:t>
            </a:r>
            <a:r>
              <a:rPr lang="en-US" altLang="ko-KR" smtClean="0"/>
              <a:t>_</a:t>
            </a:r>
            <a:r>
              <a:rPr lang="ko-KR" altLang="en-US" smtClean="0"/>
              <a:t>함유라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68BC2-870D-94E3-6AA2-DCA676E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900" smtClean="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pPr algn="l"/>
            <a:fld id="{DDA37121-0FE8-400D-89B0-84448AB1177F}" type="slidenum">
              <a:rPr lang="en-US" altLang="ko-KR" smtClean="0"/>
              <a:pPr algn="l"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F67F9F-2983-B6B4-CE10-0FBD968BE8A3}"/>
              </a:ext>
            </a:extLst>
          </p:cNvPr>
          <p:cNvSpPr/>
          <p:nvPr userDrawn="1"/>
        </p:nvSpPr>
        <p:spPr>
          <a:xfrm flipV="1">
            <a:off x="335383" y="658185"/>
            <a:ext cx="9379391" cy="45719"/>
          </a:xfrm>
          <a:prstGeom prst="rect">
            <a:avLst/>
          </a:prstGeom>
          <a:solidFill>
            <a:srgbClr val="FF256E"/>
          </a:solidFill>
          <a:ln>
            <a:solidFill>
              <a:srgbClr val="E9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469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9B12E9-8EDB-67D8-80C7-96A449045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42A21-3C13-5158-C5A1-27C0F1AF1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749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chart" Target="../charts/chart2.xml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7.png"/><Relationship Id="rId5" Type="http://schemas.openxmlformats.org/officeDocument/2006/relationships/image" Target="../media/image16.png"/><Relationship Id="rId15" Type="http://schemas.openxmlformats.org/officeDocument/2006/relationships/image" Target="../media/image30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33.png"/><Relationship Id="rId5" Type="http://schemas.openxmlformats.org/officeDocument/2006/relationships/image" Target="../media/image16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9.png"/><Relationship Id="rId5" Type="http://schemas.openxmlformats.org/officeDocument/2006/relationships/image" Target="../media/image16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9.png"/><Relationship Id="rId5" Type="http://schemas.openxmlformats.org/officeDocument/2006/relationships/image" Target="../media/image16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9.png"/><Relationship Id="rId5" Type="http://schemas.openxmlformats.org/officeDocument/2006/relationships/image" Target="../media/image16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9.png"/><Relationship Id="rId4" Type="http://schemas.openxmlformats.org/officeDocument/2006/relationships/image" Target="../media/image16.png"/><Relationship Id="rId9" Type="http://schemas.openxmlformats.org/officeDocument/2006/relationships/hyperlink" Target="mailto:kildong@vmail.com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9.png"/><Relationship Id="rId4" Type="http://schemas.openxmlformats.org/officeDocument/2006/relationships/image" Target="../media/image1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BCB496A-F7BE-4D5A-739A-0589954496C3}"/>
              </a:ext>
            </a:extLst>
          </p:cNvPr>
          <p:cNvSpPr/>
          <p:nvPr/>
        </p:nvSpPr>
        <p:spPr>
          <a:xfrm>
            <a:off x="0" y="6495861"/>
            <a:ext cx="12192000" cy="362139"/>
          </a:xfrm>
          <a:prstGeom prst="rect">
            <a:avLst/>
          </a:prstGeom>
          <a:solidFill>
            <a:srgbClr val="FFD6EE"/>
          </a:solidFill>
          <a:ln>
            <a:solidFill>
              <a:srgbClr val="FF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2DC1BC-0BE9-23DE-B672-BC65E2EEC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8792" y="2290526"/>
            <a:ext cx="4134416" cy="1010703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rgbClr val="FF256E"/>
                </a:solidFill>
              </a:rPr>
              <a:t/>
            </a:r>
            <a:br>
              <a:rPr lang="en-US" altLang="ko-KR" b="1" dirty="0">
                <a:solidFill>
                  <a:srgbClr val="FF256E"/>
                </a:solidFill>
              </a:rPr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222094-53EB-67E1-4DFC-4DED261FF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948" y="3888623"/>
            <a:ext cx="11024103" cy="1655762"/>
          </a:xfrm>
        </p:spPr>
        <p:txBody>
          <a:bodyPr/>
          <a:lstStyle/>
          <a:p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실시간 음성</a:t>
            </a:r>
            <a:r>
              <a:rPr lang="en-US" altLang="ko-KR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·</a:t>
            </a:r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영상 분석 기반 직무</a:t>
            </a:r>
            <a:r>
              <a:rPr lang="en-US" altLang="ko-KR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·</a:t>
            </a:r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인성 평가 </a:t>
            </a:r>
            <a:r>
              <a:rPr lang="ko-KR" altLang="en-US" dirty="0" err="1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멀티모달</a:t>
            </a:r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 </a:t>
            </a:r>
            <a:r>
              <a:rPr lang="ko-KR" altLang="en-US" dirty="0" err="1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생성형</a:t>
            </a:r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AI </a:t>
            </a:r>
            <a:r>
              <a:rPr lang="ko-KR" altLang="en-US" dirty="0" smtClean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면접관 플랫폼 </a:t>
            </a:r>
            <a:r>
              <a:rPr lang="ko-KR" altLang="en-US" b="1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개발</a:t>
            </a:r>
            <a:endParaRPr lang="en-US" altLang="ko-KR" b="1" dirty="0">
              <a:solidFill>
                <a:schemeClr val="dk1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Noto Sans KR"/>
              <a:sym typeface="Noto Sans KR"/>
            </a:endParaRPr>
          </a:p>
          <a:p>
            <a:r>
              <a:rPr lang="ko-KR" altLang="en-US" dirty="0" err="1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</a:rPr>
              <a:t>화면정의서</a:t>
            </a:r>
            <a:endParaRPr lang="ko-KR" altLang="en-US" dirty="0">
              <a:solidFill>
                <a:schemeClr val="dk1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Noto Sans KR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20F22C9-FD98-027D-E790-3AD22C32CB6E}"/>
              </a:ext>
            </a:extLst>
          </p:cNvPr>
          <p:cNvSpPr txBox="1">
            <a:spLocks/>
          </p:cNvSpPr>
          <p:nvPr/>
        </p:nvSpPr>
        <p:spPr>
          <a:xfrm>
            <a:off x="2899748" y="4069883"/>
            <a:ext cx="6642980" cy="10107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9600" b="1" dirty="0">
                <a:solidFill>
                  <a:srgbClr val="FF256E"/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rPr>
              <a:t>PROJECT</a:t>
            </a:r>
            <a:r>
              <a:rPr lang="en-US" altLang="ko-KR" sz="9600" b="1" dirty="0">
                <a:solidFill>
                  <a:srgbClr val="FF256E"/>
                </a:solidFill>
              </a:rPr>
              <a:t/>
            </a:r>
            <a:br>
              <a:rPr lang="en-US" altLang="ko-KR" sz="9600" b="1" dirty="0">
                <a:solidFill>
                  <a:srgbClr val="FF256E"/>
                </a:solidFill>
              </a:rPr>
            </a:br>
            <a:endParaRPr lang="ko-KR" altLang="en-US" sz="96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BAC20E-32D4-808A-3D83-56E9DE6914CC}"/>
              </a:ext>
            </a:extLst>
          </p:cNvPr>
          <p:cNvSpPr/>
          <p:nvPr/>
        </p:nvSpPr>
        <p:spPr>
          <a:xfrm>
            <a:off x="0" y="0"/>
            <a:ext cx="12192000" cy="362139"/>
          </a:xfrm>
          <a:prstGeom prst="rect">
            <a:avLst/>
          </a:prstGeom>
          <a:solidFill>
            <a:srgbClr val="FFD6EE"/>
          </a:solidFill>
          <a:ln>
            <a:solidFill>
              <a:srgbClr val="FF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20F22C9-FD98-027D-E790-3AD22C32CB6E}"/>
              </a:ext>
            </a:extLst>
          </p:cNvPr>
          <p:cNvSpPr txBox="1">
            <a:spLocks/>
          </p:cNvSpPr>
          <p:nvPr/>
        </p:nvSpPr>
        <p:spPr>
          <a:xfrm>
            <a:off x="2619062" y="2857197"/>
            <a:ext cx="6642980" cy="10107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9600" b="1" dirty="0" smtClean="0">
                <a:solidFill>
                  <a:srgbClr val="FF256E"/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rPr>
              <a:t>A4</a:t>
            </a:r>
            <a:r>
              <a:rPr lang="en-US" altLang="ko-KR" sz="9600" b="1" dirty="0">
                <a:solidFill>
                  <a:srgbClr val="FF256E"/>
                </a:solidFill>
              </a:rPr>
              <a:t/>
            </a:r>
            <a:br>
              <a:rPr lang="en-US" altLang="ko-KR" sz="9600" b="1" dirty="0">
                <a:solidFill>
                  <a:srgbClr val="FF256E"/>
                </a:solidFill>
              </a:rPr>
            </a:b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81578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00B78-ACFC-9895-D99B-7CAD675C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개정이력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A56259-C7B3-B553-D541-230E73BE7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20E4-8287-4381-8555-FCBA09F89029}" type="datetime9">
              <a:rPr lang="ko-KR" altLang="en-US" smtClean="0"/>
              <a:t>2026년 3월 6일 오전 11시 28분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F2110A-F0E9-E070-D753-41296A16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altLang="ko-KR" smtClean="0"/>
              <a:t>A4_Project_</a:t>
            </a:r>
            <a:r>
              <a:rPr lang="ko-KR" altLang="en-US" smtClean="0"/>
              <a:t>화면정의서</a:t>
            </a:r>
            <a:r>
              <a:rPr lang="en-US" altLang="ko-KR" smtClean="0"/>
              <a:t>_</a:t>
            </a:r>
            <a:r>
              <a:rPr lang="ko-KR" altLang="en-US" smtClean="0"/>
              <a:t>함유라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0022ED-0CB9-022C-4FA5-E60525D31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DDA37121-0FE8-400D-89B0-84448AB1177F}" type="slidenum">
              <a:rPr lang="en-US" altLang="ko-KR" smtClean="0"/>
              <a:pPr algn="l"/>
              <a:t>2</a:t>
            </a:fld>
            <a:endParaRPr lang="en-US" altLang="ko-KR"/>
          </a:p>
        </p:txBody>
      </p:sp>
      <p:graphicFrame>
        <p:nvGraphicFramePr>
          <p:cNvPr id="7" name="내용 개체 틀 9">
            <a:extLst>
              <a:ext uri="{FF2B5EF4-FFF2-40B4-BE49-F238E27FC236}">
                <a16:creationId xmlns:a16="http://schemas.microsoft.com/office/drawing/2014/main" id="{E88F7D88-3246-5D7A-F72A-D50123BF40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0461537"/>
              </p:ext>
            </p:extLst>
          </p:nvPr>
        </p:nvGraphicFramePr>
        <p:xfrm>
          <a:off x="708891" y="985663"/>
          <a:ext cx="10515600" cy="5271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824">
                  <a:extLst>
                    <a:ext uri="{9D8B030D-6E8A-4147-A177-3AD203B41FA5}">
                      <a16:colId xmlns:a16="http://schemas.microsoft.com/office/drawing/2014/main" val="2671062831"/>
                    </a:ext>
                  </a:extLst>
                </a:gridCol>
                <a:gridCol w="6409854">
                  <a:extLst>
                    <a:ext uri="{9D8B030D-6E8A-4147-A177-3AD203B41FA5}">
                      <a16:colId xmlns:a16="http://schemas.microsoft.com/office/drawing/2014/main" val="3324759224"/>
                    </a:ext>
                  </a:extLst>
                </a:gridCol>
                <a:gridCol w="1195057">
                  <a:extLst>
                    <a:ext uri="{9D8B030D-6E8A-4147-A177-3AD203B41FA5}">
                      <a16:colId xmlns:a16="http://schemas.microsoft.com/office/drawing/2014/main" val="82150160"/>
                    </a:ext>
                  </a:extLst>
                </a:gridCol>
                <a:gridCol w="1321806">
                  <a:extLst>
                    <a:ext uri="{9D8B030D-6E8A-4147-A177-3AD203B41FA5}">
                      <a16:colId xmlns:a16="http://schemas.microsoft.com/office/drawing/2014/main" val="1871238730"/>
                    </a:ext>
                  </a:extLst>
                </a:gridCol>
                <a:gridCol w="986059">
                  <a:extLst>
                    <a:ext uri="{9D8B030D-6E8A-4147-A177-3AD203B41FA5}">
                      <a16:colId xmlns:a16="http://schemas.microsoft.com/office/drawing/2014/main" val="3147563729"/>
                    </a:ext>
                  </a:extLst>
                </a:gridCol>
              </a:tblGrid>
              <a:tr h="327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No.</a:t>
                      </a:r>
                      <a:endParaRPr lang="ko-KR" altLang="en-US" sz="12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Modifications</a:t>
                      </a:r>
                      <a:endParaRPr lang="ko-KR" altLang="en-US" sz="12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Revised By</a:t>
                      </a:r>
                      <a:endParaRPr lang="ko-KR" altLang="en-US" sz="12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 anchor="ctr"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Revision Date</a:t>
                      </a:r>
                      <a:endParaRPr lang="ko-KR" altLang="en-US" sz="12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 anchor="ctr"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Version</a:t>
                      </a:r>
                      <a:endParaRPr lang="ko-KR" altLang="en-US" sz="12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>
                    <a:solidFill>
                      <a:srgbClr val="FF2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430614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최초 정의서 수립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함유라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2026-01-26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0.0.0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639397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목록 구현 정의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함유라</a:t>
                      </a:r>
                      <a:endParaRPr lang="ko-KR" altLang="en-US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2026-02-02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1.0.0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107086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SCR-27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~ </a:t>
                      </a: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SCR-30/SCR-00-1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화면 추가 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메인화면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로그인 전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후 구분 </a:t>
                      </a:r>
                      <a:endParaRPr lang="en-US" altLang="ko-KR" sz="100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함유라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2026-02-05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1.0.1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542696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INT-00 ~INT07</a:t>
                      </a:r>
                      <a:r>
                        <a:rPr lang="en-US" altLang="ko-KR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면접 관리자 하면 추가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함유라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2026-02-10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1.0.2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784129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Screen List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최종 정리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함유라</a:t>
                      </a:r>
                      <a:endParaRPr lang="ko-KR" altLang="en-US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2026-02-10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1.0.3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146274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SCR-00-2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브랜드 소개 화면 추가 및 </a:t>
                      </a: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메인화면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소개 문구 추가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함유라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2026-02-11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1.0.</a:t>
                      </a:r>
                      <a:r>
                        <a:rPr lang="en-US" altLang="ko-KR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092397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018729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488225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312955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175171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704521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61829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814274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739051"/>
                  </a:ext>
                </a:extLst>
              </a:tr>
              <a:tr h="32959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92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97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0D7CA-DE5C-6276-2082-0A2E3063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개요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C7D15-7F1A-24CC-550B-FF36BDF3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5A6-37A9-411D-845C-8CF963140D9C}" type="datetime9">
              <a:rPr lang="ko-KR" altLang="en-US" smtClean="0"/>
              <a:t>2026년 3월 6일 오전 11시 28분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8D166-9139-61C2-5D71-3C0CA7C7F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algn="l"/>
            <a:r>
              <a:rPr lang="en-US" altLang="ko-KR" smtClean="0"/>
              <a:t>A4_Project_</a:t>
            </a:r>
            <a:r>
              <a:rPr lang="ko-KR" altLang="en-US" smtClean="0"/>
              <a:t>화면정의서</a:t>
            </a:r>
            <a:r>
              <a:rPr lang="en-US" altLang="ko-KR" smtClean="0"/>
              <a:t>_</a:t>
            </a:r>
            <a:r>
              <a:rPr lang="ko-KR" altLang="en-US" smtClean="0"/>
              <a:t>함유라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8FFC4B-857F-1362-B5B0-15915997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DDA37121-0FE8-400D-89B0-84448AB1177F}" type="slidenum">
              <a:rPr lang="en-US" altLang="ko-KR" smtClean="0"/>
              <a:pPr algn="l"/>
              <a:t>3</a:t>
            </a:fld>
            <a:endParaRPr lang="en-US" altLang="ko-KR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1A926144-FC2F-9439-7E1A-4C84B2AE3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83" y="1010481"/>
            <a:ext cx="10515600" cy="1848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 목적</a:t>
            </a:r>
            <a:endParaRPr lang="en-US" altLang="ko-KR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lang="en-US" altLang="ko-KR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 설계 가이드 제공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생성형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AI 기반 모의면접 서비스의 UI/UX 설계 및 기능 정의를 목적으로 함.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 경험 최적화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사용자 흐름(</a:t>
            </a:r>
            <a:r>
              <a:rPr lang="ko-KR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User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Flow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)에 따른 </a:t>
            </a:r>
            <a:r>
              <a:rPr lang="ko-KR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인터랙션을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정의하여 원활한 면접 경험을 설계함.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프로세스 표준화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화면별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기능, 입력/출력 요소, AI </a:t>
            </a:r>
            <a:r>
              <a:rPr lang="ko-KR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로직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개입 지점을 명확히 규정함.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협업 효율성 제고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기획, 개발, 평가 부문 간의 공통된 이해를 바탕으로 구현 및 검증 기준을 제공함.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통합 정의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STT, </a:t>
            </a:r>
            <a:r>
              <a:rPr lang="ko-KR" altLang="ko-KR" sz="105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LLM, 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비동기 처리 </a:t>
            </a:r>
            <a:r>
              <a:rPr lang="ko-KR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로직의</a:t>
            </a:r>
            <a:r>
              <a:rPr lang="ko-KR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적용 시점을 정의함.</a:t>
            </a:r>
          </a:p>
          <a:p>
            <a:pPr marL="0" indent="0">
              <a:buNone/>
            </a:pPr>
            <a:endParaRPr lang="ko-KR" altLang="en-US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C48C7D-8700-5D0B-B4B1-9B2A06F57266}"/>
              </a:ext>
            </a:extLst>
          </p:cNvPr>
          <p:cNvSpPr txBox="1"/>
          <p:nvPr/>
        </p:nvSpPr>
        <p:spPr>
          <a:xfrm>
            <a:off x="335383" y="2858775"/>
            <a:ext cx="11427152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적용 범위</a:t>
            </a:r>
          </a:p>
          <a:p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- 2.1 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 인터페이스</a:t>
            </a:r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(UI) 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 흐름</a:t>
            </a:r>
          </a:p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인증 및 설정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회원가입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이력서 업로드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 직무 확정 단계 포함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사전 준비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오디오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영상 장치 테스트 및 지원자 인식 단계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환경 테스트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포함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수행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자기소개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지원동기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직무 평가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인성 평가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발언 단계 포함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사후 분석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AI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분석 대기 및 결과 리포트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종합 점수 및 피드백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화면 포함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sz="105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- 2.2 </a:t>
            </a:r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 데이터 처리 </a:t>
            </a:r>
            <a:r>
              <a:rPr lang="ko-KR" altLang="en-US" sz="105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로직</a:t>
            </a:r>
            <a:endParaRPr lang="ko-KR" altLang="en-US" sz="105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멀티모달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입력 처리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마이크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카메라를 통한 음성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(STT)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 영상 스트림 처리 흐름 포함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지능형 시나리오 생성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사용자의 이력서 및 직무 데이터 기반의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LLM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 생성 기능 포함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동적 </a:t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인터랙션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답변 분석 결과에 따른 꼬리 질문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추가 질문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 및 비동기 처리 </a:t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로직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포함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심층 결과 분석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개인 맞춤형 강점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개선점 도출 및 채용 추천 의견 생성 </a:t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로직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포함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sz="105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- 2.3 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 제약 및 제외 사항</a:t>
            </a:r>
          </a:p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기능 중심 설계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 동작과 사용자 경험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(UX)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정의를 최우선 범위로 설정함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디자인 요소 제외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세부적인 색상 값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폰트 종류 등 시각 디자인 요소는 본 문서에서 제외함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플랫폼 범위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브라우저 기반 인터페이스를 기준으로 함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320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2B1E6-BDEE-181D-B0A6-5E0FE6C37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C70BE9-799D-BA63-FADE-436AE720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59" y="319406"/>
            <a:ext cx="10515600" cy="113673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User </a:t>
            </a:r>
            <a:r>
              <a:rPr lang="en-US" altLang="ko-KR" dirty="0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Flow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Scenario</a:t>
            </a:r>
            <a:endParaRPr lang="ko-KR" alt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ADFD4-1DAB-C909-1421-BDCD0C9A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F861-150E-4479-AEDB-B66E9B058BC5}" type="datetime9"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2026년 3월 6일 오전 11시 28분</a:t>
            </a:fld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CECA8-4A16-E6BE-E535-0DCC72CD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algn="l"/>
            <a:r>
              <a:rPr lang="en-US" altLang="ko-KR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A4_Project_</a:t>
            </a:r>
            <a:r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화면정의서</a:t>
            </a:r>
            <a:r>
              <a:rPr lang="en-US" altLang="ko-KR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함유라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ECA131-0F26-B966-4414-69C2BD27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DDA37121-0FE8-400D-89B0-84448AB1177F}" type="slidenum">
              <a:rPr lang="en-US" altLang="ko-KR" smtClean="0">
                <a:latin typeface="Noto Sans KR" panose="020B0200000000000000" pitchFamily="50" charset="-127"/>
                <a:ea typeface="Noto Sans KR" panose="020B0200000000000000" pitchFamily="50" charset="-127"/>
              </a:rPr>
              <a:pPr algn="l"/>
              <a:t>4</a:t>
            </a:fld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3A4E7730-F649-237A-DB69-F8703DBC0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10" y="1083633"/>
            <a:ext cx="10515600" cy="835702"/>
          </a:xfrm>
        </p:spPr>
        <p:txBody>
          <a:bodyPr>
            <a:normAutofit/>
          </a:bodyPr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User Flow</a:t>
            </a:r>
          </a:p>
          <a:p>
            <a:pPr marL="457200" lvl="1" indent="0"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 User Flow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사용자가 생성형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모의면접 서비스를 이용하면서 어떤 순서로 화면을 이동하고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어떤 입력을 수행하는지를 </a:t>
            </a:r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정의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로그인 →  </a:t>
            </a:r>
            <a:r>
              <a:rPr lang="ko-KR" altLang="en-US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환경테스트</a:t>
            </a:r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→ 자기소개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면접 진행 → 결과 확인의 단계로 구성된 단순하고 반복 가능한 구조로 설계</a:t>
            </a:r>
          </a:p>
        </p:txBody>
      </p:sp>
      <p:sp>
        <p:nvSpPr>
          <p:cNvPr id="3" name="내용 개체 틀 9">
            <a:extLst>
              <a:ext uri="{FF2B5EF4-FFF2-40B4-BE49-F238E27FC236}">
                <a16:creationId xmlns:a16="http://schemas.microsoft.com/office/drawing/2014/main" id="{20FB0317-2516-2364-38DE-4AB0686B96CC}"/>
              </a:ext>
            </a:extLst>
          </p:cNvPr>
          <p:cNvSpPr txBox="1">
            <a:spLocks/>
          </p:cNvSpPr>
          <p:nvPr/>
        </p:nvSpPr>
        <p:spPr>
          <a:xfrm>
            <a:off x="335383" y="2050845"/>
            <a:ext cx="1765021" cy="2480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User Flow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단계 정의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907B8C-860E-C879-2B57-38F5E131B75B}"/>
              </a:ext>
            </a:extLst>
          </p:cNvPr>
          <p:cNvSpPr txBox="1"/>
          <p:nvPr/>
        </p:nvSpPr>
        <p:spPr>
          <a:xfrm>
            <a:off x="540945" y="2685079"/>
            <a:ext cx="291747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1.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접속 및 로그인 단계</a:t>
            </a:r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사용자는 웹 기반 AI 모의면접 서비스에 </a:t>
            </a:r>
            <a:r>
              <a:rPr lang="ko-KR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접속</a:t>
            </a:r>
            <a:endParaRPr lang="ko-KR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 시작 화면이 </a:t>
            </a:r>
            <a:r>
              <a:rPr lang="ko-KR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표시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사용자는 아이디와 비밀번호를 입력하여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로그인을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수행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92E0EF-8460-F5B9-C8A7-E8592DAA1939}"/>
              </a:ext>
            </a:extLst>
          </p:cNvPr>
          <p:cNvSpPr txBox="1"/>
          <p:nvPr/>
        </p:nvSpPr>
        <p:spPr>
          <a:xfrm>
            <a:off x="486077" y="3971251"/>
            <a:ext cx="390430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2.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이력서 업로드 단계</a:t>
            </a:r>
            <a:endParaRPr lang="ko-KR" altLang="en-US" sz="1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사용자는 이력서를 업로드하여 면접 절차를 시작 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업로드된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이력서는 면접 질문 생성을 위한 기초 정보로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활용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필요 시 이력서를 수정하여 </a:t>
            </a:r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재업로드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요청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F9D2FF-DFA0-5CEC-308A-E4C40F300986}"/>
              </a:ext>
            </a:extLst>
          </p:cNvPr>
          <p:cNvSpPr txBox="1"/>
          <p:nvPr/>
        </p:nvSpPr>
        <p:spPr>
          <a:xfrm>
            <a:off x="540945" y="5223155"/>
            <a:ext cx="44158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3.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환경 테스트</a:t>
            </a:r>
            <a:endParaRPr lang="ko-KR" altLang="en-US" sz="1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사용자는 음성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입력을 테스트를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진행 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시스템은 마이크 입력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음량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잡음 및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STT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인식 가능 여부를 점검 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사용자는 카메라 테스트를 통해 얼굴 인식 및 영상 품질을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점검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영상 연결이 안 되는 경우 음성만으로 면접을 진행함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10E187-44A5-0BE0-A881-89F486F95C2E}"/>
              </a:ext>
            </a:extLst>
          </p:cNvPr>
          <p:cNvSpPr txBox="1"/>
          <p:nvPr/>
        </p:nvSpPr>
        <p:spPr>
          <a:xfrm>
            <a:off x="5740554" y="1951368"/>
            <a:ext cx="45902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4.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 평가 면접</a:t>
            </a:r>
            <a:endParaRPr lang="ko-KR" altLang="en-US" sz="1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사용자는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시작 버튼을 클릭하여 면접을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시작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시스템은 직무 기반 첫 번째 질문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(Q1)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을 생성하여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사용자에게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제시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사용자는 음성 또는 텍스트로 질문에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응답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이전 답변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내용을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다음 질문 생성에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반영하여 추가 </a:t>
            </a:r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꼬리질문을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생성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위에 과정을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단계 직무 관련 지식 질문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,2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단계 직무 관련 경험 질문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 3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단계 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 관련 문제 해결 관련 </a:t>
            </a:r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까지질문을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반복 진행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DA26D0-D788-3084-E90C-436306730A6F}"/>
              </a:ext>
            </a:extLst>
          </p:cNvPr>
          <p:cNvSpPr txBox="1"/>
          <p:nvPr/>
        </p:nvSpPr>
        <p:spPr>
          <a:xfrm>
            <a:off x="5740554" y="3306841"/>
            <a:ext cx="609750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5.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인성 평가 면접</a:t>
            </a:r>
            <a:endParaRPr lang="en-US" altLang="ko-KR" sz="10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시스템은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인성 평가 관련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첫 번째 질문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(Q1)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생성하여 사용자에게 제시</a:t>
            </a:r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사용자는 음성 또는 텍스트로 질문에 응답</a:t>
            </a:r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이전 답변 내용을 다음 질문 생성에 반영하여 추가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꼬리질문을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생성</a:t>
            </a:r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위에 과정을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단계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의사소통 관련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,2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단계 책임감 및 가치관 관련 경험 질문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3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단계 변화 수용력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및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성장의지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관련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까지질문을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반복 진행</a:t>
            </a:r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C1CF1A-2483-6991-4D73-2D77D23C1AF3}"/>
              </a:ext>
            </a:extLst>
          </p:cNvPr>
          <p:cNvSpPr txBox="1"/>
          <p:nvPr/>
        </p:nvSpPr>
        <p:spPr>
          <a:xfrm>
            <a:off x="5740554" y="4719715"/>
            <a:ext cx="60975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6. </a:t>
            </a: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인성평가의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마지막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(Q3)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대한 응답이 완료되면 면접이 종료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결과 분석 단계로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이동</a:t>
            </a:r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99DAA6-47C5-9AE9-544D-E0749E83A843}"/>
              </a:ext>
            </a:extLst>
          </p:cNvPr>
          <p:cNvSpPr txBox="1"/>
          <p:nvPr/>
        </p:nvSpPr>
        <p:spPr>
          <a:xfrm>
            <a:off x="5740554" y="5586899"/>
            <a:ext cx="60975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7. </a:t>
            </a: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결과 및 피드백 확인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사용자는 면접 결과 요약을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절차는 최종 종료</a:t>
            </a:r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483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B6BEC-3832-D57C-D644-E7793887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6FDC0-1CFF-4A89-E522-28ED4A2C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 smtClean="0"/>
              <a:t>AI </a:t>
            </a:r>
            <a:r>
              <a:rPr lang="en-US" altLang="ko-KR" dirty="0"/>
              <a:t>Scenario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99D059-2EE0-CADF-DAEF-CEAA89EFB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853E61-6AFE-42EE-A24D-C53F23708B22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48E301-D202-F160-E12E-D27EAE5F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0A7F1-AE65-56B0-C148-A6B68B32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A2F10425-F2A7-E443-E63E-95E94FCAB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10" y="1083633"/>
            <a:ext cx="10515600" cy="606755"/>
          </a:xfrm>
        </p:spPr>
        <p:txBody>
          <a:bodyPr>
            <a:normAutofit/>
          </a:bodyPr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Scenario</a:t>
            </a:r>
          </a:p>
          <a:p>
            <a:pPr marL="457200" lvl="1" indent="0"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사용자 흐름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(User Flow)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따라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모듈 개입 시점과 역할 </a:t>
            </a:r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정의함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STT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LLM,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영상분석을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통합하여 질문 생성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응답 분석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피드백 제공 수행함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내용 개체 틀 9">
            <a:extLst>
              <a:ext uri="{FF2B5EF4-FFF2-40B4-BE49-F238E27FC236}">
                <a16:creationId xmlns:a16="http://schemas.microsoft.com/office/drawing/2014/main" id="{AE1E4540-1659-F8B6-3B77-028635B2570D}"/>
              </a:ext>
            </a:extLst>
          </p:cNvPr>
          <p:cNvSpPr txBox="1">
            <a:spLocks/>
          </p:cNvSpPr>
          <p:nvPr/>
        </p:nvSpPr>
        <p:spPr>
          <a:xfrm>
            <a:off x="410910" y="1767282"/>
            <a:ext cx="1964197" cy="303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Scenario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단계 정의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4ABC9-E822-FFA1-2B40-BF89118D757A}"/>
              </a:ext>
            </a:extLst>
          </p:cNvPr>
          <p:cNvSpPr txBox="1"/>
          <p:nvPr/>
        </p:nvSpPr>
        <p:spPr>
          <a:xfrm>
            <a:off x="335383" y="2209156"/>
            <a:ext cx="609750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A1. </a:t>
            </a: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직무 및 지원 정보 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Context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  <a:endParaRPr lang="en-US" altLang="ko-KR" sz="10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None/>
            </a:pP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사용자가 직무 선택 및 이력서를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업로드하면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지원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정보는 면접 질문 생성을 위한 초기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Context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저장함</a:t>
            </a:r>
            <a:endParaRPr lang="en-US" altLang="ko-KR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None/>
            </a:pP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활용 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LLM</a:t>
            </a:r>
            <a:b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직무 기반 면접 질문 생성을 위한 기준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Context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구성함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4014F2-AA17-3EEF-E4BE-8EF0C95FAE26}"/>
              </a:ext>
            </a:extLst>
          </p:cNvPr>
          <p:cNvSpPr txBox="1"/>
          <p:nvPr/>
        </p:nvSpPr>
        <p:spPr>
          <a:xfrm>
            <a:off x="6432891" y="2051790"/>
            <a:ext cx="436603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A2. </a:t>
            </a: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환경 테스트 및 입력 품질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  <a:endParaRPr lang="en-US" altLang="ko-KR" sz="10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사용자의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음성 입력을 통해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STT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인식 가능 여부 확인함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카메라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입력을 통해 얼굴 인식 및 영상 품질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확인함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None/>
            </a:pP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활용 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STT /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영상분석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  <a:r>
              <a:rPr lang="en-US" altLang="ko-KR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면접 진행 가능 여부 및 입력 품질 확보함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EFE73-AA31-67F8-D9E6-5F519D1B6DF0}"/>
              </a:ext>
            </a:extLst>
          </p:cNvPr>
          <p:cNvSpPr txBox="1"/>
          <p:nvPr/>
        </p:nvSpPr>
        <p:spPr>
          <a:xfrm>
            <a:off x="335383" y="3228296"/>
            <a:ext cx="609750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A3. </a:t>
            </a: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자기소개 및 지원 동기 응답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수집</a:t>
            </a:r>
            <a:endParaRPr lang="en-US" altLang="ko-KR" sz="10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음성 발화를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STT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텍스트 변환함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자기소개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 지원 동기 텍스트를 면접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Context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누적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저장함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 얼굴 영상에서 표정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감정 분포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시선 안정성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추출하여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초기 감정 및 태도 데이터를 영상 베이스라인으로 저장함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활용 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STT /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영상분석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LLM</a:t>
            </a:r>
            <a:b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이후 질문 생성 및 평가를 위한 초기 응답 데이터 확보함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09E6C4-F9F3-2701-3C35-9F6F25E93010}"/>
              </a:ext>
            </a:extLst>
          </p:cNvPr>
          <p:cNvSpPr txBox="1"/>
          <p:nvPr/>
        </p:nvSpPr>
        <p:spPr>
          <a:xfrm>
            <a:off x="6432891" y="2995618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A4. </a:t>
            </a: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직무 평가 단계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-.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이력서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직무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Context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 자기소개 응답을 결합하여 직무 평가 질문 생성함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직무 지식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실무 경험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문제 해결 능력 평가 방향으로 질문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구성함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사용자의 응답을 음성 또는 영상으로 </a:t>
            </a:r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입력받아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음성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입력은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STT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통해 텍스트로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변환함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응답 텍스트를 기반으로 직무 관련 개념 이해도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논리성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경험 구체성 분석함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동시에 직무 설명 과정에서의 표정 안정성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집중도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반응 태도 영상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분석함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응답이 불충분하거나 직무 역량 판단이 어려운 경우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이전 답변 기반 꼬리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생성함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활용 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LLM / STT /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영상분석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이력서 및 자기소개 기반 직무 수행 역량을 다각적으로 평가함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4047F6-2025-DB79-ECB8-A13766A99027}"/>
              </a:ext>
            </a:extLst>
          </p:cNvPr>
          <p:cNvSpPr txBox="1"/>
          <p:nvPr/>
        </p:nvSpPr>
        <p:spPr>
          <a:xfrm>
            <a:off x="335383" y="4767431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A5. </a:t>
            </a: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인성 평가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단계</a:t>
            </a:r>
            <a:endParaRPr lang="en-US" altLang="ko-KR" sz="10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자기소개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응답과 직무 평가 과정에서 나타난 언어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행동 패턴을 기반으로 인성 평가 질문 생성함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의사소통 방식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협업 태도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책임감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가치관 평가 방향으로 질문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구성함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사용자의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응답을 음성 또는 영상으로 </a:t>
            </a:r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입력받아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음성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입력은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STT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통해 텍스트로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변환함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응답 내용의 일관성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태도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표현 방식 분석함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동시에 표정 변화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긴장도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시선 안정성 등 비언어적 반응 영상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분석함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응답이 모호하거나 인성 특성 판단이 어려운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경우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이전 답변 기반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꼬리 질문 생성함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활용 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LLM / STT /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영상분석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직무 수행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과정과 인성평가 답변에서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드러난 조직 적합성과 인성 역량을 평가함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8E9B27-68FC-7BAD-C845-413CDB2887F5}"/>
              </a:ext>
            </a:extLst>
          </p:cNvPr>
          <p:cNvSpPr txBox="1"/>
          <p:nvPr/>
        </p:nvSpPr>
        <p:spPr>
          <a:xfrm>
            <a:off x="6432891" y="4613543"/>
            <a:ext cx="609750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Step A6. </a:t>
            </a:r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분석 및 평가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단계</a:t>
            </a:r>
            <a:endParaRPr lang="en-US" altLang="ko-KR" sz="10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직무 평가 단계와 인성 평가 단계에서 수집된 전체 면접 응답을 종합 분석함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직무 평가 응답과 인성 평가 응답을 구분하여 분석 결과를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정리함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언어 기반 분석 결과와 영상 기반 분석 결과를 통합함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직무 역량 분석 결과와 인성 역량 분석 결과를 함께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반영함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직무 수행 역량과 조직 적합성에 대한 종합 평가 결과 도출함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평가 결과를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정성적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지표 형태로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구성함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본 단계에서는 사용자 입력을 받지 않음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결과 제공을 위한 최종 분석 단계로 처리함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활용 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LLM / NLP / </a:t>
            </a:r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영상분석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  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전체 면접 응답을 기반으로 직무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인성 역량 평가 결과를 도출함</a:t>
            </a:r>
          </a:p>
        </p:txBody>
      </p:sp>
    </p:spTree>
    <p:extLst>
      <p:ext uri="{BB962C8B-B14F-4D97-AF65-F5344CB8AC3E}">
        <p14:creationId xmlns:p14="http://schemas.microsoft.com/office/powerpoint/2010/main" val="53127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Screen List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3E9FC8A-DB91-6E0A-B66A-781DF5A45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200" dirty="0" smtClean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사용자 화면</a:t>
            </a:r>
            <a:endParaRPr lang="en-US" altLang="ko-KR" sz="1200" dirty="0" smtClean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endParaRPr lang="ko-KR" altLang="en-US" sz="1200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511178" y="1835088"/>
            <a:ext cx="2880000" cy="2943904"/>
            <a:chOff x="595221" y="1619648"/>
            <a:chExt cx="3378679" cy="3209152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모서리가 둥근 직사각형 2"/>
            <p:cNvSpPr/>
            <p:nvPr/>
          </p:nvSpPr>
          <p:spPr>
            <a:xfrm>
              <a:off x="595221" y="1619648"/>
              <a:ext cx="3378679" cy="3139490"/>
            </a:xfrm>
            <a:prstGeom prst="roundRect">
              <a:avLst>
                <a:gd name="adj" fmla="val 8040"/>
              </a:avLst>
            </a:prstGeom>
            <a:solidFill>
              <a:srgbClr val="FF256E"/>
            </a:solidFill>
            <a:ln>
              <a:solidFill>
                <a:srgbClr val="FF256E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메인</a:t>
              </a:r>
              <a:r>
                <a:rPr lang="en-US" altLang="ko-KR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95221" y="2081746"/>
              <a:ext cx="3378679" cy="2747054"/>
            </a:xfrm>
            <a:prstGeom prst="roundRect">
              <a:avLst>
                <a:gd name="adj" fmla="val 267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SCR-00      </a:t>
              </a:r>
              <a:r>
                <a:rPr lang="ko-KR" altLang="en-US" sz="14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메인화면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–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로그인 전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SCR-00-1  </a:t>
              </a:r>
              <a:r>
                <a:rPr lang="ko-KR" altLang="en-US" sz="14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메인화면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–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로그인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후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SCR-00-2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브랜드 소개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SCR-01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회원가입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SCR-02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로그인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SCR-21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이력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SCR-22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결과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SCR-23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프로필 관리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SCR-24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계정 설정 화면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3992175" y="1835088"/>
            <a:ext cx="2880000" cy="2953966"/>
            <a:chOff x="595222" y="1619649"/>
            <a:chExt cx="2774178" cy="2326814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모서리가 둥근 직사각형 13"/>
            <p:cNvSpPr/>
            <p:nvPr/>
          </p:nvSpPr>
          <p:spPr>
            <a:xfrm>
              <a:off x="595222" y="1619649"/>
              <a:ext cx="2767803" cy="2268552"/>
            </a:xfrm>
            <a:prstGeom prst="roundRect">
              <a:avLst>
                <a:gd name="adj" fmla="val 8040"/>
              </a:avLst>
            </a:prstGeom>
            <a:solidFill>
              <a:srgbClr val="FF75A3"/>
            </a:solidFill>
            <a:ln>
              <a:solidFill>
                <a:srgbClr val="FF75A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안내</a:t>
              </a:r>
              <a:r>
                <a:rPr lang="en-US" altLang="ko-KR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준비</a:t>
              </a:r>
              <a:endPara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595222" y="1961480"/>
              <a:ext cx="2774178" cy="1984983"/>
            </a:xfrm>
            <a:prstGeom prst="roundRect">
              <a:avLst>
                <a:gd name="adj" fmla="val 267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SCR-03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시작 안내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SCR-04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이력서 업로드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SCR-05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이력서 </a:t>
              </a:r>
              <a:r>
                <a:rPr lang="ko-KR" altLang="en-US" sz="14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재업로드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SCR-06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이력서 확인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SCR-07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환경 테스트 </a:t>
              </a:r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–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오디오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SCR-08     </a:t>
              </a:r>
              <a:r>
                <a:rPr lang="ko-KR" altLang="en-US" sz="14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환경테스트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</a:t>
              </a:r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영상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SCR-09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시작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SCR-19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종료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7473173" y="1236511"/>
            <a:ext cx="3600000" cy="4793491"/>
            <a:chOff x="595222" y="1619649"/>
            <a:chExt cx="3467722" cy="4085940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모서리가 둥근 직사각형 16"/>
            <p:cNvSpPr/>
            <p:nvPr/>
          </p:nvSpPr>
          <p:spPr>
            <a:xfrm>
              <a:off x="595222" y="1619649"/>
              <a:ext cx="3467722" cy="4085939"/>
            </a:xfrm>
            <a:prstGeom prst="roundRect">
              <a:avLst>
                <a:gd name="adj" fmla="val 8040"/>
              </a:avLst>
            </a:prstGeom>
            <a:solidFill>
              <a:srgbClr val="FFE1EB"/>
            </a:solidFill>
            <a:ln>
              <a:solidFill>
                <a:srgbClr val="FFE1E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600" dirty="0" smtClean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진행</a:t>
              </a:r>
              <a:endParaRPr lang="ko-KR" altLang="en-US" sz="1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595222" y="2023249"/>
              <a:ext cx="3467722" cy="3682340"/>
            </a:xfrm>
            <a:prstGeom prst="roundRect">
              <a:avLst>
                <a:gd name="adj" fmla="val 267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SCR-10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자기소개 응답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SCR-10-1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자기소개 응답 완료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SCR-11   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지원동기 응답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SCR-12    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직무 지식 질문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SCR-12-1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 지식 추가 질문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SCR-13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 경험 질문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SCR-13-1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 경험 추가 질문 화면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SCR-14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문제 해결 질문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SCR-14-1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문제 해결 추가 질문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SCR-15      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협업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의사소통 질문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SCR-15-1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의사소통 추가 질문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SCR-16      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책임감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가치관 질문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SCR-16-1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책임감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가치관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추가 질문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SCR-17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변화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성장 질문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SCR-17-1  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변화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성장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추가 질문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SCR-18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최종 발언 화면</a:t>
              </a:r>
              <a:endPara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74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Screen List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3E9FC8A-DB91-6E0A-B66A-781DF5A45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200" dirty="0" err="1" smtClean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면접관리자</a:t>
            </a:r>
            <a:r>
              <a:rPr lang="ko-KR" altLang="en-US" sz="1200" dirty="0" smtClean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 화면</a:t>
            </a:r>
            <a:endParaRPr lang="en-US" altLang="ko-KR" sz="1200" dirty="0" smtClean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endParaRPr lang="ko-KR" altLang="en-US" sz="1200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4228710" y="1093705"/>
            <a:ext cx="2880000" cy="1289112"/>
            <a:chOff x="595221" y="1619648"/>
            <a:chExt cx="3378679" cy="1405262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모서리가 둥근 직사각형 2"/>
            <p:cNvSpPr/>
            <p:nvPr/>
          </p:nvSpPr>
          <p:spPr>
            <a:xfrm>
              <a:off x="595221" y="1619648"/>
              <a:ext cx="3378679" cy="1405262"/>
            </a:xfrm>
            <a:prstGeom prst="roundRect">
              <a:avLst>
                <a:gd name="adj" fmla="val 8040"/>
              </a:avLst>
            </a:prstGeom>
            <a:solidFill>
              <a:srgbClr val="FF256E"/>
            </a:solidFill>
            <a:ln>
              <a:solidFill>
                <a:srgbClr val="FF256E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메인</a:t>
              </a:r>
              <a:r>
                <a:rPr lang="en-US" altLang="ko-KR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95221" y="2081746"/>
              <a:ext cx="3378679" cy="943164"/>
            </a:xfrm>
            <a:prstGeom prst="roundRect">
              <a:avLst>
                <a:gd name="adj" fmla="val 267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INT-00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관리자 메인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2305894" y="2741020"/>
            <a:ext cx="2880000" cy="1298636"/>
            <a:chOff x="595222" y="1619649"/>
            <a:chExt cx="2774178" cy="1022925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모서리가 둥근 직사각형 13"/>
            <p:cNvSpPr/>
            <p:nvPr/>
          </p:nvSpPr>
          <p:spPr>
            <a:xfrm>
              <a:off x="595222" y="1619649"/>
              <a:ext cx="2767803" cy="1022925"/>
            </a:xfrm>
            <a:prstGeom prst="roundRect">
              <a:avLst>
                <a:gd name="adj" fmla="val 8040"/>
              </a:avLst>
            </a:prstGeom>
            <a:solidFill>
              <a:srgbClr val="FF75A3"/>
            </a:solidFill>
            <a:ln>
              <a:solidFill>
                <a:srgbClr val="FF75A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공고 관리</a:t>
              </a:r>
              <a:endPara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595222" y="1968982"/>
              <a:ext cx="2774178" cy="673591"/>
            </a:xfrm>
            <a:prstGeom prst="roundRect">
              <a:avLst>
                <a:gd name="adj" fmla="val 267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INT-01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공고 등록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INT-02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공고 현황 화면</a:t>
              </a:r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6296870" y="4620157"/>
            <a:ext cx="2880000" cy="1298636"/>
            <a:chOff x="595222" y="1619649"/>
            <a:chExt cx="2774178" cy="1022925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모서리가 둥근 직사각형 20"/>
            <p:cNvSpPr/>
            <p:nvPr/>
          </p:nvSpPr>
          <p:spPr>
            <a:xfrm>
              <a:off x="595222" y="1619649"/>
              <a:ext cx="2767803" cy="1022925"/>
            </a:xfrm>
            <a:prstGeom prst="roundRect">
              <a:avLst>
                <a:gd name="adj" fmla="val 8040"/>
              </a:avLst>
            </a:prstGeom>
            <a:solidFill>
              <a:srgbClr val="FF75A3"/>
            </a:solidFill>
            <a:ln>
              <a:solidFill>
                <a:srgbClr val="FF75A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Rubrics</a:t>
              </a:r>
              <a:endPara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595222" y="1968982"/>
              <a:ext cx="2774178" cy="673591"/>
            </a:xfrm>
            <a:prstGeom prst="roundRect">
              <a:avLst>
                <a:gd name="adj" fmla="val 267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INT-07       </a:t>
              </a:r>
              <a:r>
                <a:rPr lang="ko-KR" altLang="en-US" sz="14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루브릭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설정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2305894" y="4483143"/>
            <a:ext cx="2880000" cy="1590542"/>
            <a:chOff x="595222" y="1619649"/>
            <a:chExt cx="2774178" cy="1252857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모서리가 둥근 직사각형 25"/>
            <p:cNvSpPr/>
            <p:nvPr/>
          </p:nvSpPr>
          <p:spPr>
            <a:xfrm>
              <a:off x="595222" y="1619649"/>
              <a:ext cx="2767803" cy="1022925"/>
            </a:xfrm>
            <a:prstGeom prst="roundRect">
              <a:avLst>
                <a:gd name="adj" fmla="val 8040"/>
              </a:avLst>
            </a:prstGeom>
            <a:solidFill>
              <a:srgbClr val="FF75A3"/>
            </a:solidFill>
            <a:ln>
              <a:solidFill>
                <a:srgbClr val="FF75A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결과</a:t>
              </a:r>
              <a:endPara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모서리가 둥근 직사각형 26"/>
            <p:cNvSpPr/>
            <p:nvPr/>
          </p:nvSpPr>
          <p:spPr>
            <a:xfrm>
              <a:off x="595222" y="1968982"/>
              <a:ext cx="2774178" cy="903524"/>
            </a:xfrm>
            <a:prstGeom prst="roundRect">
              <a:avLst>
                <a:gd name="adj" fmla="val 267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INT-05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지원자 관리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INT-05-1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결과 수정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INT-06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결과 분석 목록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INT-06-1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결과 분석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6296870" y="2786655"/>
            <a:ext cx="2880000" cy="1298636"/>
            <a:chOff x="595222" y="1619649"/>
            <a:chExt cx="2774178" cy="1022925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모서리가 둥근 직사각형 28"/>
            <p:cNvSpPr/>
            <p:nvPr/>
          </p:nvSpPr>
          <p:spPr>
            <a:xfrm>
              <a:off x="595222" y="1619649"/>
              <a:ext cx="2767803" cy="1022925"/>
            </a:xfrm>
            <a:prstGeom prst="roundRect">
              <a:avLst>
                <a:gd name="adj" fmla="val 8040"/>
              </a:avLst>
            </a:prstGeom>
            <a:solidFill>
              <a:srgbClr val="FF75A3"/>
            </a:solidFill>
            <a:ln>
              <a:solidFill>
                <a:srgbClr val="FF75A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6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현황</a:t>
              </a:r>
              <a:endPara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595222" y="1968982"/>
              <a:ext cx="2774178" cy="673591"/>
            </a:xfrm>
            <a:prstGeom prst="roundRect">
              <a:avLst>
                <a:gd name="adj" fmla="val 267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INT-03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지원자 관리 화면</a:t>
              </a:r>
              <a:endParaRPr lang="en-US" altLang="ko-KR" sz="1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INT-04       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관리 화면</a:t>
              </a:r>
              <a:r>
                <a:rPr lang="en-US" altLang="ko-KR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29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메인 화면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5896340" y="1440811"/>
            <a:ext cx="876835" cy="41515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6867278" y="1440811"/>
            <a:ext cx="876835" cy="41515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회원가입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2925197" y="5142507"/>
            <a:ext cx="876835" cy="4657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시작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4142714" y="5142507"/>
            <a:ext cx="1047417" cy="4657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더 알아보기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2810523" y="5018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4048611" y="503378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5785256" y="133209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6773175" y="133209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503110"/>
              </p:ext>
            </p:extLst>
          </p:nvPr>
        </p:nvGraphicFramePr>
        <p:xfrm>
          <a:off x="8561828" y="1054743"/>
          <a:ext cx="3276234" cy="580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60260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브랜드 로고 표시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로고 로고를 노출하여 서비스 정체성과 브랜드 인지도를 제공함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정체성과 브랜드</a:t>
                      </a:r>
                      <a:r>
                        <a:rPr lang="en-US" altLang="ko-KR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인지도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60929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환영 메시지 및 서비스 소개 문구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사용자에게 서비스 시작을 안내하고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모의면접 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서비스의 목적과 핵심 가치를 간략히 전달함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6983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시작 버튼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비회원 또는 회원 사용자가 모의면접 프로세스를 바로 시작할 수 있도록 입사 지원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시나리오 단계로 이동함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 smtClean="0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로그인 후 활성화</a:t>
                      </a:r>
                      <a:r>
                        <a:rPr lang="en-US" altLang="ko-KR" sz="1000" b="0" kern="1200" dirty="0" smtClean="0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en-US" altLang="ko-KR" sz="1000" b="0" kern="1200" baseline="0" dirty="0" smtClean="0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로그인 전 로그인 후 이용 가능 안내 제공</a:t>
                      </a:r>
                      <a:endParaRPr lang="ko-KR" altLang="en-US" sz="1000" b="0" kern="1200" dirty="0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55656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소개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버튼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더 알아보기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기능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 방법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 절차 등에 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대한 안내 화면 또는 설명 페이지로 이동함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로그인 버튼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기존 회원이 계정 인증을 통해 로그인 화면으로 이동하여 개인화된 서비스 이용이 가능하도록 함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6983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회원가입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신규 사용자가 회원가입 화면으로 이동하여 계정을 생성하고 서비스 이용을 시작할 수 있도록 함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1756410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92187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25395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SCR-00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로그인 전 시작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메인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로그인 전 서비스 진입 경로 및 제공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497" y="1391411"/>
            <a:ext cx="2245102" cy="1327498"/>
          </a:xfrm>
          <a:prstGeom prst="rect">
            <a:avLst/>
          </a:prstGeom>
        </p:spPr>
      </p:pic>
      <p:sp>
        <p:nvSpPr>
          <p:cNvPr id="39" name="타원 38"/>
          <p:cNvSpPr/>
          <p:nvPr/>
        </p:nvSpPr>
        <p:spPr>
          <a:xfrm>
            <a:off x="2953446" y="17900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18327" y="2546734"/>
            <a:ext cx="5663891" cy="2423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함께 준비하는</a:t>
            </a:r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더 정확한 면접 </a:t>
            </a:r>
            <a:r>
              <a:rPr lang="ko-KR" altLang="en-US" sz="105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경험</a:t>
            </a:r>
            <a:endParaRPr lang="en-US" altLang="ko-KR" sz="105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225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 기업의 인재상과 핵심역량을 반영한</a:t>
            </a:r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b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5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개인 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맞춤형 </a:t>
            </a:r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5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</a:t>
            </a:r>
            <a:endParaRPr lang="en-US" altLang="ko-KR" sz="105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225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 기업의 인재상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핵심역량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비전을 분석하여 구축한 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면접 시스템을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통해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공통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질문이 아닌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지원자의 이력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경험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답변 내용에 맞춰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실시간으로 질문이 달라지는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맞춤형 인터뷰를 제공합니다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1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“질문은 같지 않습니다. 당신이 다르니까.”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“기업에 맞추고, 당신에게 맞춘다.”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“정답이 아닌 사고를 평가합니다.”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“공통 질문이 아닌, 당신만의 면접.”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“225개 기업 데이터 기반 맞춤 인터뷰</a:t>
            </a:r>
            <a:r>
              <a:rPr lang="ko-KR" altLang="ko-KR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.”</a:t>
            </a:r>
            <a:endParaRPr lang="ko-KR" altLang="ko-KR" sz="1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2631879" y="254673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01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메인 화면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2997965" y="5287197"/>
            <a:ext cx="876835" cy="4657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시작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4222412" y="5287196"/>
            <a:ext cx="1047417" cy="4657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더 알아보기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2867965" y="185596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2717593" y="247128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2966431" y="519859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4097715" y="519631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79240"/>
              </p:ext>
            </p:extLst>
          </p:nvPr>
        </p:nvGraphicFramePr>
        <p:xfrm>
          <a:off x="8561828" y="1054743"/>
          <a:ext cx="3276234" cy="5697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7289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브랜드 로고 표시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로고 로고를 노출하여 서비스 정체성과 브랜드 인지도를 제공함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정체성과 브랜드</a:t>
                      </a:r>
                      <a:r>
                        <a:rPr lang="en-US" altLang="ko-KR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인지도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57924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환영 메시지 및 서비스 소개 문구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사용자에게 서비스 시작을 안내하고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모의면접 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서비스의 목적과 핵심 가치를 간략히 전달함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71092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시작 버튼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 사용자가 모의면접 프로세스를 바로 시작할 수 있도록 입사 지원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</a:t>
                      </a:r>
                      <a:r>
                        <a:rPr lang="en-US" altLang="ko-KR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시나리오 단계로 이동함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53832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소개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버튼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더 알아보기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기능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 방법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 절차 등에 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대한 안내 화면 또는 설명 페이지로 이동함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72150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면접관리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버튼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en-US" altLang="ko-KR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dirty="0" smtClean="0"/>
                        <a:t>사용자가 수행한 면접 기록을 조회할 수 있도록 제공하는 </a:t>
                      </a:r>
                      <a:r>
                        <a:rPr lang="ko-KR" altLang="en-US" sz="1000" dirty="0" err="1" smtClean="0"/>
                        <a:t>드롭다운</a:t>
                      </a:r>
                      <a:r>
                        <a:rPr lang="ko-KR" altLang="en-US" sz="1000" dirty="0" smtClean="0"/>
                        <a:t> 버튼</a:t>
                      </a:r>
                      <a:endParaRPr lang="en-US" altLang="ko-KR" sz="1000" dirty="0" smtClean="0"/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마우스를 올리면 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이력</a:t>
                      </a:r>
                      <a:r>
                        <a:rPr lang="en-US" altLang="ko-KR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메뉴 제공 활성화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면접이력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진입 시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SCR-27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으로 이동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6878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내정보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개인 계정 정보를 관리할 수 있도록 제공하는 </a:t>
                      </a: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드롭다운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버튼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마우스를 올리면 프로필 관리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계정 설정 메뉴 제공 활성화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1749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로그아웃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로그인된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사용자 세션을 종료하는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/>
                        <a:t>서비스 메인 로그인 화면으로 이동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92187"/>
                  </a:ext>
                </a:extLst>
              </a:tr>
              <a:tr h="961311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306009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546367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SCR-00-1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로그인 후 시작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메인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로그인 후 서비스 진입 경로 및 제공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cxnSp>
        <p:nvCxnSpPr>
          <p:cNvPr id="7" name="직선 연결선 6"/>
          <p:cNvCxnSpPr/>
          <p:nvPr/>
        </p:nvCxnSpPr>
        <p:spPr>
          <a:xfrm flipV="1">
            <a:off x="6027947" y="1518342"/>
            <a:ext cx="2277237" cy="87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27947" y="1223746"/>
            <a:ext cx="2471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면접관리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|  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내 정보 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|  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로그아웃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5866663" y="124583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6782138" y="106512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7437613" y="106512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084037" y="1451573"/>
            <a:ext cx="667255" cy="2027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이력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798432" y="1450929"/>
            <a:ext cx="736265" cy="203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프로필 관리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793854" y="1659046"/>
            <a:ext cx="736265" cy="203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계정 설정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220" y="1607975"/>
            <a:ext cx="1878844" cy="11109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67965" y="2639646"/>
            <a:ext cx="3212750" cy="2423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함께 준비하는</a:t>
            </a:r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더 정확한 면접 </a:t>
            </a:r>
            <a:r>
              <a:rPr lang="ko-KR" altLang="en-US" sz="105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경험</a:t>
            </a:r>
            <a:endParaRPr lang="en-US" altLang="ko-KR" sz="105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225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 기업의 인재상과 핵심역량을 반영한</a:t>
            </a:r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b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5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개인 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맞춤형 </a:t>
            </a:r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5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</a:t>
            </a:r>
            <a:endParaRPr lang="en-US" altLang="ko-KR" sz="105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225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 기업의 인재상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핵심역량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비전을 분석하여 구축한 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면접 시스템을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통해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공통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질문이 아닌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지원자의 이력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경험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답변 내용에 맞춰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실시간으로 질문이 달라지는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맞춤형 인터뷰를 제공합니다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1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“질문은 같지 않습니다. 당신이 다르니까.”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“기업에 맞추고, 당신에게 맞춘다.”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“정답이 아닌 사고를 평가합니다.”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“공통 질문이 아닌, 당신만의 면접.”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“225개 기업 데이터 기반 맞춤 인터뷰</a:t>
            </a:r>
            <a:r>
              <a:rPr lang="ko-KR" altLang="ko-KR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.”</a:t>
            </a:r>
            <a:endParaRPr lang="ko-KR" altLang="ko-KR" sz="1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911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브랜드 소개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918316"/>
              </p:ext>
            </p:extLst>
          </p:nvPr>
        </p:nvGraphicFramePr>
        <p:xfrm>
          <a:off x="8561828" y="1054742"/>
          <a:ext cx="3276234" cy="5458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86032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브랜드 소개 영역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각 구간으로 나눠 브랜드 소개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개인 맞춤형 면접 시스템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기업 맞춤형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HR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연동 솔루션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AI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멀티모달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역량 분석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en-US" altLang="ko-KR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VictorView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미래 확장 방향 각 소개 및 안내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60384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관련 이미지 출력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브랜드 </a:t>
                      </a: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로고과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소개 관련 이미지를 제공하며 동적으로 움직임 효과 제공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670191"/>
                  </a:ext>
                </a:extLst>
              </a:tr>
              <a:tr h="3994030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306009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201908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305644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7532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70899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SCR-00-2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브랜드 소개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ko-KR" altLang="en-US" sz="1000" b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메인에서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제공하는 더 알아보기 버튼으로 </a:t>
                      </a:r>
                      <a:r>
                        <a:rPr lang="ko-KR" altLang="en-US" sz="1000" b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인입된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후 회사 소개 제공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651" y="1189433"/>
            <a:ext cx="2518913" cy="1204651"/>
          </a:xfrm>
          <a:prstGeom prst="rect">
            <a:avLst/>
          </a:prstGeom>
        </p:spPr>
      </p:pic>
      <p:cxnSp>
        <p:nvCxnSpPr>
          <p:cNvPr id="10" name="직선 연결선 9"/>
          <p:cNvCxnSpPr/>
          <p:nvPr/>
        </p:nvCxnSpPr>
        <p:spPr>
          <a:xfrm>
            <a:off x="335379" y="2291547"/>
            <a:ext cx="8132343" cy="431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335379" y="3399285"/>
            <a:ext cx="8132343" cy="431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335379" y="4447618"/>
            <a:ext cx="8132343" cy="431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35379" y="5536324"/>
            <a:ext cx="8132343" cy="431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6934564" y="1226941"/>
            <a:ext cx="1364047" cy="10052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로고</a:t>
            </a: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관련 이미지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7308" y="2366509"/>
            <a:ext cx="4970575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개인 맞춤형 면접 시스템</a:t>
            </a:r>
            <a:endParaRPr lang="en-US" altLang="ko-KR" sz="10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VictorView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는 지원자의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이력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경험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답변 패턴을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분석하여 개인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맞춤 질문을 생성합니다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이력서 기반 질문 자동 생성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답변 흐름 기반 꼬리 질문 생성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성향 및 커뮤니케이션 패턴 분석</a:t>
            </a:r>
          </a:p>
          <a:p>
            <a:endParaRPr lang="ko-KR" alt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997224" y="2378639"/>
            <a:ext cx="1968783" cy="10052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 맞춤 면접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관련 이미지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5376" y="3383199"/>
            <a:ext cx="49705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기업 맞춤형 </a:t>
            </a:r>
            <a:r>
              <a:rPr lang="en-US" altLang="ko-KR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HR 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연동 솔루션</a:t>
            </a:r>
            <a:endParaRPr lang="en-US" altLang="ko-KR" sz="10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VictorView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향후기업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HR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시스템과 연동 가능한 구조로 설계되어 있습니다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ATS(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채용 관리 시스템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연동 가능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기업 맞춤 평가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루브릭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설정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✔ 대규모 지원자 선별 자동화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채용 데이터 분석 지원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5994096" y="3468946"/>
            <a:ext cx="1968783" cy="10052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기업 맞춤 면접 관련 이미지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76342" y="4499343"/>
            <a:ext cx="49705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b="1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멀티모달</a:t>
            </a: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역량 분석</a:t>
            </a:r>
            <a:endParaRPr lang="en-US" altLang="ko-KR" sz="10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VictorView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단순 답변 평가가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아닌다양한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신호를 종합 분석합니다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49258" y="4914208"/>
            <a:ext cx="15009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음성 분석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발화 속도 분석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음성 안정성 분석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긴장도 및 자신감 추정</a:t>
            </a:r>
          </a:p>
          <a:p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49233" y="4914208"/>
            <a:ext cx="122982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비언어 행동 분석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표정 변화 분석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시선 처리 분석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태도 및 몰입도 평가</a:t>
            </a:r>
          </a:p>
          <a:p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85216" y="4856672"/>
            <a:ext cx="15640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비언어 행동 분석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표정 변화 분석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시선 처리 분석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태도 및 몰입도 평가</a:t>
            </a:r>
          </a:p>
          <a:p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6004213" y="4510839"/>
            <a:ext cx="1968783" cy="10052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멀티모달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관련 이미지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6342" y="5554338"/>
            <a:ext cx="45985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VictorView</a:t>
            </a:r>
            <a:r>
              <a:rPr lang="en-US" altLang="ko-KR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미래 확장 </a:t>
            </a:r>
            <a:r>
              <a:rPr lang="ko-KR" altLang="en-US" sz="105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방향</a:t>
            </a:r>
            <a:endParaRPr lang="en-US" altLang="ko-KR" sz="105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VictorView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플랫폼을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넘어 지능형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채용 평가 솔루션으로 확장됩니다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755696" y="3699569"/>
            <a:ext cx="19956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기업 맞춤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면접관 구축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기업별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LLM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파인튜닝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채용 데이터 분석 플랫폼 확장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✔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HR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 통합 솔루션 제공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6029194" y="5600493"/>
            <a:ext cx="1968783" cy="9069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멀티모달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관련 이미지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503159" y="5963382"/>
            <a:ext cx="1328156" cy="4760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기업 맞춤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면접관 구축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872275" y="5963382"/>
            <a:ext cx="1328156" cy="4760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기업 인재상 기반 맞춤 면접 시스템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3241391" y="5963382"/>
            <a:ext cx="1328156" cy="4760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채용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분석 플랫폼 확장</a:t>
            </a:r>
            <a:b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606935" y="5969489"/>
            <a:ext cx="1328156" cy="4760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HR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통합 솔루션 제공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8014" y="1193755"/>
            <a:ext cx="5009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VictorView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ko-KR" altLang="en-US" sz="1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무엇인가</a:t>
            </a:r>
            <a:r>
              <a:rPr lang="en-US" altLang="ko-KR" sz="1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r>
              <a:rPr lang="en-US" altLang="ko-KR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VictorView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멀티모달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면접 분석 기술을 활용하여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지원자의 역량을 객관적으로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평가하는 지능형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인터뷰 플랫폼입니다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공통 질문 중심의 기존 모의면접을 넘어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b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기업 인재상과 지원자의 경험 데이터를 결합하여</a:t>
            </a:r>
            <a:b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맞춤형 면접 환경을 제공합니다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172428" y="111414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4318605" y="112110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478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회원 가입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3537360" y="178332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445344"/>
              </p:ext>
            </p:extLst>
          </p:nvPr>
        </p:nvGraphicFramePr>
        <p:xfrm>
          <a:off x="8619208" y="1051986"/>
          <a:ext cx="3367638" cy="6172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833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88805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48909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프로필 이미지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사용자의 기본 프로필 이미지를 표시하는 영역으로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 업로드 전에는 기본 아이콘이 노출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62495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업로드 버튼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프로필 이미지를 선택하여 업로드할 수 있는 버튼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 파일 선택 후 즉시 </a:t>
                      </a: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미리보기가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반영됨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62495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수정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 </a:t>
                      </a: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업로드된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프로필 이미지를 변경할 수 있는 버튼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기존 이미지를 다른 이미지로 교체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62495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이메일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로그인 계정으로 사용할 이메일 주소를 입력하는 필드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/>
                        <a:t>중복 여부 및 형식 유효성 검증이 수행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48909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비밀번호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계정 비밀번호를 입력하는 필드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/>
                        <a:t>보안 강화를 위해 입력 값은 </a:t>
                      </a:r>
                      <a:r>
                        <a:rPr lang="ko-KR" altLang="en-US" sz="1000" dirty="0" err="1" smtClean="0"/>
                        <a:t>마스킹</a:t>
                      </a:r>
                      <a:r>
                        <a:rPr lang="ko-KR" altLang="en-US" sz="1000" dirty="0" smtClean="0"/>
                        <a:t> 처리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62495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비밀번호 확인 입력 필드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</a:b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비밀번호 입력 오류를 방지하기 위해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⑤번 비밀번호와 동일한 값을 다시 입력하는 필드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48909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이름 입력 필드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</a:b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실명 또는 서비스 이용 시 표시될 이름을 입력하는 필드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48909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생년월일 입력 필드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</a:b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사용자의 생년월일을 입력하는 필드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연령 확인 및 서비스 제공 기준에 활용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2495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이용약관 및 개인정보 처리 방침 동의 체크박스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이용을 위해 필수적으로 동의해야 하는 항목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미동의 시 회원가입이 제한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  <a:tr h="48909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회원가입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모든 필수 입력 항목 및 약관 동의가 완료된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후신규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사용자 계정을 생성하는 버튼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92187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034668"/>
              </p:ext>
            </p:extLst>
          </p:nvPr>
        </p:nvGraphicFramePr>
        <p:xfrm>
          <a:off x="156656" y="836311"/>
          <a:ext cx="11823593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824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90957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704933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615472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7907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505084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87444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88805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회원가입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신규 사용자 계정 생성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25" name="타원 24"/>
          <p:cNvSpPr/>
          <p:nvPr/>
        </p:nvSpPr>
        <p:spPr>
          <a:xfrm>
            <a:off x="3537360" y="1879185"/>
            <a:ext cx="1181100" cy="1171575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4913481" y="2707860"/>
            <a:ext cx="723900" cy="3143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업로드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701414" y="2707860"/>
            <a:ext cx="723900" cy="3143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728" y="2035270"/>
            <a:ext cx="870363" cy="944891"/>
          </a:xfrm>
          <a:prstGeom prst="rect">
            <a:avLst/>
          </a:prstGeom>
        </p:spPr>
      </p:pic>
      <p:grpSp>
        <p:nvGrpSpPr>
          <p:cNvPr id="29" name="그룹 28"/>
          <p:cNvGrpSpPr/>
          <p:nvPr/>
        </p:nvGrpSpPr>
        <p:grpSpPr>
          <a:xfrm>
            <a:off x="2127659" y="3314738"/>
            <a:ext cx="3375610" cy="206255"/>
            <a:chOff x="1386891" y="3456699"/>
            <a:chExt cx="3375610" cy="314325"/>
          </a:xfrm>
        </p:grpSpPr>
        <p:sp>
          <p:nvSpPr>
            <p:cNvPr id="30" name="직사각형 29"/>
            <p:cNvSpPr/>
            <p:nvPr/>
          </p:nvSpPr>
          <p:spPr>
            <a:xfrm>
              <a:off x="2032669" y="3456699"/>
              <a:ext cx="2729832" cy="314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86891" y="3456699"/>
              <a:ext cx="6000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이메일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2036168" y="3703531"/>
            <a:ext cx="3467100" cy="213144"/>
            <a:chOff x="1295401" y="3449478"/>
            <a:chExt cx="3467100" cy="321546"/>
          </a:xfrm>
        </p:grpSpPr>
        <p:sp>
          <p:nvSpPr>
            <p:cNvPr id="46" name="직사각형 45"/>
            <p:cNvSpPr/>
            <p:nvPr/>
          </p:nvSpPr>
          <p:spPr>
            <a:xfrm>
              <a:off x="2032669" y="3456699"/>
              <a:ext cx="2729832" cy="314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295401" y="3449478"/>
              <a:ext cx="6915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비밀번호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1798043" y="4117203"/>
            <a:ext cx="3705225" cy="223628"/>
            <a:chOff x="1057276" y="3424220"/>
            <a:chExt cx="3705225" cy="346804"/>
          </a:xfrm>
        </p:grpSpPr>
        <p:sp>
          <p:nvSpPr>
            <p:cNvPr id="50" name="직사각형 49"/>
            <p:cNvSpPr/>
            <p:nvPr/>
          </p:nvSpPr>
          <p:spPr>
            <a:xfrm>
              <a:off x="2032669" y="3456699"/>
              <a:ext cx="2729832" cy="314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57276" y="3424220"/>
              <a:ext cx="9296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비밀번호 확인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2262888" y="4475937"/>
            <a:ext cx="3240380" cy="246221"/>
            <a:chOff x="1522121" y="3422939"/>
            <a:chExt cx="3240380" cy="381841"/>
          </a:xfrm>
        </p:grpSpPr>
        <p:sp>
          <p:nvSpPr>
            <p:cNvPr id="53" name="직사각형 52"/>
            <p:cNvSpPr/>
            <p:nvPr/>
          </p:nvSpPr>
          <p:spPr>
            <a:xfrm>
              <a:off x="2032669" y="3456699"/>
              <a:ext cx="2729832" cy="314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522121" y="3422939"/>
              <a:ext cx="929691" cy="381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이름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734286" y="5364179"/>
            <a:ext cx="2727321" cy="246221"/>
            <a:chOff x="2727733" y="4916308"/>
            <a:chExt cx="2727321" cy="246221"/>
          </a:xfrm>
        </p:grpSpPr>
        <p:sp>
          <p:nvSpPr>
            <p:cNvPr id="55" name="직사각형 54"/>
            <p:cNvSpPr/>
            <p:nvPr/>
          </p:nvSpPr>
          <p:spPr>
            <a:xfrm>
              <a:off x="2727733" y="4974811"/>
              <a:ext cx="127586" cy="1212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837030" y="4916308"/>
              <a:ext cx="26180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이용약관 및 개인정보 취급 방침에 동의합니다</a:t>
              </a:r>
              <a:r>
                <a:rPr lang="en-US" altLang="ko-KR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7" name="모서리가 둥근 직사각형 56"/>
          <p:cNvSpPr/>
          <p:nvPr/>
        </p:nvSpPr>
        <p:spPr>
          <a:xfrm>
            <a:off x="3537360" y="5711781"/>
            <a:ext cx="723900" cy="3143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회원가입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4783481" y="255752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5668778" y="256122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1903556" y="328251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1812065" y="369158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1523611" y="41172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타원 62"/>
          <p:cNvSpPr/>
          <p:nvPr/>
        </p:nvSpPr>
        <p:spPr>
          <a:xfrm>
            <a:off x="2002888" y="448294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1867659" y="485884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2072065" y="4837078"/>
            <a:ext cx="3431203" cy="246221"/>
            <a:chOff x="1331298" y="3422939"/>
            <a:chExt cx="3431203" cy="381841"/>
          </a:xfrm>
        </p:grpSpPr>
        <p:sp>
          <p:nvSpPr>
            <p:cNvPr id="66" name="직사각형 65"/>
            <p:cNvSpPr/>
            <p:nvPr/>
          </p:nvSpPr>
          <p:spPr>
            <a:xfrm>
              <a:off x="2032669" y="3456699"/>
              <a:ext cx="2729832" cy="314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331298" y="3422939"/>
              <a:ext cx="929691" cy="381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생년월일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8" name="타원 67"/>
          <p:cNvSpPr/>
          <p:nvPr/>
        </p:nvSpPr>
        <p:spPr>
          <a:xfrm>
            <a:off x="2408969" y="537459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3313257" y="565150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564490" y="1913056"/>
            <a:ext cx="3295156" cy="400507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240" y="2092221"/>
            <a:ext cx="1461444" cy="86413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sz="2400" dirty="0" smtClean="0"/>
              <a:t>로그인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973581"/>
              </p:ext>
            </p:extLst>
          </p:nvPr>
        </p:nvGraphicFramePr>
        <p:xfrm>
          <a:off x="8561828" y="1054743"/>
          <a:ext cx="3276234" cy="5736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44743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로고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서비스의 브랜드 로고를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89112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이메일 입력 필드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회원가입 시 등록한 이메일 주소를 입력하는 필드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입력된 이메일은 사용자 인증을 위한 식별 정보로 사용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5821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비밀번호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계정 비밀번호를 입력하는 필드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강화를 위해 입력 값은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마스킹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처리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9014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로그인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이메일과 비밀번호 정보를 기반으로 사용자 인증을 수행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인증 성공 시 서비스 메인 화면으로 진입하는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계정에 설정된 권한 확인 후 권한에 맞는 서비스 화면으로 자동 이동 처리</a:t>
                      </a:r>
                      <a:endParaRPr lang="en-US" altLang="ko-KR" sz="1000" b="0" kern="1200" dirty="0" smtClean="0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76453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계정 관련 보조 메뉴 영역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</a:b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아이디 찾기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비밀번호 찾기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회원가입 화면으로 이동할 수 있는 링크를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계정 관리 및 신규 가입을 지원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876561"/>
                  </a:ext>
                </a:extLst>
              </a:tr>
              <a:tr h="1892744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815763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SCR-02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로그인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 및 서비스 진입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3131623" y="2999847"/>
            <a:ext cx="2142602" cy="384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emeil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3131623" y="3531544"/>
            <a:ext cx="2142602" cy="384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password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600048" y="4109676"/>
            <a:ext cx="1205752" cy="3132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3001623" y="286755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3001623" y="34228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3470048" y="403384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99463" y="4516390"/>
            <a:ext cx="25756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아이디 찾기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비밀번호 찾기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회원가입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2953774" y="436094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3237108" y="233021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7385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면접 시작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290350"/>
              </p:ext>
            </p:extLst>
          </p:nvPr>
        </p:nvGraphicFramePr>
        <p:xfrm>
          <a:off x="8561828" y="1054743"/>
          <a:ext cx="3276234" cy="548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996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로고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서비스의 브랜드 로고를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70708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시작 안내 문구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모의면접이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시작됨을 사용자에게 안내하는 문구 영역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전 주의사항 확인을 유도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11760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 안내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진행과 관련된 주요 정보를 요약하여 제공하는 영역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소요 시간 안내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면접 진행 방식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영상면접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진행 방식을 사전에 인지하도록 제공 또는 음성 응답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안내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중간 종료 가능 여부 안내 등 사용자가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86080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시작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안내 내용을 확인한 사용자가 실제 면접을 시작할 수 있도록 하는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클릭 시 환경 테스트 또는 첫 질문 화면으로 이동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343632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426556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SCR-03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시작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사용자가 면접을 시작하기 위한 진입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2081973" y="1281185"/>
            <a:ext cx="4288536" cy="510235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40015" y="2386766"/>
            <a:ext cx="35724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지금부터 모의면접을 시작합니다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algn="ctr"/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아래 안내사항을 확인해주세요</a:t>
            </a:r>
            <a:r>
              <a: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2568747" y="3269021"/>
            <a:ext cx="3314983" cy="1111628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소요시간 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20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 </a:t>
            </a:r>
            <a:endParaRPr lang="en-US" altLang="ko-KR" sz="12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 방식 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 또는 음성 응답</a:t>
            </a:r>
            <a:endParaRPr lang="en-US" altLang="ko-KR" sz="12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중간 종료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가능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026664" y="4773168"/>
            <a:ext cx="2331720" cy="438912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시작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2443739" y="226996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2416243" y="315094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2896664" y="466444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899" y="1468620"/>
            <a:ext cx="1355249" cy="801340"/>
          </a:xfrm>
          <a:prstGeom prst="rect">
            <a:avLst/>
          </a:prstGeom>
        </p:spPr>
      </p:pic>
      <p:sp>
        <p:nvSpPr>
          <p:cNvPr id="39" name="타원 38"/>
          <p:cNvSpPr/>
          <p:nvPr/>
        </p:nvSpPr>
        <p:spPr>
          <a:xfrm>
            <a:off x="3307222" y="171596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695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이력서 업로드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2928108" y="180912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993732"/>
              </p:ext>
            </p:extLst>
          </p:nvPr>
        </p:nvGraphicFramePr>
        <p:xfrm>
          <a:off x="8561828" y="1054743"/>
          <a:ext cx="3276234" cy="548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588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94646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340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이력서 업로드 안내 문구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진행을 위해 이력서 업로드가 필요함을 사용자에게 안내하는 문구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83071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파일 업로드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드래그 앤 드롭 박스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이력서를 드래그 앤 드롭 방식으로 업로드할 수 있는 영역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시 파일 선택 창을 통해 업로드도 가능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83071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문서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업로드 전 또는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업로드된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이력서 파일을 이미지 형태로 표시하는 영역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선택한 파일을 시각적으로 확인할 수 있도록 제공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6823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업로드 안내 문구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이력서를 지정된 영역에 드래그하여 업로드하도록 안내하는 보조 문구 영역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파일 업로드 방식을 명확히 설명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6823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파일 업로드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이력서 파일을 선택하여 업로드를 실행하는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파일 선택 후 업로드 처리를 시작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6823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파일 형식 안내 문구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 가능한 파일 형식을 안내하는 문구 영역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PDF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형식의 이력서만 업로드 가능함을 사용자에게 고지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1130913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62484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80822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03790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SCR-04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이력서 업로드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지원자 면접 진행을 위한 이력서 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PDF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업로드 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2331720" y="1216152"/>
            <a:ext cx="4014216" cy="52120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022211" y="1944895"/>
            <a:ext cx="263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이력서를 업로드 해주세요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798064" y="2505456"/>
            <a:ext cx="3081528" cy="1728216"/>
          </a:xfrm>
          <a:prstGeom prst="roundRect">
            <a:avLst/>
          </a:prstGeom>
          <a:noFill/>
          <a:ln w="13970">
            <a:solidFill>
              <a:schemeClr val="bg1">
                <a:lumMod val="50000"/>
                <a:alpha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177291" y="3845824"/>
            <a:ext cx="2323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이력서를 이곳에 드래그하여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놓아주세요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937045" y="2725499"/>
            <a:ext cx="803564" cy="95134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문서 이미지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3235693" y="4578301"/>
            <a:ext cx="2331720" cy="438912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파일 업로드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63394" y="5037113"/>
            <a:ext cx="203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PDF </a:t>
            </a:r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형식만 지원합니다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2648704" y="24073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3787685" y="256095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058108" y="369364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3041288" y="445963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3063754" y="501721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661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이력서 </a:t>
            </a:r>
            <a:r>
              <a:rPr lang="ko-KR" altLang="en-US" dirty="0" err="1" smtClean="0"/>
              <a:t>재업로드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138255"/>
              </p:ext>
            </p:extLst>
          </p:nvPr>
        </p:nvGraphicFramePr>
        <p:xfrm>
          <a:off x="8561828" y="1054743"/>
          <a:ext cx="3276234" cy="5479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234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</a:tblGrid>
              <a:tr h="54794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554801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SCR-05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이력서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재업로드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이력서 수정 및 </a:t>
                      </a:r>
                      <a:r>
                        <a:rPr lang="ko-KR" altLang="en-US" sz="1000" b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재업로드</a:t>
                      </a:r>
                      <a:endParaRPr lang="ko-KR" altLang="en-US" sz="1000" b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3325103" y="2887718"/>
            <a:ext cx="1426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SCR-04 </a:t>
            </a:r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이동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871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이력서 내역 확인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926789"/>
              </p:ext>
            </p:extLst>
          </p:nvPr>
        </p:nvGraphicFramePr>
        <p:xfrm>
          <a:off x="8561828" y="1054742"/>
          <a:ext cx="3276234" cy="5479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10980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이력서 추출 내용 안내 문구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업로드된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이력서에서 자동으로 추출된 정보를 안내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내용의 정확성을 확인하도록 유도하는 문구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내용이 맞을 경우 면접 진행을 안내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10980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 정보 확인 영역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이력서에서 추출된 지원 정보를 요약하여 표시하는 영역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 회사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 직무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경력 요약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전공관련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기술 및 자격 등</a:t>
                      </a:r>
                      <a:r>
                        <a:rPr lang="en-US" altLang="ko-KR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dirty="0" smtClean="0"/>
                        <a:t>사용자가 면접 진행 전 자신의 지원 정보를 최종 확인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93170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표시된 지원 정보가 정확한 경우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절차를 계속 진행하기 위한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클릭 시 다음 단계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환경 테스트 또는 질문 화면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이동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116115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이력서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재업로드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이력서 정보가 정확하지 않거나 수정이 필요한 경우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이력서를 다시 업로드할 수 있도록 하는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클릭 시 이력서 업로드 화면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(SCR-05)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으로 이동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1190387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449106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SCR-06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 정보 확인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지원 회사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직무등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지원 정보 확인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grpSp>
        <p:nvGrpSpPr>
          <p:cNvPr id="13" name="그룹 12"/>
          <p:cNvGrpSpPr/>
          <p:nvPr/>
        </p:nvGrpSpPr>
        <p:grpSpPr>
          <a:xfrm>
            <a:off x="2124364" y="1225997"/>
            <a:ext cx="4184073" cy="5227781"/>
            <a:chOff x="2124364" y="1225997"/>
            <a:chExt cx="4184073" cy="5227781"/>
          </a:xfrm>
        </p:grpSpPr>
        <p:sp>
          <p:nvSpPr>
            <p:cNvPr id="15" name="타원 14"/>
            <p:cNvSpPr/>
            <p:nvPr/>
          </p:nvSpPr>
          <p:spPr>
            <a:xfrm>
              <a:off x="2205190" y="1409528"/>
              <a:ext cx="260000" cy="21744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2124364" y="1225997"/>
              <a:ext cx="4184073" cy="522778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124364" y="1588279"/>
              <a:ext cx="41840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업로드하신 이력서에서 아래와 같은 내용을 추출하였습니다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algn="ctr"/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내용이 맞는지 확인해 주세요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algn="ctr"/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내용이 </a:t>
              </a:r>
              <a:r>
                <a:rPr lang="ko-KR" altLang="en-US" sz="1200" dirty="0" err="1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맞다면</a:t>
              </a:r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하단에 면접 진행 버튼을 눌러주세요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8" name="그룹 17"/>
            <p:cNvGrpSpPr/>
            <p:nvPr/>
          </p:nvGrpSpPr>
          <p:grpSpPr>
            <a:xfrm>
              <a:off x="2465190" y="2412226"/>
              <a:ext cx="3502420" cy="2002249"/>
              <a:chOff x="2465190" y="2394260"/>
              <a:chExt cx="3502420" cy="2002249"/>
            </a:xfrm>
          </p:grpSpPr>
          <p:sp>
            <p:nvSpPr>
              <p:cNvPr id="25" name="모서리가 둥근 직사각형 24"/>
              <p:cNvSpPr/>
              <p:nvPr/>
            </p:nvSpPr>
            <p:spPr>
              <a:xfrm>
                <a:off x="2465190" y="2412226"/>
                <a:ext cx="3502420" cy="1984283"/>
              </a:xfrm>
              <a:prstGeom prst="roundRect">
                <a:avLst>
                  <a:gd name="adj" fmla="val 9219"/>
                </a:avLst>
              </a:prstGeom>
              <a:solidFill>
                <a:schemeClr val="bg1"/>
              </a:solidFill>
              <a:ln w="13970">
                <a:solidFill>
                  <a:schemeClr val="bg1">
                    <a:lumMod val="50000"/>
                    <a:alpha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altLang="ko-KR" sz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sz="1200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지원 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회사  </a:t>
                </a:r>
                <a:endPara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sz="1200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지원 직무  </a:t>
                </a:r>
                <a:endPara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sz="1200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경력 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요약  </a:t>
                </a:r>
                <a:endParaRPr lang="en-US" altLang="ko-KR" sz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sz="1200" dirty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전공  </a:t>
                </a:r>
                <a:endParaRPr lang="en-US" altLang="ko-KR" sz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sz="1200" dirty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관련  </a:t>
                </a:r>
                <a:r>
                  <a:rPr lang="ko-KR" altLang="en-US" sz="1200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기술 </a:t>
                </a:r>
                <a:endParaRPr lang="ko-KR" altLang="en-US" sz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26" name="모서리가 둥근 직사각형 25"/>
              <p:cNvSpPr/>
              <p:nvPr/>
            </p:nvSpPr>
            <p:spPr>
              <a:xfrm>
                <a:off x="2465190" y="2394260"/>
                <a:ext cx="3502420" cy="552647"/>
              </a:xfrm>
              <a:prstGeom prst="roundRect">
                <a:avLst>
                  <a:gd name="adj" fmla="val 19587"/>
                </a:avLst>
              </a:prstGeom>
              <a:solidFill>
                <a:schemeClr val="bg2"/>
              </a:solidFill>
              <a:ln w="13970">
                <a:solidFill>
                  <a:schemeClr val="bg1">
                    <a:lumMod val="50000"/>
                    <a:alpha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지원 정보 확인</a:t>
                </a:r>
                <a:endParaRPr lang="ko-KR" altLang="en-US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3315462" y="3186375"/>
              <a:ext cx="236788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삼성전자</a:t>
              </a:r>
              <a:endPara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S/W </a:t>
              </a:r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개발</a:t>
              </a:r>
              <a:endPara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AWS </a:t>
              </a:r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인턴십 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6</a:t>
              </a:r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개월</a:t>
              </a:r>
              <a:endPara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컴퓨터공학 학사</a:t>
              </a:r>
              <a:endPara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정보처리기사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네트워크관리사 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급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3050540" y="4621874"/>
              <a:ext cx="2331720" cy="438912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진행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3050540" y="5214670"/>
              <a:ext cx="2331720" cy="43891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이력서 </a:t>
              </a:r>
              <a:r>
                <a:rPr lang="ko-KR" altLang="en-US" b="1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재업로드</a:t>
              </a:r>
              <a:endPara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2279723" y="2236640"/>
              <a:ext cx="260000" cy="21744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2893424" y="4488409"/>
              <a:ext cx="260000" cy="21744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2893424" y="5123789"/>
              <a:ext cx="260000" cy="21744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4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63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err="1"/>
              <a:t>환경테스트</a:t>
            </a:r>
            <a:r>
              <a:rPr lang="en-US" altLang="ko-KR" dirty="0"/>
              <a:t>-</a:t>
            </a:r>
            <a:r>
              <a:rPr lang="ko-KR" altLang="en-US" dirty="0"/>
              <a:t>오디오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932796"/>
              </p:ext>
            </p:extLst>
          </p:nvPr>
        </p:nvGraphicFramePr>
        <p:xfrm>
          <a:off x="8561828" y="1044783"/>
          <a:ext cx="3276234" cy="5489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5200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음성 테스트 시작 안내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단계가 오디오 환경 테스트임을 명확히 안내하는 헤더 메시지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8586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마이크 입력 감지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사용자의 실시간 음성 입력 상태를 시각적으로 마이크 모양과 </a:t>
                      </a: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사운드바로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표시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입력이 감지되면 아이콘 애니메이션 또는 활성 상태로 변경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8586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테스트 안내 문구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어떻게 말해야 하는지를 명확히 안내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테스트 문장을 그대로 읽도록 유도하여발음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볼륨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끊김 여부를 표준화된 조건으로 점검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70533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테스트용 기준 문장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정확도 검증을 위한 고정 기준 문장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발화와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결과를 비교하기 위한 기준 텍스트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8586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인식 결과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음성을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 또는 완료 결과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기준 문장과 비교하여 누락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왜곡 여부를 사용자가 직접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9866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처리 상태를 표시 </a:t>
                      </a:r>
                      <a:r>
                        <a:rPr lang="ko-KR" altLang="en-US" sz="8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예</a:t>
                      </a:r>
                      <a:r>
                        <a:rPr lang="en-US" altLang="ko-KR" sz="8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인식 중 </a:t>
                      </a:r>
                      <a:r>
                        <a:rPr lang="en-US" altLang="ko-KR" sz="8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8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완료 </a:t>
                      </a:r>
                      <a:r>
                        <a:rPr lang="en-US" altLang="ko-KR" sz="8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8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실패</a:t>
                      </a:r>
                      <a:endParaRPr lang="ko-KR" altLang="en-US" sz="8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70533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/>
                        <a:t>테스트 </a:t>
                      </a:r>
                      <a:r>
                        <a:rPr lang="ko-KR" altLang="en-US" sz="1000" b="1" dirty="0" err="1" smtClean="0"/>
                        <a:t>재진행</a:t>
                      </a:r>
                      <a:r>
                        <a:rPr lang="ko-KR" altLang="en-US" sz="1000" b="1" dirty="0" smtClean="0"/>
                        <a:t> 버튼</a:t>
                      </a:r>
                      <a:endParaRPr lang="en-US" altLang="ko-KR" sz="1000" b="1" dirty="0" smtClean="0"/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테스트를 처음부터 다시 수행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결과가 만족스럽지 않을 경우 반복 테스트 가능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5200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다음 단계 진행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오디오 테스트 통과 후 다음 환경 테스트 또는 면접 단계로 이동하는  버튼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552328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SCR-07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오디오 테스트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음성 입력 및 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STT 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점검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496593" y="1262124"/>
            <a:ext cx="3369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음성테스트를 시작합니다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364" y="1907630"/>
            <a:ext cx="1958113" cy="195811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888" y="3628427"/>
            <a:ext cx="4405321" cy="3524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32336" y="4158944"/>
            <a:ext cx="4938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아래 문장을 정확하게 읽어 주세요</a:t>
            </a:r>
            <a:r>
              <a:rPr lang="en-US" altLang="ko-KR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867135" y="4520588"/>
            <a:ext cx="5068825" cy="309857"/>
          </a:xfrm>
          <a:prstGeom prst="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모의면접 진행할 준비가 되었습니다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867135" y="5158357"/>
            <a:ext cx="5068825" cy="309857"/>
          </a:xfrm>
          <a:prstGeom prst="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모의면접 진행할 준</a:t>
            </a: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  <a:r>
              <a:rPr lang="ko-KR" altLang="en-US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3857153" y="5526850"/>
            <a:ext cx="1088787" cy="246221"/>
            <a:chOff x="3857153" y="5526850"/>
            <a:chExt cx="1088787" cy="246221"/>
          </a:xfrm>
        </p:grpSpPr>
        <p:sp>
          <p:nvSpPr>
            <p:cNvPr id="19" name="타원 18"/>
            <p:cNvSpPr/>
            <p:nvPr/>
          </p:nvSpPr>
          <p:spPr>
            <a:xfrm>
              <a:off x="3904212" y="5586540"/>
              <a:ext cx="196733" cy="115158"/>
            </a:xfrm>
            <a:prstGeom prst="ellipse">
              <a:avLst/>
            </a:prstGeom>
            <a:solidFill>
              <a:srgbClr val="006600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57153" y="5526850"/>
              <a:ext cx="1088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   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입력중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867135" y="4941455"/>
            <a:ext cx="223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2575116" y="5842188"/>
            <a:ext cx="1549549" cy="23976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테스트 다시 진행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4401546" y="5842188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다음 진행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1351713" y="119601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3349890" y="211798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808441" y="409191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1755285" y="441454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2985513" y="506747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3599209" y="552102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2457364" y="576635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4307443" y="578355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246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err="1"/>
              <a:t>환경테스트</a:t>
            </a:r>
            <a:r>
              <a:rPr lang="en-US" altLang="ko-KR" dirty="0" smtClean="0"/>
              <a:t>-</a:t>
            </a:r>
            <a:r>
              <a:rPr lang="ko-KR" altLang="en-US" dirty="0" smtClean="0"/>
              <a:t>영상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117782"/>
              </p:ext>
            </p:extLst>
          </p:nvPr>
        </p:nvGraphicFramePr>
        <p:xfrm>
          <a:off x="8561828" y="1054742"/>
          <a:ext cx="3276234" cy="5479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60408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영상 테스트 시작 안내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단계가 영상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카메라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환경 테스트임을 안내하는 헤더 메시지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94132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카메라 위치 안내 문구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카메라가 정상적으로 연결되었는지 확인하도록 안내</a:t>
                      </a:r>
                      <a:endParaRPr lang="en-US" altLang="ko-KR" sz="1000" baseline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얼굴이 인식 프레임 영역 안에 들어오도록 위치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거리 조정 유도하는 사용자 행동 가이드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77323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카메라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및 얼굴 인식 프레임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실시간 카메라 영상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얼굴 인식 가능 영역을 프레임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박스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으로 시각화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84511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얼굴 인식 결과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얼굴 인식 성공 여부를 상태 메시지로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성공 시 정상 상태를 시각적으로 강조 실패 시 재조정 또는 재시도 필요 판단 기준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94132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테스트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재진행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카메라 위치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조명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각도 조정 후 영상 테스트를 다시 수행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얼굴 인식이 원활하지 않을 경우 반복 테스트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77323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다음 단계 진행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영상 환경 테스트 통과 후 다음 단계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 또는 다음 테스트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이동하는 버튼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얼굴 인식 성공 상태 후 활성화</a:t>
                      </a:r>
                      <a:endParaRPr lang="en-US" altLang="ko-KR" sz="9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01089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745831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SCR-08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영상 테스트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카메라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얼굴 인식 점검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1413588" y="1064257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502903" y="1278570"/>
            <a:ext cx="2898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영상테스트를</a:t>
            </a:r>
            <a:r>
              <a:rPr lang="ko-KR" altLang="en-US" dirty="0" smtClean="0"/>
              <a:t> 시작합니다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02903" y="1829851"/>
            <a:ext cx="5547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카메라를 확인하고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얼굴이 화면의 인식 프레임 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영역 안에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들어오도록 맞춰주세요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781795" y="2317990"/>
            <a:ext cx="5239512" cy="2464322"/>
          </a:xfrm>
          <a:prstGeom prst="roundRect">
            <a:avLst>
              <a:gd name="adj" fmla="val 11472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22600" y="2438027"/>
            <a:ext cx="1557901" cy="11475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/>
          <p:cNvGrpSpPr/>
          <p:nvPr/>
        </p:nvGrpSpPr>
        <p:grpSpPr>
          <a:xfrm>
            <a:off x="2612255" y="4902349"/>
            <a:ext cx="3328416" cy="246221"/>
            <a:chOff x="2612255" y="4902349"/>
            <a:chExt cx="3328416" cy="246221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3267717" y="4902349"/>
              <a:ext cx="2406371" cy="246221"/>
              <a:chOff x="3857153" y="5526850"/>
              <a:chExt cx="2406371" cy="246221"/>
            </a:xfrm>
          </p:grpSpPr>
          <p:sp>
            <p:nvSpPr>
              <p:cNvPr id="21" name="타원 20"/>
              <p:cNvSpPr/>
              <p:nvPr/>
            </p:nvSpPr>
            <p:spPr>
              <a:xfrm>
                <a:off x="3904212" y="5586540"/>
                <a:ext cx="196733" cy="115158"/>
              </a:xfrm>
              <a:prstGeom prst="ellipse">
                <a:avLst/>
              </a:prstGeom>
              <a:solidFill>
                <a:srgbClr val="006600"/>
              </a:solidFill>
              <a:ln>
                <a:solidFill>
                  <a:srgbClr val="00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857153" y="5526850"/>
                <a:ext cx="24063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 smtClean="0">
                    <a:solidFill>
                      <a:schemeClr val="bg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v     </a:t>
                </a:r>
                <a:r>
                  <a:rPr lang="ko-KR" altLang="en-US" sz="1000" dirty="0" smtClean="0">
                    <a:solidFill>
                      <a:srgbClr val="0066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얼굴 인식에 성공하였습니다</a:t>
                </a:r>
                <a:r>
                  <a:rPr lang="en-US" altLang="ko-KR" sz="1000" dirty="0" smtClean="0">
                    <a:solidFill>
                      <a:srgbClr val="0066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  <a:endParaRPr lang="ko-KR" altLang="en-US" sz="1000" dirty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sp>
        <p:nvSpPr>
          <p:cNvPr id="29" name="모서리가 둥근 직사각형 28"/>
          <p:cNvSpPr/>
          <p:nvPr/>
        </p:nvSpPr>
        <p:spPr>
          <a:xfrm>
            <a:off x="2736734" y="5406004"/>
            <a:ext cx="1549549" cy="23976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테스트 다시 진행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4563164" y="5406004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다음 진행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2618982" y="533017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4469061" y="534736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1372903" y="1187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1346561" y="177121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1781794" y="222692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2551561" y="481921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671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sz="2400" dirty="0" smtClean="0"/>
              <a:t>면접 시작 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415975"/>
              </p:ext>
            </p:extLst>
          </p:nvPr>
        </p:nvGraphicFramePr>
        <p:xfrm>
          <a:off x="8561828" y="1054740"/>
          <a:ext cx="3276234" cy="5479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7312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시작 헤더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화면이 면접 시작 단계임을 표시하는 상단 타이틀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ㄷ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89024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시작 안내 문구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/>
                        <a:t>모든 환경 테스트가 완료되었음을 사용자에게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ko-KR" altLang="en-US" sz="1000" dirty="0" smtClean="0"/>
                        <a:t>안내</a:t>
                      </a:r>
                      <a:endParaRPr lang="en-US" altLang="ko-KR" sz="1000" dirty="0" smtClean="0"/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오디오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영상 점검 이후 면접이 곧 시작됨을 선언하는 메시지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89024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환경 테스트 결과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진행을 위한 필수 환경 테스트 결과를 요약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환경 상태를 한눈에 확인 가능하도록 안내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7312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준비 상태 표시 영역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</a:b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  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시스템 기준으로 면접 진행 조건이 충족되었음을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준비 완료  문구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7312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이전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환경을 다시 점검하거나 설정을 수정하고 싶을 경우 이전 단계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환경 테스트 화면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돌아갈 수 있는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723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시작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실제 면접 시나리오로 진입하는 핵심 트리거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본 서비스의 실질적인 메인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플로우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진입 버튼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932805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973352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275969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725418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SCR-09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시작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면접 시작 버튼을 통해 진입한 사용자에게 면접 시작 전 최종 안내 제공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911398" y="1257420"/>
            <a:ext cx="1883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시작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7" name="타원 6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이등변 삼각형 7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923678" y="1944618"/>
            <a:ext cx="495574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모든 환경테스트가 완료되었습니다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algn="ctr"/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이제 면접을 시작합니다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611743" y="2939550"/>
            <a:ext cx="3544585" cy="1115569"/>
          </a:xfrm>
          <a:prstGeom prst="roundRect">
            <a:avLst/>
          </a:prstGeom>
          <a:solidFill>
            <a:srgbClr val="F9F9F9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ko-KR" altLang="en-US" sz="16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환경 테스트 완료</a:t>
            </a:r>
            <a:endParaRPr lang="en-US" altLang="ko-KR" sz="16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음성 입력 정상</a:t>
            </a:r>
            <a:endParaRPr lang="en-US" altLang="ko-KR" sz="12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 인식 정상   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2738930" y="3294058"/>
            <a:ext cx="118872" cy="124857"/>
          </a:xfrm>
          <a:prstGeom prst="ellipse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/>
          <p:cNvGrpSpPr/>
          <p:nvPr/>
        </p:nvGrpSpPr>
        <p:grpSpPr>
          <a:xfrm>
            <a:off x="2719827" y="4250110"/>
            <a:ext cx="3328416" cy="246221"/>
            <a:chOff x="2612255" y="4902349"/>
            <a:chExt cx="3328416" cy="246221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3314776" y="4902349"/>
              <a:ext cx="2603104" cy="246221"/>
              <a:chOff x="3904212" y="5526850"/>
              <a:chExt cx="2603104" cy="246221"/>
            </a:xfrm>
          </p:grpSpPr>
          <p:sp>
            <p:nvSpPr>
              <p:cNvPr id="22" name="타원 21"/>
              <p:cNvSpPr/>
              <p:nvPr/>
            </p:nvSpPr>
            <p:spPr>
              <a:xfrm>
                <a:off x="3904212" y="5586540"/>
                <a:ext cx="196733" cy="115158"/>
              </a:xfrm>
              <a:prstGeom prst="ellipse">
                <a:avLst/>
              </a:prstGeom>
              <a:solidFill>
                <a:srgbClr val="006600"/>
              </a:solidFill>
              <a:ln>
                <a:solidFill>
                  <a:srgbClr val="00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V</a:t>
                </a:r>
                <a:endParaRPr lang="ko-KR" altLang="en-US" sz="105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100945" y="5526850"/>
                <a:ext cx="24063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 smtClean="0">
                    <a:solidFill>
                      <a:schemeClr val="bg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ko-KR" altLang="en-US" sz="1000" dirty="0" smtClean="0">
                    <a:solidFill>
                      <a:srgbClr val="0066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준비가 완료되었습니다</a:t>
                </a:r>
                <a:r>
                  <a:rPr lang="en-US" altLang="ko-KR" sz="1000" dirty="0" smtClean="0">
                    <a:solidFill>
                      <a:srgbClr val="0066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  <a:endParaRPr lang="ko-KR" altLang="en-US" sz="1000" dirty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sp>
        <p:nvSpPr>
          <p:cNvPr id="24" name="모서리가 둥근 직사각형 23"/>
          <p:cNvSpPr/>
          <p:nvPr/>
        </p:nvSpPr>
        <p:spPr>
          <a:xfrm>
            <a:off x="2719827" y="4905670"/>
            <a:ext cx="1549549" cy="23976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이전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4537173" y="4905670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시작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2450920" y="185373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2580920" y="282235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3130212" y="415530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2611743" y="478847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4443070" y="482984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1360412" y="120182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7841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자기소개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44380"/>
              </p:ext>
            </p:extLst>
          </p:nvPr>
        </p:nvGraphicFramePr>
        <p:xfrm>
          <a:off x="8561828" y="1054743"/>
          <a:ext cx="3276234" cy="5467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300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12934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088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49668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46925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52588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안내 및 유의사항 메시지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면접종료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버튼에 마우스를 올리면 면접 종료 시 발생하는 결과 처리 규칙 안내 하는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튤팁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/>
                        <a:t>중도 종료 시 결과 </a:t>
                      </a:r>
                      <a:r>
                        <a:rPr lang="ko-KR" altLang="en-US" sz="1000" dirty="0" err="1" smtClean="0"/>
                        <a:t>미제공</a:t>
                      </a:r>
                      <a:r>
                        <a:rPr lang="ko-KR" altLang="en-US" sz="1000" dirty="0" smtClean="0"/>
                        <a:t> 또는 </a:t>
                      </a:r>
                      <a:r>
                        <a:rPr lang="ko-KR" altLang="en-US" sz="1000" dirty="0" err="1" smtClean="0"/>
                        <a:t>재진행</a:t>
                      </a:r>
                      <a:r>
                        <a:rPr lang="ko-KR" altLang="en-US" sz="1000" dirty="0" smtClean="0"/>
                        <a:t> 필요 조건 명시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211971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71678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12934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SCR-10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자기소개 응답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사용자가 면접 진행을 위해 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 자기소개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15" name="타원 14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이등변 삼각형 15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모서리가 둥근 직사각형 6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18" name="그룹 17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Q1.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긴장하지 마시고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 1</a:t>
              </a:r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분 정도로 본인을 자연스럽게 소개해 주세요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19" name="모서리가 둥근 직사각형 18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00:58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3" name="모서리가 둥근 직사각형 22"/>
          <p:cNvSpPr/>
          <p:nvPr/>
        </p:nvSpPr>
        <p:spPr>
          <a:xfrm>
            <a:off x="1739778" y="4700016"/>
            <a:ext cx="5348123" cy="640080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안녕하세요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저는 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IT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직무에 지원한 김철수입니다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저는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저는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문제를 구조적으로 정리하고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기술로 해결하는 과정에 강점이 있습니다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프로젝트 경험을 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통해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7" name="모서리가 둥근 사각형 설명선 26"/>
          <p:cNvSpPr/>
          <p:nvPr/>
        </p:nvSpPr>
        <p:spPr>
          <a:xfrm>
            <a:off x="6336386" y="5329901"/>
            <a:ext cx="1948077" cy="539496"/>
          </a:xfrm>
          <a:prstGeom prst="wedgeRoundRectCallout">
            <a:avLst>
              <a:gd name="adj1" fmla="val -35153"/>
              <a:gd name="adj2" fmla="val 69280"/>
              <a:gd name="adj3" fmla="val 1666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면접을 종료하면 결과를 </a:t>
            </a:r>
            <a:r>
              <a:rPr lang="ko-KR" altLang="en-US" sz="700" dirty="0" smtClean="0">
                <a:solidFill>
                  <a:schemeClr val="tx1"/>
                </a:solidFill>
              </a:rPr>
              <a:t>확인 수 </a:t>
            </a:r>
            <a:r>
              <a:rPr lang="ko-KR" altLang="en-US" sz="700" dirty="0" err="1" smtClean="0">
                <a:solidFill>
                  <a:schemeClr val="tx1"/>
                </a:solidFill>
              </a:rPr>
              <a:t>없며</a:t>
            </a:r>
            <a:r>
              <a:rPr lang="en-US" altLang="ko-KR" sz="700" dirty="0">
                <a:solidFill>
                  <a:schemeClr val="tx1"/>
                </a:solidFill>
              </a:rPr>
              <a:t>,</a:t>
            </a:r>
            <a:br>
              <a:rPr lang="en-US" altLang="ko-KR" sz="700" dirty="0">
                <a:solidFill>
                  <a:schemeClr val="tx1"/>
                </a:solidFill>
              </a:rPr>
            </a:br>
            <a:r>
              <a:rPr lang="ko-KR" altLang="en-US" sz="700" dirty="0">
                <a:solidFill>
                  <a:schemeClr val="tx1"/>
                </a:solidFill>
              </a:rPr>
              <a:t>동일한 면접에 대한 </a:t>
            </a:r>
            <a:r>
              <a:rPr lang="ko-KR" altLang="en-US" sz="700" dirty="0" err="1">
                <a:solidFill>
                  <a:schemeClr val="tx1"/>
                </a:solidFill>
              </a:rPr>
              <a:t>재응시는</a:t>
            </a:r>
            <a:r>
              <a:rPr lang="ko-KR" altLang="en-US" sz="700" dirty="0">
                <a:solidFill>
                  <a:schemeClr val="tx1"/>
                </a:solidFill>
              </a:rPr>
              <a:t> 어렵습니다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br>
              <a:rPr lang="en-US" altLang="ko-KR" sz="700" dirty="0">
                <a:solidFill>
                  <a:schemeClr val="tx1"/>
                </a:solidFill>
              </a:rPr>
            </a:br>
            <a:r>
              <a:rPr lang="ko-KR" altLang="en-US" sz="700" dirty="0">
                <a:solidFill>
                  <a:schemeClr val="tx1"/>
                </a:solidFill>
              </a:rPr>
              <a:t>면접을 다시 진행하려면 처음부터 다시 시작해야 합니다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1413588" y="126131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5681152" y="174340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3131025" y="121391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1609778" y="233963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5084384" y="250672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1609778" y="462418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3083046" y="544424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5360025" y="587471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6242811" y="523902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26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자기소개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785913"/>
              </p:ext>
            </p:extLst>
          </p:nvPr>
        </p:nvGraphicFramePr>
        <p:xfrm>
          <a:off x="8561828" y="1054743"/>
          <a:ext cx="3276234" cy="5635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0680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종료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초전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빨간색 변환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508185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339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SCR-10-1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응답 완료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사용자가 면접</a:t>
                      </a:r>
                      <a:r>
                        <a:rPr lang="ko-KR" altLang="en-US" sz="1000" b="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질문에 대한 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응답을 완료한 상태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15" name="타원 14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이등변 삼각형 15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모서리가 둥근 직사각형 6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18" name="그룹 17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Q1.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긴장하지 마시고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 1</a:t>
              </a:r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분 정도로 본인을 자연스럽게 소개해 주세요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19" name="모서리가 둥근 직사각형 18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00:01</a:t>
              </a:r>
              <a:endParaRPr lang="ko-KR" altLang="en-US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3" name="모서리가 둥근 직사각형 22"/>
          <p:cNvSpPr/>
          <p:nvPr/>
        </p:nvSpPr>
        <p:spPr>
          <a:xfrm>
            <a:off x="1739778" y="4577537"/>
            <a:ext cx="5348123" cy="1269473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안녕하세요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IT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직무에 지원한 김철수입니다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저는 문제를 구조적으로 정리하고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기술로 해결하는 과정에 강점이 있습니다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경험을 통해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백엔드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구조와 데이터 처리 흐름을 이해했고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 내에서는 요구사항 정리와 기능 구현을 맡아 협업 경험을 쌓았습니다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특히 오류를 분석하고 개선 방안을 공유하는 과정에서기술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역량뿐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아니라 소통의 중요성을 배웠습니다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앞으로도 서비스 관점에서 생각하는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IT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인재로 성장하고 싶습니다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2989174" y="5904817"/>
            <a:ext cx="2390539" cy="265515"/>
            <a:chOff x="2612255" y="4874578"/>
            <a:chExt cx="3523868" cy="265515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29752" y="4874578"/>
              <a:ext cx="24063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답변완료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24" name="그림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916" y="5932085"/>
            <a:ext cx="218953" cy="218953"/>
          </a:xfrm>
          <a:prstGeom prst="rect">
            <a:avLst/>
          </a:prstGeom>
        </p:spPr>
      </p:pic>
      <p:sp>
        <p:nvSpPr>
          <p:cNvPr id="39" name="타원 38"/>
          <p:cNvSpPr/>
          <p:nvPr/>
        </p:nvSpPr>
        <p:spPr>
          <a:xfrm>
            <a:off x="1441664" y="122361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3130462" y="123555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5675108" y="176337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1609778" y="23870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5082853" y="2492481"/>
            <a:ext cx="260000" cy="21744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1653611" y="457675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3214720" y="587192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5389668" y="593284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721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지원동기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368383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339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지원동기 응답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사용자가 면접 진행</a:t>
                      </a:r>
                      <a:r>
                        <a:rPr lang="ko-KR" altLang="en-US" sz="1000" b="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중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지원 동기에 대해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18" name="타원 17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모서리가 둥근 직사각형 19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Q2.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해당 직무에 지원하게 된 동기를 말씀해 주세요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27" name="모서리가 둥근 직사각형 26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00:58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0" name="모서리가 둥근 직사각형 29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 직무에 관심을 갖게 된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계기는기술을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단순히 구현하는 것을 넘어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문제를 구조적으로 분석하고 실제 서비스에 적용하는 과정에 매력을 느꼈기 때문입니다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사용자 요구를 이해하고 시스템 관점에서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2" name="타원 11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427295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88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err="1" smtClean="0"/>
              <a:t>직무면접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565569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339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SCR-12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직무 지식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AI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 생성한 직무 지식 질문에 대해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18" name="타원 17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모서리가 둥근 직사각형 19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Q3.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 수행에 필요한 기본 개념은 무엇이라고 생각하나요</a:t>
              </a:r>
              <a:r>
                <a:rPr lang="en-US" altLang="ko-KR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27" name="모서리가 둥근 직사각형 26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00:22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0" name="모서리가 둥근 직사각형 29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직무를 수행하기 위해 가장 중요한 기본 개념은요구사항을 정확히 이해하고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이를 시스템 구조와 데이터 흐름으로 연결하는 능력이라고 생각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792769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97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err="1" smtClean="0"/>
              <a:t>직무면접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310043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865632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96818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44246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40366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SCR-12-1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직무 지식 추가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 직무 관련 이전 답변 기반으로 생성된 추가 질문에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19" name="타원 18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모서리가 둥근 직사각형 20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2" name="그룹 21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Q4.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요구사항을 정확히 이해하기 위한 본인만의 특별한 방법이 있나요</a:t>
              </a:r>
              <a:r>
                <a:rPr lang="en-US" altLang="ko-KR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28" name="모서리가 둥근 직사각형 27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00:22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1" name="모서리가 둥근 직사각형 30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자체보다도 문제의 본질을 파악하고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어떤 방식으로 구현하는 것이 적절한지를 판단하는 것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4" name="모서리가 둥근 직사각형 33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6" name="타원 35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1084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82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err="1" smtClean="0"/>
              <a:t>직무면접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892862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62534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22078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SCR-13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직무 경험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 직무 경험 질문에 대해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20" name="타원 19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모서리가 둥근 직사각형 21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3" name="그룹 22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Q5.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방금 설명한 개념을 실제 업무에서 어떻게 활용하나요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00:09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2" name="모서리가 둥근 직사각형 31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실제 업무에서는 기능 구현 전에 요구사항을 정리하고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입력과 출력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예외 상황을 먼저 정의하는 방식으로 활용할 수 있습니다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이를 통해 구현 과정에서 불필요한 수정이나 오류를 줄이고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팀원들과 같은 이해를 공유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5" name="모서리가 둥근 직사각형 34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7" name="타원 36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1084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88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err="1" smtClean="0"/>
              <a:t>직무면접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445166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3588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725418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44246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40366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SCR-13-1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직무 경험 추가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 직무 경험 관련 이전 답변 기반으로 생성된 추가 질문에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20" name="타원 19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모서리가 둥근 직사각형 21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3" name="그룹 22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Q6.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먼저 정의했던 예외상황들에는 구체적으로 어떤 것들이 있었나요 </a:t>
              </a:r>
              <a:r>
                <a:rPr lang="en-US" altLang="ko-KR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00:09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2" name="모서리가 둥근 직사각형 31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가장 기억에 남는 </a:t>
            </a:r>
            <a:r>
              <a:rPr lang="ko-KR" altLang="en-US" sz="12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예외상황을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정의했던 사례는 사용자 입력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예외입니다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필수값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누락이나 형식 오류를 사전에 차단하여 데이터의 무결성을 보장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5" name="모서리가 둥근 직사각형 34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7" name="타원 36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1084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38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err="1" smtClean="0"/>
              <a:t>직무면접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105980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44246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40366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SCR-14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문제 해결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문제 해결 질문에 대해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21" name="타원 20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이등변 삼각형 21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모서리가 둥근 직사각형 22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모서리가 둥근 직사각형 25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Q7.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903463" y="3008376"/>
              <a:ext cx="297028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기능이 정상적으로 동작하지 않는 문제가 발생했을 때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</a:t>
              </a:r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요구사항이 불명확한 상황이라면 어떤 절차로 문제를 </a:t>
              </a:r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해결하시겠습니까</a:t>
              </a:r>
              <a:r>
                <a:rPr lang="en-US" altLang="ko-KR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00:19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3" name="모서리가 둥근 직사각형 32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정의된 기준을 바탕으로 문제가 재현되는지 확인하고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단계별로 입력 → 처리 → 출력 흐름을 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분리해 어디에서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기대와 실제가 달라지는지를 검증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6" name="모서리가 둥근 직사각형 35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8" name="타원 37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1084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27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err="1" smtClean="0"/>
              <a:t>직무면접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357877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44246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40366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SCR-14-1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문제 해결 추가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문제 해결 관련 이전 답변 기반으로 생성된 추가 질문에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22" name="타원 21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22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모서리가 둥근 직사각형 23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6" name="모서리가 둥근 직사각형 25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모서리가 둥근 직사각형 26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Q8.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해당 순서로 처리하겠다고 정한 이유가 있나요</a:t>
              </a:r>
              <a:r>
                <a:rPr lang="en-US" altLang="ko-KR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00:19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4" name="모서리가 둥근 직사각형 33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문제를 해결하기 전에 기준이 되는 요구사항이 명확하지 않으면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수정이 반복되거나 문제의 원인이 흐려질 수 있기 때문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7" name="모서리가 둥근 직사각형 36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0" name="타원 39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1084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99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인성면접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70411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62534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22078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SCR-15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협업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의사소통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협업 및 의사소통 질문에 대해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23" name="타원 22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모서리가 둥근 직사각형 24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6" name="그룹 25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7" name="모서리가 둥근 직사각형 26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Q9.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협업 과정에서 의견 충돌이 있었을 때 어떻게 </a:t>
              </a:r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했나요</a:t>
              </a:r>
              <a:r>
                <a:rPr lang="en-US" altLang="ko-KR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32" name="모서리가 둥근 직사각형 31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00:19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5" name="모서리가 둥근 직사각형 34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 충돌이 있었을 때는 감정보다 근거를 중심으로 이야기하려고 노력했습니다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각자의 의견을 정리한 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일정과 목표에 가장 적합한 방향이 무엇인지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8" name="모서리가 둥근 직사각형 37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1" name="타원 40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1084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00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인성면접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365478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62534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22078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SCR-15-1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의사 소통 추가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의사 소통 관련 이전 답변 기반으로 생성된 추가 질문에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25" name="타원 24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이등변 삼각형 25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모서리가 둥근 직사각형 26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8" name="그룹 27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Q10.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03463" y="3008376"/>
              <a:ext cx="29702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어떤 기준으로 근거를 </a:t>
              </a:r>
              <a:r>
                <a:rPr lang="ko-KR" altLang="en-US" sz="1400" b="1" dirty="0" err="1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정리하였나요</a:t>
              </a:r>
              <a:r>
                <a:rPr lang="en-US" altLang="ko-KR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34" name="모서리가 둥근 직사각형 33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5" name="그림 3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00:19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7" name="모서리가 둥근 직사각형 36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상대방이 왜 그렇게 생각했는지 배경을 먼저 질문했고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 의견이 프로젝트 목표와 어떻게 연결되는지를 이해하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3" name="타원 42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1084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32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인성면접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684721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62534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22078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SCR-16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책임감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가치관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책임감 및 가치관 질문에 대해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16" name="타원 15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모서리가 둥근 직사각형 17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19" name="그룹 18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Q11.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책임감을 발휘했던 경험을 말씀해 주세요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00:19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8" name="모서리가 둥근 직사각형 27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일정이 지연될 위기가 있었을 때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제가 맡은 기능을 우선적으로 정리해 핵심 기능부터 완성한 경험이 있습니다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 결과 전체 일정 조정에 도움이 되었고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맡은 역할에 대한 책임의 중요성을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3" name="타원 32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1084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96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인성면접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661406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62534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22078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SCR-16-1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가치관 추가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가치관 관련 이전 답변 기반으로 생성된 추가 질문에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17" name="타원 16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이등변 삼각형 17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모서리가 둥근 직사각형 18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0" name="그룹 19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Q12.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다른 선택지와 비교했을 때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왜 그 방식을 </a:t>
              </a:r>
              <a:r>
                <a:rPr lang="ko-KR" altLang="en-US" sz="14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선택하셨나요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26" name="모서리가 둥근 직사각형 25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00:19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9" name="모서리가 둥근 직사각형 28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개인적인 부담보다 팀 전체 일정과 결과에 미치는 영향을 기준으로 판단했습니다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조직의 목표를 우선으로 생각하는 것이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2" name="모서리가 둥근 직사각형 31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4" name="타원 33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1084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44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인성면접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836986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339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SCR-17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변화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성장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 변화 및 성장 관련 질문에 대해 사용자가 응답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18" name="타원 17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모서리가 둥근 직사각형 19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Q13.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03463" y="3008376"/>
              <a:ext cx="29702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새로운 환경 </a:t>
              </a:r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변화에 어떻게 대응하나요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27" name="모서리가 둥근 직사각형 26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00:19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0" name="모서리가 둥근 직사각형 29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우선 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주변 환경을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먼저 이해하려고 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작은 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부분부터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점진적으로 적용해 보는 방식을 선호합니다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변화를 부담으로 보기보다는 성장의 기회로 받아들이려고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1084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45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인성면접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56772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771138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339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SCR-17-1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변화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성장 추가 질문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변화 및 성장 관련 이전 답변 기반으로 생성된 추가 질문에 사용자가 </a:t>
                      </a:r>
                      <a:r>
                        <a:rPr lang="ko-KR" altLang="en-US" sz="1000" b="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응답</a:t>
                      </a:r>
                      <a:endParaRPr lang="ko-KR" altLang="en-US" sz="1000" b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16" name="타원 15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모서리가 둥근 직사각형 17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19" name="그룹 18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Q14.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그 과정에서 가장 어려웠던 점은 </a:t>
              </a:r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무엇이라고 생각하나요</a:t>
              </a:r>
              <a:r>
                <a:rPr lang="en-US" altLang="ko-KR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00:19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8" name="모서리가 둥근 직사각형 27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초기에 이해 속도가 느리다고 느낄 때가 가장 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어렵게 느껴질 거 같습니다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하지만 기록과 반복 학습을 통해 점차 익숙해질 수 있었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3" name="타원 32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935539" y="3244334"/>
            <a:ext cx="320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b="1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b="1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87520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822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최종 발언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738589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339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SCR-18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최종 자유 발언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면접 종료 직전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지원자가 자유롭게 발언하며 면접을 마무리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진행중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/>
          <p:cNvGrpSpPr/>
          <p:nvPr/>
        </p:nvGrpSpPr>
        <p:grpSpPr>
          <a:xfrm>
            <a:off x="1576094" y="1326676"/>
            <a:ext cx="327369" cy="251446"/>
            <a:chOff x="2168943" y="1984248"/>
            <a:chExt cx="391377" cy="333742"/>
          </a:xfrm>
        </p:grpSpPr>
        <p:sp>
          <p:nvSpPr>
            <p:cNvPr id="18" name="타원 17"/>
            <p:cNvSpPr/>
            <p:nvPr/>
          </p:nvSpPr>
          <p:spPr>
            <a:xfrm>
              <a:off x="2168943" y="1984248"/>
              <a:ext cx="391377" cy="333742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16200000" flipV="1">
              <a:off x="2278811" y="2088956"/>
              <a:ext cx="199071" cy="11856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모서리가 둥근 직사각형 19"/>
          <p:cNvSpPr/>
          <p:nvPr/>
        </p:nvSpPr>
        <p:spPr>
          <a:xfrm>
            <a:off x="3200400" y="1445239"/>
            <a:ext cx="548640" cy="129025"/>
          </a:xfrm>
          <a:prstGeom prst="roundRect">
            <a:avLst/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LIVE</a:t>
            </a:r>
            <a:endParaRPr lang="ko-KR" altLang="en-US" sz="10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1625791" y="2387057"/>
            <a:ext cx="5551520" cy="2130552"/>
            <a:chOff x="1625791" y="2318062"/>
            <a:chExt cx="5551520" cy="2130552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1625791" y="2318062"/>
              <a:ext cx="5551520" cy="2130552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5212853" y="2496370"/>
              <a:ext cx="1810512" cy="1773936"/>
            </a:xfrm>
            <a:prstGeom prst="roundRect">
              <a:avLst>
                <a:gd name="adj" fmla="val 7389"/>
              </a:avLst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03463" y="2564968"/>
              <a:ext cx="978492" cy="374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Q15.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03463" y="3008376"/>
              <a:ext cx="29702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마지막으로 하고 싶은 말이 있다면 </a:t>
              </a:r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자유롭게 말씀해 </a:t>
              </a:r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주세요</a:t>
              </a:r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811153" y="1877609"/>
            <a:ext cx="1411645" cy="390175"/>
            <a:chOff x="5746618" y="1881436"/>
            <a:chExt cx="1411645" cy="390175"/>
          </a:xfrm>
        </p:grpSpPr>
        <p:sp>
          <p:nvSpPr>
            <p:cNvPr id="27" name="모서리가 둥근 직사각형 26"/>
            <p:cNvSpPr/>
            <p:nvPr/>
          </p:nvSpPr>
          <p:spPr>
            <a:xfrm>
              <a:off x="5746618" y="1881436"/>
              <a:ext cx="1276748" cy="3863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8122" y="1970325"/>
              <a:ext cx="228600" cy="2286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6099061" y="1902279"/>
              <a:ext cx="1059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00:39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0" name="모서리가 둥근 직사각형 29"/>
          <p:cNvSpPr/>
          <p:nvPr/>
        </p:nvSpPr>
        <p:spPr>
          <a:xfrm>
            <a:off x="1739778" y="4567815"/>
            <a:ext cx="5348123" cy="772281"/>
          </a:xfrm>
          <a:prstGeom prst="roundRect">
            <a:avLst/>
          </a:prstGeom>
          <a:solidFill>
            <a:srgbClr val="F9F9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이번 면접을 통해 제 경험과 생각을 정리해 말씀드릴 수 있어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뜻깊었습니다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아직 부족한 부분도 많지만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배우는 속도와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태도만큼은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자신 있다고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생각합니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473816" y="5969489"/>
            <a:ext cx="1549549" cy="23976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3200400" y="5492306"/>
            <a:ext cx="2390539" cy="276999"/>
            <a:chOff x="2612255" y="4874578"/>
            <a:chExt cx="3523868" cy="276999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2612255" y="4902349"/>
              <a:ext cx="3328416" cy="237744"/>
            </a:xfrm>
            <a:prstGeom prst="roundRect">
              <a:avLst/>
            </a:prstGeom>
            <a:solidFill>
              <a:srgbClr val="F6FAF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v </a:t>
              </a:r>
              <a:endParaRPr lang="ko-KR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29752" y="4874578"/>
              <a:ext cx="2406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en-US" altLang="ko-KR" sz="1000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답변중</a:t>
              </a:r>
              <a:endParaRPr lang="ko-KR" altLang="en-US" sz="100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3160918" y="124392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5681153" y="17616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1643463" y="234792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5180451" y="248953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1562906" y="44468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3698493" y="542150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5343816" y="584928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875207"/>
              </p:ext>
            </p:extLst>
          </p:nvPr>
        </p:nvGraphicFramePr>
        <p:xfrm>
          <a:off x="8561674" y="1054743"/>
          <a:ext cx="3276234" cy="548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1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122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96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상태 표시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현재 면접이 실시간 진행 중임을 표시하는 영역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LIVE 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 표시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세션이 실시간 녹화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중임을 명확히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제한 시간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응답에 허용된 잔여 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카운트다운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제한 시간 종료 시 자동 종료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표시 영역 </a:t>
                      </a:r>
                      <a:r>
                        <a:rPr lang="en-US" altLang="ko-KR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(QN)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질문 번호 및 질문 내용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영상 </a:t>
                      </a:r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미리보기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중 사용자의 실시간 카메라 화면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자세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시선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표정 등 비언어적 요소를 사용자 스스로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음성 인식 결과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텍스트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사용자의 발화를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 변환한 실시간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텍스트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본인의 답변 진행 상황을 확인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6612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응답 상태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시스템 상태가 답변 수집 중임을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답변완료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답변중지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등 상태가 표시됨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면접을 중단 또는 종료할 수 있는 버튼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  <a:tr h="63093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4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면접 종료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675297"/>
              </p:ext>
            </p:extLst>
          </p:nvPr>
        </p:nvGraphicFramePr>
        <p:xfrm>
          <a:off x="8561828" y="1054743"/>
          <a:ext cx="3276234" cy="5464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0680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종료 헤더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면접 세션이 정상적으로 종료되었음을 안내하는 헤더 메시지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종료 안내 메시지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모든 면접 절차가 완료되었음을 사용자에게 안내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 확인을 위해 결과 확인 화면으로 이동 가능함을 안내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 요약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안내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종료에 따른 안내 사항 또는 간단한 요약 정보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및 평가 진행 현황 안내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세션을 완전히 종료하고 서비스 메인 또는 종료 화면으로 이동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결과를 확인하지 않고 나갈 수 있는 선택지 제공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확인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결과 확인 화면으로 이동하는 핵심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클릭 시 평가 결과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피드백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요약 리포트 화면으로 전환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1807329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82522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SCR-19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종료 안내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면접 종료 안내와 결과 확인 이동 제공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1576094" y="1326676"/>
            <a:ext cx="327369" cy="251446"/>
          </a:xfrm>
          <a:prstGeom prst="ellipse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1926407" y="184352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686763" y="1391239"/>
            <a:ext cx="108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039112" y="1884334"/>
            <a:ext cx="5041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모든 면접 절차가 완료되었습니다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결과 확인을 원하시면 결과 확인 버튼을 눌러</a:t>
            </a:r>
            <a:endParaRPr lang="en-US" altLang="ko-KR" sz="16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결과 확인 화면으로 이동하시기 바랍니다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2532447" y="4883373"/>
            <a:ext cx="1549549" cy="347949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 료</a:t>
            </a:r>
            <a:endParaRPr lang="ko-KR" altLang="en-US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4537173" y="4883373"/>
            <a:ext cx="1549549" cy="347949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확인</a:t>
            </a:r>
            <a:endParaRPr lang="ko-KR" altLang="en-US" sz="12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2532447" y="3081396"/>
            <a:ext cx="3544585" cy="1115569"/>
          </a:xfrm>
          <a:prstGeom prst="roundRect">
            <a:avLst/>
          </a:prstGeom>
          <a:solidFill>
            <a:srgbClr val="F9F9F9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결과 전송 완료</a:t>
            </a:r>
            <a:endParaRPr lang="en-US" altLang="ko-KR" sz="12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분석 완료 </a:t>
            </a:r>
            <a:endParaRPr lang="en-US" altLang="ko-KR" sz="12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내용은   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2396957" y="297267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2396957" y="475289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4443070" y="479197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75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면접 평가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489652"/>
              </p:ext>
            </p:extLst>
          </p:nvPr>
        </p:nvGraphicFramePr>
        <p:xfrm>
          <a:off x="8555362" y="1043915"/>
          <a:ext cx="3276234" cy="5799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326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97908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3483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분석 결과 헤더 영역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화면이 면접 평가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결과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화면임을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안내하는 헤더 메시지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53483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분석 기준 안내 문구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결과가 지원 회사의 인재상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비전 및 직무 요구 역량을 기준으로 분석되었음을 설명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112909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 역량 평가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 수행에 필요한 지식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문제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해결력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사고 구조 등에 대한 분석 결과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내용에서 드러난 직무 이해도와 논리 전개 수준을 중심으로 평가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강점과 보완점을 구체적인 문장으로 제시하여 학습 방향 제안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83196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인성 태도 평가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질문 대응 태도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사고의 일관성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의사 표현 방식 등 인성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커뮤니케이션 요소 평가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조직 적합성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협업 태도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책임 의식 등을 종합적으로 분석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85424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종합 분석 영역</a:t>
                      </a:r>
                      <a:endParaRPr lang="en-US" altLang="ko-KR" sz="105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5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 역량과 인성 태도 평가 결과를 통합적으로 요약</a:t>
                      </a:r>
                      <a:endParaRPr lang="en-US" altLang="ko-KR" sz="105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지원자의 전반적인 강점과 개선 방향을 균형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있게 면접 전체 맥락 기반 해석 결과 제공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3483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피드백 기반 응원 메시지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사용자에게 전달하는 요약 코멘트 및 방향성 을 응원 메시지로 제안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714593"/>
                  </a:ext>
                </a:extLst>
              </a:tr>
              <a:tr h="56457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종료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확인을 마친 후 화면을 종료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서비스 메인 화면 또는 세션 종료 흐름으로 이동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34421"/>
                  </a:ext>
                </a:extLst>
              </a:tr>
              <a:tr h="68339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저장 버튼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</a:b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   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평가 결과를 사용자 이력 또는 리포트로 저장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3169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693845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780288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954018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380238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904374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SCR-20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결과 분석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면접 응답을 기반으로 직무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인성 역량을 종합 분석한 결과와 피드백을 제공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 flipH="1">
            <a:off x="1739778" y="1384203"/>
            <a:ext cx="45719" cy="1087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 flipH="1">
            <a:off x="1645675" y="1444427"/>
            <a:ext cx="94102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1593228" y="1288406"/>
            <a:ext cx="266424" cy="346459"/>
            <a:chOff x="1745511" y="3762466"/>
            <a:chExt cx="628519" cy="576071"/>
          </a:xfrm>
        </p:grpSpPr>
        <p:sp>
          <p:nvSpPr>
            <p:cNvPr id="19" name="타원 18"/>
            <p:cNvSpPr/>
            <p:nvPr/>
          </p:nvSpPr>
          <p:spPr>
            <a:xfrm>
              <a:off x="1745511" y="3762466"/>
              <a:ext cx="628519" cy="576071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/>
            <p:cNvGrpSpPr/>
            <p:nvPr/>
          </p:nvGrpSpPr>
          <p:grpSpPr>
            <a:xfrm>
              <a:off x="1894162" y="3915072"/>
              <a:ext cx="334572" cy="270858"/>
              <a:chOff x="2027306" y="2953512"/>
              <a:chExt cx="1054222" cy="905256"/>
            </a:xfrm>
          </p:grpSpPr>
          <p:sp>
            <p:nvSpPr>
              <p:cNvPr id="7" name="직사각형 6"/>
              <p:cNvSpPr/>
              <p:nvPr/>
            </p:nvSpPr>
            <p:spPr>
              <a:xfrm>
                <a:off x="2761488" y="2953512"/>
                <a:ext cx="320040" cy="90525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2394397" y="3118104"/>
                <a:ext cx="320040" cy="7406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2027306" y="3319272"/>
                <a:ext cx="320040" cy="5394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6" name="모서리가 둥근 직사각형 25"/>
          <p:cNvSpPr/>
          <p:nvPr/>
        </p:nvSpPr>
        <p:spPr>
          <a:xfrm>
            <a:off x="2036828" y="2395841"/>
            <a:ext cx="2269996" cy="1407325"/>
          </a:xfrm>
          <a:prstGeom prst="roundRect">
            <a:avLst/>
          </a:prstGeom>
          <a:solidFill>
            <a:srgbClr val="FFEFF4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직무 역량 평가   </a:t>
            </a:r>
            <a:endParaRPr lang="en-US" altLang="ko-KR" sz="12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직무 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수행에 필요한 기본 개념과 역할에 대한 이해도가 전반적으로 확인되었습니다</a:t>
            </a:r>
            <a:r>
              <a:rPr lang="en-US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문제 상황에서 원인을 파악하고 단계적으로 접근하려는 사고 흐름이 </a:t>
            </a:r>
            <a:r>
              <a:rPr lang="ko-KR" altLang="en-US" sz="8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비교적 명확하게 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나타났습니다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일부 질문에서는 개념 설명이 다소 추상적으로 표현되어</a:t>
            </a:r>
            <a:r>
              <a:rPr lang="en-US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실제 업무 상황에 적용하는 구체적인 예시가 추가된다면 이해도가 더욱 잘 드러날 것으로 보입니다</a:t>
            </a:r>
            <a:r>
              <a:rPr lang="en-US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4400927" y="2408370"/>
            <a:ext cx="2269996" cy="1394796"/>
          </a:xfrm>
          <a:prstGeom prst="roundRect">
            <a:avLst/>
          </a:prstGeom>
          <a:solidFill>
            <a:srgbClr val="FFFEE5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인성 태도 평가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질문에 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성실하게 응답하며</a:t>
            </a:r>
            <a:r>
              <a:rPr lang="en-US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자신의 생각을 정리해 전달하려는 태도가 긍정적으로 평가되었습니다</a:t>
            </a:r>
            <a:r>
              <a:rPr lang="en-US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협업과 책임감을 중요하게 인식하고 있는 점이 면접 전반에서 확인되었습니다</a:t>
            </a:r>
            <a:r>
              <a:rPr lang="en-US" altLang="ko-KR" sz="8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일부 답변에서는 상황 설명 위주로 답변이 구성되어</a:t>
            </a:r>
            <a:r>
              <a:rPr lang="en-US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본인의 판단 기준이나 선택 이유를 조금 더 명확히 드러낼 필요가 있어 보입니다</a:t>
            </a:r>
            <a:r>
              <a:rPr lang="en-US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2036828" y="3919923"/>
            <a:ext cx="4634095" cy="1261800"/>
          </a:xfrm>
          <a:prstGeom prst="roundRect">
            <a:avLst/>
          </a:prstGeom>
          <a:solidFill>
            <a:srgbClr val="F2F7FC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종합 분석</a:t>
            </a:r>
            <a:endParaRPr lang="en-US" altLang="ko-KR" sz="12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전반적으로 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직무 이해도와 기본적인 문제 해결 역량이 균형 있게 나타났으며</a:t>
            </a:r>
            <a:r>
              <a:rPr lang="en-US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조직 내 협업과 책임을 중요하게 여기는 태도가 확인되었습니다</a:t>
            </a:r>
            <a:r>
              <a:rPr lang="en-US" altLang="ko-KR" sz="8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향후에는 경험을 설명할 때 결과뿐 </a:t>
            </a:r>
            <a:r>
              <a:rPr lang="ko-KR" altLang="en-US" sz="8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아니라그</a:t>
            </a:r>
            <a:r>
              <a:rPr lang="ko-KR" altLang="en-US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과정에서의 판단 기준과 배운 점을 함께 제시한다면직무 적합성이 더욱 분명하게 드러날 것으로 판단됩니다</a:t>
            </a:r>
            <a:r>
              <a:rPr lang="en-US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72048" y="1848197"/>
            <a:ext cx="42450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지원하신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{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회사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}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중요하게 여기는 인재상과 비전을 바탕으로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수행에 필요한 역량과 조직 적합성을 중심으로 분석한 결과입니다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72048" y="1269220"/>
            <a:ext cx="196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</a:t>
            </a:r>
            <a:r>
              <a:rPr lang="ko-KR" altLang="en-US" b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분석 결과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2083879" y="5239425"/>
            <a:ext cx="4377064" cy="237744"/>
          </a:xfrm>
          <a:prstGeom prst="roundRect">
            <a:avLst/>
          </a:prstGeom>
          <a:solidFill>
            <a:srgbClr val="F6FAF4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이미 좋은 방향에 있습니다</a:t>
            </a:r>
            <a:r>
              <a:rPr lang="en-US" altLang="ko-KR" sz="105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5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경험을 다듬으면 더 단단해질 수 있습니다</a:t>
            </a:r>
            <a:r>
              <a:rPr lang="en-US" altLang="ko-KR" sz="1050" dirty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050" dirty="0">
              <a:solidFill>
                <a:srgbClr val="006600"/>
              </a:solidFill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2532447" y="5811886"/>
            <a:ext cx="1549549" cy="347949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 료</a:t>
            </a:r>
            <a:endParaRPr lang="ko-KR" altLang="en-US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4491453" y="5811886"/>
            <a:ext cx="1549549" cy="347949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저장</a:t>
            </a:r>
            <a:endParaRPr lang="ko-KR" altLang="en-US" sz="12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1296395" y="122112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1794997" y="181905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1903162" y="233174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4400927" y="234829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1903162" y="388955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1913477" y="516570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2402597" y="574440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4375547" y="5776179"/>
            <a:ext cx="260000" cy="21744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642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면접 이력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527286"/>
              </p:ext>
            </p:extLst>
          </p:nvPr>
        </p:nvGraphicFramePr>
        <p:xfrm>
          <a:off x="8561828" y="1054743"/>
          <a:ext cx="3276234" cy="5502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4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03790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406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이력 헤더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화면이 면접 이력 조회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화면임을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안내하는 헤더 메시지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56449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이력 안내  문구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이력과 결과 분석 기능 존재를 사용자에게 안내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9043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내역 조회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이력 조회 기능 시작 영역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39043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기간 필터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전체 기간 또는 사용자 지정 기간 선택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5406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 회사 필터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dirty="0" smtClean="0"/>
                        <a:t>지원한 회사 기준으로 면접 기록을 조회할 수 있도록 선택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406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 직무 필터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 직무 기준으로 면접 기록을 조회할 수 있도록 선택 가능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523513"/>
                  </a:ext>
                </a:extLst>
              </a:tr>
              <a:tr h="5406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검색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선택된 필터 조건을 적용하여 면접 기록을 조회하는 버튼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296532"/>
                  </a:ext>
                </a:extLst>
              </a:tr>
              <a:tr h="6816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이력 목록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사용자가 수행한 면접 기록을 카드 형태로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/>
                        <a:t>지원 회사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지원 직무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면접 수행 날짜</a:t>
                      </a:r>
                      <a:r>
                        <a:rPr lang="en-US" altLang="ko-KR" sz="1000" dirty="0" smtClean="0"/>
                        <a:t>, </a:t>
                      </a:r>
                      <a:r>
                        <a:rPr lang="ko-KR" altLang="en-US" sz="1000" dirty="0" smtClean="0"/>
                        <a:t>진행 </a:t>
                      </a:r>
                      <a:r>
                        <a:rPr lang="ko-KR" altLang="en-US" sz="1000" dirty="0" err="1" smtClean="0"/>
                        <a:t>여부등</a:t>
                      </a:r>
                      <a:r>
                        <a:rPr lang="ko-KR" altLang="en-US" sz="1000" dirty="0" smtClean="0"/>
                        <a:t> 제공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650514"/>
                  </a:ext>
                </a:extLst>
              </a:tr>
              <a:tr h="6907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상세보기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선택한 면접 기록의 상세 결과 분석 화면으로 이동하는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SCR-28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 이동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363851"/>
                  </a:ext>
                </a:extLst>
              </a:tr>
              <a:tr h="5406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홈 이동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메인 서비스 화면으로 이동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SCR-00-1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으로 이동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535687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442518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03790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SCR-21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이력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이전 면접 이력 내역 제공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886854" y="1246380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이력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1886854" y="183765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6855" y="1889796"/>
            <a:ext cx="2763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이전 모의면접 내역 확인하기 </a:t>
            </a:r>
          </a:p>
        </p:txBody>
      </p:sp>
      <p:sp>
        <p:nvSpPr>
          <p:cNvPr id="27" name="타원 26"/>
          <p:cNvSpPr/>
          <p:nvPr/>
        </p:nvSpPr>
        <p:spPr>
          <a:xfrm>
            <a:off x="1579565" y="1300698"/>
            <a:ext cx="327369" cy="251446"/>
          </a:xfrm>
          <a:prstGeom prst="ellipse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1399032" y="1280159"/>
            <a:ext cx="230808" cy="17223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56" y="1344023"/>
            <a:ext cx="169121" cy="1691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46854" y="2219278"/>
            <a:ext cx="4555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지금까지 진행한 모의면접 기록과 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분석결과 을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한눈에 확인해 보세요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2016854" y="2676970"/>
            <a:ext cx="4594258" cy="46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06934" y="2772486"/>
            <a:ext cx="1156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내역 조회</a:t>
            </a:r>
            <a:endParaRPr lang="ko-KR" alt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211" y="2812074"/>
            <a:ext cx="228600" cy="228600"/>
          </a:xfrm>
          <a:prstGeom prst="rect">
            <a:avLst/>
          </a:prstGeom>
        </p:spPr>
      </p:pic>
      <p:sp>
        <p:nvSpPr>
          <p:cNvPr id="23" name="모서리가 둥근 직사각형 22"/>
          <p:cNvSpPr/>
          <p:nvPr/>
        </p:nvSpPr>
        <p:spPr>
          <a:xfrm>
            <a:off x="1836677" y="3163824"/>
            <a:ext cx="3713731" cy="237744"/>
          </a:xfrm>
          <a:prstGeom prst="roundRect">
            <a:avLst>
              <a:gd name="adj" fmla="val 128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 기간               ∨ </a:t>
            </a: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   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지원 회사                ∨ </a:t>
            </a: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  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지원 직무             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769864" y="3163824"/>
            <a:ext cx="585216" cy="23774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검색</a:t>
            </a:r>
            <a:endParaRPr lang="ko-KR" altLang="en-US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1879503" y="5849433"/>
            <a:ext cx="4550522" cy="344110"/>
          </a:xfrm>
          <a:prstGeom prst="roundRect">
            <a:avLst>
              <a:gd name="adj" fmla="val 21982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FF256E"/>
                </a:solidFill>
              </a:rPr>
              <a:t>← </a:t>
            </a:r>
            <a:r>
              <a:rPr lang="ko-KR" altLang="en-US" sz="16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홈으로</a:t>
            </a:r>
            <a:endParaRPr lang="ko-KR" altLang="en-US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1886854" y="3593592"/>
            <a:ext cx="4550522" cy="960120"/>
            <a:chOff x="1886854" y="3593592"/>
            <a:chExt cx="4550522" cy="960120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1886854" y="3593592"/>
              <a:ext cx="4550522" cy="960120"/>
            </a:xfrm>
            <a:prstGeom prst="roundRect">
              <a:avLst>
                <a:gd name="adj" fmla="val 12857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삼성전자 </a:t>
              </a:r>
              <a:r>
                <a:rPr lang="en-US" altLang="ko-KR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 SW </a:t>
              </a:r>
              <a:r>
                <a:rPr lang="ko-KR" altLang="en-US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개발자</a:t>
              </a:r>
              <a:endParaRPr lang="en-US" altLang="ko-KR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2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yyyy</a:t>
              </a:r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endPara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endPara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5023477" y="4073652"/>
              <a:ext cx="1157867" cy="335315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상세보기</a:t>
              </a:r>
              <a:endPara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1879503" y="4676215"/>
            <a:ext cx="4550522" cy="960120"/>
            <a:chOff x="1886854" y="3593592"/>
            <a:chExt cx="4550522" cy="960120"/>
          </a:xfrm>
        </p:grpSpPr>
        <p:sp>
          <p:nvSpPr>
            <p:cNvPr id="53" name="모서리가 둥근 직사각형 52"/>
            <p:cNvSpPr/>
            <p:nvPr/>
          </p:nvSpPr>
          <p:spPr>
            <a:xfrm>
              <a:off x="1886854" y="3593592"/>
              <a:ext cx="4550522" cy="960120"/>
            </a:xfrm>
            <a:prstGeom prst="roundRect">
              <a:avLst>
                <a:gd name="adj" fmla="val 12857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NAVER</a:t>
              </a:r>
              <a:r>
                <a:rPr lang="ko-KR" altLang="en-US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 </a:t>
              </a:r>
              <a:r>
                <a:rPr lang="ko-KR" altLang="en-US" b="1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백엔드</a:t>
              </a:r>
              <a:r>
                <a:rPr lang="en-US" altLang="ko-KR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개발자</a:t>
              </a:r>
              <a:endParaRPr lang="en-US" altLang="ko-KR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2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yyyy</a:t>
              </a:r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endPara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endPara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>
            <a:xfrm>
              <a:off x="5023477" y="4073652"/>
              <a:ext cx="1157867" cy="335315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상세보기</a:t>
              </a:r>
              <a:endPara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8" name="타원 57"/>
          <p:cNvSpPr/>
          <p:nvPr/>
        </p:nvSpPr>
        <p:spPr>
          <a:xfrm>
            <a:off x="1516934" y="267697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1578732" y="305850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3022504" y="29834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4266184" y="29799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5699512" y="297849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타원 62"/>
          <p:cNvSpPr/>
          <p:nvPr/>
        </p:nvSpPr>
        <p:spPr>
          <a:xfrm>
            <a:off x="1769190" y="350619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1756854" y="575855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4889320" y="396493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62383" y="5342537"/>
            <a:ext cx="4854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중단</a:t>
            </a:r>
            <a:endParaRPr lang="ko-KR" altLang="en-US" sz="105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962382" y="4301355"/>
            <a:ext cx="4854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endParaRPr lang="ko-KR" altLang="en-US" sz="1050" dirty="0">
              <a:solidFill>
                <a:srgbClr val="0066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61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면접 결과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413586" y="1123949"/>
            <a:ext cx="5975927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134100"/>
              </p:ext>
            </p:extLst>
          </p:nvPr>
        </p:nvGraphicFramePr>
        <p:xfrm>
          <a:off x="8561828" y="1055031"/>
          <a:ext cx="3276234" cy="625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4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03790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53698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결과 헤더 영역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화면이 면접 결과 확인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화면임을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안내하는 헤더 메시지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68614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 정보 표시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사용자가 지원한 회사 및 직무 정보를 표시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 회사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 직무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수행 날짜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 여부 등 제공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53698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분석 안내 문구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결과가 지원 회사의 인재상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비전 및 직무 요구 역량을 기준으로 분석되었음을 설명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68614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 역량 평가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 수행 능력 관련 평가 결과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기술 이해도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 관련 경험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문제 해결 능력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각 항목별 평가 결과 설명 카드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8353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인성 태도 평가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과정에서 나타난 태도 및 인성 역량 평가 결과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의사소통 능력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책임감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성장 의지 등 기업 인재상 및 핵심 역량에 맞춰 분석한 결과  카드 제공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3698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종합 평가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 역량 및 인성 평가 결과를 종합하여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분석한 결과를 제공하는 영역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523513"/>
                  </a:ext>
                </a:extLst>
              </a:tr>
              <a:tr h="53750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역량 레이더 차트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평가 결과를 다차원 역량 기준으로 시각화하여 제공하는 그래프 영역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296532"/>
                  </a:ext>
                </a:extLst>
              </a:tr>
              <a:tr h="53750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종합 피드백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분석 결과를 기반으로 사용자 면접 수행 결과에 대한 종합 피드백을 제공하는 영역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418060"/>
                  </a:ext>
                </a:extLst>
              </a:tr>
              <a:tr h="68344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PDF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저장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 내역과 분석 결과를 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PDF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리포트 형태로 생성하여 저장하거나 다운로드할 수 있도록 제공하는 버튼</a:t>
                      </a:r>
                      <a:endParaRPr lang="en-US" altLang="ko-KR" sz="1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953893"/>
                  </a:ext>
                </a:extLst>
              </a:tr>
              <a:tr h="55117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닫기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 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화면을 종료하고 이전 화면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SCR-27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으로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이동하는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978923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073155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03790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SCR-22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결과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이전 면접 결과 내역 제공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1413586" y="1472147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1209824" y="117784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40085" y="1512836"/>
            <a:ext cx="2118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삼성전자 </a:t>
            </a:r>
            <a:r>
              <a:rPr lang="en-US" altLang="ko-KR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en-US" altLang="ko-KR" sz="11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SW </a:t>
            </a:r>
            <a:r>
              <a:rPr lang="ko-KR" altLang="en-US" sz="11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개발자</a:t>
            </a:r>
            <a:endParaRPr lang="en-US" altLang="ko-KR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700" dirty="0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y</a:t>
            </a:r>
            <a:r>
              <a:rPr lang="en-US" altLang="ko-KR" sz="700" dirty="0" err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yyy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-mm-</a:t>
            </a:r>
            <a:r>
              <a:rPr lang="en-US" altLang="ko-KR" sz="700" dirty="0" err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dd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1488196" y="1160763"/>
            <a:ext cx="2134352" cy="318795"/>
            <a:chOff x="1611643" y="1268263"/>
            <a:chExt cx="2134352" cy="307777"/>
          </a:xfrm>
        </p:grpSpPr>
        <p:sp>
          <p:nvSpPr>
            <p:cNvPr id="12" name="TextBox 11"/>
            <p:cNvSpPr txBox="1"/>
            <p:nvPr/>
          </p:nvSpPr>
          <p:spPr>
            <a:xfrm>
              <a:off x="1834899" y="1268263"/>
              <a:ext cx="19110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결과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1611643" y="1330010"/>
              <a:ext cx="275211" cy="178865"/>
            </a:xfrm>
            <a:prstGeom prst="ellipse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6981" y="1356621"/>
              <a:ext cx="144535" cy="144535"/>
            </a:xfrm>
            <a:prstGeom prst="rect">
              <a:avLst/>
            </a:prstGeom>
          </p:spPr>
        </p:pic>
      </p:grpSp>
      <p:sp>
        <p:nvSpPr>
          <p:cNvPr id="42" name="TextBox 41"/>
          <p:cNvSpPr txBox="1"/>
          <p:nvPr/>
        </p:nvSpPr>
        <p:spPr>
          <a:xfrm>
            <a:off x="1857342" y="1888978"/>
            <a:ext cx="287450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지원하신 </a:t>
            </a:r>
            <a:r>
              <a:rPr lang="en-US" altLang="ko-KR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{</a:t>
            </a:r>
            <a:r>
              <a:rPr lang="ko-KR" altLang="en-US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회사</a:t>
            </a:r>
            <a:r>
              <a:rPr lang="en-US" altLang="ko-KR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}</a:t>
            </a:r>
            <a:r>
              <a:rPr lang="ko-KR" altLang="en-US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중요하게 여기는 인재상과</a:t>
            </a:r>
            <a:r>
              <a:rPr lang="ko-KR" alt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비전을 바탕으로</a:t>
            </a:r>
            <a:r>
              <a:rPr lang="en-US" altLang="ko-KR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r>
              <a:rPr lang="ko-KR" altLang="en-US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 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수행에 필요한 역량과 조직 적합성을 중심으로 분석한 </a:t>
            </a:r>
            <a:r>
              <a:rPr lang="ko-KR" altLang="en-US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결과입니다</a:t>
            </a:r>
            <a:r>
              <a:rPr lang="en-US" altLang="ko-KR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PDF</a:t>
            </a:r>
            <a:r>
              <a:rPr lang="ko-KR" altLang="en-US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로 결과를 저장하시면 </a:t>
            </a:r>
            <a:r>
              <a:rPr lang="ko-KR" altLang="en-US" sz="7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먼접진행</a:t>
            </a:r>
            <a:r>
              <a:rPr lang="ko-KR" altLang="en-US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대화와 결과를 확인 하실 수 있습니다</a:t>
            </a:r>
            <a:r>
              <a:rPr lang="en-US" altLang="ko-KR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cxnSp>
        <p:nvCxnSpPr>
          <p:cNvPr id="44" name="직선 연결선 43"/>
          <p:cNvCxnSpPr/>
          <p:nvPr/>
        </p:nvCxnSpPr>
        <p:spPr>
          <a:xfrm>
            <a:off x="1886007" y="1904442"/>
            <a:ext cx="4594258" cy="46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1886007" y="2290646"/>
            <a:ext cx="4594258" cy="46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/>
          <p:cNvGrpSpPr/>
          <p:nvPr/>
        </p:nvGrpSpPr>
        <p:grpSpPr>
          <a:xfrm>
            <a:off x="1698069" y="2294490"/>
            <a:ext cx="4685627" cy="1346859"/>
            <a:chOff x="1925485" y="2964941"/>
            <a:chExt cx="4557611" cy="1474440"/>
          </a:xfrm>
        </p:grpSpPr>
        <p:sp>
          <p:nvSpPr>
            <p:cNvPr id="49" name="TextBox 48"/>
            <p:cNvSpPr txBox="1"/>
            <p:nvPr/>
          </p:nvSpPr>
          <p:spPr>
            <a:xfrm>
              <a:off x="1925485" y="2964941"/>
              <a:ext cx="2763474" cy="269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 역량 평가</a:t>
              </a:r>
              <a:endPara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2016854" y="3241940"/>
              <a:ext cx="4466242" cy="354691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기술 이해도</a:t>
              </a:r>
              <a:endParaRPr lang="en-US" altLang="ko-KR" sz="9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 </a:t>
              </a:r>
              <a:r>
                <a:rPr lang="ko-KR" altLang="en-US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 수행에 필요한 기본 개념과 역할에 대한 이해도가 전반적으로 </a:t>
              </a:r>
              <a:r>
                <a:rPr lang="ko-KR" altLang="en-US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확인되었습니다</a:t>
              </a:r>
              <a:endPara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2016854" y="3660621"/>
              <a:ext cx="4466242" cy="354691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 관련 경험</a:t>
              </a:r>
              <a:endParaRPr lang="en-US" altLang="ko-KR" sz="9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 </a:t>
              </a:r>
              <a:r>
                <a:rPr lang="ko-KR" altLang="en-US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 관련 경험에서 지원하신 직무와 유사한 직무 내용 경험이 확인되었습니다</a:t>
              </a:r>
              <a:r>
                <a:rPr lang="en-US" altLang="ko-KR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2003267" y="4084690"/>
              <a:ext cx="4479828" cy="354691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문제 해결 능력</a:t>
              </a:r>
              <a:endParaRPr lang="en-US" altLang="ko-KR" sz="9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 </a:t>
              </a:r>
              <a:r>
                <a:rPr lang="ko-KR" altLang="en-US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문제 상황에서 원인을 파악하고 단계적으로 접근하려는 사고 흐름이 </a:t>
              </a:r>
              <a:r>
                <a:rPr lang="ko-KR" altLang="en-US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비교적 명확하게 나타났습니다</a:t>
              </a:r>
              <a:r>
                <a:rPr lang="en-US" altLang="ko-KR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1763407" y="3717178"/>
            <a:ext cx="5126015" cy="1111250"/>
            <a:chOff x="1838543" y="3921871"/>
            <a:chExt cx="5126015" cy="1111250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1838543" y="3921871"/>
              <a:ext cx="5126015" cy="1111250"/>
            </a:xfrm>
            <a:prstGeom prst="roundRect">
              <a:avLst/>
            </a:prstGeom>
            <a:solidFill>
              <a:srgbClr val="FFEFEF"/>
            </a:solidFill>
            <a:ln>
              <a:solidFill>
                <a:srgbClr val="F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890481" y="3921871"/>
              <a:ext cx="28410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인성 태도 평가</a:t>
              </a:r>
              <a:endPara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모서리가 둥근 직사각형 25"/>
            <p:cNvSpPr/>
            <p:nvPr/>
          </p:nvSpPr>
          <p:spPr>
            <a:xfrm>
              <a:off x="1927119" y="4166082"/>
              <a:ext cx="1616548" cy="7722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의사소통 능력</a:t>
              </a:r>
              <a:endParaRPr lang="en-US" altLang="ko-KR" sz="9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 </a:t>
              </a:r>
              <a:r>
                <a:rPr lang="ko-KR" altLang="en-US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의사소통에 대한 </a:t>
              </a:r>
              <a:r>
                <a:rPr lang="ko-KR" altLang="en-US" sz="7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긍적적인</a:t>
              </a:r>
              <a:r>
                <a:rPr lang="ko-KR" altLang="en-US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평가가 확인되었습니다</a:t>
              </a:r>
              <a:r>
                <a:rPr lang="en-US" altLang="ko-KR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9" name="모서리가 둥근 직사각형 68"/>
            <p:cNvSpPr/>
            <p:nvPr/>
          </p:nvSpPr>
          <p:spPr>
            <a:xfrm>
              <a:off x="3604201" y="4157598"/>
              <a:ext cx="1616548" cy="7722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책임감</a:t>
              </a:r>
              <a:endParaRPr lang="en-US" altLang="ko-KR" sz="9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 </a:t>
              </a:r>
              <a:r>
                <a:rPr lang="ko-KR" altLang="en-US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책임감에 </a:t>
              </a:r>
              <a:r>
                <a:rPr lang="ko-KR" altLang="en-US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대한 </a:t>
              </a:r>
              <a:r>
                <a:rPr lang="ko-KR" altLang="en-US" sz="7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긍적적인</a:t>
              </a:r>
              <a:r>
                <a:rPr lang="ko-KR" altLang="en-US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평가가 확인되었습니다</a:t>
              </a:r>
              <a:r>
                <a:rPr lang="en-US" altLang="ko-KR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endParaRPr lang="ko-KR" altLang="en-US" sz="9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0" name="모서리가 둥근 직사각형 69"/>
            <p:cNvSpPr/>
            <p:nvPr/>
          </p:nvSpPr>
          <p:spPr>
            <a:xfrm>
              <a:off x="5295254" y="4160731"/>
              <a:ext cx="1616548" cy="7722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b="1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성장의지</a:t>
              </a:r>
              <a:endParaRPr lang="en-US" altLang="ko-KR" sz="9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 </a:t>
              </a:r>
              <a:r>
                <a:rPr lang="ko-KR" altLang="en-US" sz="7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성장의지에</a:t>
              </a:r>
              <a:r>
                <a:rPr lang="ko-KR" altLang="en-US" sz="7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대한 </a:t>
              </a:r>
              <a:r>
                <a:rPr lang="ko-KR" altLang="en-US" sz="7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긍적적인</a:t>
              </a:r>
              <a:r>
                <a:rPr lang="ko-KR" altLang="en-US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평가가 확인되었습니다</a:t>
              </a:r>
              <a:r>
                <a:rPr lang="en-US" altLang="ko-KR" sz="8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endParaRPr lang="ko-KR" altLang="en-US" sz="9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722951" y="4831481"/>
            <a:ext cx="5025795" cy="1313034"/>
            <a:chOff x="1886007" y="5044806"/>
            <a:chExt cx="5025795" cy="1313034"/>
          </a:xfrm>
        </p:grpSpPr>
        <p:graphicFrame>
          <p:nvGraphicFramePr>
            <p:cNvPr id="32" name="차트 31"/>
            <p:cNvGraphicFramePr/>
            <p:nvPr>
              <p:extLst>
                <p:ext uri="{D42A27DB-BD31-4B8C-83A1-F6EECF244321}">
                  <p14:modId xmlns:p14="http://schemas.microsoft.com/office/powerpoint/2010/main" val="49703783"/>
                </p:ext>
              </p:extLst>
            </p:nvPr>
          </p:nvGraphicFramePr>
          <p:xfrm>
            <a:off x="1990100" y="5244063"/>
            <a:ext cx="1896099" cy="11137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71" name="TextBox 70"/>
            <p:cNvSpPr txBox="1"/>
            <p:nvPr/>
          </p:nvSpPr>
          <p:spPr>
            <a:xfrm>
              <a:off x="1886007" y="5044806"/>
              <a:ext cx="7809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종합 평가</a:t>
              </a:r>
              <a:endPara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4059238" y="5236065"/>
              <a:ext cx="2852564" cy="1113777"/>
            </a:xfrm>
            <a:prstGeom prst="roundRect">
              <a:avLst/>
            </a:prstGeom>
            <a:solidFill>
              <a:srgbClr val="FFFEF3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b="1" dirty="0" smtClean="0">
                  <a:solidFill>
                    <a:srgbClr val="006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강점</a:t>
              </a:r>
              <a:endParaRPr lang="en-US" altLang="ko-KR" sz="900" b="1" dirty="0" smtClean="0">
                <a:solidFill>
                  <a:srgbClr val="0066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9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 </a:t>
              </a:r>
              <a:r>
                <a:rPr lang="ko-KR" altLang="en-US" sz="9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수행에 필요한 핵심 개념 이해도가 높고 문제 해결 과정이 논리적으로 전개되는 점이 강점으로 </a:t>
              </a:r>
              <a:r>
                <a:rPr lang="ko-KR" altLang="en-US" sz="9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확인되었습니다</a:t>
              </a:r>
              <a:endParaRPr lang="en-US" altLang="ko-KR" sz="9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900" b="1" dirty="0" err="1" smtClean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보완필요</a:t>
              </a:r>
              <a:endParaRPr lang="en-US" altLang="ko-KR" sz="900" b="1" dirty="0" smtClean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9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경험 사례 설명 시 상황</a:t>
              </a:r>
              <a:r>
                <a:rPr lang="en-US" altLang="ko-KR" sz="9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–</a:t>
              </a:r>
              <a:r>
                <a:rPr lang="ko-KR" altLang="en-US" sz="9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행동</a:t>
              </a:r>
              <a:r>
                <a:rPr lang="en-US" altLang="ko-KR" sz="9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–</a:t>
              </a:r>
              <a:r>
                <a:rPr lang="ko-KR" altLang="en-US" sz="9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결과 구조가 다소 부족하여 답변의 설득력이 낮아질 수 있습니다</a:t>
              </a:r>
              <a:r>
                <a:rPr lang="en-US" altLang="ko-KR" sz="9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9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72" name="직사각형 71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/>
          <p:cNvSpPr/>
          <p:nvPr/>
        </p:nvSpPr>
        <p:spPr>
          <a:xfrm>
            <a:off x="1346836" y="153274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1611675" y="189632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1477000" y="230887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1581452" y="36819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1506432" y="483158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1792004" y="504733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3766182" y="499184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2503944" y="6229350"/>
            <a:ext cx="1522238" cy="20955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 </a:t>
            </a:r>
            <a:r>
              <a:rPr lang="en-US" altLang="ko-KR" sz="9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PDF  </a:t>
            </a:r>
            <a:r>
              <a:rPr lang="ko-KR" altLang="en-US" sz="9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저장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4209762" y="6229350"/>
            <a:ext cx="1522238" cy="209550"/>
          </a:xfrm>
          <a:prstGeom prst="roundRect">
            <a:avLst/>
          </a:prstGeom>
          <a:noFill/>
          <a:ln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닫기</a:t>
            </a:r>
            <a:endParaRPr lang="ko-KR" altLang="en-US" sz="1000" b="1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2293874" y="615352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4114902" y="616157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215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프로필 관리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56868"/>
              </p:ext>
            </p:extLst>
          </p:nvPr>
        </p:nvGraphicFramePr>
        <p:xfrm>
          <a:off x="8561828" y="1054743"/>
          <a:ext cx="3276234" cy="7272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0680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프로필 관리 헤더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31021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안내 문구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프로필 정보 수정 가능 안내 제공 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프로필 관리 정보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프로필 정보를 입력 및 수정할 수 있는 영역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28336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프로필 이미지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프로필 이미지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업로드 전 기본 프로필 이미지 제공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이미지 업로드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프로필 이미지 변경 기능 제공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희망 지원 정보 영역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희망 기업 유형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지원을 희망하는 기업 유형 입력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 전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빈값</a:t>
                      </a:r>
                      <a:endParaRPr lang="ko-KR" altLang="en-US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희망 직무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이름 조회 및 수정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 전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빈값</a:t>
                      </a:r>
                      <a:endParaRPr lang="ko-KR" altLang="en-US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이름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이름 조회 및 입력 수정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회원가입 시 입력한 정보 디폴트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생년월일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생년월일 정보 입력 수정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회원가입 시 입력한 정보 디폴트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71567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이메일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이메일 정보 입력 및 수정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회원가입 시 입력한 정보 디폴트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624706"/>
                  </a:ext>
                </a:extLst>
              </a:tr>
              <a:tr h="24867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연락처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연락처 정보 입력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및 수정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회원가입 시 입력한 정보 디폴트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670602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 입력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/>
                        <a:t>사용자 자기소개 내용 입력</a:t>
                      </a:r>
                      <a:endParaRPr lang="en-US" altLang="ko-KR" sz="1000" dirty="0" smtClean="0"/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 전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빈값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6843"/>
                  </a:ext>
                </a:extLst>
              </a:tr>
              <a:tr h="2909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저장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smtClean="0"/>
                        <a:t>수정된 프로필 정보 저장하는 버튼</a:t>
                      </a:r>
                      <a:endParaRPr lang="en-US" altLang="ko-KR" sz="1000" dirty="0" smtClean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262582"/>
                  </a:ext>
                </a:extLst>
              </a:tr>
              <a:tr h="2916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취소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수정을 취소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중단하고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SCR-00-1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메인으로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다시 이동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847392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853189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SCR-23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프로필 관리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프로필 확인 및 수정을 제공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프로필 관리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1576094" y="1326676"/>
            <a:ext cx="327369" cy="251446"/>
          </a:xfrm>
          <a:prstGeom prst="ellipse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823" y="1368158"/>
            <a:ext cx="168481" cy="1684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5672" y="1858102"/>
            <a:ext cx="4591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 기본 정보를 확인하고 수정할 수 있습니다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1560573" y="2223455"/>
            <a:ext cx="5681956" cy="3962400"/>
          </a:xfrm>
          <a:prstGeom prst="roundRect">
            <a:avLst>
              <a:gd name="adj" fmla="val 2965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/>
          <p:nvPr/>
        </p:nvCxnSpPr>
        <p:spPr>
          <a:xfrm flipV="1">
            <a:off x="1576094" y="2581276"/>
            <a:ext cx="5672431" cy="148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1576094" y="5781675"/>
            <a:ext cx="5666435" cy="95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28975" y="2596082"/>
            <a:ext cx="0" cy="318559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1663823" y="4188878"/>
            <a:ext cx="142227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63823" y="2257845"/>
            <a:ext cx="1567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프로필 관리</a:t>
            </a: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1925494" y="2765627"/>
            <a:ext cx="938561" cy="812251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1775153" y="3777185"/>
            <a:ext cx="1271362" cy="251393"/>
          </a:xfrm>
          <a:prstGeom prst="roundRect">
            <a:avLst/>
          </a:prstGeom>
          <a:noFill/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이미지 업로드 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76094" y="4221395"/>
            <a:ext cx="1392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희망 지원 정보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1589660" y="4583174"/>
            <a:ext cx="1446800" cy="490210"/>
            <a:chOff x="1589660" y="4513063"/>
            <a:chExt cx="1446800" cy="490210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1690138" y="4774673"/>
              <a:ext cx="1346322" cy="228600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589660" y="4513063"/>
              <a:ext cx="11424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희망 기업 유형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1589660" y="5122405"/>
            <a:ext cx="1446800" cy="490210"/>
            <a:chOff x="1589660" y="4513063"/>
            <a:chExt cx="1446800" cy="490210"/>
          </a:xfrm>
        </p:grpSpPr>
        <p:sp>
          <p:nvSpPr>
            <p:cNvPr id="53" name="모서리가 둥근 직사각형 52"/>
            <p:cNvSpPr/>
            <p:nvPr/>
          </p:nvSpPr>
          <p:spPr>
            <a:xfrm>
              <a:off x="1690138" y="4774673"/>
              <a:ext cx="1346322" cy="228600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589660" y="4513063"/>
              <a:ext cx="11424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희망 직무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3299580" y="2715214"/>
            <a:ext cx="3754769" cy="506372"/>
            <a:chOff x="3326108" y="2751178"/>
            <a:chExt cx="3754769" cy="506372"/>
          </a:xfrm>
        </p:grpSpPr>
        <p:sp>
          <p:nvSpPr>
            <p:cNvPr id="37" name="모서리가 둥근 직사각형 36"/>
            <p:cNvSpPr/>
            <p:nvPr/>
          </p:nvSpPr>
          <p:spPr>
            <a:xfrm>
              <a:off x="3409950" y="2981325"/>
              <a:ext cx="3670927" cy="276225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326108" y="2751178"/>
              <a:ext cx="981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이름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3307222" y="3202039"/>
            <a:ext cx="3754769" cy="506372"/>
            <a:chOff x="3326108" y="2751178"/>
            <a:chExt cx="3754769" cy="506372"/>
          </a:xfrm>
        </p:grpSpPr>
        <p:sp>
          <p:nvSpPr>
            <p:cNvPr id="56" name="모서리가 둥근 직사각형 55"/>
            <p:cNvSpPr/>
            <p:nvPr/>
          </p:nvSpPr>
          <p:spPr>
            <a:xfrm>
              <a:off x="3409950" y="2981325"/>
              <a:ext cx="3670927" cy="276225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326108" y="2751178"/>
              <a:ext cx="981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생년월일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3307222" y="3706071"/>
            <a:ext cx="3754769" cy="506372"/>
            <a:chOff x="3326108" y="2751178"/>
            <a:chExt cx="3754769" cy="506372"/>
          </a:xfrm>
        </p:grpSpPr>
        <p:sp>
          <p:nvSpPr>
            <p:cNvPr id="59" name="모서리가 둥근 직사각형 58"/>
            <p:cNvSpPr/>
            <p:nvPr/>
          </p:nvSpPr>
          <p:spPr>
            <a:xfrm>
              <a:off x="3409950" y="2981325"/>
              <a:ext cx="3670927" cy="276225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326108" y="2751178"/>
              <a:ext cx="981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이메일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3296714" y="4210285"/>
            <a:ext cx="3754769" cy="506372"/>
            <a:chOff x="3326108" y="2751178"/>
            <a:chExt cx="3754769" cy="506372"/>
          </a:xfrm>
        </p:grpSpPr>
        <p:sp>
          <p:nvSpPr>
            <p:cNvPr id="62" name="모서리가 둥근 직사각형 61"/>
            <p:cNvSpPr/>
            <p:nvPr/>
          </p:nvSpPr>
          <p:spPr>
            <a:xfrm>
              <a:off x="3409950" y="2981325"/>
              <a:ext cx="3670927" cy="276225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326108" y="2751178"/>
              <a:ext cx="981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연락처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3307222" y="4720954"/>
            <a:ext cx="3754769" cy="831348"/>
            <a:chOff x="3326108" y="2751178"/>
            <a:chExt cx="3754769" cy="831348"/>
          </a:xfrm>
        </p:grpSpPr>
        <p:sp>
          <p:nvSpPr>
            <p:cNvPr id="65" name="모서리가 둥근 직사각형 64"/>
            <p:cNvSpPr/>
            <p:nvPr/>
          </p:nvSpPr>
          <p:spPr>
            <a:xfrm>
              <a:off x="3409950" y="2981325"/>
              <a:ext cx="3670927" cy="601201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326108" y="2751178"/>
              <a:ext cx="981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자기소개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8" name="모서리가 둥근 직사각형 67"/>
          <p:cNvSpPr/>
          <p:nvPr/>
        </p:nvSpPr>
        <p:spPr>
          <a:xfrm>
            <a:off x="5898657" y="5850982"/>
            <a:ext cx="724147" cy="242794"/>
          </a:xfrm>
          <a:prstGeom prst="roundRect">
            <a:avLst/>
          </a:prstGeom>
          <a:solidFill>
            <a:srgbClr val="FF256E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 장</a:t>
            </a:r>
            <a:endParaRPr lang="ko-KR" altLang="en-US" sz="12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1365672" y="175902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1466559" y="225409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1831391" y="283530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1619650" y="365249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1383522" y="414666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1422449" y="458526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1393611" y="517237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3125232" y="269310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3125068" y="321805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3124761" y="369482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3107122" y="421889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3114752" y="471396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13</a:t>
            </a:r>
          </a:p>
        </p:txBody>
      </p:sp>
      <p:sp>
        <p:nvSpPr>
          <p:cNvPr id="83" name="타원 82"/>
          <p:cNvSpPr/>
          <p:nvPr/>
        </p:nvSpPr>
        <p:spPr>
          <a:xfrm>
            <a:off x="5804554" y="565303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42397" y="2219347"/>
            <a:ext cx="4391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X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6697364" y="209941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286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계정 설정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684109"/>
              </p:ext>
            </p:extLst>
          </p:nvPr>
        </p:nvGraphicFramePr>
        <p:xfrm>
          <a:off x="8561828" y="1054745"/>
          <a:ext cx="3276234" cy="5479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223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 설정 헤더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안내 문구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화면이 계정 설정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화면임을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안내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2892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비밀번호 변경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비밀번호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기존 비밀번호 입력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새 비밀번호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변경할 새로운 비밀번호 입력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7645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비밀번호 확인 입력 필드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새 비밀번호 재입력 확인 입력 값 일치 여부 검증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8967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알림 설정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서비스 알림 수신 여부 설정 체크박스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이메일 알림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SMS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알림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서비스 알림 사용자 맞춤 알림 환경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57645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계정 관리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계정 휴면 설정 및 회원 탈퇴 기능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체크 박스 제공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57645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서비스 이용 정보 및 약관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서비스 이용 약관 조회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dirty="0" smtClean="0"/>
                        <a:t> 개인정보 처리 방침 영역 클릭 시 내용 안내</a:t>
                      </a:r>
                      <a:endParaRPr lang="en-US" altLang="ko-KR" sz="1000" dirty="0" smtClean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  <a:tr h="57645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취소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변경된 설정 내용 취소 및 이전 화면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SCR-00-1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메인으로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다시 이동하는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71567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저장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변경된 계정 설정 정보 저장하는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338373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624984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SCR-24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 설정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926407" y="1264431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계정 설정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413589" y="1174156"/>
            <a:ext cx="5975927" cy="53013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13588" y="1702970"/>
            <a:ext cx="5975927" cy="36000"/>
          </a:xfrm>
          <a:prstGeom prst="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1576094" y="1326676"/>
            <a:ext cx="327369" cy="251446"/>
          </a:xfrm>
          <a:prstGeom prst="ellipse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1369840" y="12349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95672" y="1858102"/>
            <a:ext cx="4591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계정 보안 및 환경 설정을 관리할 수 있습니다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1365672" y="175902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522" y="1341191"/>
            <a:ext cx="217777" cy="217777"/>
          </a:xfrm>
          <a:prstGeom prst="rect">
            <a:avLst/>
          </a:prstGeom>
        </p:spPr>
      </p:pic>
      <p:grpSp>
        <p:nvGrpSpPr>
          <p:cNvPr id="43" name="그룹 42"/>
          <p:cNvGrpSpPr/>
          <p:nvPr/>
        </p:nvGrpSpPr>
        <p:grpSpPr>
          <a:xfrm>
            <a:off x="1561651" y="2143519"/>
            <a:ext cx="5679800" cy="1630813"/>
            <a:chOff x="1561651" y="2143519"/>
            <a:chExt cx="5679800" cy="1630813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1561651" y="2143519"/>
              <a:ext cx="5679800" cy="1630813"/>
            </a:xfrm>
            <a:prstGeom prst="roundRect">
              <a:avLst>
                <a:gd name="adj" fmla="val 6806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2" name="그룹 41"/>
            <p:cNvGrpSpPr/>
            <p:nvPr/>
          </p:nvGrpSpPr>
          <p:grpSpPr>
            <a:xfrm>
              <a:off x="1576094" y="2195204"/>
              <a:ext cx="5641829" cy="1496245"/>
              <a:chOff x="1576094" y="2195204"/>
              <a:chExt cx="5641829" cy="1496245"/>
            </a:xfrm>
          </p:grpSpPr>
          <p:cxnSp>
            <p:nvCxnSpPr>
              <p:cNvPr id="21" name="직선 연결선 20"/>
              <p:cNvCxnSpPr/>
              <p:nvPr/>
            </p:nvCxnSpPr>
            <p:spPr>
              <a:xfrm>
                <a:off x="1576094" y="2485870"/>
                <a:ext cx="564182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1861299" y="2195204"/>
                <a:ext cx="24935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b="1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비밀번호 변경</a:t>
                </a:r>
                <a:endPara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pic>
            <p:nvPicPr>
              <p:cNvPr id="23" name="그림 22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87427" y="2203396"/>
                <a:ext cx="228600" cy="228600"/>
              </a:xfrm>
              <a:prstGeom prst="rect">
                <a:avLst/>
              </a:prstGeom>
            </p:spPr>
          </p:pic>
          <p:grpSp>
            <p:nvGrpSpPr>
              <p:cNvPr id="41" name="그룹 40"/>
              <p:cNvGrpSpPr/>
              <p:nvPr/>
            </p:nvGrpSpPr>
            <p:grpSpPr>
              <a:xfrm>
                <a:off x="1861299" y="2561700"/>
                <a:ext cx="5067818" cy="321013"/>
                <a:chOff x="1861299" y="2561700"/>
                <a:chExt cx="5067818" cy="321013"/>
              </a:xfrm>
            </p:grpSpPr>
            <p:sp>
              <p:nvSpPr>
                <p:cNvPr id="25" name="모서리가 둥근 직사각형 24"/>
                <p:cNvSpPr/>
                <p:nvPr/>
              </p:nvSpPr>
              <p:spPr>
                <a:xfrm>
                  <a:off x="2950504" y="2561700"/>
                  <a:ext cx="3978613" cy="321013"/>
                </a:xfrm>
                <a:prstGeom prst="roundRect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1861299" y="2576752"/>
                  <a:ext cx="135566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100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현재 비밀번호</a:t>
                  </a:r>
                  <a:endParaRPr lang="ko-KR" altLang="en-US" sz="11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p:grpSp>
          <p:grpSp>
            <p:nvGrpSpPr>
              <p:cNvPr id="82" name="그룹 81"/>
              <p:cNvGrpSpPr/>
              <p:nvPr/>
            </p:nvGrpSpPr>
            <p:grpSpPr>
              <a:xfrm>
                <a:off x="1863099" y="2958542"/>
                <a:ext cx="5067818" cy="321013"/>
                <a:chOff x="1861299" y="2561700"/>
                <a:chExt cx="5067818" cy="321013"/>
              </a:xfrm>
            </p:grpSpPr>
            <p:sp>
              <p:nvSpPr>
                <p:cNvPr id="85" name="모서리가 둥근 직사각형 84"/>
                <p:cNvSpPr/>
                <p:nvPr/>
              </p:nvSpPr>
              <p:spPr>
                <a:xfrm>
                  <a:off x="2950504" y="2561700"/>
                  <a:ext cx="3978613" cy="321013"/>
                </a:xfrm>
                <a:prstGeom prst="roundRect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1861299" y="2576752"/>
                  <a:ext cx="135566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100" dirty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새</a:t>
                  </a:r>
                  <a:r>
                    <a:rPr lang="ko-KR" altLang="en-US" sz="1100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 비밀번호</a:t>
                  </a:r>
                  <a:endParaRPr lang="ko-KR" altLang="en-US" sz="11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p:grpSp>
          <p:grpSp>
            <p:nvGrpSpPr>
              <p:cNvPr id="87" name="그룹 86"/>
              <p:cNvGrpSpPr/>
              <p:nvPr/>
            </p:nvGrpSpPr>
            <p:grpSpPr>
              <a:xfrm>
                <a:off x="1863099" y="3370436"/>
                <a:ext cx="5067818" cy="321013"/>
                <a:chOff x="1861299" y="2561700"/>
                <a:chExt cx="5067818" cy="321013"/>
              </a:xfrm>
            </p:grpSpPr>
            <p:sp>
              <p:nvSpPr>
                <p:cNvPr id="88" name="모서리가 둥근 직사각형 87"/>
                <p:cNvSpPr/>
                <p:nvPr/>
              </p:nvSpPr>
              <p:spPr>
                <a:xfrm>
                  <a:off x="2950504" y="2561700"/>
                  <a:ext cx="3978613" cy="321013"/>
                </a:xfrm>
                <a:prstGeom prst="roundRect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9" name="TextBox 88"/>
                <p:cNvSpPr txBox="1"/>
                <p:nvPr/>
              </p:nvSpPr>
              <p:spPr>
                <a:xfrm>
                  <a:off x="1861299" y="2576752"/>
                  <a:ext cx="135566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100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비밀번호 확인</a:t>
                  </a:r>
                  <a:endParaRPr lang="ko-KR" altLang="en-US" sz="11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p:grpSp>
        </p:grpSp>
      </p:grpSp>
      <p:grpSp>
        <p:nvGrpSpPr>
          <p:cNvPr id="99" name="그룹 98"/>
          <p:cNvGrpSpPr/>
          <p:nvPr/>
        </p:nvGrpSpPr>
        <p:grpSpPr>
          <a:xfrm>
            <a:off x="1776056" y="3880265"/>
            <a:ext cx="2459945" cy="1119752"/>
            <a:chOff x="1584129" y="3880265"/>
            <a:chExt cx="2459945" cy="1119752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1584129" y="3880265"/>
              <a:ext cx="2459945" cy="111975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1584129" y="4202349"/>
              <a:ext cx="245994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8300" y="3950078"/>
              <a:ext cx="187727" cy="187727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1903463" y="3909395"/>
              <a:ext cx="7841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알림 설정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92" name="그룹 91"/>
            <p:cNvGrpSpPr/>
            <p:nvPr/>
          </p:nvGrpSpPr>
          <p:grpSpPr>
            <a:xfrm>
              <a:off x="1739778" y="4292327"/>
              <a:ext cx="2044738" cy="230832"/>
              <a:chOff x="1739778" y="4292327"/>
              <a:chExt cx="2044738" cy="230832"/>
            </a:xfrm>
          </p:grpSpPr>
          <p:sp>
            <p:nvSpPr>
              <p:cNvPr id="90" name="모서리가 둥근 직사각형 89"/>
              <p:cNvSpPr/>
              <p:nvPr/>
            </p:nvSpPr>
            <p:spPr>
              <a:xfrm>
                <a:off x="1739778" y="4338536"/>
                <a:ext cx="121521" cy="101605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1896782" y="4292327"/>
                <a:ext cx="188773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이메일 알림 수신</a:t>
                </a:r>
                <a:endParaRPr lang="ko-KR" altLang="en-US" sz="9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93" name="그룹 92"/>
            <p:cNvGrpSpPr/>
            <p:nvPr/>
          </p:nvGrpSpPr>
          <p:grpSpPr>
            <a:xfrm>
              <a:off x="1739778" y="4476950"/>
              <a:ext cx="2053004" cy="230832"/>
              <a:chOff x="1739778" y="4292327"/>
              <a:chExt cx="2053004" cy="230832"/>
            </a:xfrm>
          </p:grpSpPr>
          <p:sp>
            <p:nvSpPr>
              <p:cNvPr id="94" name="모서리가 둥근 직사각형 93"/>
              <p:cNvSpPr/>
              <p:nvPr/>
            </p:nvSpPr>
            <p:spPr>
              <a:xfrm>
                <a:off x="1739778" y="4338536"/>
                <a:ext cx="121521" cy="101605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1905048" y="4292327"/>
                <a:ext cx="188773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SMS </a:t>
                </a:r>
                <a:r>
                  <a:rPr lang="ko-KR" altLang="en-US" sz="9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알림 수신</a:t>
                </a:r>
                <a:endParaRPr lang="ko-KR" altLang="en-US" sz="9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96" name="그룹 95"/>
            <p:cNvGrpSpPr/>
            <p:nvPr/>
          </p:nvGrpSpPr>
          <p:grpSpPr>
            <a:xfrm>
              <a:off x="1745705" y="4659345"/>
              <a:ext cx="2053004" cy="230832"/>
              <a:chOff x="1739778" y="4292327"/>
              <a:chExt cx="2053004" cy="230832"/>
            </a:xfrm>
          </p:grpSpPr>
          <p:sp>
            <p:nvSpPr>
              <p:cNvPr id="97" name="모서리가 둥근 직사각형 96"/>
              <p:cNvSpPr/>
              <p:nvPr/>
            </p:nvSpPr>
            <p:spPr>
              <a:xfrm>
                <a:off x="1739778" y="4338536"/>
                <a:ext cx="121521" cy="101605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1905048" y="4292327"/>
                <a:ext cx="188773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사용 중</a:t>
                </a:r>
                <a:r>
                  <a:rPr lang="en-US" altLang="ko-KR" sz="9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ko-KR" altLang="en-US" sz="9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알림 수신</a:t>
                </a:r>
                <a:endParaRPr lang="ko-KR" altLang="en-US" sz="9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grpSp>
        <p:nvGrpSpPr>
          <p:cNvPr id="100" name="그룹 99"/>
          <p:cNvGrpSpPr/>
          <p:nvPr/>
        </p:nvGrpSpPr>
        <p:grpSpPr>
          <a:xfrm>
            <a:off x="4597338" y="3880265"/>
            <a:ext cx="2459945" cy="1119752"/>
            <a:chOff x="1584129" y="3880265"/>
            <a:chExt cx="2459945" cy="1119752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1584129" y="3880265"/>
              <a:ext cx="2459945" cy="111975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102" name="직선 연결선 101"/>
            <p:cNvCxnSpPr/>
            <p:nvPr/>
          </p:nvCxnSpPr>
          <p:spPr>
            <a:xfrm>
              <a:off x="1584129" y="4202349"/>
              <a:ext cx="245994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1739778" y="3909395"/>
              <a:ext cx="7841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계정 관리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05" name="그룹 104"/>
            <p:cNvGrpSpPr/>
            <p:nvPr/>
          </p:nvGrpSpPr>
          <p:grpSpPr>
            <a:xfrm>
              <a:off x="1739778" y="4292327"/>
              <a:ext cx="2044738" cy="230832"/>
              <a:chOff x="1739778" y="4292327"/>
              <a:chExt cx="2044738" cy="230832"/>
            </a:xfrm>
          </p:grpSpPr>
          <p:sp>
            <p:nvSpPr>
              <p:cNvPr id="112" name="모서리가 둥근 직사각형 111"/>
              <p:cNvSpPr/>
              <p:nvPr/>
            </p:nvSpPr>
            <p:spPr>
              <a:xfrm>
                <a:off x="1739778" y="4338536"/>
                <a:ext cx="121521" cy="101605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1896782" y="4292327"/>
                <a:ext cx="188773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계정 휴면</a:t>
                </a:r>
                <a:endParaRPr lang="ko-KR" altLang="en-US" sz="9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sp>
        <p:nvSpPr>
          <p:cNvPr id="114" name="모서리가 둥근 직사각형 113"/>
          <p:cNvSpPr/>
          <p:nvPr/>
        </p:nvSpPr>
        <p:spPr>
          <a:xfrm>
            <a:off x="4696403" y="4273229"/>
            <a:ext cx="2254247" cy="281634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4696403" y="4600686"/>
            <a:ext cx="2254247" cy="281634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모서리가 둥근 직사각형 126"/>
          <p:cNvSpPr/>
          <p:nvPr/>
        </p:nvSpPr>
        <p:spPr>
          <a:xfrm>
            <a:off x="4752986" y="4690700"/>
            <a:ext cx="121521" cy="101605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/>
          <p:cNvSpPr txBox="1"/>
          <p:nvPr/>
        </p:nvSpPr>
        <p:spPr>
          <a:xfrm>
            <a:off x="4909991" y="4625096"/>
            <a:ext cx="6335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회원 탈퇴</a:t>
            </a:r>
            <a:endParaRPr lang="ko-KR" alt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1576094" y="5098516"/>
            <a:ext cx="5641829" cy="953310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1" name="직선 연결선 130"/>
          <p:cNvCxnSpPr/>
          <p:nvPr/>
        </p:nvCxnSpPr>
        <p:spPr>
          <a:xfrm>
            <a:off x="1576094" y="5428005"/>
            <a:ext cx="5641829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687427" y="5135265"/>
            <a:ext cx="3309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 이용 정보 및 </a:t>
            </a:r>
            <a:r>
              <a:rPr lang="ko-KR" altLang="en-US" sz="1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약관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34" name="직선 연결선 133"/>
          <p:cNvCxnSpPr/>
          <p:nvPr/>
        </p:nvCxnSpPr>
        <p:spPr>
          <a:xfrm>
            <a:off x="1687427" y="5736837"/>
            <a:ext cx="524169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643522" y="5478212"/>
            <a:ext cx="1449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이용약관</a:t>
            </a:r>
            <a:endParaRPr lang="ko-KR" alt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643522" y="5767181"/>
            <a:ext cx="1449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개인정보 처리 방침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6361460" y="6121033"/>
            <a:ext cx="724147" cy="242794"/>
          </a:xfrm>
          <a:prstGeom prst="roundRect">
            <a:avLst/>
          </a:prstGeom>
          <a:solidFill>
            <a:srgbClr val="FF256E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 장</a:t>
            </a:r>
            <a:endParaRPr lang="ko-KR" altLang="en-US" sz="12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5543210" y="6127655"/>
            <a:ext cx="724147" cy="242794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 소</a:t>
            </a:r>
            <a:endParaRPr lang="ko-KR" altLang="en-US" sz="1200" b="1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타원 143"/>
          <p:cNvSpPr/>
          <p:nvPr/>
        </p:nvSpPr>
        <p:spPr>
          <a:xfrm>
            <a:off x="1381501" y="216400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타원 144"/>
          <p:cNvSpPr/>
          <p:nvPr/>
        </p:nvSpPr>
        <p:spPr>
          <a:xfrm>
            <a:off x="1656027" y="257228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6" name="타원 145"/>
          <p:cNvSpPr/>
          <p:nvPr/>
        </p:nvSpPr>
        <p:spPr>
          <a:xfrm>
            <a:off x="1671727" y="291822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7" name="타원 146"/>
          <p:cNvSpPr/>
          <p:nvPr/>
        </p:nvSpPr>
        <p:spPr>
          <a:xfrm>
            <a:off x="1668884" y="328526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8" name="타원 147"/>
          <p:cNvSpPr/>
          <p:nvPr/>
        </p:nvSpPr>
        <p:spPr>
          <a:xfrm>
            <a:off x="1617809" y="386572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타원 148"/>
          <p:cNvSpPr/>
          <p:nvPr/>
        </p:nvSpPr>
        <p:spPr>
          <a:xfrm>
            <a:off x="4515105" y="388131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0" name="타원 149"/>
          <p:cNvSpPr/>
          <p:nvPr/>
        </p:nvSpPr>
        <p:spPr>
          <a:xfrm>
            <a:off x="1463324" y="508475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1" name="타원 150"/>
          <p:cNvSpPr/>
          <p:nvPr/>
        </p:nvSpPr>
        <p:spPr>
          <a:xfrm>
            <a:off x="5319107" y="602498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2" name="타원 151"/>
          <p:cNvSpPr/>
          <p:nvPr/>
        </p:nvSpPr>
        <p:spPr>
          <a:xfrm>
            <a:off x="6269341" y="601231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778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메인 화면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909170"/>
              </p:ext>
            </p:extLst>
          </p:nvPr>
        </p:nvGraphicFramePr>
        <p:xfrm>
          <a:off x="8561828" y="1054745"/>
          <a:ext cx="3276234" cy="6264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863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23371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223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브랜드 로고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사이드바</a:t>
                      </a: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네비게이션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운영과 관련된 주요 기능 화면으로 빠르게 이동할 수 있도록 제공하는 좌측 메뉴 네비게이션 영역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2892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 메뉴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공고 등록 및 관리 기능을 제공하는 메뉴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메뉴 클릭 시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소메뉴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드롭다운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설정 메뉴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관리자 계정 설정 및 서비스 환경 설정 기능 제공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697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대시보드 화면 타이틀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357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관리자 사용자 정보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로그인한 관리자 정보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회사명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사용자명 표시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5135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알림 설정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관리자 프로필 이미지 표시 영역 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이미지 업로드 전 기본 프로필 이미지 제공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현황 요약 영역 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당일 진행 예정 면접 건수 표시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이전 면전 건수 대비 변화율 표시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54309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현황 요약 영역 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누적 면접 완료 건수 표시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완료 변화율 표시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  <a:tr h="41009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대기자 현황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면접 대기 중인 지원자 수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71567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그래프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기간별 면접 진행률 시각화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월별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인입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시 그래프 애니메이션 효과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338373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지원자 진행 상태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당일 면접 대상 지원자 목록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최대 목록 수 표시 후 최대 표시 가능 수를 넘길 경우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초후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다음 목록으로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변동</a:t>
                      </a:r>
                      <a:r>
                        <a:rPr lang="ko-KR" altLang="en-US" sz="1000" dirty="0" err="1" smtClean="0"/>
                        <a:t>당일</a:t>
                      </a:r>
                      <a:r>
                        <a:rPr lang="ko-KR" altLang="en-US" sz="1000" dirty="0" smtClean="0"/>
                        <a:t> 면접 대상 지원자 목록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218738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423115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2005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2607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INT-00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면접관리자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메인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ko-KR" altLang="en-US" sz="1000" b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면접관리자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대시보드 </a:t>
                      </a:r>
                      <a:r>
                        <a:rPr lang="ko-KR" altLang="en-US" sz="1000" b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메인화면</a:t>
                      </a:r>
                      <a:endParaRPr lang="ko-KR" altLang="en-US" sz="1000" b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37" y="1115220"/>
            <a:ext cx="8132343" cy="5410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7" y="1123949"/>
            <a:ext cx="2005730" cy="471937"/>
          </a:xfrm>
          <a:prstGeom prst="rect">
            <a:avLst/>
          </a:prstGeom>
        </p:spPr>
      </p:pic>
      <p:cxnSp>
        <p:nvCxnSpPr>
          <p:cNvPr id="20" name="직선 연결선 19"/>
          <p:cNvCxnSpPr/>
          <p:nvPr/>
        </p:nvCxnSpPr>
        <p:spPr>
          <a:xfrm>
            <a:off x="2294626" y="1595886"/>
            <a:ext cx="617309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2294626" y="1123950"/>
            <a:ext cx="0" cy="6358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/>
          <p:cNvGrpSpPr/>
          <p:nvPr/>
        </p:nvGrpSpPr>
        <p:grpSpPr>
          <a:xfrm>
            <a:off x="2446350" y="1294579"/>
            <a:ext cx="180000" cy="108000"/>
            <a:chOff x="2415396" y="1285336"/>
            <a:chExt cx="284672" cy="179820"/>
          </a:xfrm>
        </p:grpSpPr>
        <p:sp>
          <p:nvSpPr>
            <p:cNvPr id="28" name="직사각형 27"/>
            <p:cNvSpPr/>
            <p:nvPr/>
          </p:nvSpPr>
          <p:spPr>
            <a:xfrm>
              <a:off x="2415396" y="1285336"/>
              <a:ext cx="28467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2415396" y="1354543"/>
              <a:ext cx="28467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2415396" y="1419437"/>
              <a:ext cx="28467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2603855" y="1212280"/>
            <a:ext cx="2219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Dashboard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822631" y="1192405"/>
            <a:ext cx="215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 err="1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en-US" altLang="ko-KR" sz="14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4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8" name="그룹 67"/>
          <p:cNvGrpSpPr/>
          <p:nvPr/>
        </p:nvGrpSpPr>
        <p:grpSpPr>
          <a:xfrm>
            <a:off x="2524840" y="1713363"/>
            <a:ext cx="1740931" cy="981587"/>
            <a:chOff x="2446350" y="1713364"/>
            <a:chExt cx="1740931" cy="981587"/>
          </a:xfrm>
          <a:solidFill>
            <a:schemeClr val="bg1">
              <a:lumMod val="95000"/>
            </a:schemeClr>
          </a:solidFill>
        </p:grpSpPr>
        <p:sp>
          <p:nvSpPr>
            <p:cNvPr id="69" name="모서리가 둥근 직사각형 68"/>
            <p:cNvSpPr/>
            <p:nvPr/>
          </p:nvSpPr>
          <p:spPr>
            <a:xfrm>
              <a:off x="2446350" y="1713364"/>
              <a:ext cx="1740931" cy="981587"/>
            </a:xfrm>
            <a:prstGeom prst="round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2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Today’s 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Interview</a:t>
              </a:r>
            </a:p>
            <a:p>
              <a:endParaRPr lang="en-US" altLang="ko-KR" sz="16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6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</a:p>
            <a:p>
              <a:endPara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515015" y="1987603"/>
              <a:ext cx="1652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9</a:t>
              </a:r>
              <a:r>
                <a:rPr lang="en-US" altLang="ko-KR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</a:t>
              </a:r>
              <a:r>
                <a:rPr lang="en-US" altLang="ko-KR" sz="1200" dirty="0" smtClean="0">
                  <a:solidFill>
                    <a:schemeClr val="accent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+3</a:t>
              </a:r>
              <a:endParaRPr lang="ko-KR" altLang="en-US" sz="1200" dirty="0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483195" y="2261842"/>
              <a:ext cx="1433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/>
                  </a:solidFill>
                </a:rPr>
                <a:t>• </a:t>
              </a:r>
              <a:r>
                <a:rPr lang="en-US" altLang="ko-KR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Pre </a:t>
              </a:r>
              <a:r>
                <a:rPr lang="en-US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Variance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4442324" y="1719775"/>
            <a:ext cx="1863011" cy="981587"/>
            <a:chOff x="4339004" y="1700088"/>
            <a:chExt cx="1863011" cy="981587"/>
          </a:xfrm>
        </p:grpSpPr>
        <p:grpSp>
          <p:nvGrpSpPr>
            <p:cNvPr id="72" name="그룹 71"/>
            <p:cNvGrpSpPr/>
            <p:nvPr/>
          </p:nvGrpSpPr>
          <p:grpSpPr>
            <a:xfrm>
              <a:off x="4383791" y="1700088"/>
              <a:ext cx="1740931" cy="981587"/>
              <a:chOff x="2428588" y="1704665"/>
              <a:chExt cx="1740931" cy="981587"/>
            </a:xfrm>
            <a:solidFill>
              <a:schemeClr val="bg1">
                <a:lumMod val="95000"/>
              </a:schemeClr>
            </a:solidFill>
          </p:grpSpPr>
          <p:sp>
            <p:nvSpPr>
              <p:cNvPr id="73" name="모서리가 둥근 직사각형 72"/>
              <p:cNvSpPr/>
              <p:nvPr/>
            </p:nvSpPr>
            <p:spPr>
              <a:xfrm>
                <a:off x="2428588" y="1704665"/>
                <a:ext cx="1740931" cy="981587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200" b="1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</a:p>
              <a:p>
                <a:endPara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2488914" y="1980100"/>
                <a:ext cx="16527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128</a:t>
                </a:r>
                <a:r>
                  <a:rPr lang="en-US" altLang="ko-KR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</a:t>
                </a:r>
                <a:r>
                  <a:rPr lang="en-US" altLang="ko-KR" sz="1200" dirty="0" smtClean="0">
                    <a:solidFill>
                      <a:schemeClr val="accent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+</a:t>
                </a:r>
                <a:r>
                  <a:rPr lang="en-US" altLang="ko-KR" sz="1200" dirty="0">
                    <a:solidFill>
                      <a:schemeClr val="accent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7</a:t>
                </a:r>
                <a:endParaRPr lang="ko-KR" altLang="en-US" sz="1200" dirty="0">
                  <a:solidFill>
                    <a:schemeClr val="accent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2483195" y="2261842"/>
                <a:ext cx="14333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1"/>
                    </a:solidFill>
                  </a:rPr>
                  <a:t>•</a:t>
                </a:r>
                <a:r>
                  <a:rPr lang="en-US" altLang="ko-KR" sz="1400" dirty="0">
                    <a:solidFill>
                      <a:schemeClr val="accent6"/>
                    </a:solidFill>
                  </a:rPr>
                  <a:t> 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Total This </a:t>
                </a:r>
                <a:r>
                  <a:rPr lang="en-US" altLang="ko-KR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Year</a:t>
                </a:r>
                <a:endParaRPr lang="ko-KR" altLang="en-US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4339004" y="1735991"/>
              <a:ext cx="18630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Completed Interviews</a:t>
              </a:r>
            </a:p>
            <a:p>
              <a:endParaRPr lang="ko-KR" altLang="en-US" sz="1200" dirty="0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6445402" y="1713363"/>
            <a:ext cx="1740931" cy="981587"/>
            <a:chOff x="6510819" y="1713363"/>
            <a:chExt cx="1740931" cy="981587"/>
          </a:xfrm>
        </p:grpSpPr>
        <p:grpSp>
          <p:nvGrpSpPr>
            <p:cNvPr id="78" name="그룹 77"/>
            <p:cNvGrpSpPr/>
            <p:nvPr/>
          </p:nvGrpSpPr>
          <p:grpSpPr>
            <a:xfrm>
              <a:off x="6510819" y="1713363"/>
              <a:ext cx="1740931" cy="981587"/>
              <a:chOff x="2428588" y="1704665"/>
              <a:chExt cx="1740931" cy="981587"/>
            </a:xfrm>
            <a:solidFill>
              <a:schemeClr val="bg1">
                <a:lumMod val="95000"/>
              </a:schemeClr>
            </a:solidFill>
          </p:grpSpPr>
          <p:sp>
            <p:nvSpPr>
              <p:cNvPr id="79" name="모서리가 둥근 직사각형 78"/>
              <p:cNvSpPr/>
              <p:nvPr/>
            </p:nvSpPr>
            <p:spPr>
              <a:xfrm>
                <a:off x="2428588" y="1704665"/>
                <a:ext cx="1740931" cy="981587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200" b="1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</a:p>
              <a:p>
                <a:endPara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2488914" y="1980100"/>
                <a:ext cx="16527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7</a:t>
                </a:r>
                <a:r>
                  <a:rPr lang="en-US" altLang="ko-KR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endParaRPr lang="ko-KR" altLang="en-US" sz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2483195" y="2261842"/>
                <a:ext cx="14333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rgbClr val="FF0000"/>
                    </a:solidFill>
                  </a:rPr>
                  <a:t>•</a:t>
                </a:r>
                <a:r>
                  <a:rPr lang="en-US" altLang="ko-KR" sz="1400" dirty="0">
                    <a:solidFill>
                      <a:schemeClr val="accent6"/>
                    </a:solidFill>
                  </a:rPr>
                  <a:t> 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Currently Online</a:t>
                </a:r>
                <a:endParaRPr lang="ko-KR" altLang="en-US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27" name="직사각형 26"/>
            <p:cNvSpPr/>
            <p:nvPr/>
          </p:nvSpPr>
          <p:spPr>
            <a:xfrm>
              <a:off x="6520170" y="1735462"/>
              <a:ext cx="165942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Candidates Waiting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4" name="모서리가 둥근 직사각형 33"/>
          <p:cNvSpPr/>
          <p:nvPr/>
        </p:nvSpPr>
        <p:spPr>
          <a:xfrm>
            <a:off x="5392639" y="3209442"/>
            <a:ext cx="2884595" cy="2976070"/>
          </a:xfrm>
          <a:prstGeom prst="roundRect">
            <a:avLst>
              <a:gd name="adj" fmla="val 4446"/>
            </a:avLst>
          </a:prstGeom>
          <a:solidFill>
            <a:srgbClr val="E2E9F6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2424547" y="2988954"/>
            <a:ext cx="2766289" cy="3196557"/>
          </a:xfrm>
          <a:prstGeom prst="roundRect">
            <a:avLst>
              <a:gd name="adj" fmla="val 5131"/>
            </a:avLst>
          </a:prstGeom>
          <a:solidFill>
            <a:srgbClr val="E2E9F6"/>
          </a:solidFill>
          <a:ln>
            <a:solidFill>
              <a:srgbClr val="E2E9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7" name="차트 76"/>
          <p:cNvGraphicFramePr/>
          <p:nvPr>
            <p:extLst>
              <p:ext uri="{D42A27DB-BD31-4B8C-83A1-F6EECF244321}">
                <p14:modId xmlns:p14="http://schemas.microsoft.com/office/powerpoint/2010/main" val="4220574369"/>
              </p:ext>
            </p:extLst>
          </p:nvPr>
        </p:nvGraphicFramePr>
        <p:xfrm>
          <a:off x="2626350" y="3506532"/>
          <a:ext cx="2303575" cy="2386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2517339" y="3024776"/>
            <a:ext cx="245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Month Progress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428025" y="5736816"/>
            <a:ext cx="577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days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5493225" y="5483916"/>
            <a:ext cx="2672111" cy="603429"/>
            <a:chOff x="5514222" y="4221471"/>
            <a:chExt cx="2672111" cy="603429"/>
          </a:xfrm>
        </p:grpSpPr>
        <p:grpSp>
          <p:nvGrpSpPr>
            <p:cNvPr id="89" name="그룹 88"/>
            <p:cNvGrpSpPr/>
            <p:nvPr/>
          </p:nvGrpSpPr>
          <p:grpSpPr>
            <a:xfrm>
              <a:off x="5514222" y="4221471"/>
              <a:ext cx="2672111" cy="603429"/>
              <a:chOff x="5486400" y="3077949"/>
              <a:chExt cx="2672111" cy="603429"/>
            </a:xfrm>
          </p:grpSpPr>
          <p:sp>
            <p:nvSpPr>
              <p:cNvPr id="85" name="모서리가 둥근 직사각형 84"/>
              <p:cNvSpPr/>
              <p:nvPr/>
            </p:nvSpPr>
            <p:spPr>
              <a:xfrm>
                <a:off x="5486400" y="3077949"/>
                <a:ext cx="2672111" cy="60342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타원 85"/>
              <p:cNvSpPr/>
              <p:nvPr/>
            </p:nvSpPr>
            <p:spPr>
              <a:xfrm>
                <a:off x="5615667" y="3178675"/>
                <a:ext cx="471055" cy="40197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7210778" y="3394108"/>
                <a:ext cx="88332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In Progress</a:t>
                </a:r>
                <a:endParaRPr lang="ko-KR" altLang="en-US" sz="1050" dirty="0">
                  <a:solidFill>
                    <a:srgbClr val="0070C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87" name="TextBox 86"/>
            <p:cNvSpPr txBox="1"/>
            <p:nvPr/>
          </p:nvSpPr>
          <p:spPr>
            <a:xfrm>
              <a:off x="6113269" y="4257729"/>
              <a:ext cx="1126607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홍길동</a:t>
              </a:r>
              <a:endParaRPr lang="en-US" altLang="ko-KR" b="1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Data Analyst</a:t>
              </a:r>
              <a:endPara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5493225" y="4818575"/>
            <a:ext cx="2672111" cy="603429"/>
            <a:chOff x="5514222" y="4221471"/>
            <a:chExt cx="2672111" cy="603429"/>
          </a:xfrm>
        </p:grpSpPr>
        <p:grpSp>
          <p:nvGrpSpPr>
            <p:cNvPr id="100" name="그룹 99"/>
            <p:cNvGrpSpPr/>
            <p:nvPr/>
          </p:nvGrpSpPr>
          <p:grpSpPr>
            <a:xfrm>
              <a:off x="5514222" y="4221471"/>
              <a:ext cx="2672111" cy="603429"/>
              <a:chOff x="5486400" y="3077949"/>
              <a:chExt cx="2672111" cy="603429"/>
            </a:xfrm>
          </p:grpSpPr>
          <p:sp>
            <p:nvSpPr>
              <p:cNvPr id="102" name="모서리가 둥근 직사각형 101"/>
              <p:cNvSpPr/>
              <p:nvPr/>
            </p:nvSpPr>
            <p:spPr>
              <a:xfrm>
                <a:off x="5486400" y="3077949"/>
                <a:ext cx="2672111" cy="60342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타원 103"/>
              <p:cNvSpPr/>
              <p:nvPr/>
            </p:nvSpPr>
            <p:spPr>
              <a:xfrm>
                <a:off x="5615667" y="3178675"/>
                <a:ext cx="471055" cy="40197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7210778" y="3394108"/>
                <a:ext cx="88332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accent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Waiting</a:t>
                </a:r>
                <a:endParaRPr lang="ko-KR" altLang="en-US" sz="1050" dirty="0"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01" name="TextBox 100"/>
            <p:cNvSpPr txBox="1"/>
            <p:nvPr/>
          </p:nvSpPr>
          <p:spPr>
            <a:xfrm>
              <a:off x="6113269" y="4257729"/>
              <a:ext cx="1126607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홍길동</a:t>
              </a:r>
              <a:endParaRPr lang="en-US" altLang="ko-KR" b="1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Data Analyst</a:t>
              </a:r>
              <a:endPara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5493225" y="4160523"/>
            <a:ext cx="2672111" cy="603429"/>
            <a:chOff x="5514222" y="4221471"/>
            <a:chExt cx="2672111" cy="603429"/>
          </a:xfrm>
        </p:grpSpPr>
        <p:grpSp>
          <p:nvGrpSpPr>
            <p:cNvPr id="108" name="그룹 107"/>
            <p:cNvGrpSpPr/>
            <p:nvPr/>
          </p:nvGrpSpPr>
          <p:grpSpPr>
            <a:xfrm>
              <a:off x="5514222" y="4221471"/>
              <a:ext cx="2672111" cy="603429"/>
              <a:chOff x="5486400" y="3077949"/>
              <a:chExt cx="2672111" cy="603429"/>
            </a:xfrm>
          </p:grpSpPr>
          <p:sp>
            <p:nvSpPr>
              <p:cNvPr id="112" name="모서리가 둥근 직사각형 111"/>
              <p:cNvSpPr/>
              <p:nvPr/>
            </p:nvSpPr>
            <p:spPr>
              <a:xfrm>
                <a:off x="5486400" y="3077949"/>
                <a:ext cx="2672111" cy="60342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타원 112"/>
              <p:cNvSpPr/>
              <p:nvPr/>
            </p:nvSpPr>
            <p:spPr>
              <a:xfrm>
                <a:off x="5615667" y="3178675"/>
                <a:ext cx="471055" cy="40197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7210778" y="3394108"/>
                <a:ext cx="88332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 smtClean="0">
                    <a:solidFill>
                      <a:schemeClr val="accent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Waiting</a:t>
                </a:r>
                <a:endParaRPr lang="ko-KR" altLang="en-US" sz="1050" dirty="0"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09" name="TextBox 108"/>
            <p:cNvSpPr txBox="1"/>
            <p:nvPr/>
          </p:nvSpPr>
          <p:spPr>
            <a:xfrm>
              <a:off x="6113269" y="4257729"/>
              <a:ext cx="1126607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홍길동</a:t>
              </a:r>
              <a:endParaRPr lang="en-US" altLang="ko-KR" b="1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Backend Dev</a:t>
              </a:r>
              <a:endPara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94422" y="3492623"/>
            <a:ext cx="2691911" cy="603429"/>
            <a:chOff x="5514222" y="4221471"/>
            <a:chExt cx="2691911" cy="603429"/>
          </a:xfrm>
        </p:grpSpPr>
        <p:grpSp>
          <p:nvGrpSpPr>
            <p:cNvPr id="120" name="그룹 119"/>
            <p:cNvGrpSpPr/>
            <p:nvPr/>
          </p:nvGrpSpPr>
          <p:grpSpPr>
            <a:xfrm>
              <a:off x="5514222" y="4221471"/>
              <a:ext cx="2691911" cy="603429"/>
              <a:chOff x="5486400" y="3077949"/>
              <a:chExt cx="2691911" cy="603429"/>
            </a:xfrm>
          </p:grpSpPr>
          <p:sp>
            <p:nvSpPr>
              <p:cNvPr id="122" name="모서리가 둥근 직사각형 121"/>
              <p:cNvSpPr/>
              <p:nvPr/>
            </p:nvSpPr>
            <p:spPr>
              <a:xfrm>
                <a:off x="5486400" y="3077949"/>
                <a:ext cx="2672111" cy="60342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타원 122"/>
              <p:cNvSpPr/>
              <p:nvPr/>
            </p:nvSpPr>
            <p:spPr>
              <a:xfrm>
                <a:off x="5615667" y="3178675"/>
                <a:ext cx="471055" cy="40197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7294984" y="3395403"/>
                <a:ext cx="88332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ko-KR" altLang="en-US" sz="105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21" name="TextBox 120"/>
            <p:cNvSpPr txBox="1"/>
            <p:nvPr/>
          </p:nvSpPr>
          <p:spPr>
            <a:xfrm>
              <a:off x="6113269" y="4257729"/>
              <a:ext cx="1126607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홍길동</a:t>
              </a:r>
              <a:endParaRPr lang="en-US" altLang="ko-KR" b="1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05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AI Engineer</a:t>
              </a:r>
              <a:endPara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5399455" y="2883222"/>
            <a:ext cx="2102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Today’s Candidates</a:t>
            </a:r>
            <a:endParaRPr lang="ko-KR" altLang="en-US" sz="1400" b="1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0" t="55938" r="56900" b="24094"/>
          <a:stretch/>
        </p:blipFill>
        <p:spPr>
          <a:xfrm>
            <a:off x="5605247" y="3542060"/>
            <a:ext cx="506664" cy="47331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3" name="그림 92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1" t="22941" r="19604" b="54220"/>
          <a:stretch/>
        </p:blipFill>
        <p:spPr>
          <a:xfrm>
            <a:off x="5574068" y="4206285"/>
            <a:ext cx="567901" cy="521409"/>
          </a:xfrm>
          <a:prstGeom prst="ellipse">
            <a:avLst/>
          </a:prstGeom>
          <a:ln>
            <a:noFill/>
          </a:ln>
        </p:spPr>
      </p:pic>
      <p:pic>
        <p:nvPicPr>
          <p:cNvPr id="94" name="그림 93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47" t="56313" r="22489" b="23535"/>
          <a:stretch/>
        </p:blipFill>
        <p:spPr>
          <a:xfrm>
            <a:off x="5613000" y="4889192"/>
            <a:ext cx="498911" cy="513242"/>
          </a:xfrm>
          <a:prstGeom prst="ellipse">
            <a:avLst/>
          </a:prstGeom>
        </p:spPr>
      </p:pic>
      <p:pic>
        <p:nvPicPr>
          <p:cNvPr id="95" name="그림 94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0" t="22041" r="54458" b="57058"/>
          <a:stretch/>
        </p:blipFill>
        <p:spPr>
          <a:xfrm>
            <a:off x="5570540" y="5540313"/>
            <a:ext cx="574955" cy="473086"/>
          </a:xfrm>
          <a:prstGeom prst="ellipse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7227915" y="3815726"/>
            <a:ext cx="8833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Offline</a:t>
            </a:r>
            <a:endParaRPr lang="ko-KR" altLang="en-US" sz="105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218826" y="114080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0" name="타원 129"/>
          <p:cNvSpPr/>
          <p:nvPr/>
        </p:nvSpPr>
        <p:spPr>
          <a:xfrm>
            <a:off x="2235932" y="111314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1" name="타원 130"/>
          <p:cNvSpPr/>
          <p:nvPr/>
        </p:nvSpPr>
        <p:spPr>
          <a:xfrm>
            <a:off x="5693049" y="110801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타원 131"/>
          <p:cNvSpPr/>
          <p:nvPr/>
        </p:nvSpPr>
        <p:spPr>
          <a:xfrm>
            <a:off x="7773238" y="99139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3" name="타원 132"/>
          <p:cNvSpPr/>
          <p:nvPr/>
        </p:nvSpPr>
        <p:spPr>
          <a:xfrm>
            <a:off x="2394839" y="163298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4" name="타원 133"/>
          <p:cNvSpPr/>
          <p:nvPr/>
        </p:nvSpPr>
        <p:spPr>
          <a:xfrm>
            <a:off x="4334718" y="163899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5" name="타원 134"/>
          <p:cNvSpPr/>
          <p:nvPr/>
        </p:nvSpPr>
        <p:spPr>
          <a:xfrm>
            <a:off x="6315701" y="165356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6" name="타원 135"/>
          <p:cNvSpPr/>
          <p:nvPr/>
        </p:nvSpPr>
        <p:spPr>
          <a:xfrm>
            <a:off x="2351815" y="292277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7" name="타원 136"/>
          <p:cNvSpPr/>
          <p:nvPr/>
        </p:nvSpPr>
        <p:spPr>
          <a:xfrm>
            <a:off x="5283642" y="312934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21118" y="1582403"/>
            <a:ext cx="2203780" cy="4954786"/>
            <a:chOff x="220767" y="1579363"/>
            <a:chExt cx="2203780" cy="4954786"/>
          </a:xfrm>
        </p:grpSpPr>
        <p:sp>
          <p:nvSpPr>
            <p:cNvPr id="8" name="직사각형 7"/>
            <p:cNvSpPr/>
            <p:nvPr/>
          </p:nvSpPr>
          <p:spPr>
            <a:xfrm>
              <a:off x="335382" y="1595886"/>
              <a:ext cx="1959244" cy="49382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17308" y="1700088"/>
              <a:ext cx="1756549" cy="266736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</a:t>
              </a:r>
              <a:r>
                <a:rPr lang="en-US" altLang="ko-KR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Dashboard</a:t>
              </a:r>
              <a:endPara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692" y="1740185"/>
              <a:ext cx="186542" cy="186542"/>
            </a:xfrm>
            <a:prstGeom prst="rect">
              <a:avLst/>
            </a:prstGeom>
          </p:spPr>
        </p:pic>
        <p:grpSp>
          <p:nvGrpSpPr>
            <p:cNvPr id="57" name="그룹 56"/>
            <p:cNvGrpSpPr/>
            <p:nvPr/>
          </p:nvGrpSpPr>
          <p:grpSpPr>
            <a:xfrm>
              <a:off x="417308" y="2028295"/>
              <a:ext cx="1756549" cy="307777"/>
              <a:chOff x="417308" y="2028295"/>
              <a:chExt cx="1756549" cy="307777"/>
            </a:xfrm>
          </p:grpSpPr>
          <p:cxnSp>
            <p:nvCxnSpPr>
              <p:cNvPr id="39" name="직선 연결선 38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/>
              <p:cNvSpPr txBox="1"/>
              <p:nvPr/>
            </p:nvSpPr>
            <p:spPr>
              <a:xfrm>
                <a:off x="417308" y="2028295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공고 관리                 ∧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117" name="그룹 116"/>
            <p:cNvGrpSpPr/>
            <p:nvPr/>
          </p:nvGrpSpPr>
          <p:grpSpPr>
            <a:xfrm>
              <a:off x="477692" y="3209442"/>
              <a:ext cx="1788887" cy="307777"/>
              <a:chOff x="477692" y="2028295"/>
              <a:chExt cx="1788887" cy="307777"/>
            </a:xfrm>
          </p:grpSpPr>
          <p:cxnSp>
            <p:nvCxnSpPr>
              <p:cNvPr id="118" name="직선 연결선 117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Box 118"/>
              <p:cNvSpPr txBox="1"/>
              <p:nvPr/>
            </p:nvSpPr>
            <p:spPr>
              <a:xfrm>
                <a:off x="510030" y="2028295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현황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534312" y="2391801"/>
              <a:ext cx="1890235" cy="314353"/>
              <a:chOff x="534312" y="2391801"/>
              <a:chExt cx="1890235" cy="314353"/>
            </a:xfrm>
          </p:grpSpPr>
          <p:grpSp>
            <p:nvGrpSpPr>
              <p:cNvPr id="110" name="그룹 109"/>
              <p:cNvGrpSpPr/>
              <p:nvPr/>
            </p:nvGrpSpPr>
            <p:grpSpPr>
              <a:xfrm>
                <a:off x="534312" y="2391801"/>
                <a:ext cx="1890235" cy="314353"/>
                <a:chOff x="329699" y="2341565"/>
                <a:chExt cx="2116652" cy="316430"/>
              </a:xfrm>
            </p:grpSpPr>
            <p:sp>
              <p:nvSpPr>
                <p:cNvPr id="111" name="TextBox 110"/>
                <p:cNvSpPr txBox="1"/>
                <p:nvPr/>
              </p:nvSpPr>
              <p:spPr>
                <a:xfrm>
                  <a:off x="329699" y="2341565"/>
                  <a:ext cx="2116652" cy="278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ko-KR" altLang="en-US" sz="12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cxnSp>
              <p:nvCxnSpPr>
                <p:cNvPr id="115" name="직선 연결선 114"/>
                <p:cNvCxnSpPr/>
                <p:nvPr/>
              </p:nvCxnSpPr>
              <p:spPr>
                <a:xfrm flipV="1">
                  <a:off x="697357" y="2653171"/>
                  <a:ext cx="1398861" cy="4824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직사각형 8"/>
              <p:cNvSpPr/>
              <p:nvPr/>
            </p:nvSpPr>
            <p:spPr>
              <a:xfrm>
                <a:off x="1361374" y="2410481"/>
                <a:ext cx="78418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12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공고 등록</a:t>
                </a: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>
              <a:off x="534312" y="2752716"/>
              <a:ext cx="1890235" cy="327890"/>
              <a:chOff x="534312" y="2376127"/>
              <a:chExt cx="1890235" cy="327890"/>
            </a:xfrm>
          </p:grpSpPr>
          <p:grpSp>
            <p:nvGrpSpPr>
              <p:cNvPr id="56" name="그룹 55"/>
              <p:cNvGrpSpPr/>
              <p:nvPr/>
            </p:nvGrpSpPr>
            <p:grpSpPr>
              <a:xfrm>
                <a:off x="534312" y="2391800"/>
                <a:ext cx="1890235" cy="312217"/>
                <a:chOff x="329699" y="2341565"/>
                <a:chExt cx="2116652" cy="314280"/>
              </a:xfrm>
            </p:grpSpPr>
            <p:sp>
              <p:nvSpPr>
                <p:cNvPr id="59" name="TextBox 58"/>
                <p:cNvSpPr txBox="1"/>
                <p:nvPr/>
              </p:nvSpPr>
              <p:spPr>
                <a:xfrm>
                  <a:off x="329699" y="2341565"/>
                  <a:ext cx="2116652" cy="278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ko-KR" altLang="en-US" sz="12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cxnSp>
              <p:nvCxnSpPr>
                <p:cNvPr id="60" name="직선 연결선 59"/>
                <p:cNvCxnSpPr/>
                <p:nvPr/>
              </p:nvCxnSpPr>
              <p:spPr>
                <a:xfrm flipV="1">
                  <a:off x="697357" y="2653170"/>
                  <a:ext cx="1398861" cy="2675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" name="직사각형 57"/>
              <p:cNvSpPr/>
              <p:nvPr/>
            </p:nvSpPr>
            <p:spPr>
              <a:xfrm>
                <a:off x="1327679" y="2376127"/>
                <a:ext cx="81945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12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공고 현황</a:t>
                </a:r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61" name="그룹 60"/>
            <p:cNvGrpSpPr/>
            <p:nvPr/>
          </p:nvGrpSpPr>
          <p:grpSpPr>
            <a:xfrm>
              <a:off x="477692" y="3681378"/>
              <a:ext cx="1788887" cy="307777"/>
              <a:chOff x="477692" y="2028295"/>
              <a:chExt cx="1788887" cy="307777"/>
            </a:xfrm>
          </p:grpSpPr>
          <p:cxnSp>
            <p:nvCxnSpPr>
              <p:cNvPr id="62" name="직선 연결선 61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510030" y="2028295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결과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64" name="그룹 63"/>
            <p:cNvGrpSpPr/>
            <p:nvPr/>
          </p:nvGrpSpPr>
          <p:grpSpPr>
            <a:xfrm>
              <a:off x="477692" y="4131941"/>
              <a:ext cx="1788887" cy="307777"/>
              <a:chOff x="477692" y="2028295"/>
              <a:chExt cx="1788887" cy="307777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/>
              <p:cNvSpPr txBox="1"/>
              <p:nvPr/>
            </p:nvSpPr>
            <p:spPr>
              <a:xfrm>
                <a:off x="510030" y="2028295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27" name="타원 126"/>
            <p:cNvSpPr/>
            <p:nvPr/>
          </p:nvSpPr>
          <p:spPr>
            <a:xfrm>
              <a:off x="225232" y="1579363"/>
              <a:ext cx="260000" cy="21744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8" name="타원 127"/>
            <p:cNvSpPr/>
            <p:nvPr/>
          </p:nvSpPr>
          <p:spPr>
            <a:xfrm>
              <a:off x="220767" y="1999901"/>
              <a:ext cx="260000" cy="21744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6" name="직선 연결선 15"/>
          <p:cNvCxnSpPr/>
          <p:nvPr/>
        </p:nvCxnSpPr>
        <p:spPr>
          <a:xfrm>
            <a:off x="355583" y="6087345"/>
            <a:ext cx="19428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255410" y="6020804"/>
            <a:ext cx="1246726" cy="452676"/>
            <a:chOff x="237016" y="5994223"/>
            <a:chExt cx="1246726" cy="452676"/>
          </a:xfrm>
        </p:grpSpPr>
        <p:sp>
          <p:nvSpPr>
            <p:cNvPr id="129" name="타원 128"/>
            <p:cNvSpPr/>
            <p:nvPr/>
          </p:nvSpPr>
          <p:spPr>
            <a:xfrm>
              <a:off x="237016" y="5994223"/>
              <a:ext cx="219043" cy="21744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4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09" y="6148038"/>
              <a:ext cx="246925" cy="28033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638355" y="6108345"/>
              <a:ext cx="8453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6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601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공고 등록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237107"/>
              </p:ext>
            </p:extLst>
          </p:nvPr>
        </p:nvGraphicFramePr>
        <p:xfrm>
          <a:off x="8561828" y="1054745"/>
          <a:ext cx="3276234" cy="6953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863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23371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223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타이틀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관리자 사용자 정보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로그인한 관리자 정보 표시 기업명</a:t>
                      </a:r>
                      <a:r>
                        <a:rPr lang="en-US" altLang="ko-KR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관리자 이름</a:t>
                      </a:r>
                      <a:r>
                        <a:rPr lang="en-US" altLang="ko-KR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프로필 이미지</a:t>
                      </a:r>
                      <a:endParaRPr lang="en-US" altLang="ko-KR" sz="1000" b="0" baseline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2892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공고 정보 입력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 항목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공고 제목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채용 공고 명칭 입력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회사명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채용 기업명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또는 입력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관리자회사명으로 디폴트 설정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채용 직무 선택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드롭다운제공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채용 유형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정규직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계약직 등 고용 형태 선택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드롭다운제공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모집 기간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채용 공고 모집 시작일 및 종료일 설정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캘린더 설정 제공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공고 세부 내용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채용 공고 상세 내용 작성 기능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에디터 기능 제공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텍스트 서식 적용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목록 정리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내용 구조 작성 지원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697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유형 설정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 방식 및 질문 생성 조건 설정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설정 항목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유형 선택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 AI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화상 면접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라디오버튼제공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질문 생성 방식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자동 생성 선택 가능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드롭다운제공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난이도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Easy / Medium / Hard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수준 선택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드롭다운제공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질문 개수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설정면접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질문 수 지정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드롭다운제공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357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기준 설정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지원자 평가 방식 정의 기능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설정 항목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]Rubrics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직무별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평가 기준 선택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드롭다운제공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 역량 평가 비율 설정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인성 역량 평가 비율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설정기타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평가 비율 설정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숫자만 입력 가능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총합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100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필수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5135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제출 서류 설정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지원자 제출 필수 서류 지정 기능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선택항목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이력서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자기소개서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포트폴리오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증빙 서류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체크박스 제공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임시 저장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입력된 공고 정보를 임시 저장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54309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공고 등록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공고 정보 최종 등록 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저장 전 최종 확인 팝업 안내 제공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  <a:tr h="41009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취소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내용 저장 없이 메인 화면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INT-00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이동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71567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827948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2005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2607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공고 등록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채용 공고 정보와</a:t>
                      </a:r>
                      <a:r>
                        <a:rPr lang="ko-KR" altLang="en-US" sz="1000" b="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세부내용을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설정하여 신규 공고를 등록하는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0898"/>
            <a:ext cx="8132343" cy="541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1" y="1138659"/>
            <a:ext cx="1932170" cy="457226"/>
          </a:xfrm>
          <a:prstGeom prst="rect">
            <a:avLst/>
          </a:prstGeom>
        </p:spPr>
      </p:pic>
      <p:grpSp>
        <p:nvGrpSpPr>
          <p:cNvPr id="33" name="그룹 32"/>
          <p:cNvGrpSpPr/>
          <p:nvPr/>
        </p:nvGrpSpPr>
        <p:grpSpPr>
          <a:xfrm>
            <a:off x="308307" y="1595887"/>
            <a:ext cx="2089165" cy="4938263"/>
            <a:chOff x="335382" y="1595886"/>
            <a:chExt cx="2089165" cy="4938263"/>
          </a:xfrm>
        </p:grpSpPr>
        <p:sp>
          <p:nvSpPr>
            <p:cNvPr id="34" name="직사각형 33"/>
            <p:cNvSpPr/>
            <p:nvPr/>
          </p:nvSpPr>
          <p:spPr>
            <a:xfrm>
              <a:off x="335382" y="1595886"/>
              <a:ext cx="1959244" cy="49382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17308" y="1700088"/>
              <a:ext cx="1756549" cy="2667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</a:t>
              </a:r>
              <a:r>
                <a:rPr lang="en-US" altLang="ko-KR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Dashboard</a:t>
              </a:r>
              <a:endPara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692" y="1740185"/>
              <a:ext cx="186542" cy="186542"/>
            </a:xfrm>
            <a:prstGeom prst="rect">
              <a:avLst/>
            </a:prstGeom>
          </p:spPr>
        </p:pic>
        <p:cxnSp>
          <p:nvCxnSpPr>
            <p:cNvPr id="62" name="직선 연결선 61"/>
            <p:cNvCxnSpPr/>
            <p:nvPr/>
          </p:nvCxnSpPr>
          <p:spPr>
            <a:xfrm>
              <a:off x="477692" y="2325385"/>
              <a:ext cx="161852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/>
            <p:nvPr/>
          </p:nvGrpSpPr>
          <p:grpSpPr>
            <a:xfrm>
              <a:off x="477692" y="3209442"/>
              <a:ext cx="1788887" cy="307777"/>
              <a:chOff x="477692" y="2028295"/>
              <a:chExt cx="1788887" cy="307777"/>
            </a:xfrm>
          </p:grpSpPr>
          <p:cxnSp>
            <p:nvCxnSpPr>
              <p:cNvPr id="60" name="직선 연결선 59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/>
              <p:cNvSpPr txBox="1"/>
              <p:nvPr/>
            </p:nvSpPr>
            <p:spPr>
              <a:xfrm>
                <a:off x="510030" y="2028295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현황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534312" y="2391801"/>
              <a:ext cx="1890235" cy="314353"/>
              <a:chOff x="329699" y="2341565"/>
              <a:chExt cx="2116652" cy="316430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329699" y="2341565"/>
                <a:ext cx="2116652" cy="27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59" name="직선 연결선 58"/>
              <p:cNvCxnSpPr/>
              <p:nvPr/>
            </p:nvCxnSpPr>
            <p:spPr>
              <a:xfrm flipV="1">
                <a:off x="697357" y="2653171"/>
                <a:ext cx="1398861" cy="482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그룹 40"/>
            <p:cNvGrpSpPr/>
            <p:nvPr/>
          </p:nvGrpSpPr>
          <p:grpSpPr>
            <a:xfrm>
              <a:off x="534312" y="2752716"/>
              <a:ext cx="1890235" cy="327890"/>
              <a:chOff x="534312" y="2376127"/>
              <a:chExt cx="1890235" cy="327890"/>
            </a:xfrm>
          </p:grpSpPr>
          <p:grpSp>
            <p:nvGrpSpPr>
              <p:cNvPr id="52" name="그룹 51"/>
              <p:cNvGrpSpPr/>
              <p:nvPr/>
            </p:nvGrpSpPr>
            <p:grpSpPr>
              <a:xfrm>
                <a:off x="534312" y="2391800"/>
                <a:ext cx="1890235" cy="312217"/>
                <a:chOff x="329699" y="2341565"/>
                <a:chExt cx="2116652" cy="314280"/>
              </a:xfrm>
            </p:grpSpPr>
            <p:sp>
              <p:nvSpPr>
                <p:cNvPr id="54" name="TextBox 53"/>
                <p:cNvSpPr txBox="1"/>
                <p:nvPr/>
              </p:nvSpPr>
              <p:spPr>
                <a:xfrm>
                  <a:off x="329699" y="2341565"/>
                  <a:ext cx="2116652" cy="278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ko-KR" altLang="en-US" sz="12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cxnSp>
              <p:nvCxnSpPr>
                <p:cNvPr id="55" name="직선 연결선 54"/>
                <p:cNvCxnSpPr/>
                <p:nvPr/>
              </p:nvCxnSpPr>
              <p:spPr>
                <a:xfrm flipV="1">
                  <a:off x="697357" y="2653170"/>
                  <a:ext cx="1398861" cy="2675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직사각형 52"/>
              <p:cNvSpPr/>
              <p:nvPr/>
            </p:nvSpPr>
            <p:spPr>
              <a:xfrm>
                <a:off x="1327679" y="2376127"/>
                <a:ext cx="81945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12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공고 현황</a:t>
                </a:r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477692" y="3681378"/>
              <a:ext cx="1788887" cy="307777"/>
              <a:chOff x="477692" y="2028295"/>
              <a:chExt cx="1788887" cy="307777"/>
            </a:xfrm>
          </p:grpSpPr>
          <p:cxnSp>
            <p:nvCxnSpPr>
              <p:cNvPr id="50" name="직선 연결선 49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510030" y="2028295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결과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43" name="그룹 42"/>
            <p:cNvGrpSpPr/>
            <p:nvPr/>
          </p:nvGrpSpPr>
          <p:grpSpPr>
            <a:xfrm>
              <a:off x="477692" y="4131941"/>
              <a:ext cx="1788887" cy="307777"/>
              <a:chOff x="477692" y="2028295"/>
              <a:chExt cx="1788887" cy="307777"/>
            </a:xfrm>
          </p:grpSpPr>
          <p:cxnSp>
            <p:nvCxnSpPr>
              <p:cNvPr id="48" name="직선 연결선 47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510030" y="2028295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sp>
        <p:nvSpPr>
          <p:cNvPr id="3" name="모서리가 둥근 직사각형 2"/>
          <p:cNvSpPr/>
          <p:nvPr/>
        </p:nvSpPr>
        <p:spPr>
          <a:xfrm>
            <a:off x="493151" y="2011455"/>
            <a:ext cx="1550711" cy="29709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공고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관리 </a:t>
            </a:r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        ∧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1192369" y="2403990"/>
            <a:ext cx="846709" cy="264811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공고 등록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267551" y="1120898"/>
            <a:ext cx="0" cy="5413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22631" y="1192405"/>
            <a:ext cx="215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/>
          <p:cNvCxnSpPr/>
          <p:nvPr/>
        </p:nvCxnSpPr>
        <p:spPr>
          <a:xfrm>
            <a:off x="2294626" y="1595886"/>
            <a:ext cx="617309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03855" y="1212280"/>
            <a:ext cx="221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공고 등록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933" y="1253375"/>
            <a:ext cx="228600" cy="228600"/>
          </a:xfrm>
          <a:prstGeom prst="rect">
            <a:avLst/>
          </a:prstGeom>
        </p:spPr>
      </p:pic>
      <p:cxnSp>
        <p:nvCxnSpPr>
          <p:cNvPr id="70" name="직선 연결선 69"/>
          <p:cNvCxnSpPr/>
          <p:nvPr/>
        </p:nvCxnSpPr>
        <p:spPr>
          <a:xfrm>
            <a:off x="355583" y="6087345"/>
            <a:ext cx="19428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435703" y="6134926"/>
            <a:ext cx="1066433" cy="338554"/>
            <a:chOff x="417309" y="6108345"/>
            <a:chExt cx="1066433" cy="338554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09" y="6148038"/>
              <a:ext cx="246925" cy="28033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638355" y="6108345"/>
              <a:ext cx="8453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6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75" name="모서리가 둥근 직사각형 74"/>
          <p:cNvSpPr/>
          <p:nvPr/>
        </p:nvSpPr>
        <p:spPr>
          <a:xfrm>
            <a:off x="2397273" y="1727236"/>
            <a:ext cx="3580634" cy="1954144"/>
          </a:xfrm>
          <a:prstGeom prst="roundRect">
            <a:avLst>
              <a:gd name="adj" fmla="val 6779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7" name="직선 연결선 76"/>
          <p:cNvCxnSpPr/>
          <p:nvPr/>
        </p:nvCxnSpPr>
        <p:spPr>
          <a:xfrm>
            <a:off x="2397273" y="2040215"/>
            <a:ext cx="35806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그룹 90"/>
          <p:cNvGrpSpPr/>
          <p:nvPr/>
        </p:nvGrpSpPr>
        <p:grpSpPr>
          <a:xfrm>
            <a:off x="2435348" y="1623787"/>
            <a:ext cx="3480307" cy="1964726"/>
            <a:chOff x="2435348" y="1623787"/>
            <a:chExt cx="3480307" cy="1964726"/>
          </a:xfrm>
        </p:grpSpPr>
        <p:sp>
          <p:nvSpPr>
            <p:cNvPr id="78" name="TextBox 77"/>
            <p:cNvSpPr txBox="1"/>
            <p:nvPr/>
          </p:nvSpPr>
          <p:spPr>
            <a:xfrm>
              <a:off x="2435348" y="1744518"/>
              <a:ext cx="14174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공고 정보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559467" y="1623787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solidFill>
                    <a:schemeClr val="bg1">
                      <a:lumMod val="50000"/>
                    </a:schemeClr>
                  </a:solidFill>
                </a:rPr>
                <a:t>…</a:t>
              </a:r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527193" y="2139665"/>
              <a:ext cx="8343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공고 제목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678120" y="2438411"/>
              <a:ext cx="8343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회사명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760130" y="2752806"/>
              <a:ext cx="8343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561919" y="3051099"/>
              <a:ext cx="8343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채용 유형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561920" y="3326903"/>
              <a:ext cx="8343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모집 기간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5" name="모서리가 둥근 직사각형 84"/>
            <p:cNvSpPr/>
            <p:nvPr/>
          </p:nvSpPr>
          <p:spPr>
            <a:xfrm>
              <a:off x="3307222" y="2160000"/>
              <a:ext cx="2419203" cy="2318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경력</a:t>
              </a:r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 AI 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엔지니어 채용</a:t>
              </a:r>
              <a:endPara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3300620" y="2459227"/>
              <a:ext cx="2419203" cy="2318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Victerview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7" name="모서리가 둥근 직사각형 86"/>
            <p:cNvSpPr/>
            <p:nvPr/>
          </p:nvSpPr>
          <p:spPr>
            <a:xfrm>
              <a:off x="3307221" y="2756976"/>
              <a:ext cx="2419203" cy="2318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AI </a:t>
              </a:r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Engineer                                    </a:t>
              </a:r>
              <a:r>
                <a:rPr lang="ko-KR" altLang="en-US" sz="105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∨ </a:t>
              </a:r>
              <a:endParaRPr lang="en-US" altLang="ko-KR" sz="105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8" name="모서리가 둥근 직사각형 87"/>
            <p:cNvSpPr/>
            <p:nvPr/>
          </p:nvSpPr>
          <p:spPr>
            <a:xfrm>
              <a:off x="3307220" y="3054725"/>
              <a:ext cx="2419203" cy="2318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정규직                                               </a:t>
              </a:r>
              <a:r>
                <a:rPr lang="ko-KR" altLang="en-US" sz="105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∨</a:t>
              </a:r>
              <a:endPara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3307219" y="3350797"/>
              <a:ext cx="2419203" cy="2318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2026.02.05 ~ 2026.02.24               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</a:t>
              </a:r>
              <a:endPara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07" name="직선 연결선 106"/>
          <p:cNvCxnSpPr/>
          <p:nvPr/>
        </p:nvCxnSpPr>
        <p:spPr>
          <a:xfrm>
            <a:off x="2393779" y="4193943"/>
            <a:ext cx="35806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그룹 111"/>
          <p:cNvGrpSpPr/>
          <p:nvPr/>
        </p:nvGrpSpPr>
        <p:grpSpPr>
          <a:xfrm>
            <a:off x="2400547" y="3775855"/>
            <a:ext cx="3580634" cy="2655783"/>
            <a:chOff x="2400547" y="3775855"/>
            <a:chExt cx="3580634" cy="2655783"/>
          </a:xfrm>
        </p:grpSpPr>
        <p:sp>
          <p:nvSpPr>
            <p:cNvPr id="106" name="모서리가 둥근 직사각형 105"/>
            <p:cNvSpPr/>
            <p:nvPr/>
          </p:nvSpPr>
          <p:spPr>
            <a:xfrm>
              <a:off x="2400547" y="3801787"/>
              <a:ext cx="3580634" cy="2629851"/>
            </a:xfrm>
            <a:prstGeom prst="roundRect">
              <a:avLst>
                <a:gd name="adj" fmla="val 6779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444791" y="3866077"/>
              <a:ext cx="14174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공고 세부 내용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5541729" y="377585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solidFill>
                    <a:schemeClr val="bg1">
                      <a:lumMod val="50000"/>
                    </a:schemeClr>
                  </a:solidFill>
                </a:rPr>
                <a:t>…</a:t>
              </a:r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1" name="모서리가 둥근 직사각형 110"/>
            <p:cNvSpPr/>
            <p:nvPr/>
          </p:nvSpPr>
          <p:spPr>
            <a:xfrm>
              <a:off x="2564694" y="4271010"/>
              <a:ext cx="3175642" cy="2025445"/>
            </a:xfrm>
            <a:prstGeom prst="roundRect">
              <a:avLst>
                <a:gd name="adj" fmla="val 133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0" name="그림 10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14055" y="4244738"/>
              <a:ext cx="3308576" cy="304843"/>
            </a:xfrm>
            <a:prstGeom prst="rect">
              <a:avLst/>
            </a:prstGeom>
          </p:spPr>
        </p:pic>
      </p:grpSp>
      <p:sp>
        <p:nvSpPr>
          <p:cNvPr id="114" name="모서리가 둥근 직사각형 113"/>
          <p:cNvSpPr/>
          <p:nvPr/>
        </p:nvSpPr>
        <p:spPr>
          <a:xfrm>
            <a:off x="6142354" y="1713957"/>
            <a:ext cx="2161321" cy="1434685"/>
          </a:xfrm>
          <a:prstGeom prst="roundRect">
            <a:avLst>
              <a:gd name="adj" fmla="val 6779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6" name="직선 연결선 115"/>
          <p:cNvCxnSpPr/>
          <p:nvPr/>
        </p:nvCxnSpPr>
        <p:spPr>
          <a:xfrm>
            <a:off x="6159260" y="2002895"/>
            <a:ext cx="2117974" cy="85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159260" y="1742194"/>
            <a:ext cx="1086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유형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7920501" y="1611379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…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9" name="타원 118"/>
          <p:cNvSpPr/>
          <p:nvPr/>
        </p:nvSpPr>
        <p:spPr>
          <a:xfrm>
            <a:off x="6271403" y="2095022"/>
            <a:ext cx="126000" cy="126000"/>
          </a:xfrm>
          <a:prstGeom prst="ellipse">
            <a:avLst/>
          </a:prstGeom>
          <a:solidFill>
            <a:schemeClr val="bg1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/>
          <p:cNvSpPr/>
          <p:nvPr/>
        </p:nvSpPr>
        <p:spPr>
          <a:xfrm>
            <a:off x="6298403" y="2122652"/>
            <a:ext cx="72000" cy="72000"/>
          </a:xfrm>
          <a:prstGeom prst="ellipse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/>
          <p:cNvSpPr/>
          <p:nvPr/>
        </p:nvSpPr>
        <p:spPr>
          <a:xfrm>
            <a:off x="7017877" y="2101480"/>
            <a:ext cx="126000" cy="126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/>
          <p:cNvSpPr txBox="1"/>
          <p:nvPr/>
        </p:nvSpPr>
        <p:spPr>
          <a:xfrm>
            <a:off x="6368546" y="2036306"/>
            <a:ext cx="6223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150644" y="2034558"/>
            <a:ext cx="745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화상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30" name="그룹 129"/>
          <p:cNvGrpSpPr/>
          <p:nvPr/>
        </p:nvGrpSpPr>
        <p:grpSpPr>
          <a:xfrm>
            <a:off x="6218695" y="2276321"/>
            <a:ext cx="1796676" cy="261610"/>
            <a:chOff x="6218695" y="2276321"/>
            <a:chExt cx="1796676" cy="261610"/>
          </a:xfrm>
        </p:grpSpPr>
        <p:sp>
          <p:nvSpPr>
            <p:cNvPr id="127" name="TextBox 126"/>
            <p:cNvSpPr txBox="1"/>
            <p:nvPr/>
          </p:nvSpPr>
          <p:spPr>
            <a:xfrm>
              <a:off x="6218695" y="2276321"/>
              <a:ext cx="8446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질문 생성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8" name="모서리가 둥근 직사각형 127"/>
            <p:cNvSpPr/>
            <p:nvPr/>
          </p:nvSpPr>
          <p:spPr>
            <a:xfrm>
              <a:off x="6935371" y="2291882"/>
              <a:ext cx="1080000" cy="20552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자동생성       </a:t>
              </a:r>
              <a:r>
                <a:rPr lang="ko-KR" altLang="en-US" sz="105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∨</a:t>
              </a:r>
              <a:endParaRPr lang="ko-KR" altLang="en-US" sz="105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6225463" y="2519303"/>
            <a:ext cx="1792382" cy="261610"/>
            <a:chOff x="6222989" y="2263838"/>
            <a:chExt cx="1792382" cy="261610"/>
          </a:xfrm>
        </p:grpSpPr>
        <p:sp>
          <p:nvSpPr>
            <p:cNvPr id="132" name="TextBox 131"/>
            <p:cNvSpPr txBox="1"/>
            <p:nvPr/>
          </p:nvSpPr>
          <p:spPr>
            <a:xfrm>
              <a:off x="6222989" y="2263838"/>
              <a:ext cx="8446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난이도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3" name="모서리가 둥근 직사각형 132"/>
            <p:cNvSpPr/>
            <p:nvPr/>
          </p:nvSpPr>
          <p:spPr>
            <a:xfrm>
              <a:off x="6935371" y="2291882"/>
              <a:ext cx="1080000" cy="20552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medium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 </a:t>
              </a:r>
              <a:r>
                <a:rPr lang="ko-KR" altLang="en-US" sz="105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∨</a:t>
              </a:r>
              <a:endParaRPr lang="ko-KR" altLang="en-US" sz="105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6222990" y="2774511"/>
            <a:ext cx="1505866" cy="261610"/>
            <a:chOff x="6222989" y="2263838"/>
            <a:chExt cx="1590025" cy="261610"/>
          </a:xfrm>
        </p:grpSpPr>
        <p:sp>
          <p:nvSpPr>
            <p:cNvPr id="135" name="TextBox 134"/>
            <p:cNvSpPr txBox="1"/>
            <p:nvPr/>
          </p:nvSpPr>
          <p:spPr>
            <a:xfrm>
              <a:off x="6222989" y="2263838"/>
              <a:ext cx="8446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질문 개수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6" name="모서리가 둥근 직사각형 135"/>
            <p:cNvSpPr/>
            <p:nvPr/>
          </p:nvSpPr>
          <p:spPr>
            <a:xfrm>
              <a:off x="6976751" y="2293454"/>
              <a:ext cx="836263" cy="20552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10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    </a:t>
              </a:r>
              <a:r>
                <a:rPr lang="ko-KR" altLang="en-US" sz="105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∨</a:t>
              </a:r>
              <a:endParaRPr lang="ko-KR" altLang="en-US" sz="105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7710100" y="2777832"/>
            <a:ext cx="225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6145207" y="3154819"/>
            <a:ext cx="2161321" cy="1537263"/>
            <a:chOff x="6294754" y="1763779"/>
            <a:chExt cx="2161321" cy="1537263"/>
          </a:xfrm>
        </p:grpSpPr>
        <p:sp>
          <p:nvSpPr>
            <p:cNvPr id="156" name="모서리가 둥근 직사각형 155"/>
            <p:cNvSpPr/>
            <p:nvPr/>
          </p:nvSpPr>
          <p:spPr>
            <a:xfrm>
              <a:off x="6294754" y="1866357"/>
              <a:ext cx="2161321" cy="1434685"/>
            </a:xfrm>
            <a:prstGeom prst="roundRect">
              <a:avLst>
                <a:gd name="adj" fmla="val 6779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57" name="직선 연결선 156"/>
            <p:cNvCxnSpPr/>
            <p:nvPr/>
          </p:nvCxnSpPr>
          <p:spPr>
            <a:xfrm>
              <a:off x="6311660" y="2155295"/>
              <a:ext cx="2117974" cy="856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/>
            <p:cNvSpPr txBox="1"/>
            <p:nvPr/>
          </p:nvSpPr>
          <p:spPr>
            <a:xfrm>
              <a:off x="6311660" y="1894594"/>
              <a:ext cx="10869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평가 기준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8072901" y="1763779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solidFill>
                    <a:schemeClr val="bg1">
                      <a:lumMod val="50000"/>
                    </a:schemeClr>
                  </a:solidFill>
                </a:rPr>
                <a:t>…</a:t>
              </a:r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60" name="그룹 159"/>
            <p:cNvGrpSpPr/>
            <p:nvPr/>
          </p:nvGrpSpPr>
          <p:grpSpPr>
            <a:xfrm>
              <a:off x="6299701" y="2229882"/>
              <a:ext cx="2009217" cy="261610"/>
              <a:chOff x="6147301" y="2077482"/>
              <a:chExt cx="2009217" cy="261610"/>
            </a:xfrm>
          </p:grpSpPr>
          <p:sp>
            <p:nvSpPr>
              <p:cNvPr id="161" name="TextBox 160"/>
              <p:cNvSpPr txBox="1"/>
              <p:nvPr/>
            </p:nvSpPr>
            <p:spPr>
              <a:xfrm>
                <a:off x="6147301" y="2077482"/>
                <a:ext cx="84464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endPara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62" name="모서리가 둥근 직사각형 161"/>
              <p:cNvSpPr/>
              <p:nvPr/>
            </p:nvSpPr>
            <p:spPr>
              <a:xfrm>
                <a:off x="6788518" y="2102608"/>
                <a:ext cx="1368000" cy="20552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r>
                  <a:rPr lang="en-US" altLang="ko-KR" sz="800" dirty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AI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Engineer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경력 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</a:t>
                </a:r>
                <a:r>
                  <a:rPr lang="ko-KR" altLang="en-US" sz="700" dirty="0" smtClean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∨</a:t>
                </a:r>
                <a:endParaRPr lang="ko-KR" altLang="en-US" sz="7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sp>
        <p:nvSpPr>
          <p:cNvPr id="164" name="TextBox 163"/>
          <p:cNvSpPr txBox="1"/>
          <p:nvPr/>
        </p:nvSpPr>
        <p:spPr>
          <a:xfrm>
            <a:off x="6139129" y="3869658"/>
            <a:ext cx="1261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 역량  비율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7162157" y="3894784"/>
            <a:ext cx="720000" cy="2055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0" rtlCol="0" anchor="ctr"/>
          <a:lstStyle/>
          <a:p>
            <a:r>
              <a:rPr lang="en-US" altLang="ko-KR" sz="105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80          %</a:t>
            </a:r>
            <a:endParaRPr lang="ko-KR" altLang="en-US" sz="105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145897" y="4116079"/>
            <a:ext cx="1261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인성 역량  비율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7158996" y="4141803"/>
            <a:ext cx="720000" cy="2055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0" rtlCol="0" anchor="ctr"/>
          <a:lstStyle/>
          <a:p>
            <a:r>
              <a:rPr lang="en-US" altLang="ko-KR" sz="105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05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0          %</a:t>
            </a:r>
            <a:endParaRPr lang="ko-KR" altLang="en-US" sz="105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6152665" y="4355639"/>
            <a:ext cx="1261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기타 평가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7165764" y="4381363"/>
            <a:ext cx="720000" cy="2055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0" rtlCol="0" anchor="ctr"/>
          <a:lstStyle/>
          <a:p>
            <a:r>
              <a:rPr lang="en-US" altLang="ko-KR" sz="105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0          %</a:t>
            </a:r>
            <a:endParaRPr lang="ko-KR" altLang="en-US" sz="105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8" name="모서리가 둥근 직사각형 177"/>
          <p:cNvSpPr/>
          <p:nvPr/>
        </p:nvSpPr>
        <p:spPr>
          <a:xfrm>
            <a:off x="6127371" y="4775497"/>
            <a:ext cx="2161321" cy="970110"/>
          </a:xfrm>
          <a:prstGeom prst="roundRect">
            <a:avLst>
              <a:gd name="adj" fmla="val 6779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9" name="직선 연결선 178"/>
          <p:cNvCxnSpPr/>
          <p:nvPr/>
        </p:nvCxnSpPr>
        <p:spPr>
          <a:xfrm>
            <a:off x="6158715" y="5054684"/>
            <a:ext cx="2117974" cy="85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6134139" y="4783235"/>
            <a:ext cx="1086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제출 서류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6279176" y="5447219"/>
            <a:ext cx="144000" cy="144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6271403" y="5147025"/>
            <a:ext cx="144000" cy="144000"/>
          </a:xfrm>
          <a:prstGeom prst="roundRect">
            <a:avLst/>
          </a:prstGeom>
          <a:solidFill>
            <a:srgbClr val="FF256E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182"/>
          <p:cNvSpPr txBox="1"/>
          <p:nvPr/>
        </p:nvSpPr>
        <p:spPr>
          <a:xfrm>
            <a:off x="6417023" y="5098613"/>
            <a:ext cx="5714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이력서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6429944" y="5388812"/>
            <a:ext cx="838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포토폴리오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86" name="그룹 185"/>
          <p:cNvGrpSpPr/>
          <p:nvPr/>
        </p:nvGrpSpPr>
        <p:grpSpPr>
          <a:xfrm>
            <a:off x="7264118" y="5111656"/>
            <a:ext cx="1034872" cy="261610"/>
            <a:chOff x="6271403" y="5098613"/>
            <a:chExt cx="1034872" cy="261610"/>
          </a:xfrm>
        </p:grpSpPr>
        <p:sp>
          <p:nvSpPr>
            <p:cNvPr id="187" name="모서리가 둥근 직사각형 186"/>
            <p:cNvSpPr/>
            <p:nvPr/>
          </p:nvSpPr>
          <p:spPr>
            <a:xfrm>
              <a:off x="6271403" y="5147025"/>
              <a:ext cx="144000" cy="144000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17022" y="5098613"/>
              <a:ext cx="8892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자기소개서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89" name="그룹 188"/>
          <p:cNvGrpSpPr/>
          <p:nvPr/>
        </p:nvGrpSpPr>
        <p:grpSpPr>
          <a:xfrm>
            <a:off x="7275266" y="5392380"/>
            <a:ext cx="1034872" cy="261610"/>
            <a:chOff x="6271403" y="5098613"/>
            <a:chExt cx="1034872" cy="261610"/>
          </a:xfrm>
        </p:grpSpPr>
        <p:sp>
          <p:nvSpPr>
            <p:cNvPr id="190" name="모서리가 둥근 직사각형 189"/>
            <p:cNvSpPr/>
            <p:nvPr/>
          </p:nvSpPr>
          <p:spPr>
            <a:xfrm>
              <a:off x="6271403" y="5147025"/>
              <a:ext cx="144000" cy="144000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6417022" y="5098613"/>
              <a:ext cx="8892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증빙 서류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92" name="모서리가 둥근 직사각형 191"/>
          <p:cNvSpPr/>
          <p:nvPr/>
        </p:nvSpPr>
        <p:spPr>
          <a:xfrm>
            <a:off x="6082052" y="6036146"/>
            <a:ext cx="776656" cy="2939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임시 저장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6928858" y="6034272"/>
            <a:ext cx="781242" cy="293980"/>
          </a:xfrm>
          <a:prstGeom prst="roundRect">
            <a:avLst/>
          </a:prstGeom>
          <a:solidFill>
            <a:srgbClr val="FF256E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공고 등록</a:t>
            </a:r>
            <a:endParaRPr lang="ko-KR" altLang="en-US" sz="11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7774298" y="6048045"/>
            <a:ext cx="514934" cy="2939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1" name="타원 120"/>
          <p:cNvSpPr/>
          <p:nvPr/>
        </p:nvSpPr>
        <p:spPr>
          <a:xfrm>
            <a:off x="2283345" y="1179295"/>
            <a:ext cx="219043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타원 121"/>
          <p:cNvSpPr/>
          <p:nvPr/>
        </p:nvSpPr>
        <p:spPr>
          <a:xfrm>
            <a:off x="5754507" y="1130572"/>
            <a:ext cx="219043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2310028" y="1651843"/>
            <a:ext cx="219043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8" name="타원 137"/>
          <p:cNvSpPr/>
          <p:nvPr/>
        </p:nvSpPr>
        <p:spPr>
          <a:xfrm>
            <a:off x="2308150" y="3771261"/>
            <a:ext cx="219043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9" name="타원 138"/>
          <p:cNvSpPr/>
          <p:nvPr/>
        </p:nvSpPr>
        <p:spPr>
          <a:xfrm>
            <a:off x="6028082" y="1645935"/>
            <a:ext cx="219043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6050854" y="3195966"/>
            <a:ext cx="219043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2" name="타원 141"/>
          <p:cNvSpPr/>
          <p:nvPr/>
        </p:nvSpPr>
        <p:spPr>
          <a:xfrm>
            <a:off x="5996403" y="4719875"/>
            <a:ext cx="219043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타원 142"/>
          <p:cNvSpPr/>
          <p:nvPr/>
        </p:nvSpPr>
        <p:spPr>
          <a:xfrm>
            <a:off x="6008256" y="5922541"/>
            <a:ext cx="219043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타원 143"/>
          <p:cNvSpPr/>
          <p:nvPr/>
        </p:nvSpPr>
        <p:spPr>
          <a:xfrm>
            <a:off x="6850047" y="5910552"/>
            <a:ext cx="205527" cy="21300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타원 144"/>
          <p:cNvSpPr/>
          <p:nvPr/>
        </p:nvSpPr>
        <p:spPr>
          <a:xfrm>
            <a:off x="7747198" y="5927630"/>
            <a:ext cx="219043" cy="19967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1" name="그림 14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418" y="3389976"/>
            <a:ext cx="173690" cy="17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5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53" y="325724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공고 현황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526979"/>
              </p:ext>
            </p:extLst>
          </p:nvPr>
        </p:nvGraphicFramePr>
        <p:xfrm>
          <a:off x="8561828" y="1054745"/>
          <a:ext cx="3441652" cy="5874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728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965924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223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타이틀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조회 조건 입력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결과 목록을 필터링하기 위한 기본 검색 조건 입력 영역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구성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]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공고명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공고 제목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검색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직무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채용 직무 필터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유형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정규직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계약직 등 고용 형태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현황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진행중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마감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대기 등 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상태기간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모집 기간 기준 검색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2892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검색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조회 조건을 기준으로 면접 결과 목록 조회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조건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미입력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시 전체 내역 조회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초기화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모든 조회 조건을 기본값으로 초기화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697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목록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주요 컬럼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체크박스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공고명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채용 유형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모집 기간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진행 현황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공고일정에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따른 실시간 변동 안내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진행중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마감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대기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등록일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357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 삭제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목록에서 체크박스로 선택한 면접 결과 데이터 삭제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삭제 전 최종 확인 팝업 안내 제공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5135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 변경 버튼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목록에서 체크박스로 선택한 면접 결과 변경 화면으로 이동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복수 선택 불가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이동 전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최죙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변경 확인 팝업 안내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정렬 기준 선택 영역</a:t>
                      </a:r>
                      <a:endParaRPr lang="en-US" altLang="ko-KR" sz="1000" b="1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최신순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과거순</a:t>
                      </a:r>
                      <a:r>
                        <a:rPr lang="en-US" altLang="ko-KR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기준 목록 </a:t>
                      </a:r>
                      <a:r>
                        <a:rPr lang="ko-KR" altLang="en-US" sz="1000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드롭다운</a:t>
                      </a:r>
                      <a:r>
                        <a:rPr lang="ko-KR" altLang="en-US" sz="10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제공</a:t>
                      </a:r>
                      <a:endParaRPr lang="en-US" altLang="ko-KR" sz="1000" baseline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37823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페이지당 표시 개수 설정</a:t>
                      </a:r>
                      <a:endParaRPr lang="en-US" altLang="ko-KR" sz="1000" b="1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한 페이지에 표시할 공고 수 선택</a:t>
                      </a:r>
                      <a:r>
                        <a:rPr lang="en-US" altLang="ko-KR" sz="8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dirty="0" smtClean="0"/>
                        <a:t>예</a:t>
                      </a:r>
                      <a:r>
                        <a:rPr lang="en-US" altLang="ko-KR" sz="800" dirty="0" smtClean="0"/>
                        <a:t>:10</a:t>
                      </a:r>
                      <a:r>
                        <a:rPr lang="ko-KR" altLang="en-US" sz="800" dirty="0" smtClean="0"/>
                        <a:t>개</a:t>
                      </a:r>
                      <a:r>
                        <a:rPr lang="en-US" altLang="ko-KR" sz="800" dirty="0" smtClean="0"/>
                        <a:t>/20</a:t>
                      </a:r>
                      <a:r>
                        <a:rPr lang="ko-KR" altLang="en-US" sz="800" dirty="0" smtClean="0"/>
                        <a:t>개</a:t>
                      </a:r>
                      <a:r>
                        <a:rPr lang="en-US" altLang="ko-KR" sz="800" dirty="0" smtClean="0"/>
                        <a:t>/ 50</a:t>
                      </a:r>
                      <a:r>
                        <a:rPr lang="ko-KR" altLang="en-US" sz="800" dirty="0" smtClean="0"/>
                        <a:t>개</a:t>
                      </a:r>
                      <a:r>
                        <a:rPr lang="en-US" altLang="ko-KR" sz="800" dirty="0" smtClean="0"/>
                        <a:t>)</a:t>
                      </a:r>
                      <a:endParaRPr lang="en-US" altLang="ko-KR" sz="8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  <a:tr h="26666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페이지 번호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71567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페이지 네비게이션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이전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다음 페이지 이동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(5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페이지씩 제공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338373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86982"/>
              </p:ext>
            </p:extLst>
          </p:nvPr>
        </p:nvGraphicFramePr>
        <p:xfrm>
          <a:off x="335382" y="839068"/>
          <a:ext cx="11681214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2005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3011141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INT-02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공고 현황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채용 공고를 공고 등록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수정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삭제 및 진행 상태를 관리하는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41819" y="1120898"/>
            <a:ext cx="8132343" cy="541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1" y="1142016"/>
            <a:ext cx="1932170" cy="453869"/>
          </a:xfrm>
          <a:prstGeom prst="rect">
            <a:avLst/>
          </a:prstGeom>
        </p:spPr>
      </p:pic>
      <p:grpSp>
        <p:nvGrpSpPr>
          <p:cNvPr id="33" name="그룹 32"/>
          <p:cNvGrpSpPr/>
          <p:nvPr/>
        </p:nvGrpSpPr>
        <p:grpSpPr>
          <a:xfrm>
            <a:off x="308307" y="1595887"/>
            <a:ext cx="2089165" cy="4938263"/>
            <a:chOff x="335382" y="1595886"/>
            <a:chExt cx="2089165" cy="4938263"/>
          </a:xfrm>
        </p:grpSpPr>
        <p:sp>
          <p:nvSpPr>
            <p:cNvPr id="34" name="직사각형 33"/>
            <p:cNvSpPr/>
            <p:nvPr/>
          </p:nvSpPr>
          <p:spPr>
            <a:xfrm>
              <a:off x="335382" y="1595886"/>
              <a:ext cx="1959244" cy="49382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17308" y="1700088"/>
              <a:ext cx="1756549" cy="2667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</a:t>
              </a:r>
              <a:r>
                <a:rPr lang="en-US" altLang="ko-KR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Dashboard</a:t>
              </a:r>
              <a:endPara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692" y="1740185"/>
              <a:ext cx="186542" cy="186542"/>
            </a:xfrm>
            <a:prstGeom prst="rect">
              <a:avLst/>
            </a:prstGeom>
          </p:spPr>
        </p:pic>
        <p:cxnSp>
          <p:nvCxnSpPr>
            <p:cNvPr id="62" name="직선 연결선 61"/>
            <p:cNvCxnSpPr/>
            <p:nvPr/>
          </p:nvCxnSpPr>
          <p:spPr>
            <a:xfrm>
              <a:off x="477692" y="2325385"/>
              <a:ext cx="161852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/>
            <p:nvPr/>
          </p:nvGrpSpPr>
          <p:grpSpPr>
            <a:xfrm>
              <a:off x="477692" y="3209442"/>
              <a:ext cx="1788887" cy="307777"/>
              <a:chOff x="477692" y="2028295"/>
              <a:chExt cx="1788887" cy="307777"/>
            </a:xfrm>
          </p:grpSpPr>
          <p:cxnSp>
            <p:nvCxnSpPr>
              <p:cNvPr id="60" name="직선 연결선 59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/>
              <p:cNvSpPr txBox="1"/>
              <p:nvPr/>
            </p:nvSpPr>
            <p:spPr>
              <a:xfrm>
                <a:off x="510030" y="2028295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현황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534312" y="2391801"/>
              <a:ext cx="1890235" cy="314353"/>
              <a:chOff x="329699" y="2341565"/>
              <a:chExt cx="2116652" cy="316430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329699" y="2341565"/>
                <a:ext cx="2116652" cy="27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59" name="직선 연결선 58"/>
              <p:cNvCxnSpPr/>
              <p:nvPr/>
            </p:nvCxnSpPr>
            <p:spPr>
              <a:xfrm flipV="1">
                <a:off x="697357" y="2653171"/>
                <a:ext cx="1398861" cy="482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그룹 40"/>
            <p:cNvGrpSpPr/>
            <p:nvPr/>
          </p:nvGrpSpPr>
          <p:grpSpPr>
            <a:xfrm>
              <a:off x="534312" y="2459226"/>
              <a:ext cx="1890235" cy="621380"/>
              <a:chOff x="534312" y="2082637"/>
              <a:chExt cx="1890235" cy="621380"/>
            </a:xfrm>
          </p:grpSpPr>
          <p:grpSp>
            <p:nvGrpSpPr>
              <p:cNvPr id="52" name="그룹 51"/>
              <p:cNvGrpSpPr/>
              <p:nvPr/>
            </p:nvGrpSpPr>
            <p:grpSpPr>
              <a:xfrm>
                <a:off x="534312" y="2391800"/>
                <a:ext cx="1890235" cy="312217"/>
                <a:chOff x="329699" y="2341565"/>
                <a:chExt cx="2116652" cy="314280"/>
              </a:xfrm>
            </p:grpSpPr>
            <p:sp>
              <p:nvSpPr>
                <p:cNvPr id="54" name="TextBox 53"/>
                <p:cNvSpPr txBox="1"/>
                <p:nvPr/>
              </p:nvSpPr>
              <p:spPr>
                <a:xfrm>
                  <a:off x="329699" y="2341565"/>
                  <a:ext cx="2116652" cy="278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ko-KR" altLang="en-US" sz="12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cxnSp>
              <p:nvCxnSpPr>
                <p:cNvPr id="55" name="직선 연결선 54"/>
                <p:cNvCxnSpPr/>
                <p:nvPr/>
              </p:nvCxnSpPr>
              <p:spPr>
                <a:xfrm flipV="1">
                  <a:off x="697357" y="2653170"/>
                  <a:ext cx="1398861" cy="2675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직사각형 52"/>
              <p:cNvSpPr/>
              <p:nvPr/>
            </p:nvSpPr>
            <p:spPr>
              <a:xfrm>
                <a:off x="1353501" y="2082637"/>
                <a:ext cx="81945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12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공고 등록</a:t>
                </a:r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477692" y="3681378"/>
              <a:ext cx="1788887" cy="307777"/>
              <a:chOff x="477692" y="2028295"/>
              <a:chExt cx="1788887" cy="307777"/>
            </a:xfrm>
          </p:grpSpPr>
          <p:cxnSp>
            <p:nvCxnSpPr>
              <p:cNvPr id="50" name="직선 연결선 49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510030" y="2028295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결과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43" name="그룹 42"/>
            <p:cNvGrpSpPr/>
            <p:nvPr/>
          </p:nvGrpSpPr>
          <p:grpSpPr>
            <a:xfrm>
              <a:off x="477692" y="4131941"/>
              <a:ext cx="1788887" cy="307777"/>
              <a:chOff x="477692" y="2028295"/>
              <a:chExt cx="1788887" cy="307777"/>
            </a:xfrm>
          </p:grpSpPr>
          <p:cxnSp>
            <p:nvCxnSpPr>
              <p:cNvPr id="48" name="직선 연결선 47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510030" y="2028295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sp>
        <p:nvSpPr>
          <p:cNvPr id="3" name="모서리가 둥근 직사각형 2"/>
          <p:cNvSpPr/>
          <p:nvPr/>
        </p:nvSpPr>
        <p:spPr>
          <a:xfrm>
            <a:off x="493151" y="2011455"/>
            <a:ext cx="1550711" cy="29709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공고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관리 </a:t>
            </a:r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        ∧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267551" y="1120898"/>
            <a:ext cx="0" cy="5413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22631" y="1192405"/>
            <a:ext cx="215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/>
          <p:cNvCxnSpPr/>
          <p:nvPr/>
        </p:nvCxnSpPr>
        <p:spPr>
          <a:xfrm>
            <a:off x="2294626" y="1595886"/>
            <a:ext cx="617309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04687" y="1219855"/>
            <a:ext cx="221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공고 현황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0" name="직선 연결선 69"/>
          <p:cNvCxnSpPr/>
          <p:nvPr/>
        </p:nvCxnSpPr>
        <p:spPr>
          <a:xfrm>
            <a:off x="355583" y="6087345"/>
            <a:ext cx="19428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435703" y="6134926"/>
            <a:ext cx="1066433" cy="338554"/>
            <a:chOff x="417309" y="6108345"/>
            <a:chExt cx="1066433" cy="338554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09" y="6148038"/>
              <a:ext cx="246925" cy="28033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638355" y="6108345"/>
              <a:ext cx="8453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6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21" name="모서리가 둥근 직사각형 120"/>
          <p:cNvSpPr/>
          <p:nvPr/>
        </p:nvSpPr>
        <p:spPr>
          <a:xfrm>
            <a:off x="1253150" y="2764705"/>
            <a:ext cx="846709" cy="264811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공고 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385" y="1212283"/>
            <a:ext cx="277667" cy="277667"/>
          </a:xfrm>
          <a:prstGeom prst="rect">
            <a:avLst/>
          </a:prstGeom>
        </p:spPr>
      </p:pic>
      <p:sp>
        <p:nvSpPr>
          <p:cNvPr id="106" name="모서리가 둥근 직사각형 105"/>
          <p:cNvSpPr/>
          <p:nvPr/>
        </p:nvSpPr>
        <p:spPr>
          <a:xfrm>
            <a:off x="2344287" y="1694647"/>
            <a:ext cx="6049847" cy="1152070"/>
          </a:xfrm>
          <a:prstGeom prst="roundRect">
            <a:avLst>
              <a:gd name="adj" fmla="val 6779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2865233" y="2513185"/>
            <a:ext cx="2580899" cy="229403"/>
            <a:chOff x="3967360" y="3563578"/>
            <a:chExt cx="2580899" cy="308569"/>
          </a:xfrm>
        </p:grpSpPr>
        <p:sp>
          <p:nvSpPr>
            <p:cNvPr id="140" name="모서리가 둥근 직사각형 139"/>
            <p:cNvSpPr/>
            <p:nvPr/>
          </p:nvSpPr>
          <p:spPr>
            <a:xfrm>
              <a:off x="3967360" y="3563578"/>
              <a:ext cx="2580899" cy="308569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err="1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r>
                <a:rPr lang="ko-KR" altLang="en-US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~ 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endPara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4049" y="3605956"/>
              <a:ext cx="173690" cy="232910"/>
            </a:xfrm>
            <a:prstGeom prst="rect">
              <a:avLst/>
            </a:prstGeom>
          </p:spPr>
        </p:pic>
      </p:grpSp>
      <p:sp>
        <p:nvSpPr>
          <p:cNvPr id="12" name="모서리가 둥근 직사각형 11"/>
          <p:cNvSpPr/>
          <p:nvPr/>
        </p:nvSpPr>
        <p:spPr>
          <a:xfrm>
            <a:off x="2868812" y="1811672"/>
            <a:ext cx="2199684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공고 제목                                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2868812" y="2159183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채용 직무           ∨     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6731624" y="2151974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 상태        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4779391" y="2160098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정규직 </a:t>
            </a:r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84002" y="1813337"/>
            <a:ext cx="625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공고명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2450309" y="2148936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450309" y="2498718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기간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371674" y="2143919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유형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304054" y="2151128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6304054" y="2490757"/>
            <a:ext cx="540715" cy="293980"/>
          </a:xfrm>
          <a:prstGeom prst="roundRect">
            <a:avLst/>
          </a:prstGeom>
          <a:solidFill>
            <a:srgbClr val="FF256E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검색</a:t>
            </a:r>
            <a:endParaRPr lang="ko-KR" altLang="en-US" sz="11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6973383" y="2490757"/>
            <a:ext cx="1121663" cy="2939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신규 공고 등록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2342714" y="3012631"/>
            <a:ext cx="6049847" cy="2154592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2342712" y="3327410"/>
            <a:ext cx="6049849" cy="249205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420246" y="3006354"/>
            <a:ext cx="742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공고  </a:t>
            </a:r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3007885" y="3073593"/>
            <a:ext cx="1076972" cy="2067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공고 수정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4199848" y="3073592"/>
            <a:ext cx="1076972" cy="2067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공고 삭제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420246" y="3396038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50033" y="3320235"/>
            <a:ext cx="6069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공고명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842568" y="3331657"/>
            <a:ext cx="480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4506827" y="3329861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채용 유형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5625452" y="3327410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모집기간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826134" y="3326984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진행 현황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771922" y="3327763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등록일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2357528" y="3865435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>
            <a:off x="2362954" y="4161713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>
            <a:off x="2327940" y="4445859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>
            <a:off x="2342712" y="4718086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/>
          <p:cNvSpPr/>
          <p:nvPr/>
        </p:nvSpPr>
        <p:spPr>
          <a:xfrm>
            <a:off x="2424911" y="3669640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2420246" y="3968461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2426863" y="4257646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2421970" y="4530077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2561754" y="3601760"/>
            <a:ext cx="1087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경력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] AI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엔지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..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3617298" y="3590220"/>
            <a:ext cx="1087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4569492" y="3587165"/>
            <a:ext cx="579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정규직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5138813" y="3595226"/>
            <a:ext cx="1759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2026.02.05 ~ 2026.02.24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6917081" y="3600070"/>
            <a:ext cx="579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진행중</a:t>
            </a:r>
            <a:endParaRPr lang="ko-KR" altLang="en-US" sz="110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7516462" y="3589725"/>
            <a:ext cx="9265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2026-01-30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2561387" y="3891687"/>
            <a:ext cx="1087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신입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] Data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엔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..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564013" y="3878211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Data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4569125" y="3877092"/>
            <a:ext cx="579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정규직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5138446" y="3885153"/>
            <a:ext cx="1759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2026.01.02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~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2026.01.21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6917080" y="3891632"/>
            <a:ext cx="579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마감</a:t>
            </a:r>
            <a:endParaRPr lang="ko-KR" altLang="en-US" sz="110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7516095" y="3879652"/>
            <a:ext cx="9265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2025-12-31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2561387" y="4166463"/>
            <a:ext cx="1189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신입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en-US" altLang="ko-KR" sz="11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Backen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..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3606310" y="4159929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4569125" y="4178814"/>
            <a:ext cx="579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정규직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5138446" y="4159929"/>
            <a:ext cx="1759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2026.01.02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~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2026.01.21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6917878" y="4201052"/>
            <a:ext cx="579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마감</a:t>
            </a:r>
            <a:endParaRPr lang="ko-KR" altLang="en-US" sz="110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7525237" y="4180216"/>
            <a:ext cx="9265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2025-12-31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2559477" y="4465176"/>
            <a:ext cx="1189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경력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en-US" altLang="ko-KR" sz="11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Backen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..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3604400" y="4458642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5136536" y="4458642"/>
            <a:ext cx="1759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2026.02.23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~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2026.03.06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6915170" y="4465121"/>
            <a:ext cx="579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대기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7514185" y="4453141"/>
            <a:ext cx="9265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2026-02-11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4546712" y="4450900"/>
            <a:ext cx="6240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계약직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19500" y="4847770"/>
            <a:ext cx="562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u="sng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u="sng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7235502" y="3063256"/>
            <a:ext cx="1041732" cy="20926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개씩 보기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6025481" y="3059831"/>
            <a:ext cx="1097860" cy="20832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최신순</a:t>
            </a:r>
            <a:r>
              <a:rPr lang="ko-KR" altLang="en-US" sz="105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134509" y="4833851"/>
            <a:ext cx="1463975" cy="276999"/>
            <a:chOff x="5375612" y="5305565"/>
            <a:chExt cx="1463975" cy="276999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5418217" y="5358005"/>
              <a:ext cx="180000" cy="180000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75612" y="5305565"/>
              <a:ext cx="1463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2    3    4    5    &gt;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584109" y="4814969"/>
            <a:ext cx="629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pages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2191435" y="109745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" name="타원 115"/>
          <p:cNvSpPr/>
          <p:nvPr/>
        </p:nvSpPr>
        <p:spPr>
          <a:xfrm>
            <a:off x="2231654" y="162947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6178706" y="238581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6869276" y="239543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타원 118"/>
          <p:cNvSpPr/>
          <p:nvPr/>
        </p:nvSpPr>
        <p:spPr>
          <a:xfrm>
            <a:off x="2268246" y="290923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2932909" y="288191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타원 121"/>
          <p:cNvSpPr/>
          <p:nvPr/>
        </p:nvSpPr>
        <p:spPr>
          <a:xfrm>
            <a:off x="4132729" y="289015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타원 122"/>
          <p:cNvSpPr/>
          <p:nvPr/>
        </p:nvSpPr>
        <p:spPr>
          <a:xfrm>
            <a:off x="5896570" y="287832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4" name="타원 123"/>
          <p:cNvSpPr/>
          <p:nvPr/>
        </p:nvSpPr>
        <p:spPr>
          <a:xfrm>
            <a:off x="7170310" y="288478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5" name="타원 124"/>
          <p:cNvSpPr/>
          <p:nvPr/>
        </p:nvSpPr>
        <p:spPr>
          <a:xfrm>
            <a:off x="4789829" y="478833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6" name="타원 125"/>
          <p:cNvSpPr/>
          <p:nvPr/>
        </p:nvSpPr>
        <p:spPr>
          <a:xfrm>
            <a:off x="5581522" y="505317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202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53" y="325724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지원자 관리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033054"/>
              </p:ext>
            </p:extLst>
          </p:nvPr>
        </p:nvGraphicFramePr>
        <p:xfrm>
          <a:off x="8561828" y="1054745"/>
          <a:ext cx="3276234" cy="5479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863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23371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3840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타이틀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105591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조회 조건 입력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결과 목록을 필터링하기 위한 기본 검색 조건 입력 영역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구성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]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직무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채용 직무 기준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필터링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면접코드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특정 면접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회차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또는 공고 단위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기간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진행일 기준 기간 검색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73594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검색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조회 조건을 기준으로 면접 결과 목록 조회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조건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미입력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시 전체 내역 조회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43705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초기화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모든 조회 조건을 기본값으로 초기화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105591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목록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주요 컬럼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체크박스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지원자 사진 및 이름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 직무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제출서류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이력서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포토폴리어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첨부파일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아이콘으로 표시 제출 영역 색으로 구분하여 안내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남은시간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실시간 변경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73594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 삭제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목록에서 체크박스로 선택한 면접 결과 데이터 삭제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삭제 전 최종 확인 팝업 안내 제공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73594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 변경 버튼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목록에서 체크박스로 선택한 면접 결과 변경 화면으로 이동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복수 선택 불가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이동 전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최죙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변경 확인 팝업 안내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384276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425461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2005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2607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INT-03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지원자 관리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지원자 정보와 제출 서류 및 면접 일정을 조회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관리하는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1" y="1142016"/>
            <a:ext cx="1932170" cy="453869"/>
          </a:xfrm>
          <a:prstGeom prst="rect">
            <a:avLst/>
          </a:prstGeom>
        </p:spPr>
      </p:pic>
      <p:grpSp>
        <p:nvGrpSpPr>
          <p:cNvPr id="33" name="그룹 32"/>
          <p:cNvGrpSpPr/>
          <p:nvPr/>
        </p:nvGrpSpPr>
        <p:grpSpPr>
          <a:xfrm>
            <a:off x="308307" y="1595887"/>
            <a:ext cx="2141093" cy="4938263"/>
            <a:chOff x="335382" y="1595886"/>
            <a:chExt cx="2141093" cy="4938263"/>
          </a:xfrm>
        </p:grpSpPr>
        <p:sp>
          <p:nvSpPr>
            <p:cNvPr id="34" name="직사각형 33"/>
            <p:cNvSpPr/>
            <p:nvPr/>
          </p:nvSpPr>
          <p:spPr>
            <a:xfrm>
              <a:off x="335382" y="1595886"/>
              <a:ext cx="1959244" cy="49382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17308" y="1700088"/>
              <a:ext cx="1756549" cy="2667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</a:t>
              </a:r>
              <a:r>
                <a:rPr lang="en-US" altLang="ko-KR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Dashboard</a:t>
              </a:r>
              <a:endPara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692" y="1740185"/>
              <a:ext cx="186542" cy="186542"/>
            </a:xfrm>
            <a:prstGeom prst="rect">
              <a:avLst/>
            </a:prstGeom>
          </p:spPr>
        </p:pic>
        <p:cxnSp>
          <p:nvCxnSpPr>
            <p:cNvPr id="62" name="직선 연결선 61"/>
            <p:cNvCxnSpPr/>
            <p:nvPr/>
          </p:nvCxnSpPr>
          <p:spPr>
            <a:xfrm>
              <a:off x="477692" y="2325385"/>
              <a:ext cx="161852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>
              <a:off x="477692" y="2742587"/>
              <a:ext cx="161852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그룹 55"/>
            <p:cNvGrpSpPr/>
            <p:nvPr/>
          </p:nvGrpSpPr>
          <p:grpSpPr>
            <a:xfrm>
              <a:off x="586240" y="2927869"/>
              <a:ext cx="1890235" cy="276999"/>
              <a:chOff x="387847" y="2881173"/>
              <a:chExt cx="2116652" cy="278829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387847" y="2881173"/>
                <a:ext cx="2116652" cy="27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59" name="직선 연결선 58"/>
              <p:cNvCxnSpPr/>
              <p:nvPr/>
            </p:nvCxnSpPr>
            <p:spPr>
              <a:xfrm flipV="1">
                <a:off x="708188" y="3109181"/>
                <a:ext cx="1398861" cy="482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그룹 41"/>
            <p:cNvGrpSpPr/>
            <p:nvPr/>
          </p:nvGrpSpPr>
          <p:grpSpPr>
            <a:xfrm>
              <a:off x="473624" y="3689310"/>
              <a:ext cx="1756549" cy="357966"/>
              <a:chOff x="473624" y="2036227"/>
              <a:chExt cx="1756549" cy="357966"/>
            </a:xfrm>
          </p:grpSpPr>
          <p:cxnSp>
            <p:nvCxnSpPr>
              <p:cNvPr id="50" name="직선 연결선 49"/>
              <p:cNvCxnSpPr/>
              <p:nvPr/>
            </p:nvCxnSpPr>
            <p:spPr>
              <a:xfrm>
                <a:off x="513744" y="2394193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473624" y="2036227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결과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43" name="그룹 42"/>
            <p:cNvGrpSpPr/>
            <p:nvPr/>
          </p:nvGrpSpPr>
          <p:grpSpPr>
            <a:xfrm>
              <a:off x="436729" y="4131933"/>
              <a:ext cx="1756549" cy="325055"/>
              <a:chOff x="436729" y="2028287"/>
              <a:chExt cx="1756549" cy="325055"/>
            </a:xfrm>
          </p:grpSpPr>
          <p:cxnSp>
            <p:nvCxnSpPr>
              <p:cNvPr id="48" name="직선 연결선 47"/>
              <p:cNvCxnSpPr/>
              <p:nvPr/>
            </p:nvCxnSpPr>
            <p:spPr>
              <a:xfrm>
                <a:off x="513744" y="2353342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36729" y="2028287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cxnSp>
        <p:nvCxnSpPr>
          <p:cNvPr id="8" name="직선 연결선 7"/>
          <p:cNvCxnSpPr/>
          <p:nvPr/>
        </p:nvCxnSpPr>
        <p:spPr>
          <a:xfrm>
            <a:off x="2267551" y="1120898"/>
            <a:ext cx="0" cy="5413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22631" y="1192405"/>
            <a:ext cx="215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/>
          <p:cNvCxnSpPr/>
          <p:nvPr/>
        </p:nvCxnSpPr>
        <p:spPr>
          <a:xfrm>
            <a:off x="2294626" y="1595886"/>
            <a:ext cx="617309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04687" y="1219855"/>
            <a:ext cx="221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지원자 관리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0" name="직선 연결선 69"/>
          <p:cNvCxnSpPr/>
          <p:nvPr/>
        </p:nvCxnSpPr>
        <p:spPr>
          <a:xfrm>
            <a:off x="355583" y="6087345"/>
            <a:ext cx="19428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435703" y="6134926"/>
            <a:ext cx="1066433" cy="338554"/>
            <a:chOff x="417309" y="6108345"/>
            <a:chExt cx="1066433" cy="338554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09" y="6148038"/>
              <a:ext cx="246925" cy="28033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638355" y="6108345"/>
              <a:ext cx="8453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6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6" name="모서리가 둥근 직사각형 105"/>
          <p:cNvSpPr/>
          <p:nvPr/>
        </p:nvSpPr>
        <p:spPr>
          <a:xfrm>
            <a:off x="2344287" y="1694647"/>
            <a:ext cx="6049847" cy="753007"/>
          </a:xfrm>
          <a:prstGeom prst="roundRect">
            <a:avLst>
              <a:gd name="adj" fmla="val 6779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2865232" y="2099262"/>
            <a:ext cx="2580899" cy="229403"/>
            <a:chOff x="3967360" y="3563578"/>
            <a:chExt cx="2580899" cy="308569"/>
          </a:xfrm>
        </p:grpSpPr>
        <p:sp>
          <p:nvSpPr>
            <p:cNvPr id="140" name="모서리가 둥근 직사각형 139"/>
            <p:cNvSpPr/>
            <p:nvPr/>
          </p:nvSpPr>
          <p:spPr>
            <a:xfrm>
              <a:off x="3967360" y="3563578"/>
              <a:ext cx="2580899" cy="308569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err="1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r>
                <a:rPr lang="ko-KR" altLang="en-US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~ 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endPara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4049" y="3605956"/>
              <a:ext cx="173690" cy="232910"/>
            </a:xfrm>
            <a:prstGeom prst="rect">
              <a:avLst/>
            </a:prstGeom>
          </p:spPr>
        </p:pic>
      </p:grpSp>
      <p:sp>
        <p:nvSpPr>
          <p:cNvPr id="129" name="모서리가 둥근 직사각형 128"/>
          <p:cNvSpPr/>
          <p:nvPr/>
        </p:nvSpPr>
        <p:spPr>
          <a:xfrm>
            <a:off x="2800564" y="1790056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채용 직무           ∨     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6727477" y="1789929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 상태        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2423312" y="1777407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423312" y="2110776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기간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305835" y="1781579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6585879" y="2098095"/>
            <a:ext cx="540715" cy="230597"/>
          </a:xfrm>
          <a:prstGeom prst="roundRect">
            <a:avLst/>
          </a:prstGeom>
          <a:solidFill>
            <a:srgbClr val="FF256E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검색</a:t>
            </a:r>
            <a:endParaRPr lang="ko-KR" altLang="en-US" sz="11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7353675" y="2087342"/>
            <a:ext cx="623180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초기화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2360894" y="2572835"/>
            <a:ext cx="6049847" cy="2391452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2360654" y="2914028"/>
            <a:ext cx="6049849" cy="249205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376196" y="2609966"/>
            <a:ext cx="742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목록  </a:t>
            </a:r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3788053" y="2633010"/>
            <a:ext cx="715115" cy="236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변경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438188" y="2982656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57185" y="2924979"/>
            <a:ext cx="751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지원자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566159" y="2912209"/>
            <a:ext cx="503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4432675" y="2925543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제출 서류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5547495" y="2915192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일정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683050" y="2912209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지원일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2356006" y="3571758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>
            <a:off x="2363387" y="3979719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>
            <a:off x="2363387" y="4385088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/>
          <p:cNvSpPr/>
          <p:nvPr/>
        </p:nvSpPr>
        <p:spPr>
          <a:xfrm>
            <a:off x="2426863" y="3317213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2426863" y="3744235"/>
            <a:ext cx="108000" cy="10800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2416824" y="4105119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3365684" y="3236345"/>
            <a:ext cx="1087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5346088" y="3231059"/>
            <a:ext cx="132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2026.02.10 10:00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7481322" y="3253806"/>
            <a:ext cx="9265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2026-01-30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310958" y="3646006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Data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7488556" y="3666050"/>
            <a:ext cx="9265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2025-12-31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3312945" y="4073388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5321099" y="4091101"/>
            <a:ext cx="12627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2026.01.26 10:00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7481322" y="4077076"/>
            <a:ext cx="9265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2025-12-31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6814779" y="4063502"/>
            <a:ext cx="532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종료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04230" y="4615340"/>
            <a:ext cx="562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u="sng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u="sng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7269612" y="2665810"/>
            <a:ext cx="1041732" cy="20926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개씩 보기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6063107" y="2661146"/>
            <a:ext cx="1097860" cy="20832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최신순</a:t>
            </a:r>
            <a:r>
              <a:rPr lang="ko-KR" altLang="en-US" sz="105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124248" y="4615340"/>
            <a:ext cx="1463975" cy="276999"/>
            <a:chOff x="5375612" y="5305565"/>
            <a:chExt cx="1463975" cy="276999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5418217" y="5358005"/>
              <a:ext cx="180000" cy="180000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75612" y="5305565"/>
              <a:ext cx="1463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2    3    4    5    &gt;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619639" y="4615340"/>
            <a:ext cx="629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pages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2191435" y="109745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" name="타원 115"/>
          <p:cNvSpPr/>
          <p:nvPr/>
        </p:nvSpPr>
        <p:spPr>
          <a:xfrm>
            <a:off x="2231654" y="162947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6323879" y="203359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7137062" y="202416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17659" y="2031335"/>
            <a:ext cx="1756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공고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 </a:t>
            </a:r>
            <a:r>
              <a:rPr lang="ko-KR" altLang="en-US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∨                 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1094964" y="2827201"/>
            <a:ext cx="950952" cy="264811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지원자 관리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</a:p>
        </p:txBody>
      </p:sp>
      <p:cxnSp>
        <p:nvCxnSpPr>
          <p:cNvPr id="130" name="직선 연결선 129"/>
          <p:cNvCxnSpPr/>
          <p:nvPr/>
        </p:nvCxnSpPr>
        <p:spPr>
          <a:xfrm flipV="1">
            <a:off x="875630" y="3547591"/>
            <a:ext cx="1249226" cy="47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/>
          <p:cNvSpPr/>
          <p:nvPr/>
        </p:nvSpPr>
        <p:spPr>
          <a:xfrm>
            <a:off x="1300825" y="3234501"/>
            <a:ext cx="8194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면접 관리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246" y="1260198"/>
            <a:ext cx="228600" cy="22860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6655045" y="2919127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남은 시간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4" name="그림 133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0" t="55938" r="56900" b="24094"/>
          <a:stretch/>
        </p:blipFill>
        <p:spPr>
          <a:xfrm>
            <a:off x="2626067" y="3273893"/>
            <a:ext cx="252000" cy="23541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TextBox 22"/>
          <p:cNvSpPr txBox="1"/>
          <p:nvPr/>
        </p:nvSpPr>
        <p:spPr>
          <a:xfrm>
            <a:off x="2848326" y="325623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6561963" y="3237428"/>
            <a:ext cx="948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일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시간 전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6" name="그림 135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1" t="22941" r="19604" b="54220"/>
          <a:stretch/>
        </p:blipFill>
        <p:spPr>
          <a:xfrm>
            <a:off x="2617848" y="3652616"/>
            <a:ext cx="274469" cy="252000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2857012" y="3650047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5332721" y="3652616"/>
            <a:ext cx="132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2026.02.09 10:00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6752666" y="3656686"/>
            <a:ext cx="6108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면접중</a:t>
            </a:r>
            <a:endParaRPr lang="ko-KR" altLang="en-US" sz="110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8" name="그림 157"/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0" t="22041" r="54458" b="57058"/>
          <a:stretch/>
        </p:blipFill>
        <p:spPr>
          <a:xfrm>
            <a:off x="2607908" y="4057414"/>
            <a:ext cx="306263" cy="252000"/>
          </a:xfrm>
          <a:prstGeom prst="ellipse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2853179" y="406350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2996379" y="2628511"/>
            <a:ext cx="715115" cy="236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삭제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4" name="타원 163"/>
          <p:cNvSpPr/>
          <p:nvPr/>
        </p:nvSpPr>
        <p:spPr>
          <a:xfrm>
            <a:off x="2229042" y="247032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5" name="타원 164"/>
          <p:cNvSpPr/>
          <p:nvPr/>
        </p:nvSpPr>
        <p:spPr>
          <a:xfrm>
            <a:off x="2842980" y="248205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6" name="타원 165"/>
          <p:cNvSpPr/>
          <p:nvPr/>
        </p:nvSpPr>
        <p:spPr>
          <a:xfrm>
            <a:off x="3693341" y="248748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802451" y="1778269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AIE260210001</a:t>
            </a:r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193531" y="1779792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면접코드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07" y="3242788"/>
            <a:ext cx="232667" cy="232667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366" y="3666241"/>
            <a:ext cx="228600" cy="228600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279" y="3249198"/>
            <a:ext cx="228600" cy="228600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951" y="3240227"/>
            <a:ext cx="228600" cy="228600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148" y="4072980"/>
            <a:ext cx="228600" cy="228600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322" y="3655541"/>
            <a:ext cx="228600" cy="228600"/>
          </a:xfrm>
          <a:prstGeom prst="rect">
            <a:avLst/>
          </a:prstGeom>
        </p:spPr>
      </p:pic>
      <p:pic>
        <p:nvPicPr>
          <p:cNvPr id="178" name="그림 17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357" y="3660085"/>
            <a:ext cx="228600" cy="228600"/>
          </a:xfrm>
          <a:prstGeom prst="rect">
            <a:avLst/>
          </a:prstGeom>
        </p:spPr>
      </p:pic>
      <p:pic>
        <p:nvPicPr>
          <p:cNvPr id="179" name="그림 17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319" y="4057222"/>
            <a:ext cx="228600" cy="228600"/>
          </a:xfrm>
          <a:prstGeom prst="rect">
            <a:avLst/>
          </a:prstGeom>
        </p:spPr>
      </p:pic>
      <p:pic>
        <p:nvPicPr>
          <p:cNvPr id="180" name="그림 17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769" y="4069114"/>
            <a:ext cx="228600" cy="228600"/>
          </a:xfrm>
          <a:prstGeom prst="rect">
            <a:avLst/>
          </a:prstGeom>
        </p:spPr>
      </p:pic>
      <p:sp>
        <p:nvSpPr>
          <p:cNvPr id="183" name="모서리가 둥근 직사각형 182"/>
          <p:cNvSpPr/>
          <p:nvPr/>
        </p:nvSpPr>
        <p:spPr>
          <a:xfrm>
            <a:off x="474034" y="2394594"/>
            <a:ext cx="1602314" cy="29709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endParaRPr lang="en-US" altLang="ko-KR" sz="14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현황              ∧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090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53" y="325724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면접 관리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83711"/>
              </p:ext>
            </p:extLst>
          </p:nvPr>
        </p:nvGraphicFramePr>
        <p:xfrm>
          <a:off x="8555026" y="1054745"/>
          <a:ext cx="3283036" cy="5706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803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29233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223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타이틀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조회 조건 입력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결과 목록을 필터링하기 위한 기본 검색 조건 입력 영역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구성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]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항목직무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채용 직무 기준 필터링면접코드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특정 면접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회차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또는 공고 단위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조회현황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진행중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완료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평가 완료 등 상태 기준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필터기간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진행일 기준 기간 검색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2892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검색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조회 조건을 기준으로 면접 결과 목록 조회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조건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미입력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시 전체 내역 조회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초기화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모든 조회 조건을 기본값으로 초기화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697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목록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주요 컬럼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체크박스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지원자 사진 및 이름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 직무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진행 상태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357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 삭제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목록에서 체크박스로 선택한 면접 결과 데이터 삭제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삭제 전 최종 확인 팝업 안내 제공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5135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 변경 버튼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목록에서 체크박스로 선택한 면접 결과 변경 화면으로 이동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복수 선택 불가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이동 전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최죙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변경 확인 팝업 안내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5135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 영역 기능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모니터링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진행 중 면접 실시간 모니터링 화면 접속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영상 확인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완료된 면접 녹화 영상 실행 팝업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 정보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지원자의 상세 지원 정보 팝업 출력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8988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194305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245999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854015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929692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2005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2607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INT-04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관리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면접 진행 현황과 지원자 면접 정보를 관리하는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461" y="1122424"/>
            <a:ext cx="8132343" cy="541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1" y="1134375"/>
            <a:ext cx="1932170" cy="453869"/>
          </a:xfrm>
          <a:prstGeom prst="rect">
            <a:avLst/>
          </a:prstGeom>
        </p:spPr>
      </p:pic>
      <p:grpSp>
        <p:nvGrpSpPr>
          <p:cNvPr id="33" name="그룹 32"/>
          <p:cNvGrpSpPr/>
          <p:nvPr/>
        </p:nvGrpSpPr>
        <p:grpSpPr>
          <a:xfrm>
            <a:off x="308307" y="1595887"/>
            <a:ext cx="2141093" cy="4938263"/>
            <a:chOff x="335382" y="1595886"/>
            <a:chExt cx="2141093" cy="4938263"/>
          </a:xfrm>
        </p:grpSpPr>
        <p:sp>
          <p:nvSpPr>
            <p:cNvPr id="34" name="직사각형 33"/>
            <p:cNvSpPr/>
            <p:nvPr/>
          </p:nvSpPr>
          <p:spPr>
            <a:xfrm>
              <a:off x="335382" y="1595886"/>
              <a:ext cx="1959244" cy="49382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17308" y="1700088"/>
              <a:ext cx="1756549" cy="2667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</a:t>
              </a:r>
              <a:r>
                <a:rPr lang="en-US" altLang="ko-KR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Dashboard</a:t>
              </a:r>
              <a:endPara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692" y="1740185"/>
              <a:ext cx="186542" cy="186542"/>
            </a:xfrm>
            <a:prstGeom prst="rect">
              <a:avLst/>
            </a:prstGeom>
          </p:spPr>
        </p:pic>
        <p:cxnSp>
          <p:nvCxnSpPr>
            <p:cNvPr id="62" name="직선 연결선 61"/>
            <p:cNvCxnSpPr/>
            <p:nvPr/>
          </p:nvCxnSpPr>
          <p:spPr>
            <a:xfrm>
              <a:off x="477692" y="2325385"/>
              <a:ext cx="161852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/>
            <p:nvPr/>
          </p:nvGrpSpPr>
          <p:grpSpPr>
            <a:xfrm>
              <a:off x="450266" y="2390557"/>
              <a:ext cx="1756549" cy="352030"/>
              <a:chOff x="450266" y="1209410"/>
              <a:chExt cx="1756549" cy="352030"/>
            </a:xfrm>
          </p:grpSpPr>
          <p:cxnSp>
            <p:nvCxnSpPr>
              <p:cNvPr id="60" name="직선 연결선 59"/>
              <p:cNvCxnSpPr/>
              <p:nvPr/>
            </p:nvCxnSpPr>
            <p:spPr>
              <a:xfrm>
                <a:off x="477692" y="1561440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/>
              <p:cNvSpPr txBox="1"/>
              <p:nvPr/>
            </p:nvSpPr>
            <p:spPr>
              <a:xfrm>
                <a:off x="450266" y="1209410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현황                ∧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586240" y="2927869"/>
              <a:ext cx="1890235" cy="276999"/>
              <a:chOff x="387847" y="2881173"/>
              <a:chExt cx="2116652" cy="278829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387847" y="2881173"/>
                <a:ext cx="2116652" cy="27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59" name="직선 연결선 58"/>
              <p:cNvCxnSpPr/>
              <p:nvPr/>
            </p:nvCxnSpPr>
            <p:spPr>
              <a:xfrm flipV="1">
                <a:off x="708188" y="3109181"/>
                <a:ext cx="1398861" cy="482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그룹 41"/>
            <p:cNvGrpSpPr/>
            <p:nvPr/>
          </p:nvGrpSpPr>
          <p:grpSpPr>
            <a:xfrm>
              <a:off x="473624" y="3689310"/>
              <a:ext cx="1756549" cy="357966"/>
              <a:chOff x="473624" y="2036227"/>
              <a:chExt cx="1756549" cy="357966"/>
            </a:xfrm>
          </p:grpSpPr>
          <p:cxnSp>
            <p:nvCxnSpPr>
              <p:cNvPr id="50" name="직선 연결선 49"/>
              <p:cNvCxnSpPr/>
              <p:nvPr/>
            </p:nvCxnSpPr>
            <p:spPr>
              <a:xfrm>
                <a:off x="513744" y="2394193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473624" y="2036227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결과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43" name="그룹 42"/>
            <p:cNvGrpSpPr/>
            <p:nvPr/>
          </p:nvGrpSpPr>
          <p:grpSpPr>
            <a:xfrm>
              <a:off x="436729" y="4131933"/>
              <a:ext cx="1756549" cy="325055"/>
              <a:chOff x="436729" y="2028287"/>
              <a:chExt cx="1756549" cy="325055"/>
            </a:xfrm>
          </p:grpSpPr>
          <p:cxnSp>
            <p:nvCxnSpPr>
              <p:cNvPr id="48" name="직선 연결선 47"/>
              <p:cNvCxnSpPr/>
              <p:nvPr/>
            </p:nvCxnSpPr>
            <p:spPr>
              <a:xfrm>
                <a:off x="513744" y="2353342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36729" y="2028287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cxnSp>
        <p:nvCxnSpPr>
          <p:cNvPr id="8" name="직선 연결선 7"/>
          <p:cNvCxnSpPr/>
          <p:nvPr/>
        </p:nvCxnSpPr>
        <p:spPr>
          <a:xfrm>
            <a:off x="2267551" y="1120898"/>
            <a:ext cx="0" cy="5413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22631" y="1192405"/>
            <a:ext cx="215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/>
          <p:cNvCxnSpPr/>
          <p:nvPr/>
        </p:nvCxnSpPr>
        <p:spPr>
          <a:xfrm>
            <a:off x="2294626" y="1595886"/>
            <a:ext cx="617309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04687" y="1219855"/>
            <a:ext cx="221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</a:t>
            </a:r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0" name="직선 연결선 69"/>
          <p:cNvCxnSpPr/>
          <p:nvPr/>
        </p:nvCxnSpPr>
        <p:spPr>
          <a:xfrm>
            <a:off x="355583" y="6087345"/>
            <a:ext cx="19428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435703" y="6134926"/>
            <a:ext cx="1066433" cy="338554"/>
            <a:chOff x="417309" y="6108345"/>
            <a:chExt cx="1066433" cy="338554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09" y="6148038"/>
              <a:ext cx="246925" cy="28033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638355" y="6108345"/>
              <a:ext cx="8453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6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6" name="모서리가 둥근 직사각형 105"/>
          <p:cNvSpPr/>
          <p:nvPr/>
        </p:nvSpPr>
        <p:spPr>
          <a:xfrm>
            <a:off x="2344287" y="1694647"/>
            <a:ext cx="6049847" cy="753007"/>
          </a:xfrm>
          <a:prstGeom prst="roundRect">
            <a:avLst>
              <a:gd name="adj" fmla="val 6779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2865232" y="2099262"/>
            <a:ext cx="2580899" cy="229403"/>
            <a:chOff x="3967360" y="3563578"/>
            <a:chExt cx="2580899" cy="308569"/>
          </a:xfrm>
        </p:grpSpPr>
        <p:sp>
          <p:nvSpPr>
            <p:cNvPr id="140" name="모서리가 둥근 직사각형 139"/>
            <p:cNvSpPr/>
            <p:nvPr/>
          </p:nvSpPr>
          <p:spPr>
            <a:xfrm>
              <a:off x="3967360" y="3563578"/>
              <a:ext cx="2580899" cy="308569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err="1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r>
                <a:rPr lang="ko-KR" altLang="en-US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~ 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endPara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4049" y="3605956"/>
              <a:ext cx="173690" cy="232910"/>
            </a:xfrm>
            <a:prstGeom prst="rect">
              <a:avLst/>
            </a:prstGeom>
          </p:spPr>
        </p:pic>
      </p:grpSp>
      <p:sp>
        <p:nvSpPr>
          <p:cNvPr id="129" name="모서리가 둥근 직사각형 128"/>
          <p:cNvSpPr/>
          <p:nvPr/>
        </p:nvSpPr>
        <p:spPr>
          <a:xfrm>
            <a:off x="2800564" y="1790056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채용 직무           ∨     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6685963" y="1780121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완료</a:t>
            </a:r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4807285" y="1779218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AIE260210001</a:t>
            </a:r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2423312" y="1777407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423312" y="2110776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기간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198365" y="1780741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면접코드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267492" y="1771163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6585879" y="2098095"/>
            <a:ext cx="540715" cy="230597"/>
          </a:xfrm>
          <a:prstGeom prst="roundRect">
            <a:avLst/>
          </a:prstGeom>
          <a:solidFill>
            <a:srgbClr val="FF256E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검색</a:t>
            </a:r>
            <a:endParaRPr lang="ko-KR" altLang="en-US" sz="11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7353675" y="2087342"/>
            <a:ext cx="623180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초기화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2336776" y="2565046"/>
            <a:ext cx="6049847" cy="305211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2341330" y="2923305"/>
            <a:ext cx="6049849" cy="249205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376196" y="2609966"/>
            <a:ext cx="742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목록  </a:t>
            </a:r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3788053" y="2633010"/>
            <a:ext cx="715115" cy="236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변경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438188" y="2982656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57185" y="2924979"/>
            <a:ext cx="751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지원자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566159" y="2912209"/>
            <a:ext cx="503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4386496" y="2924717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진행 상태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5547495" y="2915192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면접일정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187759" y="2920500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2356006" y="3571758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>
            <a:off x="2363387" y="3951871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>
            <a:off x="2363387" y="4385088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/>
          <p:cNvSpPr/>
          <p:nvPr/>
        </p:nvSpPr>
        <p:spPr>
          <a:xfrm>
            <a:off x="2426863" y="3317213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2426863" y="3744235"/>
            <a:ext cx="108000" cy="10800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2416824" y="4105119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3365684" y="3236345"/>
            <a:ext cx="1087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5346088" y="3231059"/>
            <a:ext cx="132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2026.02.10 10:00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310958" y="3646006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Data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3312945" y="4073388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5321099" y="4091101"/>
            <a:ext cx="12627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2026.01.26 10:00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86572" y="5183303"/>
            <a:ext cx="562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u="sng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u="sng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7269612" y="2665810"/>
            <a:ext cx="1041732" cy="20926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개씩 보기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6063107" y="2661146"/>
            <a:ext cx="1097860" cy="20832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최신순</a:t>
            </a:r>
            <a:r>
              <a:rPr lang="ko-KR" altLang="en-US" sz="105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106590" y="5183303"/>
            <a:ext cx="1463975" cy="276999"/>
            <a:chOff x="5375612" y="5305565"/>
            <a:chExt cx="1463975" cy="276999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5418217" y="5358005"/>
              <a:ext cx="180000" cy="180000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75612" y="5305565"/>
              <a:ext cx="1463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2    3    4    5    &gt;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601981" y="5183303"/>
            <a:ext cx="629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pages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2191435" y="109745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" name="타원 115"/>
          <p:cNvSpPr/>
          <p:nvPr/>
        </p:nvSpPr>
        <p:spPr>
          <a:xfrm>
            <a:off x="2231654" y="162947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6323879" y="203359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7137062" y="202416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17659" y="2031335"/>
            <a:ext cx="1756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공고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 </a:t>
            </a:r>
            <a:r>
              <a:rPr lang="ko-KR" altLang="en-US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∨                 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1202577" y="3244494"/>
            <a:ext cx="866567" cy="264811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관리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</a:p>
        </p:txBody>
      </p:sp>
      <p:cxnSp>
        <p:nvCxnSpPr>
          <p:cNvPr id="130" name="직선 연결선 129"/>
          <p:cNvCxnSpPr/>
          <p:nvPr/>
        </p:nvCxnSpPr>
        <p:spPr>
          <a:xfrm flipV="1">
            <a:off x="875630" y="3547591"/>
            <a:ext cx="1249226" cy="47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/>
          <p:cNvSpPr/>
          <p:nvPr/>
        </p:nvSpPr>
        <p:spPr>
          <a:xfrm>
            <a:off x="1250048" y="2863649"/>
            <a:ext cx="9605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지원자 관리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4" name="그림 133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0" t="55938" r="56900" b="24094"/>
          <a:stretch/>
        </p:blipFill>
        <p:spPr>
          <a:xfrm>
            <a:off x="2626067" y="3273893"/>
            <a:ext cx="252000" cy="23541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TextBox 22"/>
          <p:cNvSpPr txBox="1"/>
          <p:nvPr/>
        </p:nvSpPr>
        <p:spPr>
          <a:xfrm>
            <a:off x="2848326" y="325623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4361793" y="3343060"/>
            <a:ext cx="864956" cy="4571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6" name="그림 135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1" t="22941" r="19604" b="54220"/>
          <a:stretch/>
        </p:blipFill>
        <p:spPr>
          <a:xfrm>
            <a:off x="2617848" y="3652616"/>
            <a:ext cx="274469" cy="252000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2857012" y="3650047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1" name="모서리가 둥근 직사각형 140"/>
          <p:cNvSpPr/>
          <p:nvPr/>
        </p:nvSpPr>
        <p:spPr>
          <a:xfrm>
            <a:off x="4361793" y="3761052"/>
            <a:ext cx="864956" cy="45719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4951444" y="3759712"/>
            <a:ext cx="288000" cy="4571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/>
          <p:cNvSpPr txBox="1"/>
          <p:nvPr/>
        </p:nvSpPr>
        <p:spPr>
          <a:xfrm>
            <a:off x="5332721" y="3652616"/>
            <a:ext cx="132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2026.02.09  10:00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8" name="그림 157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0" t="22041" r="54458" b="57058"/>
          <a:stretch/>
        </p:blipFill>
        <p:spPr>
          <a:xfrm>
            <a:off x="2607908" y="4057414"/>
            <a:ext cx="306263" cy="252000"/>
          </a:xfrm>
          <a:prstGeom prst="ellipse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2853179" y="406350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4359026" y="4167841"/>
            <a:ext cx="864956" cy="45719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2996379" y="2628511"/>
            <a:ext cx="715115" cy="236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삭제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33111" y="4212616"/>
            <a:ext cx="640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완료</a:t>
            </a:r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602722" y="3787210"/>
            <a:ext cx="5015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진행중</a:t>
            </a:r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4631628" y="3358296"/>
            <a:ext cx="4554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대기</a:t>
            </a:r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4" name="타원 163"/>
          <p:cNvSpPr/>
          <p:nvPr/>
        </p:nvSpPr>
        <p:spPr>
          <a:xfrm>
            <a:off x="2229042" y="247032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5" name="타원 164"/>
          <p:cNvSpPr/>
          <p:nvPr/>
        </p:nvSpPr>
        <p:spPr>
          <a:xfrm>
            <a:off x="2842980" y="248205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6" name="타원 165"/>
          <p:cNvSpPr/>
          <p:nvPr/>
        </p:nvSpPr>
        <p:spPr>
          <a:xfrm>
            <a:off x="3693341" y="248748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246" y="1261579"/>
            <a:ext cx="228600" cy="228600"/>
          </a:xfrm>
          <a:prstGeom prst="rect">
            <a:avLst/>
          </a:prstGeom>
        </p:spPr>
      </p:pic>
      <p:cxnSp>
        <p:nvCxnSpPr>
          <p:cNvPr id="171" name="직선 연결선 170"/>
          <p:cNvCxnSpPr/>
          <p:nvPr/>
        </p:nvCxnSpPr>
        <p:spPr>
          <a:xfrm>
            <a:off x="2355408" y="4807475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모서리가 둥근 직사각형 174"/>
          <p:cNvSpPr/>
          <p:nvPr/>
        </p:nvSpPr>
        <p:spPr>
          <a:xfrm>
            <a:off x="2422064" y="4536852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176" name="그림 175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47" t="56313" r="22489" b="23535"/>
          <a:stretch/>
        </p:blipFill>
        <p:spPr>
          <a:xfrm>
            <a:off x="2629082" y="4485647"/>
            <a:ext cx="252000" cy="259238"/>
          </a:xfrm>
          <a:prstGeom prst="ellipse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2848325" y="4483275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310958" y="4475205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368969" y="4551265"/>
            <a:ext cx="864956" cy="4571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TextBox 181"/>
          <p:cNvSpPr txBox="1"/>
          <p:nvPr/>
        </p:nvSpPr>
        <p:spPr>
          <a:xfrm>
            <a:off x="4511633" y="4582352"/>
            <a:ext cx="6367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 완료</a:t>
            </a:r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5346088" y="4500795"/>
            <a:ext cx="12627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2026.01.26 10:00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6" name="모서리가 둥근 직사각형 185"/>
          <p:cNvSpPr/>
          <p:nvPr/>
        </p:nvSpPr>
        <p:spPr>
          <a:xfrm>
            <a:off x="474034" y="2394594"/>
            <a:ext cx="1602314" cy="29709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endParaRPr lang="en-US" altLang="ko-KR" sz="14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현황              ∧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8" name="모서리가 둥근 직사각형 187"/>
          <p:cNvSpPr/>
          <p:nvPr/>
        </p:nvSpPr>
        <p:spPr>
          <a:xfrm>
            <a:off x="6671535" y="3656686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모니터링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9" name="모서리가 둥근 직사각형 188"/>
          <p:cNvSpPr/>
          <p:nvPr/>
        </p:nvSpPr>
        <p:spPr>
          <a:xfrm>
            <a:off x="7230191" y="3662196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영상확인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7780589" y="3657492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지원정보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6658892" y="3264199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모니터링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7217500" y="3269403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영상확인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7766684" y="3256556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지원정보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6671604" y="4073116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모니터링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9" name="모서리가 둥근 직사각형 198"/>
          <p:cNvSpPr/>
          <p:nvPr/>
        </p:nvSpPr>
        <p:spPr>
          <a:xfrm>
            <a:off x="7230191" y="4076015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영상확인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0" name="모서리가 둥근 직사각형 199"/>
          <p:cNvSpPr/>
          <p:nvPr/>
        </p:nvSpPr>
        <p:spPr>
          <a:xfrm>
            <a:off x="7780589" y="4067529"/>
            <a:ext cx="489432" cy="2575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지원정보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1" name="모서리가 둥근 직사각형 200"/>
          <p:cNvSpPr/>
          <p:nvPr/>
        </p:nvSpPr>
        <p:spPr>
          <a:xfrm>
            <a:off x="6678646" y="4484195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모니터링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7237302" y="4489705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영상확인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7787802" y="4476483"/>
            <a:ext cx="489432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지원정보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6" name="타원 125"/>
          <p:cNvSpPr/>
          <p:nvPr/>
        </p:nvSpPr>
        <p:spPr>
          <a:xfrm>
            <a:off x="6970191" y="293319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863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53" y="325724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결과 관리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580859"/>
              </p:ext>
            </p:extLst>
          </p:nvPr>
        </p:nvGraphicFramePr>
        <p:xfrm>
          <a:off x="8591313" y="1035737"/>
          <a:ext cx="3364898" cy="7382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963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915935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29097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타이틀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조회 조건 입력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결과 목록을 필터링하기 위한 기본 검색 조건 입력 영역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구성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]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항목직무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채용 직무 기준 필터링면접코드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특정 면접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회차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또는 공고 단위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조회현황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예비 합격 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불합격 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최종 합격 등 상태 기준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필터기간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진행일 기준 기간 검색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2892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검색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조회 조건을 기준으로 면접 결과 목록 조회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조건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미입력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시 전체 내역 조회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초기화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모든 조회 조건을 기본값으로 초기화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697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목록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주요 컬럼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체크박스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지원자 사진 및 이름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 직무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결과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관리영역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5618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 삭제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목록에서 체크박스로 선택한 면접 결과 데이터 삭제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삭제 전 최종 확인 팝업 안내 제공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5135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평가 기능 버튼 평가 대기 목록을 활성화 결과가 나온 면접은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비활설화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취소 버튼 클릭 시 결과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평가대기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변경 후 평가 버튼 재활성화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평가가 완료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후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재인입시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평가가 완료되었습니다 안내 팝업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취소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평가가 완료된 데이터 초기화 평가 완료된 목록만 버튼 활성화 평가 전 비활성화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전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인입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시 취소할 결과가 없다는 안내 팝업 출력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54309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수정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기존 평가 결과 수정 기능 버튼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클릭 시 결과 수정 팝업 화면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(INT-05-1)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이동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평가가 완료 된 경우만 활성화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전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인입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시 수정할 결과가 없다는 안내 팝업 출력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  <a:tr h="41009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통보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결과를 지원자에게 전달하는 기능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지원자 정보에 있는 연락처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이메일로 결과 전송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최종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전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인입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전송할 결과가 없다는 안내 팝업 출력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71567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821325"/>
              </p:ext>
            </p:extLst>
          </p:nvPr>
        </p:nvGraphicFramePr>
        <p:xfrm>
          <a:off x="181155" y="839068"/>
          <a:ext cx="11775056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73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603430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79963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883068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653471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4843997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12155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950234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INT-05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 관리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면접 결과를 조회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평가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수정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통보까지 통합 관리할 수 있는 관리자용 면접 결과 운영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1" y="1119675"/>
            <a:ext cx="8132343" cy="541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3" y="1139448"/>
            <a:ext cx="1932170" cy="552827"/>
          </a:xfrm>
          <a:prstGeom prst="rect">
            <a:avLst/>
          </a:prstGeom>
        </p:spPr>
      </p:pic>
      <p:grpSp>
        <p:nvGrpSpPr>
          <p:cNvPr id="33" name="그룹 32"/>
          <p:cNvGrpSpPr/>
          <p:nvPr/>
        </p:nvGrpSpPr>
        <p:grpSpPr>
          <a:xfrm>
            <a:off x="318669" y="1595887"/>
            <a:ext cx="2141093" cy="4938263"/>
            <a:chOff x="335382" y="1595886"/>
            <a:chExt cx="2141093" cy="4938263"/>
          </a:xfrm>
        </p:grpSpPr>
        <p:sp>
          <p:nvSpPr>
            <p:cNvPr id="34" name="직사각형 33"/>
            <p:cNvSpPr/>
            <p:nvPr/>
          </p:nvSpPr>
          <p:spPr>
            <a:xfrm>
              <a:off x="335382" y="1595886"/>
              <a:ext cx="1959244" cy="49382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17308" y="1700088"/>
              <a:ext cx="1756549" cy="2667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</a:t>
              </a:r>
              <a:r>
                <a:rPr lang="en-US" altLang="ko-KR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Dashboard</a:t>
              </a:r>
              <a:endPara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692" y="1740185"/>
              <a:ext cx="186542" cy="186542"/>
            </a:xfrm>
            <a:prstGeom prst="rect">
              <a:avLst/>
            </a:prstGeom>
          </p:spPr>
        </p:pic>
        <p:cxnSp>
          <p:nvCxnSpPr>
            <p:cNvPr id="62" name="직선 연결선 61"/>
            <p:cNvCxnSpPr/>
            <p:nvPr/>
          </p:nvCxnSpPr>
          <p:spPr>
            <a:xfrm>
              <a:off x="477692" y="2325385"/>
              <a:ext cx="161852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/>
            <p:nvPr/>
          </p:nvGrpSpPr>
          <p:grpSpPr>
            <a:xfrm>
              <a:off x="450266" y="2390557"/>
              <a:ext cx="1756549" cy="352030"/>
              <a:chOff x="450266" y="1209410"/>
              <a:chExt cx="1756549" cy="352030"/>
            </a:xfrm>
          </p:grpSpPr>
          <p:cxnSp>
            <p:nvCxnSpPr>
              <p:cNvPr id="60" name="직선 연결선 59"/>
              <p:cNvCxnSpPr/>
              <p:nvPr/>
            </p:nvCxnSpPr>
            <p:spPr>
              <a:xfrm>
                <a:off x="477692" y="1561440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/>
              <p:cNvSpPr txBox="1"/>
              <p:nvPr/>
            </p:nvSpPr>
            <p:spPr>
              <a:xfrm>
                <a:off x="450266" y="1209410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현황                ∧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586240" y="2927871"/>
              <a:ext cx="1890235" cy="879955"/>
              <a:chOff x="387847" y="2881173"/>
              <a:chExt cx="2116652" cy="885768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387847" y="2881173"/>
                <a:ext cx="2116652" cy="27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59" name="직선 연결선 58"/>
              <p:cNvCxnSpPr/>
              <p:nvPr/>
            </p:nvCxnSpPr>
            <p:spPr>
              <a:xfrm flipV="1">
                <a:off x="627550" y="3762117"/>
                <a:ext cx="1398861" cy="482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/>
            <p:cNvGrpSpPr/>
            <p:nvPr/>
          </p:nvGrpSpPr>
          <p:grpSpPr>
            <a:xfrm>
              <a:off x="437361" y="3993527"/>
              <a:ext cx="1756549" cy="350847"/>
              <a:chOff x="437361" y="1889881"/>
              <a:chExt cx="1756549" cy="350847"/>
            </a:xfrm>
          </p:grpSpPr>
          <p:cxnSp>
            <p:nvCxnSpPr>
              <p:cNvPr id="48" name="직선 연결선 47"/>
              <p:cNvCxnSpPr/>
              <p:nvPr/>
            </p:nvCxnSpPr>
            <p:spPr>
              <a:xfrm>
                <a:off x="518358" y="2240728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37361" y="1889881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cxnSp>
        <p:nvCxnSpPr>
          <p:cNvPr id="8" name="직선 연결선 7"/>
          <p:cNvCxnSpPr/>
          <p:nvPr/>
        </p:nvCxnSpPr>
        <p:spPr>
          <a:xfrm>
            <a:off x="2267551" y="1120898"/>
            <a:ext cx="0" cy="5413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22631" y="1192405"/>
            <a:ext cx="215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/>
          <p:cNvCxnSpPr/>
          <p:nvPr/>
        </p:nvCxnSpPr>
        <p:spPr>
          <a:xfrm>
            <a:off x="2294626" y="1595886"/>
            <a:ext cx="617309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04687" y="1219855"/>
            <a:ext cx="221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관리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0" name="직선 연결선 69"/>
          <p:cNvCxnSpPr/>
          <p:nvPr/>
        </p:nvCxnSpPr>
        <p:spPr>
          <a:xfrm>
            <a:off x="355583" y="6087345"/>
            <a:ext cx="19428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435703" y="6134926"/>
            <a:ext cx="1066433" cy="338554"/>
            <a:chOff x="417309" y="6108345"/>
            <a:chExt cx="1066433" cy="338554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09" y="6148038"/>
              <a:ext cx="246925" cy="28033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638355" y="6108345"/>
              <a:ext cx="8453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6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6" name="모서리가 둥근 직사각형 105"/>
          <p:cNvSpPr/>
          <p:nvPr/>
        </p:nvSpPr>
        <p:spPr>
          <a:xfrm>
            <a:off x="2344287" y="1694647"/>
            <a:ext cx="6049847" cy="753007"/>
          </a:xfrm>
          <a:prstGeom prst="roundRect">
            <a:avLst>
              <a:gd name="adj" fmla="val 6779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2865232" y="2099262"/>
            <a:ext cx="2580899" cy="229403"/>
            <a:chOff x="3967360" y="3563578"/>
            <a:chExt cx="2580899" cy="308569"/>
          </a:xfrm>
        </p:grpSpPr>
        <p:sp>
          <p:nvSpPr>
            <p:cNvPr id="140" name="모서리가 둥근 직사각형 139"/>
            <p:cNvSpPr/>
            <p:nvPr/>
          </p:nvSpPr>
          <p:spPr>
            <a:xfrm>
              <a:off x="3967360" y="3563578"/>
              <a:ext cx="2580899" cy="308569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err="1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r>
                <a:rPr lang="ko-KR" altLang="en-US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~ 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endPara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4049" y="3605956"/>
              <a:ext cx="173690" cy="232910"/>
            </a:xfrm>
            <a:prstGeom prst="rect">
              <a:avLst/>
            </a:prstGeom>
          </p:spPr>
        </p:pic>
      </p:grpSp>
      <p:sp>
        <p:nvSpPr>
          <p:cNvPr id="129" name="모서리가 둥근 직사각형 128"/>
          <p:cNvSpPr/>
          <p:nvPr/>
        </p:nvSpPr>
        <p:spPr>
          <a:xfrm>
            <a:off x="2800564" y="1790056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채용 직무           ∨     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6685963" y="1780121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예비 합격</a:t>
            </a:r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4807285" y="1779218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AIE260210001</a:t>
            </a:r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2423312" y="1777407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423312" y="2110776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기간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198365" y="1780741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면접코드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267492" y="1771163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6585879" y="2098095"/>
            <a:ext cx="540715" cy="230597"/>
          </a:xfrm>
          <a:prstGeom prst="roundRect">
            <a:avLst/>
          </a:prstGeom>
          <a:solidFill>
            <a:srgbClr val="FF256E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검색</a:t>
            </a:r>
            <a:endParaRPr lang="ko-KR" altLang="en-US" sz="11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7353675" y="2087342"/>
            <a:ext cx="623180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초기화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2360894" y="2572834"/>
            <a:ext cx="6049847" cy="3070583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2360654" y="2914028"/>
            <a:ext cx="6049849" cy="249205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376196" y="2609966"/>
            <a:ext cx="742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목록  </a:t>
            </a:r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438188" y="2982656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53677" y="2916674"/>
            <a:ext cx="751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지원자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566159" y="2912209"/>
            <a:ext cx="503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351786" y="2916674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면접일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141220" y="2911375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2356006" y="3571758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>
            <a:off x="2363387" y="3979719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>
            <a:off x="2363387" y="4385088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/>
          <p:cNvSpPr/>
          <p:nvPr/>
        </p:nvSpPr>
        <p:spPr>
          <a:xfrm>
            <a:off x="2426863" y="3317213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2426863" y="3744235"/>
            <a:ext cx="108000" cy="10800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3365684" y="3236345"/>
            <a:ext cx="1087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4225548" y="3220639"/>
            <a:ext cx="132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2026.02.10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263499" y="3645811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Data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3312945" y="4073388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4228675" y="4044854"/>
            <a:ext cx="12627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2026.01.26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04230" y="5220125"/>
            <a:ext cx="562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u="sng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u="sng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7269612" y="2665810"/>
            <a:ext cx="1041732" cy="20926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개씩 보기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6063107" y="2661146"/>
            <a:ext cx="1097860" cy="20832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최신순</a:t>
            </a:r>
            <a:r>
              <a:rPr lang="ko-KR" altLang="en-US" sz="105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100086" y="5220125"/>
            <a:ext cx="1463975" cy="276999"/>
            <a:chOff x="5375612" y="5305565"/>
            <a:chExt cx="1463975" cy="276999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5418217" y="5358005"/>
              <a:ext cx="180000" cy="180000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75612" y="5305565"/>
              <a:ext cx="1463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2    3    4    5    &gt;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595477" y="5220125"/>
            <a:ext cx="629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pages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2191435" y="109745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" name="타원 115"/>
          <p:cNvSpPr/>
          <p:nvPr/>
        </p:nvSpPr>
        <p:spPr>
          <a:xfrm>
            <a:off x="2231654" y="162947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6376057" y="202362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7137062" y="202416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17659" y="2031335"/>
            <a:ext cx="1756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공고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 </a:t>
            </a:r>
            <a:r>
              <a:rPr lang="ko-KR" altLang="en-US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∨                 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1140389" y="3191265"/>
            <a:ext cx="866567" cy="264811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결과 관리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</a:p>
        </p:txBody>
      </p:sp>
      <p:cxnSp>
        <p:nvCxnSpPr>
          <p:cNvPr id="130" name="직선 연결선 129"/>
          <p:cNvCxnSpPr/>
          <p:nvPr/>
        </p:nvCxnSpPr>
        <p:spPr>
          <a:xfrm flipV="1">
            <a:off x="774609" y="3502016"/>
            <a:ext cx="1249226" cy="47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/>
          <p:cNvSpPr/>
          <p:nvPr/>
        </p:nvSpPr>
        <p:spPr>
          <a:xfrm>
            <a:off x="1252068" y="3533300"/>
            <a:ext cx="8194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결과 분석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279863" y="2900490"/>
            <a:ext cx="559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4" name="그림 133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0" t="55938" r="56900" b="24094"/>
          <a:stretch/>
        </p:blipFill>
        <p:spPr>
          <a:xfrm>
            <a:off x="2626067" y="3273893"/>
            <a:ext cx="252000" cy="23541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TextBox 22"/>
          <p:cNvSpPr txBox="1"/>
          <p:nvPr/>
        </p:nvSpPr>
        <p:spPr>
          <a:xfrm>
            <a:off x="2848326" y="325623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6" name="그림 135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1" t="22941" r="19604" b="54220"/>
          <a:stretch/>
        </p:blipFill>
        <p:spPr>
          <a:xfrm>
            <a:off x="2617848" y="3652616"/>
            <a:ext cx="274469" cy="252000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2857012" y="3650047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4256234" y="3645118"/>
            <a:ext cx="132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2026.02.09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8" name="그림 157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0" t="22041" r="54458" b="57058"/>
          <a:stretch/>
        </p:blipFill>
        <p:spPr>
          <a:xfrm>
            <a:off x="2607908" y="4057414"/>
            <a:ext cx="306263" cy="252000"/>
          </a:xfrm>
          <a:prstGeom prst="ellipse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2853179" y="406350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2996379" y="2628511"/>
            <a:ext cx="715115" cy="236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삭제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006288" y="3257222"/>
            <a:ext cx="464732" cy="219856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4" name="타원 163"/>
          <p:cNvSpPr/>
          <p:nvPr/>
        </p:nvSpPr>
        <p:spPr>
          <a:xfrm>
            <a:off x="2229042" y="247032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5" name="타원 164"/>
          <p:cNvSpPr/>
          <p:nvPr/>
        </p:nvSpPr>
        <p:spPr>
          <a:xfrm>
            <a:off x="2842980" y="248205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6501580" y="3259094"/>
            <a:ext cx="464732" cy="21985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</a:t>
            </a:r>
          </a:p>
        </p:txBody>
      </p:sp>
      <p:sp>
        <p:nvSpPr>
          <p:cNvPr id="167" name="타원 166"/>
          <p:cNvSpPr/>
          <p:nvPr/>
        </p:nvSpPr>
        <p:spPr>
          <a:xfrm>
            <a:off x="5940923" y="305976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8" name="타원 147"/>
          <p:cNvSpPr/>
          <p:nvPr/>
        </p:nvSpPr>
        <p:spPr>
          <a:xfrm>
            <a:off x="6417699" y="304747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46381" y="3674498"/>
            <a:ext cx="777782" cy="19035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예비 합격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5147265" y="4091621"/>
            <a:ext cx="777782" cy="19035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불합격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5132581" y="3254808"/>
            <a:ext cx="777782" cy="19035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 대기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501645" y="2790911"/>
            <a:ext cx="1602314" cy="29709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endParaRPr lang="en-US" altLang="ko-KR" sz="14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결과              ∧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21" name="직선 연결선 120"/>
          <p:cNvCxnSpPr/>
          <p:nvPr/>
        </p:nvCxnSpPr>
        <p:spPr>
          <a:xfrm>
            <a:off x="485432" y="3134298"/>
            <a:ext cx="161852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>
            <a:off x="2368267" y="4787281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/>
          <p:cNvSpPr/>
          <p:nvPr/>
        </p:nvSpPr>
        <p:spPr>
          <a:xfrm>
            <a:off x="2429936" y="4525929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3326866" y="4465345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4210082" y="4448995"/>
            <a:ext cx="12627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2026.01.26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1" name="그림 170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0" t="22041" r="54458" b="57058"/>
          <a:stretch/>
        </p:blipFill>
        <p:spPr>
          <a:xfrm>
            <a:off x="2621020" y="4478224"/>
            <a:ext cx="306263" cy="252000"/>
          </a:xfrm>
          <a:prstGeom prst="ellipse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2866291" y="448431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8" name="모서리가 둥근 직사각형 177"/>
          <p:cNvSpPr/>
          <p:nvPr/>
        </p:nvSpPr>
        <p:spPr>
          <a:xfrm>
            <a:off x="5146381" y="4486737"/>
            <a:ext cx="777782" cy="19035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합격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761" y="1263783"/>
            <a:ext cx="228600" cy="228600"/>
          </a:xfrm>
          <a:prstGeom prst="rect">
            <a:avLst/>
          </a:prstGeom>
        </p:spPr>
      </p:pic>
      <p:sp>
        <p:nvSpPr>
          <p:cNvPr id="181" name="모서리가 둥근 직사각형 180"/>
          <p:cNvSpPr/>
          <p:nvPr/>
        </p:nvSpPr>
        <p:spPr>
          <a:xfrm>
            <a:off x="7005396" y="3263623"/>
            <a:ext cx="659869" cy="2308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수정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8" name="모서리가 둥근 직사각형 187"/>
          <p:cNvSpPr/>
          <p:nvPr/>
        </p:nvSpPr>
        <p:spPr>
          <a:xfrm>
            <a:off x="7704349" y="3265986"/>
            <a:ext cx="659869" cy="2308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통보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6" name="타원 185"/>
          <p:cNvSpPr/>
          <p:nvPr/>
        </p:nvSpPr>
        <p:spPr>
          <a:xfrm>
            <a:off x="6943589" y="306215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7629368" y="306883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5997508" y="3668246"/>
            <a:ext cx="464732" cy="21985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6492800" y="3670118"/>
            <a:ext cx="464732" cy="2198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</a:t>
            </a: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6996616" y="3674647"/>
            <a:ext cx="659869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수정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7695569" y="3677010"/>
            <a:ext cx="659869" cy="2308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통보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5994037" y="4089654"/>
            <a:ext cx="464732" cy="21985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6489329" y="4091526"/>
            <a:ext cx="464732" cy="2198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</a:t>
            </a:r>
          </a:p>
        </p:txBody>
      </p:sp>
      <p:sp>
        <p:nvSpPr>
          <p:cNvPr id="199" name="모서리가 둥근 직사각형 198"/>
          <p:cNvSpPr/>
          <p:nvPr/>
        </p:nvSpPr>
        <p:spPr>
          <a:xfrm>
            <a:off x="6993145" y="4096055"/>
            <a:ext cx="659869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수정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0" name="모서리가 둥근 직사각형 199"/>
          <p:cNvSpPr/>
          <p:nvPr/>
        </p:nvSpPr>
        <p:spPr>
          <a:xfrm>
            <a:off x="7692098" y="4098418"/>
            <a:ext cx="659869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통보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1" name="모서리가 둥근 직사각형 200"/>
          <p:cNvSpPr/>
          <p:nvPr/>
        </p:nvSpPr>
        <p:spPr>
          <a:xfrm>
            <a:off x="5990110" y="4482824"/>
            <a:ext cx="464732" cy="21985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485402" y="4484696"/>
            <a:ext cx="464732" cy="2198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</a:t>
            </a:r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6989218" y="4489225"/>
            <a:ext cx="659869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수정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4" name="모서리가 둥근 직사각형 203"/>
          <p:cNvSpPr/>
          <p:nvPr/>
        </p:nvSpPr>
        <p:spPr>
          <a:xfrm>
            <a:off x="7688171" y="4491588"/>
            <a:ext cx="659869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통보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78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53" y="325724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결과 수정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46862"/>
              </p:ext>
            </p:extLst>
          </p:nvPr>
        </p:nvGraphicFramePr>
        <p:xfrm>
          <a:off x="8551547" y="1046609"/>
          <a:ext cx="3286634" cy="5480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301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32333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7257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지원자 정보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평가 수정 대상 지원자의 기본 정보 표시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표시 정보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]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지원자 프로필 이미지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지원자 이름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 직무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27153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팝업 화면 타이틀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7257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항목 점수 조정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지원자의 면접 평가 항목별 점수를 수정하는 영역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슬라이더 방식 입력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56794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점수 입력 및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슬라이더 조작 결과를 숫자 점수로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점수 입력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시 슬라이더 자동 조절 제공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7257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최종 결과 선택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최종 결과 상태 변경 기능 제공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합격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불합격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보류 버튼 제공 선택 시 버튼 클릭 시 강조 테두리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7257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수정 이력 표시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수정 내역 기록 및 이력 확인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 정보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변경된 평가 항목 및 점수 변화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최종 결과 변경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이력수정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일시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수정 수행 관리자 등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41613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취소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수정 전 상태로 이동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41305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저장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변경된 평가 점수 및 최종 결과 저장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56794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X 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버튼</a:t>
                      </a:r>
                      <a:endParaRPr lang="en-US" altLang="ko-KR" sz="1000" b="1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수정된 내용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저장하지 않고 종료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INT-05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화면으로 이동</a:t>
                      </a:r>
                      <a:endParaRPr lang="en-US" altLang="ko-KR" sz="1000" b="1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930624"/>
                  </a:ext>
                </a:extLst>
              </a:tr>
              <a:tr h="340809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407455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245999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828136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955571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2005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2607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INT-05-1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 수정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INT-05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에서 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결과 수정으로 </a:t>
                      </a:r>
                      <a:r>
                        <a:rPr lang="ko-KR" altLang="en-US" sz="1000" b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인입되는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면접관리자가 결과</a:t>
                      </a:r>
                      <a:r>
                        <a:rPr lang="ko-KR" altLang="en-US" sz="1000" b="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수정하는 화면</a:t>
                      </a:r>
                      <a:endParaRPr lang="ko-KR" altLang="en-US" sz="1000" b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1" y="1123955"/>
            <a:ext cx="1932170" cy="500305"/>
          </a:xfrm>
          <a:prstGeom prst="rect">
            <a:avLst/>
          </a:prstGeom>
        </p:spPr>
      </p:pic>
      <p:grpSp>
        <p:nvGrpSpPr>
          <p:cNvPr id="33" name="그룹 32"/>
          <p:cNvGrpSpPr/>
          <p:nvPr/>
        </p:nvGrpSpPr>
        <p:grpSpPr>
          <a:xfrm>
            <a:off x="318669" y="1595887"/>
            <a:ext cx="2141093" cy="4938263"/>
            <a:chOff x="335382" y="1595886"/>
            <a:chExt cx="2141093" cy="4938263"/>
          </a:xfrm>
        </p:grpSpPr>
        <p:sp>
          <p:nvSpPr>
            <p:cNvPr id="34" name="직사각형 33"/>
            <p:cNvSpPr/>
            <p:nvPr/>
          </p:nvSpPr>
          <p:spPr>
            <a:xfrm>
              <a:off x="335382" y="1595886"/>
              <a:ext cx="1959244" cy="49382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17308" y="1700088"/>
              <a:ext cx="1756549" cy="2667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</a:t>
              </a:r>
              <a:r>
                <a:rPr lang="en-US" altLang="ko-KR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Dashboard</a:t>
              </a:r>
              <a:endPara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692" y="1740185"/>
              <a:ext cx="186542" cy="186542"/>
            </a:xfrm>
            <a:prstGeom prst="rect">
              <a:avLst/>
            </a:prstGeom>
          </p:spPr>
        </p:pic>
        <p:cxnSp>
          <p:nvCxnSpPr>
            <p:cNvPr id="62" name="직선 연결선 61"/>
            <p:cNvCxnSpPr/>
            <p:nvPr/>
          </p:nvCxnSpPr>
          <p:spPr>
            <a:xfrm>
              <a:off x="477692" y="2325385"/>
              <a:ext cx="161852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/>
            <p:nvPr/>
          </p:nvGrpSpPr>
          <p:grpSpPr>
            <a:xfrm>
              <a:off x="450266" y="2390557"/>
              <a:ext cx="1756549" cy="352030"/>
              <a:chOff x="450266" y="1209410"/>
              <a:chExt cx="1756549" cy="352030"/>
            </a:xfrm>
          </p:grpSpPr>
          <p:cxnSp>
            <p:nvCxnSpPr>
              <p:cNvPr id="60" name="직선 연결선 59"/>
              <p:cNvCxnSpPr/>
              <p:nvPr/>
            </p:nvCxnSpPr>
            <p:spPr>
              <a:xfrm>
                <a:off x="477692" y="1561440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/>
              <p:cNvSpPr txBox="1"/>
              <p:nvPr/>
            </p:nvSpPr>
            <p:spPr>
              <a:xfrm>
                <a:off x="450266" y="1209410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현황                ∧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586240" y="2927871"/>
              <a:ext cx="1890235" cy="879955"/>
              <a:chOff x="387847" y="2881173"/>
              <a:chExt cx="2116652" cy="885768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387847" y="2881173"/>
                <a:ext cx="2116652" cy="27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59" name="직선 연결선 58"/>
              <p:cNvCxnSpPr/>
              <p:nvPr/>
            </p:nvCxnSpPr>
            <p:spPr>
              <a:xfrm flipV="1">
                <a:off x="627550" y="3762117"/>
                <a:ext cx="1398861" cy="482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/>
            <p:cNvGrpSpPr/>
            <p:nvPr/>
          </p:nvGrpSpPr>
          <p:grpSpPr>
            <a:xfrm>
              <a:off x="437361" y="3993527"/>
              <a:ext cx="1756549" cy="350847"/>
              <a:chOff x="437361" y="1889881"/>
              <a:chExt cx="1756549" cy="350847"/>
            </a:xfrm>
          </p:grpSpPr>
          <p:cxnSp>
            <p:nvCxnSpPr>
              <p:cNvPr id="48" name="직선 연결선 47"/>
              <p:cNvCxnSpPr/>
              <p:nvPr/>
            </p:nvCxnSpPr>
            <p:spPr>
              <a:xfrm>
                <a:off x="518358" y="2240728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37361" y="1889881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cxnSp>
        <p:nvCxnSpPr>
          <p:cNvPr id="8" name="직선 연결선 7"/>
          <p:cNvCxnSpPr/>
          <p:nvPr/>
        </p:nvCxnSpPr>
        <p:spPr>
          <a:xfrm>
            <a:off x="2267551" y="1120898"/>
            <a:ext cx="0" cy="5413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22631" y="1192405"/>
            <a:ext cx="215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/>
          <p:cNvCxnSpPr/>
          <p:nvPr/>
        </p:nvCxnSpPr>
        <p:spPr>
          <a:xfrm>
            <a:off x="2294626" y="1595886"/>
            <a:ext cx="617309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04687" y="1219855"/>
            <a:ext cx="221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관리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0" name="직선 연결선 69"/>
          <p:cNvCxnSpPr/>
          <p:nvPr/>
        </p:nvCxnSpPr>
        <p:spPr>
          <a:xfrm>
            <a:off x="355583" y="6087345"/>
            <a:ext cx="19428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435703" y="6134926"/>
            <a:ext cx="1066433" cy="338554"/>
            <a:chOff x="417309" y="6108345"/>
            <a:chExt cx="1066433" cy="338554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09" y="6148038"/>
              <a:ext cx="246925" cy="28033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638355" y="6108345"/>
              <a:ext cx="8453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6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6" name="모서리가 둥근 직사각형 105"/>
          <p:cNvSpPr/>
          <p:nvPr/>
        </p:nvSpPr>
        <p:spPr>
          <a:xfrm>
            <a:off x="2344287" y="1694647"/>
            <a:ext cx="6049847" cy="753007"/>
          </a:xfrm>
          <a:prstGeom prst="roundRect">
            <a:avLst>
              <a:gd name="adj" fmla="val 6779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2865232" y="2099262"/>
            <a:ext cx="2580899" cy="229403"/>
            <a:chOff x="3967360" y="3563578"/>
            <a:chExt cx="2580899" cy="308569"/>
          </a:xfrm>
        </p:grpSpPr>
        <p:sp>
          <p:nvSpPr>
            <p:cNvPr id="140" name="모서리가 둥근 직사각형 139"/>
            <p:cNvSpPr/>
            <p:nvPr/>
          </p:nvSpPr>
          <p:spPr>
            <a:xfrm>
              <a:off x="3967360" y="3563578"/>
              <a:ext cx="2580899" cy="308569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err="1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r>
                <a:rPr lang="ko-KR" altLang="en-US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~ 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endPara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4049" y="3605956"/>
              <a:ext cx="173690" cy="232910"/>
            </a:xfrm>
            <a:prstGeom prst="rect">
              <a:avLst/>
            </a:prstGeom>
          </p:spPr>
        </p:pic>
      </p:grpSp>
      <p:sp>
        <p:nvSpPr>
          <p:cNvPr id="129" name="모서리가 둥근 직사각형 128"/>
          <p:cNvSpPr/>
          <p:nvPr/>
        </p:nvSpPr>
        <p:spPr>
          <a:xfrm>
            <a:off x="2800564" y="1790056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채용 직무           ∨     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6685963" y="1780121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예비 합격</a:t>
            </a:r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4807285" y="1779218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AIE260210001</a:t>
            </a:r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2423312" y="1777407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423312" y="2110776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기간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198365" y="1780741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면접코드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267492" y="1771163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6585879" y="2098095"/>
            <a:ext cx="540715" cy="230597"/>
          </a:xfrm>
          <a:prstGeom prst="roundRect">
            <a:avLst/>
          </a:prstGeom>
          <a:solidFill>
            <a:srgbClr val="FF256E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검색</a:t>
            </a:r>
            <a:endParaRPr lang="ko-KR" altLang="en-US" sz="11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7353675" y="2087342"/>
            <a:ext cx="623180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초기화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2360894" y="2572834"/>
            <a:ext cx="6049847" cy="3070583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2360654" y="2914028"/>
            <a:ext cx="6049849" cy="249205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376196" y="2609966"/>
            <a:ext cx="742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목록  </a:t>
            </a:r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3788053" y="2633010"/>
            <a:ext cx="715115" cy="236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변경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438188" y="2982656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57185" y="2924979"/>
            <a:ext cx="751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지원자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566159" y="2912209"/>
            <a:ext cx="503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4386496" y="2924717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진행 상태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5547495" y="2915192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면접일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683050" y="2912209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2356006" y="3571758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>
            <a:off x="2363387" y="3979719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>
            <a:off x="2363387" y="4385088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/>
          <p:cNvSpPr/>
          <p:nvPr/>
        </p:nvSpPr>
        <p:spPr>
          <a:xfrm>
            <a:off x="2426863" y="3317213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2426863" y="3744235"/>
            <a:ext cx="108000" cy="10800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2416824" y="4105119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3365684" y="3236345"/>
            <a:ext cx="1087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5346088" y="3231059"/>
            <a:ext cx="132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2026.02.10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310958" y="3646006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Data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3312945" y="4073388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5321099" y="4091101"/>
            <a:ext cx="12627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2026.01.26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04230" y="5220125"/>
            <a:ext cx="562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u="sng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u="sng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7269612" y="2665810"/>
            <a:ext cx="1041732" cy="20926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개씩 보기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6063107" y="2661146"/>
            <a:ext cx="1097860" cy="20832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최신순</a:t>
            </a:r>
            <a:r>
              <a:rPr lang="ko-KR" altLang="en-US" sz="105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100086" y="5220125"/>
            <a:ext cx="1463975" cy="276999"/>
            <a:chOff x="5375612" y="5305565"/>
            <a:chExt cx="1463975" cy="276999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5418217" y="5358005"/>
              <a:ext cx="180000" cy="180000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75612" y="5305565"/>
              <a:ext cx="1463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2    3    4    5    &gt;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595477" y="5220125"/>
            <a:ext cx="629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pages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17659" y="2031335"/>
            <a:ext cx="1756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공고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 </a:t>
            </a:r>
            <a:r>
              <a:rPr lang="ko-KR" altLang="en-US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∨                 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1140389" y="3191265"/>
            <a:ext cx="866567" cy="264811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결과 관리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</a:p>
        </p:txBody>
      </p:sp>
      <p:cxnSp>
        <p:nvCxnSpPr>
          <p:cNvPr id="130" name="직선 연결선 129"/>
          <p:cNvCxnSpPr/>
          <p:nvPr/>
        </p:nvCxnSpPr>
        <p:spPr>
          <a:xfrm flipV="1">
            <a:off x="774609" y="3502016"/>
            <a:ext cx="1249226" cy="47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/>
          <p:cNvSpPr/>
          <p:nvPr/>
        </p:nvSpPr>
        <p:spPr>
          <a:xfrm>
            <a:off x="1252068" y="3533300"/>
            <a:ext cx="8194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결과 분석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557864" y="2910192"/>
            <a:ext cx="559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4" name="그림 133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0" t="55938" r="56900" b="24094"/>
          <a:stretch/>
        </p:blipFill>
        <p:spPr>
          <a:xfrm>
            <a:off x="2626067" y="3273893"/>
            <a:ext cx="252000" cy="23541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TextBox 22"/>
          <p:cNvSpPr txBox="1"/>
          <p:nvPr/>
        </p:nvSpPr>
        <p:spPr>
          <a:xfrm>
            <a:off x="2848326" y="325623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6" name="그림 135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1" t="22941" r="19604" b="54220"/>
          <a:stretch/>
        </p:blipFill>
        <p:spPr>
          <a:xfrm>
            <a:off x="2617848" y="3652616"/>
            <a:ext cx="274469" cy="252000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2857012" y="3650047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5332721" y="3652616"/>
            <a:ext cx="132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2026.02.09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8" name="그림 157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0" t="22041" r="54458" b="57058"/>
          <a:stretch/>
        </p:blipFill>
        <p:spPr>
          <a:xfrm>
            <a:off x="2607908" y="4057414"/>
            <a:ext cx="306263" cy="252000"/>
          </a:xfrm>
          <a:prstGeom prst="ellipse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2853179" y="406350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2996379" y="2628511"/>
            <a:ext cx="715115" cy="236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삭제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7382613" y="3278099"/>
            <a:ext cx="464732" cy="219856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7896250" y="4072119"/>
            <a:ext cx="464732" cy="2198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</a:t>
            </a: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375595" y="3691801"/>
            <a:ext cx="464732" cy="2198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7903740" y="3698586"/>
            <a:ext cx="464732" cy="2198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</a:t>
            </a: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7898746" y="3250610"/>
            <a:ext cx="464732" cy="2198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</a:t>
            </a:r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6383185" y="3688797"/>
            <a:ext cx="777782" cy="19035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예비 합격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6387440" y="4099132"/>
            <a:ext cx="777782" cy="19035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불합격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6381264" y="3269425"/>
            <a:ext cx="777782" cy="19035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 대기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501645" y="2790911"/>
            <a:ext cx="1602314" cy="29709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endParaRPr lang="en-US" altLang="ko-KR" sz="14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결과              ∧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21" name="직선 연결선 120"/>
          <p:cNvCxnSpPr/>
          <p:nvPr/>
        </p:nvCxnSpPr>
        <p:spPr>
          <a:xfrm>
            <a:off x="485432" y="3134298"/>
            <a:ext cx="161852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>
            <a:off x="2368267" y="4787281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/>
          <p:cNvSpPr/>
          <p:nvPr/>
        </p:nvSpPr>
        <p:spPr>
          <a:xfrm>
            <a:off x="2429936" y="4525929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3326866" y="4465345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5332897" y="4494245"/>
            <a:ext cx="12627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2026.01.26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1" name="그림 170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0" t="22041" r="54458" b="57058"/>
          <a:stretch/>
        </p:blipFill>
        <p:spPr>
          <a:xfrm>
            <a:off x="2621020" y="4478224"/>
            <a:ext cx="306263" cy="252000"/>
          </a:xfrm>
          <a:prstGeom prst="ellipse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2866291" y="448431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7390028" y="4067543"/>
            <a:ext cx="464732" cy="2198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8" name="모서리가 둥근 직사각형 177"/>
          <p:cNvSpPr/>
          <p:nvPr/>
        </p:nvSpPr>
        <p:spPr>
          <a:xfrm>
            <a:off x="6381264" y="4506063"/>
            <a:ext cx="777782" cy="19035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합격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9" name="모서리가 둥근 직사각형 178"/>
          <p:cNvSpPr/>
          <p:nvPr/>
        </p:nvSpPr>
        <p:spPr>
          <a:xfrm>
            <a:off x="7882488" y="4483642"/>
            <a:ext cx="464732" cy="2198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</a:t>
            </a: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7376266" y="4479066"/>
            <a:ext cx="464732" cy="2198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761" y="1263783"/>
            <a:ext cx="228600" cy="2286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368515" y="3577018"/>
            <a:ext cx="6047114" cy="403195"/>
          </a:xfrm>
          <a:prstGeom prst="rect">
            <a:avLst/>
          </a:prstGeom>
          <a:solidFill>
            <a:srgbClr val="D9D9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35381" y="1134580"/>
            <a:ext cx="8132344" cy="5392303"/>
          </a:xfrm>
          <a:prstGeom prst="rect">
            <a:avLst/>
          </a:prstGeom>
          <a:solidFill>
            <a:srgbClr val="F2F2F2">
              <a:alpha val="30196"/>
            </a:srgb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/>
          <p:cNvGrpSpPr/>
          <p:nvPr/>
        </p:nvGrpSpPr>
        <p:grpSpPr>
          <a:xfrm>
            <a:off x="1804668" y="1102083"/>
            <a:ext cx="5415185" cy="5392303"/>
            <a:chOff x="1905749" y="1131372"/>
            <a:chExt cx="5415185" cy="5392303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1905749" y="1131372"/>
              <a:ext cx="5414739" cy="5392303"/>
            </a:xfrm>
            <a:prstGeom prst="roundRect">
              <a:avLst>
                <a:gd name="adj" fmla="val 225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1906195" y="1740186"/>
              <a:ext cx="541473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6" name="그림 125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1" t="22941" r="19604" b="54220"/>
          <a:stretch/>
        </p:blipFill>
        <p:spPr>
          <a:xfrm>
            <a:off x="1931345" y="1274282"/>
            <a:ext cx="405215" cy="372043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6805646" y="1160530"/>
            <a:ext cx="49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X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329561" y="1425129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Data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328698" y="1202458"/>
            <a:ext cx="921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88789" y="1150606"/>
            <a:ext cx="244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/>
              <a:t>|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455039" y="1259687"/>
            <a:ext cx="2020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결과 수정</a:t>
            </a:r>
          </a:p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6" name="직선 연결선 45"/>
          <p:cNvCxnSpPr/>
          <p:nvPr/>
        </p:nvCxnSpPr>
        <p:spPr>
          <a:xfrm>
            <a:off x="1986465" y="4730972"/>
            <a:ext cx="5033406" cy="19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974330" y="1934503"/>
            <a:ext cx="97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직무이해도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2027326" y="2297122"/>
            <a:ext cx="743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직무경험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920833" y="2591512"/>
            <a:ext cx="1016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직무해결역량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905289" y="2983223"/>
            <a:ext cx="1016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의사소통능력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965795" y="4031024"/>
            <a:ext cx="1016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조직적합성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2023263" y="3331644"/>
            <a:ext cx="1016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성장의지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876485" y="3678486"/>
            <a:ext cx="1150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책임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성실 태도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2954811" y="1930356"/>
            <a:ext cx="3703081" cy="235896"/>
            <a:chOff x="2954811" y="1930356"/>
            <a:chExt cx="3703081" cy="235896"/>
          </a:xfrm>
        </p:grpSpPr>
        <p:grpSp>
          <p:nvGrpSpPr>
            <p:cNvPr id="63" name="그룹 62"/>
            <p:cNvGrpSpPr/>
            <p:nvPr/>
          </p:nvGrpSpPr>
          <p:grpSpPr>
            <a:xfrm>
              <a:off x="2954811" y="1991364"/>
              <a:ext cx="2959755" cy="108000"/>
              <a:chOff x="2843814" y="1991355"/>
              <a:chExt cx="2959755" cy="108000"/>
            </a:xfrm>
          </p:grpSpPr>
          <p:sp>
            <p:nvSpPr>
              <p:cNvPr id="55" name="모서리가 둥근 직사각형 54"/>
              <p:cNvSpPr/>
              <p:nvPr/>
            </p:nvSpPr>
            <p:spPr>
              <a:xfrm>
                <a:off x="2848326" y="2028295"/>
                <a:ext cx="2955243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" name="모서리가 둥근 직사각형 182"/>
              <p:cNvSpPr/>
              <p:nvPr/>
            </p:nvSpPr>
            <p:spPr>
              <a:xfrm>
                <a:off x="2843814" y="2032763"/>
                <a:ext cx="2088000" cy="45719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타원 56"/>
              <p:cNvSpPr/>
              <p:nvPr/>
            </p:nvSpPr>
            <p:spPr>
              <a:xfrm>
                <a:off x="4885430" y="1991355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4" name="모서리가 둥근 직사각형 63"/>
            <p:cNvSpPr/>
            <p:nvPr/>
          </p:nvSpPr>
          <p:spPr>
            <a:xfrm>
              <a:off x="5989635" y="1930356"/>
              <a:ext cx="668257" cy="2358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70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점</a:t>
              </a:r>
              <a:endPara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84" name="그룹 183"/>
          <p:cNvGrpSpPr/>
          <p:nvPr/>
        </p:nvGrpSpPr>
        <p:grpSpPr>
          <a:xfrm>
            <a:off x="2949899" y="2294854"/>
            <a:ext cx="3703081" cy="235896"/>
            <a:chOff x="2954811" y="1930356"/>
            <a:chExt cx="3703081" cy="235896"/>
          </a:xfrm>
        </p:grpSpPr>
        <p:grpSp>
          <p:nvGrpSpPr>
            <p:cNvPr id="185" name="그룹 184"/>
            <p:cNvGrpSpPr/>
            <p:nvPr/>
          </p:nvGrpSpPr>
          <p:grpSpPr>
            <a:xfrm>
              <a:off x="2954811" y="2002242"/>
              <a:ext cx="2959755" cy="108000"/>
              <a:chOff x="2843814" y="2002233"/>
              <a:chExt cx="2959755" cy="108000"/>
            </a:xfrm>
          </p:grpSpPr>
          <p:sp>
            <p:nvSpPr>
              <p:cNvPr id="187" name="모서리가 둥근 직사각형 186"/>
              <p:cNvSpPr/>
              <p:nvPr/>
            </p:nvSpPr>
            <p:spPr>
              <a:xfrm>
                <a:off x="2848326" y="2028295"/>
                <a:ext cx="2955243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" name="모서리가 둥근 직사각형 187"/>
              <p:cNvSpPr/>
              <p:nvPr/>
            </p:nvSpPr>
            <p:spPr>
              <a:xfrm>
                <a:off x="2843814" y="2032763"/>
                <a:ext cx="1800000" cy="45719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" name="타원 188"/>
              <p:cNvSpPr/>
              <p:nvPr/>
            </p:nvSpPr>
            <p:spPr>
              <a:xfrm>
                <a:off x="4572610" y="2002233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86" name="모서리가 둥근 직사각형 185"/>
            <p:cNvSpPr/>
            <p:nvPr/>
          </p:nvSpPr>
          <p:spPr>
            <a:xfrm>
              <a:off x="5989635" y="1930356"/>
              <a:ext cx="668257" cy="2358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6</a:t>
              </a:r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0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점</a:t>
              </a:r>
              <a:endPara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90" name="그룹 189"/>
          <p:cNvGrpSpPr/>
          <p:nvPr/>
        </p:nvGrpSpPr>
        <p:grpSpPr>
          <a:xfrm>
            <a:off x="2955744" y="2642365"/>
            <a:ext cx="3703081" cy="235896"/>
            <a:chOff x="2954811" y="1930356"/>
            <a:chExt cx="3703081" cy="235896"/>
          </a:xfrm>
        </p:grpSpPr>
        <p:grpSp>
          <p:nvGrpSpPr>
            <p:cNvPr id="191" name="그룹 190"/>
            <p:cNvGrpSpPr/>
            <p:nvPr/>
          </p:nvGrpSpPr>
          <p:grpSpPr>
            <a:xfrm>
              <a:off x="2954811" y="1991391"/>
              <a:ext cx="2959755" cy="108000"/>
              <a:chOff x="2843814" y="1991382"/>
              <a:chExt cx="2959755" cy="108000"/>
            </a:xfrm>
          </p:grpSpPr>
          <p:sp>
            <p:nvSpPr>
              <p:cNvPr id="196" name="모서리가 둥근 직사각형 195"/>
              <p:cNvSpPr/>
              <p:nvPr/>
            </p:nvSpPr>
            <p:spPr>
              <a:xfrm>
                <a:off x="2848326" y="2028295"/>
                <a:ext cx="2955243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모서리가 둥근 직사각형 196"/>
              <p:cNvSpPr/>
              <p:nvPr/>
            </p:nvSpPr>
            <p:spPr>
              <a:xfrm>
                <a:off x="2843814" y="2032763"/>
                <a:ext cx="2304000" cy="45719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타원 197"/>
              <p:cNvSpPr/>
              <p:nvPr/>
            </p:nvSpPr>
            <p:spPr>
              <a:xfrm>
                <a:off x="5070047" y="1991382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4" name="모서리가 둥근 직사각형 193"/>
            <p:cNvSpPr/>
            <p:nvPr/>
          </p:nvSpPr>
          <p:spPr>
            <a:xfrm>
              <a:off x="5989635" y="1930356"/>
              <a:ext cx="668257" cy="2358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80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점</a:t>
              </a:r>
              <a:endPara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99" name="그룹 198"/>
          <p:cNvGrpSpPr/>
          <p:nvPr/>
        </p:nvGrpSpPr>
        <p:grpSpPr>
          <a:xfrm>
            <a:off x="2959323" y="3007014"/>
            <a:ext cx="3703081" cy="235896"/>
            <a:chOff x="2954811" y="1930356"/>
            <a:chExt cx="3703081" cy="235896"/>
          </a:xfrm>
        </p:grpSpPr>
        <p:grpSp>
          <p:nvGrpSpPr>
            <p:cNvPr id="200" name="그룹 199"/>
            <p:cNvGrpSpPr/>
            <p:nvPr/>
          </p:nvGrpSpPr>
          <p:grpSpPr>
            <a:xfrm>
              <a:off x="2954811" y="2011117"/>
              <a:ext cx="2959755" cy="108000"/>
              <a:chOff x="2843814" y="2011108"/>
              <a:chExt cx="2959755" cy="108000"/>
            </a:xfrm>
          </p:grpSpPr>
          <p:sp>
            <p:nvSpPr>
              <p:cNvPr id="202" name="모서리가 둥근 직사각형 201"/>
              <p:cNvSpPr/>
              <p:nvPr/>
            </p:nvSpPr>
            <p:spPr>
              <a:xfrm>
                <a:off x="2848326" y="2028295"/>
                <a:ext cx="2955243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모서리가 둥근 직사각형 202"/>
              <p:cNvSpPr/>
              <p:nvPr/>
            </p:nvSpPr>
            <p:spPr>
              <a:xfrm>
                <a:off x="2843814" y="2032763"/>
                <a:ext cx="2602800" cy="45719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타원 203"/>
              <p:cNvSpPr/>
              <p:nvPr/>
            </p:nvSpPr>
            <p:spPr>
              <a:xfrm>
                <a:off x="5405748" y="2011108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1" name="모서리가 둥근 직사각형 200"/>
            <p:cNvSpPr/>
            <p:nvPr/>
          </p:nvSpPr>
          <p:spPr>
            <a:xfrm>
              <a:off x="5989635" y="1930356"/>
              <a:ext cx="668257" cy="2358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9</a:t>
              </a:r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0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점</a:t>
              </a:r>
              <a:endPara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06" name="그룹 205"/>
          <p:cNvGrpSpPr/>
          <p:nvPr/>
        </p:nvGrpSpPr>
        <p:grpSpPr>
          <a:xfrm>
            <a:off x="2954411" y="3361576"/>
            <a:ext cx="3703081" cy="235896"/>
            <a:chOff x="2954811" y="1930356"/>
            <a:chExt cx="3703081" cy="235896"/>
          </a:xfrm>
        </p:grpSpPr>
        <p:grpSp>
          <p:nvGrpSpPr>
            <p:cNvPr id="207" name="그룹 206"/>
            <p:cNvGrpSpPr/>
            <p:nvPr/>
          </p:nvGrpSpPr>
          <p:grpSpPr>
            <a:xfrm>
              <a:off x="2954811" y="2002685"/>
              <a:ext cx="2959755" cy="108000"/>
              <a:chOff x="2843814" y="2002676"/>
              <a:chExt cx="2959755" cy="108000"/>
            </a:xfrm>
          </p:grpSpPr>
          <p:sp>
            <p:nvSpPr>
              <p:cNvPr id="209" name="모서리가 둥근 직사각형 208"/>
              <p:cNvSpPr/>
              <p:nvPr/>
            </p:nvSpPr>
            <p:spPr>
              <a:xfrm>
                <a:off x="2848326" y="2028295"/>
                <a:ext cx="2955243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" name="모서리가 둥근 직사각형 209"/>
              <p:cNvSpPr/>
              <p:nvPr/>
            </p:nvSpPr>
            <p:spPr>
              <a:xfrm>
                <a:off x="2843814" y="2032763"/>
                <a:ext cx="2016000" cy="45719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" name="타원 210"/>
              <p:cNvSpPr/>
              <p:nvPr/>
            </p:nvSpPr>
            <p:spPr>
              <a:xfrm>
                <a:off x="4764948" y="2002676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8" name="모서리가 둥근 직사각형 207"/>
            <p:cNvSpPr/>
            <p:nvPr/>
          </p:nvSpPr>
          <p:spPr>
            <a:xfrm>
              <a:off x="5989635" y="1930356"/>
              <a:ext cx="668257" cy="2358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60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점</a:t>
              </a:r>
              <a:endPara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12" name="그룹 211"/>
          <p:cNvGrpSpPr/>
          <p:nvPr/>
        </p:nvGrpSpPr>
        <p:grpSpPr>
          <a:xfrm>
            <a:off x="2949913" y="3707437"/>
            <a:ext cx="3703081" cy="235896"/>
            <a:chOff x="2954811" y="1930356"/>
            <a:chExt cx="3703081" cy="235896"/>
          </a:xfrm>
        </p:grpSpPr>
        <p:grpSp>
          <p:nvGrpSpPr>
            <p:cNvPr id="213" name="그룹 212"/>
            <p:cNvGrpSpPr/>
            <p:nvPr/>
          </p:nvGrpSpPr>
          <p:grpSpPr>
            <a:xfrm>
              <a:off x="2954811" y="1991391"/>
              <a:ext cx="2959755" cy="108000"/>
              <a:chOff x="2843814" y="1991382"/>
              <a:chExt cx="2959755" cy="108000"/>
            </a:xfrm>
          </p:grpSpPr>
          <p:sp>
            <p:nvSpPr>
              <p:cNvPr id="215" name="모서리가 둥근 직사각형 214"/>
              <p:cNvSpPr/>
              <p:nvPr/>
            </p:nvSpPr>
            <p:spPr>
              <a:xfrm>
                <a:off x="2848326" y="2028295"/>
                <a:ext cx="2955243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" name="모서리가 둥근 직사각형 215"/>
              <p:cNvSpPr/>
              <p:nvPr/>
            </p:nvSpPr>
            <p:spPr>
              <a:xfrm>
                <a:off x="2843814" y="2032763"/>
                <a:ext cx="2304000" cy="45719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" name="타원 216"/>
              <p:cNvSpPr/>
              <p:nvPr/>
            </p:nvSpPr>
            <p:spPr>
              <a:xfrm>
                <a:off x="5070047" y="1991382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14" name="모서리가 둥근 직사각형 213"/>
            <p:cNvSpPr/>
            <p:nvPr/>
          </p:nvSpPr>
          <p:spPr>
            <a:xfrm>
              <a:off x="5989635" y="1930356"/>
              <a:ext cx="668257" cy="2358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80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점</a:t>
              </a:r>
              <a:endPara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19" name="그룹 218"/>
          <p:cNvGrpSpPr/>
          <p:nvPr/>
        </p:nvGrpSpPr>
        <p:grpSpPr>
          <a:xfrm>
            <a:off x="2962639" y="4043750"/>
            <a:ext cx="3703081" cy="235896"/>
            <a:chOff x="2954811" y="1930356"/>
            <a:chExt cx="3703081" cy="235896"/>
          </a:xfrm>
        </p:grpSpPr>
        <p:grpSp>
          <p:nvGrpSpPr>
            <p:cNvPr id="221" name="그룹 220"/>
            <p:cNvGrpSpPr/>
            <p:nvPr/>
          </p:nvGrpSpPr>
          <p:grpSpPr>
            <a:xfrm>
              <a:off x="2954811" y="1991391"/>
              <a:ext cx="2959755" cy="108000"/>
              <a:chOff x="2843814" y="1991382"/>
              <a:chExt cx="2959755" cy="108000"/>
            </a:xfrm>
          </p:grpSpPr>
          <p:sp>
            <p:nvSpPr>
              <p:cNvPr id="223" name="모서리가 둥근 직사각형 222"/>
              <p:cNvSpPr/>
              <p:nvPr/>
            </p:nvSpPr>
            <p:spPr>
              <a:xfrm>
                <a:off x="2848326" y="2028295"/>
                <a:ext cx="2955243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" name="모서리가 둥근 직사각형 223"/>
              <p:cNvSpPr/>
              <p:nvPr/>
            </p:nvSpPr>
            <p:spPr>
              <a:xfrm>
                <a:off x="2843814" y="2032763"/>
                <a:ext cx="2304000" cy="45719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" name="타원 224"/>
              <p:cNvSpPr/>
              <p:nvPr/>
            </p:nvSpPr>
            <p:spPr>
              <a:xfrm>
                <a:off x="5070047" y="1991382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2" name="모서리가 둥근 직사각형 221"/>
            <p:cNvSpPr/>
            <p:nvPr/>
          </p:nvSpPr>
          <p:spPr>
            <a:xfrm>
              <a:off x="5989635" y="1930356"/>
              <a:ext cx="668257" cy="2358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80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점</a:t>
              </a:r>
              <a:endPara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1978274" y="4770721"/>
            <a:ext cx="800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수정이력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996988" y="4365147"/>
            <a:ext cx="1036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최종 결과</a:t>
            </a: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3089018" y="4394789"/>
            <a:ext cx="699035" cy="242916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합격</a:t>
            </a: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3968188" y="4398141"/>
            <a:ext cx="699035" cy="24291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불합격</a:t>
            </a: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7" name="모서리가 둥근 직사각형 226"/>
          <p:cNvSpPr/>
          <p:nvPr/>
        </p:nvSpPr>
        <p:spPr>
          <a:xfrm>
            <a:off x="4798854" y="4403556"/>
            <a:ext cx="699035" cy="24291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보류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016327" y="5026451"/>
            <a:ext cx="19518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의사소통능력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: 70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점 →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90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점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조직적합성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: 70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점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80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점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최종 결과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 smtClean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불합격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→ </a:t>
            </a:r>
            <a:r>
              <a:rPr lang="ko-KR" altLang="en-US" sz="1100" dirty="0" smtClean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합격     </a:t>
            </a:r>
            <a:endParaRPr lang="en-US" altLang="ko-KR" sz="110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3044315" y="4369956"/>
            <a:ext cx="789605" cy="299257"/>
          </a:xfrm>
          <a:prstGeom prst="roundRect">
            <a:avLst/>
          </a:prstGeom>
          <a:noFill/>
          <a:ln w="38100"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4376803" y="5379887"/>
            <a:ext cx="3047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수정일자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2026-01-26 15:33:34   </a:t>
            </a:r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수정자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28" name="직선 연결선 227"/>
          <p:cNvCxnSpPr/>
          <p:nvPr/>
        </p:nvCxnSpPr>
        <p:spPr>
          <a:xfrm>
            <a:off x="1936201" y="5668899"/>
            <a:ext cx="5033406" cy="19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모서리가 둥근 직사각형 229"/>
          <p:cNvSpPr/>
          <p:nvPr/>
        </p:nvSpPr>
        <p:spPr>
          <a:xfrm>
            <a:off x="6557864" y="6117231"/>
            <a:ext cx="464732" cy="219856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저장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6000325" y="6127525"/>
            <a:ext cx="464732" cy="2198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취소</a:t>
            </a:r>
          </a:p>
        </p:txBody>
      </p:sp>
      <p:sp>
        <p:nvSpPr>
          <p:cNvPr id="35" name="타원 34"/>
          <p:cNvSpPr/>
          <p:nvPr/>
        </p:nvSpPr>
        <p:spPr>
          <a:xfrm>
            <a:off x="1785245" y="116120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3" name="타원 232"/>
          <p:cNvSpPr/>
          <p:nvPr/>
        </p:nvSpPr>
        <p:spPr>
          <a:xfrm>
            <a:off x="3471561" y="110118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4" name="타원 233"/>
          <p:cNvSpPr/>
          <p:nvPr/>
        </p:nvSpPr>
        <p:spPr>
          <a:xfrm>
            <a:off x="1831991" y="180788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5" name="타원 234"/>
          <p:cNvSpPr/>
          <p:nvPr/>
        </p:nvSpPr>
        <p:spPr>
          <a:xfrm>
            <a:off x="5845600" y="175710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6" name="타원 235"/>
          <p:cNvSpPr/>
          <p:nvPr/>
        </p:nvSpPr>
        <p:spPr>
          <a:xfrm>
            <a:off x="1861063" y="430205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7" name="타원 236"/>
          <p:cNvSpPr/>
          <p:nvPr/>
        </p:nvSpPr>
        <p:spPr>
          <a:xfrm>
            <a:off x="1800325" y="474053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8" name="타원 237"/>
          <p:cNvSpPr/>
          <p:nvPr/>
        </p:nvSpPr>
        <p:spPr>
          <a:xfrm>
            <a:off x="5776222" y="599463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9" name="타원 238"/>
          <p:cNvSpPr/>
          <p:nvPr/>
        </p:nvSpPr>
        <p:spPr>
          <a:xfrm>
            <a:off x="6474963" y="597358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0" name="타원 239"/>
          <p:cNvSpPr/>
          <p:nvPr/>
        </p:nvSpPr>
        <p:spPr>
          <a:xfrm>
            <a:off x="6648574" y="110444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570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537" y="325724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결과 분석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906671"/>
              </p:ext>
            </p:extLst>
          </p:nvPr>
        </p:nvGraphicFramePr>
        <p:xfrm>
          <a:off x="8561828" y="1054743"/>
          <a:ext cx="3276234" cy="6438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863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823371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223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타이틀 영역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조회 조건 입력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결과 목록을 필터링하기 위한 기본 검색 조건 입력 영역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구성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]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항목직무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채용 직무 기준 필터링면접코드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특정 면접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회차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또는 공고 단위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조회현황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예비 합격 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불합격 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최종 합격 등 상태 기준 </a:t>
                      </a: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필터기간</a:t>
                      </a:r>
                      <a:r>
                        <a:rPr lang="en-US" altLang="ko-KR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진행일 기준 기간 검색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2892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검색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조회 조건을 기준으로 면접 결과 목록 조회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조건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미입력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시 전체 내역 조회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초기화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입력된 모든 조회 조건을 기본값으로 초기화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697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목록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주요 컬럼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체크박스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지원자 정보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이름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지원 직무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면접일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상태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관리영역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357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 삭제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목록에서 체크박스로 선택한 면접 결과 데이터 삭제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삭제 전 최종 확인 팝업 안내 제공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5135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 변경 버튼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조회된 목록에서 체크박스로 선택한 면접 결과 변경 화면으로 이동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복수 선택 불가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이동 전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최죙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변경 확인 팝업 안내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상세 보기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해당 목록 지원자의 면접 결과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INT-06-1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화면으로 이동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54309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이력 보기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평가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결과가 수정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확정된 이력을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팝업창으로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제공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  <a:tr h="53110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재평가 요청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기존 평가에 대해 재평가 요청 등록 면접 결과 상태 보류 상태로 변경 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71567"/>
                  </a:ext>
                </a:extLst>
              </a:tr>
              <a:tr h="207252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338373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121723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2005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832607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INT-06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 분석 목록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면접관리자가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1" y="1119675"/>
            <a:ext cx="8132343" cy="541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1" y="1059018"/>
            <a:ext cx="1932170" cy="522134"/>
          </a:xfrm>
          <a:prstGeom prst="rect">
            <a:avLst/>
          </a:prstGeom>
        </p:spPr>
      </p:pic>
      <p:grpSp>
        <p:nvGrpSpPr>
          <p:cNvPr id="33" name="그룹 32"/>
          <p:cNvGrpSpPr/>
          <p:nvPr/>
        </p:nvGrpSpPr>
        <p:grpSpPr>
          <a:xfrm>
            <a:off x="318669" y="1595887"/>
            <a:ext cx="2141093" cy="4938263"/>
            <a:chOff x="335382" y="1595886"/>
            <a:chExt cx="2141093" cy="4938263"/>
          </a:xfrm>
        </p:grpSpPr>
        <p:sp>
          <p:nvSpPr>
            <p:cNvPr id="34" name="직사각형 33"/>
            <p:cNvSpPr/>
            <p:nvPr/>
          </p:nvSpPr>
          <p:spPr>
            <a:xfrm>
              <a:off x="335382" y="1595886"/>
              <a:ext cx="1959244" cy="49382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17308" y="1700088"/>
              <a:ext cx="1756549" cy="2667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</a:t>
              </a:r>
              <a:r>
                <a:rPr lang="en-US" altLang="ko-KR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Dashboard</a:t>
              </a:r>
              <a:endPara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692" y="1740185"/>
              <a:ext cx="186542" cy="186542"/>
            </a:xfrm>
            <a:prstGeom prst="rect">
              <a:avLst/>
            </a:prstGeom>
          </p:spPr>
        </p:pic>
        <p:cxnSp>
          <p:nvCxnSpPr>
            <p:cNvPr id="62" name="직선 연결선 61"/>
            <p:cNvCxnSpPr/>
            <p:nvPr/>
          </p:nvCxnSpPr>
          <p:spPr>
            <a:xfrm>
              <a:off x="477692" y="2325385"/>
              <a:ext cx="161852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/>
            <p:nvPr/>
          </p:nvGrpSpPr>
          <p:grpSpPr>
            <a:xfrm>
              <a:off x="450266" y="2390557"/>
              <a:ext cx="1756549" cy="352030"/>
              <a:chOff x="450266" y="1209410"/>
              <a:chExt cx="1756549" cy="352030"/>
            </a:xfrm>
          </p:grpSpPr>
          <p:cxnSp>
            <p:nvCxnSpPr>
              <p:cNvPr id="60" name="직선 연결선 59"/>
              <p:cNvCxnSpPr/>
              <p:nvPr/>
            </p:nvCxnSpPr>
            <p:spPr>
              <a:xfrm>
                <a:off x="477692" y="1561440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/>
              <p:cNvSpPr txBox="1"/>
              <p:nvPr/>
            </p:nvSpPr>
            <p:spPr>
              <a:xfrm>
                <a:off x="450266" y="1209410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현황                ∧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586240" y="2927871"/>
              <a:ext cx="1890235" cy="879955"/>
              <a:chOff x="387847" y="2881173"/>
              <a:chExt cx="2116652" cy="885768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387847" y="2881173"/>
                <a:ext cx="2116652" cy="27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59" name="직선 연결선 58"/>
              <p:cNvCxnSpPr/>
              <p:nvPr/>
            </p:nvCxnSpPr>
            <p:spPr>
              <a:xfrm flipV="1">
                <a:off x="627550" y="3762117"/>
                <a:ext cx="1398861" cy="482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/>
            <p:cNvGrpSpPr/>
            <p:nvPr/>
          </p:nvGrpSpPr>
          <p:grpSpPr>
            <a:xfrm>
              <a:off x="437361" y="3993527"/>
              <a:ext cx="1756549" cy="350847"/>
              <a:chOff x="437361" y="1889881"/>
              <a:chExt cx="1756549" cy="350847"/>
            </a:xfrm>
          </p:grpSpPr>
          <p:cxnSp>
            <p:nvCxnSpPr>
              <p:cNvPr id="48" name="직선 연결선 47"/>
              <p:cNvCxnSpPr/>
              <p:nvPr/>
            </p:nvCxnSpPr>
            <p:spPr>
              <a:xfrm>
                <a:off x="518358" y="2240728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37361" y="1889881"/>
                <a:ext cx="17565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r>
                  <a:rPr lang="ko-KR" altLang="en-US" sz="14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     ∨                </a:t>
                </a:r>
                <a:endParaRPr lang="ko-KR" altLang="en-US" sz="14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cxnSp>
        <p:nvCxnSpPr>
          <p:cNvPr id="8" name="직선 연결선 7"/>
          <p:cNvCxnSpPr/>
          <p:nvPr/>
        </p:nvCxnSpPr>
        <p:spPr>
          <a:xfrm>
            <a:off x="2267551" y="1120898"/>
            <a:ext cx="0" cy="5413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22631" y="1192405"/>
            <a:ext cx="215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/>
          <p:cNvCxnSpPr/>
          <p:nvPr/>
        </p:nvCxnSpPr>
        <p:spPr>
          <a:xfrm>
            <a:off x="2294626" y="1595886"/>
            <a:ext cx="617309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04687" y="1219855"/>
            <a:ext cx="221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분석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0" name="직선 연결선 69"/>
          <p:cNvCxnSpPr/>
          <p:nvPr/>
        </p:nvCxnSpPr>
        <p:spPr>
          <a:xfrm>
            <a:off x="355583" y="6087345"/>
            <a:ext cx="19428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435703" y="6134926"/>
            <a:ext cx="1066433" cy="338554"/>
            <a:chOff x="417309" y="6108345"/>
            <a:chExt cx="1066433" cy="338554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09" y="6148038"/>
              <a:ext cx="246925" cy="28033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638355" y="6108345"/>
              <a:ext cx="8453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6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6" name="모서리가 둥근 직사각형 105"/>
          <p:cNvSpPr/>
          <p:nvPr/>
        </p:nvSpPr>
        <p:spPr>
          <a:xfrm>
            <a:off x="2344287" y="1694647"/>
            <a:ext cx="6049847" cy="753007"/>
          </a:xfrm>
          <a:prstGeom prst="roundRect">
            <a:avLst>
              <a:gd name="adj" fmla="val 6779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2865232" y="2099262"/>
            <a:ext cx="2580899" cy="229403"/>
            <a:chOff x="3967360" y="3563578"/>
            <a:chExt cx="2580899" cy="308569"/>
          </a:xfrm>
        </p:grpSpPr>
        <p:sp>
          <p:nvSpPr>
            <p:cNvPr id="140" name="모서리가 둥근 직사각형 139"/>
            <p:cNvSpPr/>
            <p:nvPr/>
          </p:nvSpPr>
          <p:spPr>
            <a:xfrm>
              <a:off x="3967360" y="3563578"/>
              <a:ext cx="2580899" cy="308569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err="1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r>
                <a:rPr lang="ko-KR" altLang="en-US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~ 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yyyy</a:t>
              </a:r>
              <a:r>
                <a:rPr lang="en-US" altLang="ko-KR" sz="12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-mm-</a:t>
              </a:r>
              <a:r>
                <a:rPr lang="en-US" altLang="ko-KR" sz="1200" dirty="0" err="1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dd</a:t>
              </a:r>
              <a:endPara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4049" y="3605956"/>
              <a:ext cx="173690" cy="232910"/>
            </a:xfrm>
            <a:prstGeom prst="rect">
              <a:avLst/>
            </a:prstGeom>
          </p:spPr>
        </p:pic>
      </p:grpSp>
      <p:sp>
        <p:nvSpPr>
          <p:cNvPr id="129" name="모서리가 둥근 직사각형 128"/>
          <p:cNvSpPr/>
          <p:nvPr/>
        </p:nvSpPr>
        <p:spPr>
          <a:xfrm>
            <a:off x="2800564" y="1790056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채용 직무           ∨     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6685963" y="1780121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예비 합격</a:t>
            </a:r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4807285" y="1779218"/>
            <a:ext cx="1355118" cy="23011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AIE260210001</a:t>
            </a:r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∨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2423312" y="1777407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423312" y="2110776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기간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198365" y="1780741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면접코드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267492" y="1771163"/>
            <a:ext cx="68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6585879" y="2098095"/>
            <a:ext cx="540715" cy="230597"/>
          </a:xfrm>
          <a:prstGeom prst="roundRect">
            <a:avLst/>
          </a:prstGeom>
          <a:solidFill>
            <a:srgbClr val="FF256E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검색</a:t>
            </a:r>
            <a:endParaRPr lang="ko-KR" altLang="en-US" sz="11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7353675" y="2087342"/>
            <a:ext cx="623180" cy="23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초기화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2360656" y="2537586"/>
            <a:ext cx="6049847" cy="3070583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2360654" y="2914028"/>
            <a:ext cx="6049849" cy="249205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376196" y="2609966"/>
            <a:ext cx="742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목록  </a:t>
            </a:r>
            <a:r>
              <a:rPr lang="en-US" altLang="ko-KR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3788053" y="2633010"/>
            <a:ext cx="715115" cy="236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변경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438188" y="2982656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57185" y="2924979"/>
            <a:ext cx="751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지원자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566159" y="2912209"/>
            <a:ext cx="503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519229" y="2916750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면접일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122661" y="2890810"/>
            <a:ext cx="76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2356006" y="3571758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>
            <a:off x="2363387" y="3979719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>
            <a:off x="2363387" y="4385088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/>
          <p:cNvSpPr/>
          <p:nvPr/>
        </p:nvSpPr>
        <p:spPr>
          <a:xfrm>
            <a:off x="2426863" y="3317213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2426863" y="3744235"/>
            <a:ext cx="108000" cy="10800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2416824" y="4105119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3365684" y="3236345"/>
            <a:ext cx="1087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4395013" y="3231295"/>
            <a:ext cx="132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2026.02.10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310958" y="3646006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Data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Engineer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3312945" y="4073388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4388448" y="4054421"/>
            <a:ext cx="12627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2026.01.26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04230" y="5220125"/>
            <a:ext cx="562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u="sng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u="sng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7269612" y="2665810"/>
            <a:ext cx="1041732" cy="20926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개씩 보기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6063107" y="2661146"/>
            <a:ext cx="1097860" cy="20832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최신순</a:t>
            </a:r>
            <a:r>
              <a:rPr lang="ko-KR" altLang="en-US" sz="105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100086" y="5220125"/>
            <a:ext cx="1463975" cy="276999"/>
            <a:chOff x="5375612" y="5305565"/>
            <a:chExt cx="1463975" cy="276999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5418217" y="5358005"/>
              <a:ext cx="180000" cy="180000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75612" y="5305565"/>
              <a:ext cx="1463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2    3    4    5    &gt;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595477" y="5220125"/>
            <a:ext cx="629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pages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2191435" y="109745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" name="타원 115"/>
          <p:cNvSpPr/>
          <p:nvPr/>
        </p:nvSpPr>
        <p:spPr>
          <a:xfrm>
            <a:off x="2231654" y="162947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6376057" y="202362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7137062" y="202416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17659" y="2031335"/>
            <a:ext cx="1756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공고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 </a:t>
            </a:r>
            <a:r>
              <a:rPr lang="ko-KR" altLang="en-US" sz="14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∨                 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1187250" y="3524966"/>
            <a:ext cx="866567" cy="264811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결과 분석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</a:p>
        </p:txBody>
      </p:sp>
      <p:cxnSp>
        <p:nvCxnSpPr>
          <p:cNvPr id="130" name="직선 연결선 129"/>
          <p:cNvCxnSpPr/>
          <p:nvPr/>
        </p:nvCxnSpPr>
        <p:spPr>
          <a:xfrm flipV="1">
            <a:off x="774609" y="3502016"/>
            <a:ext cx="1249226" cy="47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/>
          <p:cNvSpPr/>
          <p:nvPr/>
        </p:nvSpPr>
        <p:spPr>
          <a:xfrm>
            <a:off x="1270578" y="3209802"/>
            <a:ext cx="8194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결과 관리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536279" y="2910633"/>
            <a:ext cx="559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4" name="그림 133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0" t="55938" r="56900" b="24094"/>
          <a:stretch/>
        </p:blipFill>
        <p:spPr>
          <a:xfrm>
            <a:off x="2626067" y="3273893"/>
            <a:ext cx="252000" cy="23541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TextBox 22"/>
          <p:cNvSpPr txBox="1"/>
          <p:nvPr/>
        </p:nvSpPr>
        <p:spPr>
          <a:xfrm>
            <a:off x="2848326" y="325623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6" name="그림 135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1" t="22941" r="19604" b="54220"/>
          <a:stretch/>
        </p:blipFill>
        <p:spPr>
          <a:xfrm>
            <a:off x="2617848" y="3652616"/>
            <a:ext cx="274469" cy="252000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2857012" y="3650047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4399579" y="3653802"/>
            <a:ext cx="132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2026.02.09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8" name="그림 157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0" t="22041" r="54458" b="57058"/>
          <a:stretch/>
        </p:blipFill>
        <p:spPr>
          <a:xfrm>
            <a:off x="2607908" y="4057414"/>
            <a:ext cx="306263" cy="252000"/>
          </a:xfrm>
          <a:prstGeom prst="ellipse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2853179" y="406350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2996379" y="2628511"/>
            <a:ext cx="715115" cy="2362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삭제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4" name="타원 163"/>
          <p:cNvSpPr/>
          <p:nvPr/>
        </p:nvSpPr>
        <p:spPr>
          <a:xfrm>
            <a:off x="2229042" y="247032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5" name="타원 164"/>
          <p:cNvSpPr/>
          <p:nvPr/>
        </p:nvSpPr>
        <p:spPr>
          <a:xfrm>
            <a:off x="2842980" y="248205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6" name="타원 165"/>
          <p:cNvSpPr/>
          <p:nvPr/>
        </p:nvSpPr>
        <p:spPr>
          <a:xfrm>
            <a:off x="3693341" y="248748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394593" y="3700087"/>
            <a:ext cx="777782" cy="19035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예비 합격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5396341" y="4100790"/>
            <a:ext cx="777782" cy="19035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불합격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501645" y="2790911"/>
            <a:ext cx="1602314" cy="29709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endParaRPr lang="en-US" altLang="ko-KR" sz="14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면접 결과              ∧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21" name="직선 연결선 120"/>
          <p:cNvCxnSpPr/>
          <p:nvPr/>
        </p:nvCxnSpPr>
        <p:spPr>
          <a:xfrm>
            <a:off x="485432" y="3134298"/>
            <a:ext cx="161852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>
            <a:off x="2368267" y="4787281"/>
            <a:ext cx="6044381" cy="157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/>
          <p:cNvSpPr/>
          <p:nvPr/>
        </p:nvSpPr>
        <p:spPr>
          <a:xfrm>
            <a:off x="2429936" y="4525929"/>
            <a:ext cx="108000" cy="10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3326866" y="4465345"/>
            <a:ext cx="1279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Backend Dev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4401552" y="4448502"/>
            <a:ext cx="12627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2026.01.26 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1" name="그림 170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0" t="22041" r="54458" b="57058"/>
          <a:stretch/>
        </p:blipFill>
        <p:spPr>
          <a:xfrm>
            <a:off x="2621020" y="4478224"/>
            <a:ext cx="306263" cy="252000"/>
          </a:xfrm>
          <a:prstGeom prst="ellipse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2866291" y="4484312"/>
            <a:ext cx="848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8" name="모서리가 둥근 직사각형 177"/>
          <p:cNvSpPr/>
          <p:nvPr/>
        </p:nvSpPr>
        <p:spPr>
          <a:xfrm>
            <a:off x="5394593" y="4495608"/>
            <a:ext cx="777782" cy="19035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합격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761" y="1263783"/>
            <a:ext cx="228600" cy="228600"/>
          </a:xfrm>
          <a:prstGeom prst="rect">
            <a:avLst/>
          </a:prstGeom>
        </p:spPr>
      </p:pic>
      <p:sp>
        <p:nvSpPr>
          <p:cNvPr id="183" name="모서리가 둥근 직사각형 182"/>
          <p:cNvSpPr/>
          <p:nvPr/>
        </p:nvSpPr>
        <p:spPr>
          <a:xfrm>
            <a:off x="6347797" y="3252095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상세 보기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5385866" y="3288858"/>
            <a:ext cx="777782" cy="19035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예비 합격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7719848" y="3255663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재평가 요청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7028955" y="3254768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이력 보기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6356154" y="3673248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상세 보기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7" name="모서리가 둥근 직사각형 186"/>
          <p:cNvSpPr/>
          <p:nvPr/>
        </p:nvSpPr>
        <p:spPr>
          <a:xfrm>
            <a:off x="7728205" y="3676816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재평가 요청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8" name="모서리가 둥근 직사각형 187"/>
          <p:cNvSpPr/>
          <p:nvPr/>
        </p:nvSpPr>
        <p:spPr>
          <a:xfrm>
            <a:off x="7037312" y="3675921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이력 보기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9" name="모서리가 둥근 직사각형 188"/>
          <p:cNvSpPr/>
          <p:nvPr/>
        </p:nvSpPr>
        <p:spPr>
          <a:xfrm>
            <a:off x="6353300" y="4073104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상세 보기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7725351" y="4076672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재평가 요청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7034458" y="4075777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이력 보기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6356154" y="4483576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상세 보기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7728205" y="4487144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재평가 요청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7037312" y="4486249"/>
            <a:ext cx="598711" cy="230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이력 보기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8" name="타원 197"/>
          <p:cNvSpPr/>
          <p:nvPr/>
        </p:nvSpPr>
        <p:spPr>
          <a:xfrm>
            <a:off x="6203586" y="308286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9" name="타원 198"/>
          <p:cNvSpPr/>
          <p:nvPr/>
        </p:nvSpPr>
        <p:spPr>
          <a:xfrm>
            <a:off x="6964046" y="307913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0" name="타원 199"/>
          <p:cNvSpPr/>
          <p:nvPr/>
        </p:nvSpPr>
        <p:spPr>
          <a:xfrm>
            <a:off x="7625261" y="307524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756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537" y="325724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결과 분석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275571"/>
              </p:ext>
            </p:extLst>
          </p:nvPr>
        </p:nvGraphicFramePr>
        <p:xfrm>
          <a:off x="8557404" y="1054745"/>
          <a:ext cx="3416060" cy="6221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855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934205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23059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타이틀 영역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지원자 정보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면접 대상자의 기본 정보 표시</a:t>
                      </a:r>
                      <a:endParaRPr lang="en-US" altLang="ko-KR" sz="1000" b="0" baseline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포함 정보 </a:t>
                      </a:r>
                      <a:r>
                        <a:rPr lang="en-US" altLang="ko-KR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지원자 이름 및 지원 직무</a:t>
                      </a:r>
                      <a:r>
                        <a:rPr lang="en-US" altLang="ko-KR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생년월일</a:t>
                      </a:r>
                      <a:r>
                        <a:rPr lang="en-US" altLang="ko-KR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학력 및 전공</a:t>
                      </a:r>
                      <a:r>
                        <a:rPr lang="en-US" altLang="ko-KR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이메일</a:t>
                      </a:r>
                      <a:r>
                        <a:rPr lang="en-US" altLang="ko-KR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연락처 등</a:t>
                      </a:r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2892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내용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 일시 및 총 소요 시간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진행 면접 영상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다시보기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기능 제공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진행 면접 텍스트 출력 기능 제공 버튼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의견 작성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면접관 또는 관리자 의견 작성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입력창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2697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의견 저장 버튼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텍스트 창에 텍스트를 입력한 경우 저장 버튼을 눌러야 종합평가제출 버튼 정상 작동 저장 안한 경우 의견을 저장해주세요 안내 문구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357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질문 목록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진행 시 사용된 질문 목록 표시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포함 기능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전체 질문 개수 표시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질문별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답변 확인 버튼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클릭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답변 내용 요약 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51354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답변 보기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</a:t>
                      </a:r>
                      <a:r>
                        <a:rPr lang="en-US" altLang="ko-KR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질문별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답변 확인 버튼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클릭 시 버튼 색상 변경 및 하단에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제공답변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내용 요약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표시출력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제공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더보기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페이지 영역 제한으로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미출력된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질문 제공하는 버튼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스크롤 또는 확장 기능 제공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54309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종합 평가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AI</a:t>
                      </a:r>
                      <a:r>
                        <a:rPr lang="en-US" altLang="ko-KR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면접 결과에 대한 종합 점수 및 평가 내용 제공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직무역량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인성력량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구역 타이틀 클릭 시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활설화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내용 변경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  <a:tr h="41009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종합 평가 제출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작성된 평가 결과를 최종 제출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71567"/>
                  </a:ext>
                </a:extLst>
              </a:tr>
              <a:tr h="41009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X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현재 창을 닫고 이전 화면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(INT-06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결과 분석 목록 화면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으로 이동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899817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958122"/>
              </p:ext>
            </p:extLst>
          </p:nvPr>
        </p:nvGraphicFramePr>
        <p:xfrm>
          <a:off x="335382" y="839068"/>
          <a:ext cx="11638082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961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7418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663468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113632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68320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4079365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5234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961578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INT-06-1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 분석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INT-06</a:t>
                      </a:r>
                      <a:r>
                        <a:rPr lang="ko-KR" altLang="en-US" sz="1000" b="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에서 결과 상세 보기 버튼 클릭 시 </a:t>
                      </a:r>
                      <a:r>
                        <a:rPr lang="ko-KR" altLang="en-US" sz="1000" b="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인입되는</a:t>
                      </a:r>
                      <a:r>
                        <a:rPr lang="ko-KR" altLang="en-US" sz="1000" b="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면접 결과 세부 내용 제공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7261"/>
            <a:ext cx="8132343" cy="54102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46" y="1135367"/>
            <a:ext cx="1502116" cy="462845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1852101" y="1119675"/>
            <a:ext cx="0" cy="5413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22631" y="1192405"/>
            <a:ext cx="215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1681905" y="110488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1970805" y="1218649"/>
            <a:ext cx="2410818" cy="338554"/>
            <a:chOff x="2413761" y="1219855"/>
            <a:chExt cx="2410818" cy="338554"/>
          </a:xfrm>
        </p:grpSpPr>
        <p:sp>
          <p:nvSpPr>
            <p:cNvPr id="69" name="TextBox 68"/>
            <p:cNvSpPr txBox="1"/>
            <p:nvPr/>
          </p:nvSpPr>
          <p:spPr>
            <a:xfrm>
              <a:off x="2604687" y="1219855"/>
              <a:ext cx="22198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smtClean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결과 분석</a:t>
              </a:r>
              <a:endParaRPr lang="ko-KR" altLang="en-US" b="1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3761" y="1263783"/>
              <a:ext cx="228600" cy="228600"/>
            </a:xfrm>
            <a:prstGeom prst="rect">
              <a:avLst/>
            </a:prstGeom>
          </p:spPr>
        </p:pic>
      </p:grpSp>
      <p:cxnSp>
        <p:nvCxnSpPr>
          <p:cNvPr id="221" name="직선 연결선 220"/>
          <p:cNvCxnSpPr/>
          <p:nvPr/>
        </p:nvCxnSpPr>
        <p:spPr>
          <a:xfrm>
            <a:off x="1843862" y="1595886"/>
            <a:ext cx="66238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/>
          <p:cNvGrpSpPr/>
          <p:nvPr/>
        </p:nvGrpSpPr>
        <p:grpSpPr>
          <a:xfrm>
            <a:off x="1936031" y="1701171"/>
            <a:ext cx="1866129" cy="1829025"/>
            <a:chOff x="2387942" y="1674966"/>
            <a:chExt cx="1587995" cy="2295286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2387942" y="1674966"/>
              <a:ext cx="1587995" cy="2295286"/>
            </a:xfrm>
            <a:prstGeom prst="roundRect">
              <a:avLst>
                <a:gd name="adj" fmla="val 4475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/>
            <p:cNvCxnSpPr/>
            <p:nvPr/>
          </p:nvCxnSpPr>
          <p:spPr>
            <a:xfrm flipV="1">
              <a:off x="2398845" y="1968885"/>
              <a:ext cx="1575077" cy="457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1918427" y="1721093"/>
            <a:ext cx="969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지원자 정보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915813" y="1683816"/>
            <a:ext cx="4491630" cy="2962075"/>
          </a:xfrm>
          <a:prstGeom prst="roundRect">
            <a:avLst>
              <a:gd name="adj" fmla="val 403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" name="그룹 25"/>
          <p:cNvGrpSpPr/>
          <p:nvPr/>
        </p:nvGrpSpPr>
        <p:grpSpPr>
          <a:xfrm>
            <a:off x="333507" y="1596030"/>
            <a:ext cx="1848615" cy="4951691"/>
            <a:chOff x="318669" y="1595887"/>
            <a:chExt cx="1843646" cy="4938263"/>
          </a:xfrm>
        </p:grpSpPr>
        <p:grpSp>
          <p:nvGrpSpPr>
            <p:cNvPr id="25" name="그룹 24"/>
            <p:cNvGrpSpPr/>
            <p:nvPr/>
          </p:nvGrpSpPr>
          <p:grpSpPr>
            <a:xfrm>
              <a:off x="318669" y="1595887"/>
              <a:ext cx="1661549" cy="4938263"/>
              <a:chOff x="318669" y="1595887"/>
              <a:chExt cx="2141093" cy="4938263"/>
            </a:xfrm>
          </p:grpSpPr>
          <p:grpSp>
            <p:nvGrpSpPr>
              <p:cNvPr id="124" name="그룹 123"/>
              <p:cNvGrpSpPr/>
              <p:nvPr/>
            </p:nvGrpSpPr>
            <p:grpSpPr>
              <a:xfrm>
                <a:off x="318669" y="1595887"/>
                <a:ext cx="2141093" cy="4938263"/>
                <a:chOff x="335382" y="1595886"/>
                <a:chExt cx="2141093" cy="4938263"/>
              </a:xfrm>
            </p:grpSpPr>
            <p:sp>
              <p:nvSpPr>
                <p:cNvPr id="125" name="직사각형 124"/>
                <p:cNvSpPr/>
                <p:nvPr/>
              </p:nvSpPr>
              <p:spPr>
                <a:xfrm>
                  <a:off x="335382" y="1595886"/>
                  <a:ext cx="1959244" cy="4938263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133" name="모서리가 둥근 직사각형 132"/>
                <p:cNvSpPr/>
                <p:nvPr/>
              </p:nvSpPr>
              <p:spPr>
                <a:xfrm>
                  <a:off x="417308" y="1700088"/>
                  <a:ext cx="1756549" cy="266736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000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    </a:t>
                  </a:r>
                  <a:r>
                    <a:rPr lang="en-US" altLang="ko-KR" sz="1000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Dashboard</a:t>
                  </a:r>
                  <a:endPara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pic>
              <p:nvPicPr>
                <p:cNvPr id="141" name="그림 140"/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7692" y="1740185"/>
                  <a:ext cx="186542" cy="186542"/>
                </a:xfrm>
                <a:prstGeom prst="rect">
                  <a:avLst/>
                </a:prstGeom>
              </p:spPr>
            </p:pic>
            <p:cxnSp>
              <p:nvCxnSpPr>
                <p:cNvPr id="142" name="직선 연결선 141"/>
                <p:cNvCxnSpPr/>
                <p:nvPr/>
              </p:nvCxnSpPr>
              <p:spPr>
                <a:xfrm>
                  <a:off x="477692" y="2325385"/>
                  <a:ext cx="1618527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8" name="그룹 147"/>
                <p:cNvGrpSpPr/>
                <p:nvPr/>
              </p:nvGrpSpPr>
              <p:grpSpPr>
                <a:xfrm>
                  <a:off x="450266" y="2390557"/>
                  <a:ext cx="1756549" cy="352030"/>
                  <a:chOff x="450266" y="1209410"/>
                  <a:chExt cx="1756549" cy="352030"/>
                </a:xfrm>
              </p:grpSpPr>
              <p:cxnSp>
                <p:nvCxnSpPr>
                  <p:cNvPr id="180" name="직선 연결선 179"/>
                  <p:cNvCxnSpPr/>
                  <p:nvPr/>
                </p:nvCxnSpPr>
                <p:spPr>
                  <a:xfrm>
                    <a:off x="477692" y="1561440"/>
                    <a:ext cx="1618527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1" name="TextBox 180"/>
                  <p:cNvSpPr txBox="1"/>
                  <p:nvPr/>
                </p:nvSpPr>
                <p:spPr>
                  <a:xfrm>
                    <a:off x="450266" y="1209410"/>
                    <a:ext cx="1756549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ko-KR" altLang="en-US" sz="1000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면접 현황                ∧               </a:t>
                    </a:r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</p:grpSp>
            <p:grpSp>
              <p:nvGrpSpPr>
                <p:cNvPr id="151" name="그룹 150"/>
                <p:cNvGrpSpPr/>
                <p:nvPr/>
              </p:nvGrpSpPr>
              <p:grpSpPr>
                <a:xfrm>
                  <a:off x="586240" y="2927871"/>
                  <a:ext cx="1890235" cy="879955"/>
                  <a:chOff x="387847" y="2881173"/>
                  <a:chExt cx="2116652" cy="885768"/>
                </a:xfrm>
              </p:grpSpPr>
              <p:sp>
                <p:nvSpPr>
                  <p:cNvPr id="176" name="TextBox 175"/>
                  <p:cNvSpPr txBox="1"/>
                  <p:nvPr/>
                </p:nvSpPr>
                <p:spPr>
                  <a:xfrm>
                    <a:off x="387847" y="2881173"/>
                    <a:ext cx="2116652" cy="2323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ko-KR" altLang="en-US" sz="900" dirty="0">
                      <a:solidFill>
                        <a:schemeClr val="bg1">
                          <a:lumMod val="75000"/>
                        </a:schemeClr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cxnSp>
                <p:nvCxnSpPr>
                  <p:cNvPr id="179" name="직선 연결선 178"/>
                  <p:cNvCxnSpPr/>
                  <p:nvPr/>
                </p:nvCxnSpPr>
                <p:spPr>
                  <a:xfrm flipV="1">
                    <a:off x="627550" y="3762117"/>
                    <a:ext cx="1398861" cy="4824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0" name="그룹 159"/>
                <p:cNvGrpSpPr/>
                <p:nvPr/>
              </p:nvGrpSpPr>
              <p:grpSpPr>
                <a:xfrm>
                  <a:off x="437361" y="3993527"/>
                  <a:ext cx="1756549" cy="350847"/>
                  <a:chOff x="437361" y="1889881"/>
                  <a:chExt cx="1756549" cy="350847"/>
                </a:xfrm>
              </p:grpSpPr>
              <p:cxnSp>
                <p:nvCxnSpPr>
                  <p:cNvPr id="167" name="직선 연결선 166"/>
                  <p:cNvCxnSpPr/>
                  <p:nvPr/>
                </p:nvCxnSpPr>
                <p:spPr>
                  <a:xfrm>
                    <a:off x="518358" y="2240728"/>
                    <a:ext cx="1618527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9" name="TextBox 168"/>
                  <p:cNvSpPr txBox="1"/>
                  <p:nvPr/>
                </p:nvSpPr>
                <p:spPr>
                  <a:xfrm>
                    <a:off x="437361" y="1889881"/>
                    <a:ext cx="175654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000" dirty="0">
                        <a:solidFill>
                          <a:schemeClr val="bg1">
                            <a:lumMod val="7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Rubrics</a:t>
                    </a:r>
                    <a:r>
                      <a:rPr lang="ko-KR" altLang="en-US" sz="1000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                 ∨                </a:t>
                    </a:r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</p:grpSp>
          </p:grpSp>
          <p:sp>
            <p:nvSpPr>
              <p:cNvPr id="214" name="모서리가 둥근 직사각형 213"/>
              <p:cNvSpPr/>
              <p:nvPr/>
            </p:nvSpPr>
            <p:spPr>
              <a:xfrm>
                <a:off x="1187250" y="3524966"/>
                <a:ext cx="866567" cy="264811"/>
              </a:xfrm>
              <a:prstGeom prst="roundRect">
                <a:avLst/>
              </a:prstGeom>
              <a:solidFill>
                <a:srgbClr val="FF256E"/>
              </a:solidFill>
              <a:ln>
                <a:solidFill>
                  <a:srgbClr val="FF256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9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sz="9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결과 분석</a:t>
                </a:r>
                <a:endParaRPr lang="ko-KR" altLang="en-US" sz="9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sz="9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</a:t>
                </a:r>
              </a:p>
            </p:txBody>
          </p:sp>
          <p:cxnSp>
            <p:nvCxnSpPr>
              <p:cNvPr id="215" name="직선 연결선 214"/>
              <p:cNvCxnSpPr/>
              <p:nvPr/>
            </p:nvCxnSpPr>
            <p:spPr>
              <a:xfrm flipV="1">
                <a:off x="774609" y="3502016"/>
                <a:ext cx="1249226" cy="4792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6" name="직사각형 215"/>
              <p:cNvSpPr/>
              <p:nvPr/>
            </p:nvSpPr>
            <p:spPr>
              <a:xfrm>
                <a:off x="1270577" y="3209802"/>
                <a:ext cx="849395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9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결과 관리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217" name="모서리가 둥근 직사각형 216"/>
              <p:cNvSpPr/>
              <p:nvPr/>
            </p:nvSpPr>
            <p:spPr>
              <a:xfrm>
                <a:off x="501645" y="2790911"/>
                <a:ext cx="1602314" cy="297090"/>
              </a:xfrm>
              <a:prstGeom prst="roundRect">
                <a:avLst/>
              </a:prstGeom>
              <a:solidFill>
                <a:srgbClr val="FF256E"/>
              </a:solidFill>
              <a:ln>
                <a:solidFill>
                  <a:srgbClr val="FF256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endParaRPr lang="en-US" altLang="ko-KR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면접 결과              ∧</a:t>
                </a:r>
                <a:endParaRPr lang="ko-KR" altLang="en-US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</a:t>
                </a:r>
                <a:endParaRPr lang="ko-KR" altLang="en-US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219" name="직선 연결선 218"/>
              <p:cNvCxnSpPr/>
              <p:nvPr/>
            </p:nvCxnSpPr>
            <p:spPr>
              <a:xfrm>
                <a:off x="485432" y="3134298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3" name="TextBox 212"/>
            <p:cNvSpPr txBox="1"/>
            <p:nvPr/>
          </p:nvSpPr>
          <p:spPr>
            <a:xfrm>
              <a:off x="405766" y="2052718"/>
              <a:ext cx="17565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공고 </a:t>
              </a:r>
              <a:r>
                <a:rPr lang="ko-KR" altLang="en-US" sz="10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 </a:t>
              </a:r>
              <a:r>
                <a:rPr lang="ko-KR" altLang="en-US" sz="10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          ∨                 </a:t>
              </a:r>
              <a:endParaRPr lang="ko-KR" altLang="en-US" sz="10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398957" y="6246069"/>
            <a:ext cx="1056463" cy="261610"/>
            <a:chOff x="417309" y="6108345"/>
            <a:chExt cx="1066433" cy="388263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09" y="6148038"/>
              <a:ext cx="246925" cy="28033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638355" y="6108345"/>
              <a:ext cx="845387" cy="388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1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70" name="직선 연결선 69"/>
          <p:cNvCxnSpPr/>
          <p:nvPr/>
        </p:nvCxnSpPr>
        <p:spPr>
          <a:xfrm>
            <a:off x="351762" y="6200151"/>
            <a:ext cx="1500339" cy="142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3" name="그림 222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1" t="22941" r="19604" b="54220"/>
          <a:stretch/>
        </p:blipFill>
        <p:spPr>
          <a:xfrm>
            <a:off x="1998660" y="2073379"/>
            <a:ext cx="577047" cy="529808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2623400" y="2056590"/>
            <a:ext cx="1055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</a:t>
            </a: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2537575" y="2307449"/>
            <a:ext cx="11877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Data </a:t>
            </a:r>
            <a:r>
              <a:rPr lang="en-US" altLang="ko-KR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Engineer</a:t>
            </a:r>
            <a:endParaRPr lang="ko-KR" alt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974843" y="2687579"/>
            <a:ext cx="1807847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생년월일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1996-01-01</a:t>
            </a: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학사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사이언스 전공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이메일 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  <a:hlinkClick r:id="rId9"/>
              </a:rPr>
              <a:t>kildong@vmail.com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연락처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010-1111-1111</a:t>
            </a:r>
          </a:p>
        </p:txBody>
      </p:sp>
      <p:grpSp>
        <p:nvGrpSpPr>
          <p:cNvPr id="228" name="그룹 227"/>
          <p:cNvGrpSpPr/>
          <p:nvPr/>
        </p:nvGrpSpPr>
        <p:grpSpPr>
          <a:xfrm>
            <a:off x="1921326" y="4634029"/>
            <a:ext cx="1880832" cy="1805939"/>
            <a:chOff x="2375430" y="1674966"/>
            <a:chExt cx="1600507" cy="2295286"/>
          </a:xfrm>
        </p:grpSpPr>
        <p:sp>
          <p:nvSpPr>
            <p:cNvPr id="230" name="모서리가 둥근 직사각형 229"/>
            <p:cNvSpPr/>
            <p:nvPr/>
          </p:nvSpPr>
          <p:spPr>
            <a:xfrm>
              <a:off x="2387942" y="1674966"/>
              <a:ext cx="1587995" cy="2295286"/>
            </a:xfrm>
            <a:prstGeom prst="roundRect">
              <a:avLst>
                <a:gd name="adj" fmla="val 4475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32" name="직선 연결선 231"/>
            <p:cNvCxnSpPr/>
            <p:nvPr/>
          </p:nvCxnSpPr>
          <p:spPr>
            <a:xfrm flipV="1">
              <a:off x="2375430" y="2083795"/>
              <a:ext cx="1575077" cy="457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/>
          <p:cNvSpPr txBox="1"/>
          <p:nvPr/>
        </p:nvSpPr>
        <p:spPr>
          <a:xfrm>
            <a:off x="1961084" y="4687348"/>
            <a:ext cx="1174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의견 남기기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2023692" y="5055228"/>
            <a:ext cx="1710148" cy="1078661"/>
          </a:xfrm>
          <a:prstGeom prst="roundRect">
            <a:avLst>
              <a:gd name="adj" fmla="val 4907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3392397" y="4551416"/>
            <a:ext cx="41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…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3127270" y="6160717"/>
            <a:ext cx="570695" cy="236537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저장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09881" y="1712558"/>
            <a:ext cx="991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질문 목록</a:t>
            </a:r>
            <a:endParaRPr lang="ko-KR" alt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1903733" y="3599802"/>
            <a:ext cx="2043608" cy="917234"/>
            <a:chOff x="1903733" y="3950737"/>
            <a:chExt cx="2043608" cy="917234"/>
          </a:xfrm>
        </p:grpSpPr>
        <p:grpSp>
          <p:nvGrpSpPr>
            <p:cNvPr id="225" name="그룹 224"/>
            <p:cNvGrpSpPr/>
            <p:nvPr/>
          </p:nvGrpSpPr>
          <p:grpSpPr>
            <a:xfrm>
              <a:off x="1941905" y="3950737"/>
              <a:ext cx="1871814" cy="917234"/>
              <a:chOff x="2387942" y="1674966"/>
              <a:chExt cx="1592833" cy="2295286"/>
            </a:xfrm>
          </p:grpSpPr>
          <p:sp>
            <p:nvSpPr>
              <p:cNvPr id="226" name="모서리가 둥근 직사각형 225"/>
              <p:cNvSpPr/>
              <p:nvPr/>
            </p:nvSpPr>
            <p:spPr>
              <a:xfrm>
                <a:off x="2387942" y="1674966"/>
                <a:ext cx="1587995" cy="2295286"/>
              </a:xfrm>
              <a:prstGeom prst="roundRect">
                <a:avLst>
                  <a:gd name="adj" fmla="val 4475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7" name="직선 연결선 226"/>
              <p:cNvCxnSpPr/>
              <p:nvPr/>
            </p:nvCxnSpPr>
            <p:spPr>
              <a:xfrm flipV="1">
                <a:off x="2405698" y="2443190"/>
                <a:ext cx="1575077" cy="4577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/>
            <p:cNvSpPr txBox="1"/>
            <p:nvPr/>
          </p:nvSpPr>
          <p:spPr>
            <a:xfrm>
              <a:off x="1935511" y="3981659"/>
              <a:ext cx="11917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면접 내용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1" name="모서리가 둥근 직사각형 50"/>
            <p:cNvSpPr/>
            <p:nvPr/>
          </p:nvSpPr>
          <p:spPr>
            <a:xfrm>
              <a:off x="2043872" y="4547635"/>
              <a:ext cx="691049" cy="236537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● </a:t>
              </a:r>
              <a:r>
                <a:rPr lang="ko-KR" altLang="en-US" sz="105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05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REC</a:t>
              </a:r>
              <a:endPara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903733" y="4279857"/>
              <a:ext cx="204360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2026-01-26  10:00:02 ~ 10:21:24</a:t>
              </a:r>
              <a:endParaRPr lang="ko-KR" altLang="en-US" sz="9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6" name="모서리가 둥근 직사각형 235"/>
            <p:cNvSpPr/>
            <p:nvPr/>
          </p:nvSpPr>
          <p:spPr>
            <a:xfrm>
              <a:off x="2842986" y="4541917"/>
              <a:ext cx="844961" cy="238363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spAutoFit/>
            </a:bodyPr>
            <a:lstStyle/>
            <a:p>
              <a:pPr algn="ctr"/>
              <a:r>
                <a:rPr lang="ko-KR" altLang="en-US" sz="8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텍스트 출력 보기</a:t>
              </a:r>
              <a:endPara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4" name="직사각형 63"/>
          <p:cNvSpPr/>
          <p:nvPr/>
        </p:nvSpPr>
        <p:spPr>
          <a:xfrm>
            <a:off x="3917688" y="1997507"/>
            <a:ext cx="4489755" cy="25830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Q1.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먼저 자기소개를 부탁드립니다</a:t>
            </a: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3919331" y="2509757"/>
            <a:ext cx="4489755" cy="25830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Q3.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정규화를 진행할 때 가장 우선적으로 해야하는게</a:t>
            </a: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7671093" y="2034334"/>
            <a:ext cx="676477" cy="18465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답변보기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2" name="그룹 71"/>
          <p:cNvGrpSpPr/>
          <p:nvPr/>
        </p:nvGrpSpPr>
        <p:grpSpPr>
          <a:xfrm>
            <a:off x="3917688" y="2255811"/>
            <a:ext cx="4489755" cy="258304"/>
            <a:chOff x="3917688" y="2255811"/>
            <a:chExt cx="4489755" cy="258304"/>
          </a:xfrm>
        </p:grpSpPr>
        <p:sp>
          <p:nvSpPr>
            <p:cNvPr id="238" name="직사각형 237"/>
            <p:cNvSpPr/>
            <p:nvPr/>
          </p:nvSpPr>
          <p:spPr>
            <a:xfrm>
              <a:off x="3917688" y="2255811"/>
              <a:ext cx="4489755" cy="258304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Q2.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저희 회사에 해당 직무에 지원한 이유를 말씀해주세요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0" name="모서리가 둥근 직사각형 239"/>
            <p:cNvSpPr/>
            <p:nvPr/>
          </p:nvSpPr>
          <p:spPr>
            <a:xfrm>
              <a:off x="7679966" y="2288280"/>
              <a:ext cx="676477" cy="18465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답변보기</a:t>
              </a:r>
              <a:endPara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41" name="모서리가 둥근 직사각형 240"/>
          <p:cNvSpPr/>
          <p:nvPr/>
        </p:nvSpPr>
        <p:spPr>
          <a:xfrm>
            <a:off x="7679966" y="2550660"/>
            <a:ext cx="676477" cy="184650"/>
          </a:xfrm>
          <a:prstGeom prst="roundRect">
            <a:avLst/>
          </a:prstGeom>
          <a:solidFill>
            <a:srgbClr val="FFE1EB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답변보기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43" name="그룹 242"/>
          <p:cNvGrpSpPr/>
          <p:nvPr/>
        </p:nvGrpSpPr>
        <p:grpSpPr>
          <a:xfrm>
            <a:off x="3914170" y="3600376"/>
            <a:ext cx="4489755" cy="258304"/>
            <a:chOff x="3917688" y="2255811"/>
            <a:chExt cx="4489755" cy="258304"/>
          </a:xfrm>
        </p:grpSpPr>
        <p:sp>
          <p:nvSpPr>
            <p:cNvPr id="244" name="직사각형 243"/>
            <p:cNvSpPr/>
            <p:nvPr/>
          </p:nvSpPr>
          <p:spPr>
            <a:xfrm>
              <a:off x="3917688" y="2255811"/>
              <a:ext cx="4489755" cy="258304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Q4.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연금 데이터 분석 경험이 있는데 초기 분석 기획은 어떤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endPara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5" name="모서리가 둥근 직사각형 244"/>
            <p:cNvSpPr/>
            <p:nvPr/>
          </p:nvSpPr>
          <p:spPr>
            <a:xfrm>
              <a:off x="7679966" y="2288280"/>
              <a:ext cx="676477" cy="18465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답변보기</a:t>
              </a:r>
              <a:endPara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75" name="모서리가 둥근 직사각형 74"/>
          <p:cNvSpPr/>
          <p:nvPr/>
        </p:nvSpPr>
        <p:spPr>
          <a:xfrm>
            <a:off x="3983088" y="2812862"/>
            <a:ext cx="4369837" cy="73605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정규화 진행 시 가장 우선적으로 처리해야 할 사항은 제1</a:t>
            </a:r>
            <a:r>
              <a:rPr lang="ko-KR" altLang="ko-KR" sz="8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정규형을 </a:t>
            </a:r>
            <a:r>
              <a:rPr lang="ko-KR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만족시키기 위해 모든 속성값을 </a:t>
            </a:r>
            <a:r>
              <a:rPr lang="ko-KR" altLang="ko-KR" sz="8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원자값으로</a:t>
            </a:r>
            <a:r>
              <a:rPr lang="ko-KR" altLang="ko-KR" sz="8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만드는 것입니다.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하나의 컬럼에 여러 개의 값이 포함된 '</a:t>
            </a:r>
            <a:r>
              <a:rPr lang="ko-KR" altLang="ko-KR" sz="8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다중값</a:t>
            </a:r>
            <a:r>
              <a:rPr lang="ko-KR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8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속성'이나</a:t>
            </a:r>
            <a:r>
              <a:rPr lang="ko-KR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'복합 </a:t>
            </a:r>
            <a:r>
              <a:rPr lang="ko-KR" altLang="ko-KR" sz="8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속성'을</a:t>
            </a:r>
            <a:r>
              <a:rPr lang="ko-KR" altLang="ko-KR" sz="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제거하여, 데이터의 중복을 방지하고 검색 및 조작의 효율성을 높이는 작업이 모든 정규화의 기초가 됩니다. 이 단계가 제대로 수행되지 않으면 이후의 부분 함수 종속이나 이행 함수 종속 제거와 같은 상위 정규화 단계로 나아갈 수 없기 때문입니다</a:t>
            </a:r>
            <a:r>
              <a:rPr lang="ko-KR" altLang="ko-KR" sz="8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ko-KR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46" name="그룹 245"/>
          <p:cNvGrpSpPr/>
          <p:nvPr/>
        </p:nvGrpSpPr>
        <p:grpSpPr>
          <a:xfrm>
            <a:off x="3914169" y="3864829"/>
            <a:ext cx="4489755" cy="258304"/>
            <a:chOff x="3917688" y="2255811"/>
            <a:chExt cx="4489755" cy="258304"/>
          </a:xfrm>
        </p:grpSpPr>
        <p:sp>
          <p:nvSpPr>
            <p:cNvPr id="247" name="직사각형 246"/>
            <p:cNvSpPr/>
            <p:nvPr/>
          </p:nvSpPr>
          <p:spPr>
            <a:xfrm>
              <a:off x="3917688" y="2255811"/>
              <a:ext cx="4489755" cy="258304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Q5.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 수집이 개인정보라 확보가 쉽지 않았을 거 같은데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endPara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8" name="모서리가 둥근 직사각형 247"/>
            <p:cNvSpPr/>
            <p:nvPr/>
          </p:nvSpPr>
          <p:spPr>
            <a:xfrm>
              <a:off x="7679966" y="2288280"/>
              <a:ext cx="676477" cy="18465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답변보기</a:t>
              </a:r>
              <a:endPara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5907047" y="4134270"/>
            <a:ext cx="461665" cy="2695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 smtClean="0"/>
              <a:t>…</a:t>
            </a:r>
            <a:endParaRPr lang="ko-KR" altLang="en-US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7435450" y="1735743"/>
            <a:ext cx="765975" cy="2103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 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 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5745726" y="4403861"/>
            <a:ext cx="670533" cy="180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더보기</a:t>
            </a:r>
            <a:endParaRPr lang="ko-KR" altLang="en-US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50" name="그룹 249"/>
          <p:cNvGrpSpPr/>
          <p:nvPr/>
        </p:nvGrpSpPr>
        <p:grpSpPr>
          <a:xfrm>
            <a:off x="3926161" y="4762561"/>
            <a:ext cx="4455715" cy="1662099"/>
            <a:chOff x="2387942" y="1674966"/>
            <a:chExt cx="1587995" cy="2295286"/>
          </a:xfrm>
        </p:grpSpPr>
        <p:sp>
          <p:nvSpPr>
            <p:cNvPr id="251" name="모서리가 둥근 직사각형 250"/>
            <p:cNvSpPr/>
            <p:nvPr/>
          </p:nvSpPr>
          <p:spPr>
            <a:xfrm>
              <a:off x="2387942" y="1674966"/>
              <a:ext cx="1587995" cy="2295286"/>
            </a:xfrm>
            <a:prstGeom prst="roundRect">
              <a:avLst>
                <a:gd name="adj" fmla="val 4475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2" name="직선 연결선 251"/>
            <p:cNvCxnSpPr/>
            <p:nvPr/>
          </p:nvCxnSpPr>
          <p:spPr>
            <a:xfrm flipV="1">
              <a:off x="2399386" y="2122484"/>
              <a:ext cx="1575077" cy="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3" name="TextBox 252"/>
          <p:cNvSpPr txBox="1"/>
          <p:nvPr/>
        </p:nvSpPr>
        <p:spPr>
          <a:xfrm>
            <a:off x="3983088" y="4805344"/>
            <a:ext cx="829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종합 평가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4722499" y="5134524"/>
            <a:ext cx="874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인성역량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3974031" y="5359381"/>
            <a:ext cx="4333606" cy="1003154"/>
          </a:xfrm>
          <a:prstGeom prst="roundRect">
            <a:avLst>
              <a:gd name="adj" fmla="val 746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직무 </a:t>
            </a:r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이해도 </a:t>
            </a:r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(70</a:t>
            </a:r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</a:t>
            </a:r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):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해당 직무에 대한 기초 지식과 프로세스를 안정적으로 이해안정적으로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이해</a:t>
            </a:r>
            <a:endParaRPr lang="en-US" altLang="ko-KR" sz="10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직무 경험 </a:t>
            </a:r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(60</a:t>
            </a:r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</a:t>
            </a:r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):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실무 경험 면에서 보완이 필요하나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의지를 통해 충분히 극복 가능한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수준</a:t>
            </a:r>
            <a:endParaRPr lang="en-US" altLang="ko-KR" sz="10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조직적합성 및 태도 </a:t>
            </a:r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(80</a:t>
            </a:r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</a:t>
            </a:r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책임감 있는 태도와 조직의 방향성에 부합하는 가치관을 보유</a:t>
            </a: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3974031" y="5160269"/>
            <a:ext cx="795439" cy="252909"/>
          </a:xfrm>
          <a:prstGeom prst="roundRect">
            <a:avLst>
              <a:gd name="adj" fmla="val 746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직무역량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6" name="모서리가 둥근 직사각형 255"/>
          <p:cNvSpPr/>
          <p:nvPr/>
        </p:nvSpPr>
        <p:spPr>
          <a:xfrm>
            <a:off x="7247403" y="4812173"/>
            <a:ext cx="1029288" cy="236537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종합 평가 제출</a:t>
            </a:r>
            <a:endParaRPr lang="ko-KR" alt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7" name="타원 256"/>
          <p:cNvSpPr/>
          <p:nvPr/>
        </p:nvSpPr>
        <p:spPr>
          <a:xfrm>
            <a:off x="1779625" y="158417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1802314" y="351316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1815930" y="452841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3812748" y="157509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9" name="타원 98"/>
          <p:cNvSpPr/>
          <p:nvPr/>
        </p:nvSpPr>
        <p:spPr>
          <a:xfrm>
            <a:off x="7547000" y="243487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" name="타원 99"/>
          <p:cNvSpPr/>
          <p:nvPr/>
        </p:nvSpPr>
        <p:spPr>
          <a:xfrm>
            <a:off x="5624467" y="427652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3833716" y="468741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" name="타원 101"/>
          <p:cNvSpPr/>
          <p:nvPr/>
        </p:nvSpPr>
        <p:spPr>
          <a:xfrm>
            <a:off x="7126303" y="4719173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" name="타원 102"/>
          <p:cNvSpPr/>
          <p:nvPr/>
        </p:nvSpPr>
        <p:spPr>
          <a:xfrm>
            <a:off x="3033167" y="6081426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46228" y="1417778"/>
            <a:ext cx="25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x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8244700" y="132526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394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537" y="325724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err="1" smtClean="0"/>
              <a:t>루브릭</a:t>
            </a:r>
            <a:r>
              <a:rPr lang="ko-KR" altLang="en-US" dirty="0" smtClean="0"/>
              <a:t> 설정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765964"/>
              </p:ext>
            </p:extLst>
          </p:nvPr>
        </p:nvGraphicFramePr>
        <p:xfrm>
          <a:off x="8561827" y="1054745"/>
          <a:ext cx="3467803" cy="5313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343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988460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2121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타이틀 영역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54476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직무 목록 선택 영역</a:t>
                      </a:r>
                      <a:endParaRPr lang="en-US" altLang="ko-KR" sz="10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루브릭을</a:t>
                      </a:r>
                      <a:r>
                        <a:rPr lang="ko-KR" altLang="en-US" sz="1000" b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적용할 직무 유형 선택 </a:t>
                      </a:r>
                      <a:r>
                        <a:rPr lang="en-US" altLang="ko-KR" sz="1000" dirty="0" smtClean="0"/>
                        <a:t>Dropdown </a:t>
                      </a:r>
                      <a:r>
                        <a:rPr lang="ko-KR" altLang="en-US" sz="1000" dirty="0" smtClean="0"/>
                        <a:t>제공</a:t>
                      </a:r>
                      <a:endParaRPr lang="en-US" altLang="ko-KR" sz="1000" dirty="0" smtClean="0"/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Rubircs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추가</a:t>
                      </a:r>
                      <a:r>
                        <a:rPr lang="en-US" altLang="ko-KR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: 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새 </a:t>
                      </a:r>
                      <a:r>
                        <a:rPr lang="ko-KR" altLang="en-US" sz="1000" b="0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루브릭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추가 버튼</a:t>
                      </a:r>
                      <a:endParaRPr lang="en-US" altLang="ko-KR" sz="1000" b="0" baseline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수정 </a:t>
                      </a:r>
                      <a:r>
                        <a:rPr lang="en-US" altLang="ko-KR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기존 </a:t>
                      </a:r>
                      <a:r>
                        <a:rPr lang="ko-KR" altLang="en-US" sz="1000" b="0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루브릭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수정 버튼</a:t>
                      </a:r>
                      <a:r>
                        <a:rPr lang="en-US" altLang="ko-KR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b="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클릭 시 평가 목록 활성화</a:t>
                      </a:r>
                      <a:endParaRPr lang="ko-KR" altLang="en-US" sz="40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4263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목록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 직무에 적용되는 평가 영역 목록 관리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영역 체크 선택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체크 시 평가기준 영역 활성화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항목 활성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비활성 관리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30791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직무 평가 기준 설정 영역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18948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항목 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레벨 탭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타이틀 탭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선택시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해당 페이지 이동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레벨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항목별 기준에 맞는 부여 점수 설정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4263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항목 상세 관리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항목 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항목별 목록과 평가기준 수정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삭제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버튼제공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해당 항목 </a:t>
                      </a:r>
                      <a:r>
                        <a:rPr lang="ko-KR" altLang="en-US" sz="1000" b="0" kern="120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선택시</a:t>
                      </a: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색상 변동 및 평가 기준 하단 출력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4263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 레벨 출력 영역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설정한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평가레벨을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점수 슬라이더 조정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등급별 기준 출력</a:t>
                      </a: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4263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저장 버튼</a:t>
                      </a:r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설정된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루브릭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정보 최종 저장</a:t>
                      </a:r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Tx/>
                        <a:buChar char="-"/>
                      </a:pP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버튼 클릭 시 해당내용으로 저장하시겠습니까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? 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추가 확인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멘트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창 출력 후 확인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취소 버튼 제공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</a:b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취소 버튼은 다시 현재 페이지 이동 확인 버튼은 저장 후 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번 평가 기준 설정 영역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비성화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닫힘</a:t>
                      </a:r>
                      <a:r>
                        <a:rPr lang="en-US" altLang="ko-KR" sz="1000" b="0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402753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467357"/>
              </p:ext>
            </p:extLst>
          </p:nvPr>
        </p:nvGraphicFramePr>
        <p:xfrm>
          <a:off x="335382" y="839068"/>
          <a:ext cx="11694248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599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81210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9998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617554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52999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31367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480291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987230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INT-07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루즈릭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설정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ko-KR" altLang="en-US" sz="1000" b="0" dirty="0" err="1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직무별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평가 기준</a:t>
                      </a:r>
                      <a:r>
                        <a:rPr lang="en-US" altLang="ko-KR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(Rubrics) </a:t>
                      </a: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을 설정하고 관리하는 화면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46" y="1135367"/>
            <a:ext cx="1502116" cy="462845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1852101" y="1119675"/>
            <a:ext cx="0" cy="54132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22631" y="1192405"/>
            <a:ext cx="215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Victerview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1767754" y="109584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1970805" y="1218649"/>
            <a:ext cx="2429290" cy="338554"/>
            <a:chOff x="2413761" y="1219855"/>
            <a:chExt cx="2429290" cy="338554"/>
          </a:xfrm>
        </p:grpSpPr>
        <p:sp>
          <p:nvSpPr>
            <p:cNvPr id="69" name="TextBox 68"/>
            <p:cNvSpPr txBox="1"/>
            <p:nvPr/>
          </p:nvSpPr>
          <p:spPr>
            <a:xfrm>
              <a:off x="2623159" y="1219855"/>
              <a:ext cx="22198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 smtClean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루브릭</a:t>
              </a:r>
              <a:r>
                <a:rPr lang="ko-KR" altLang="en-US" sz="1600" b="1" dirty="0" smtClean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설정</a:t>
              </a:r>
              <a:endParaRPr lang="ko-KR" altLang="en-US" b="1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3761" y="1263783"/>
              <a:ext cx="228600" cy="228600"/>
            </a:xfrm>
            <a:prstGeom prst="rect">
              <a:avLst/>
            </a:prstGeom>
          </p:spPr>
        </p:pic>
      </p:grpSp>
      <p:cxnSp>
        <p:nvCxnSpPr>
          <p:cNvPr id="221" name="직선 연결선 220"/>
          <p:cNvCxnSpPr/>
          <p:nvPr/>
        </p:nvCxnSpPr>
        <p:spPr>
          <a:xfrm>
            <a:off x="1843862" y="1595886"/>
            <a:ext cx="66238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/>
          <p:cNvSpPr/>
          <p:nvPr/>
        </p:nvSpPr>
        <p:spPr>
          <a:xfrm>
            <a:off x="3890302" y="1700515"/>
            <a:ext cx="4491630" cy="4680039"/>
          </a:xfrm>
          <a:prstGeom prst="roundRect">
            <a:avLst>
              <a:gd name="adj" fmla="val 1981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26" name="그룹 25"/>
          <p:cNvGrpSpPr/>
          <p:nvPr/>
        </p:nvGrpSpPr>
        <p:grpSpPr>
          <a:xfrm>
            <a:off x="333507" y="1596030"/>
            <a:ext cx="1848615" cy="4951690"/>
            <a:chOff x="318669" y="1595887"/>
            <a:chExt cx="1843646" cy="4938263"/>
          </a:xfrm>
        </p:grpSpPr>
        <p:grpSp>
          <p:nvGrpSpPr>
            <p:cNvPr id="25" name="그룹 24"/>
            <p:cNvGrpSpPr/>
            <p:nvPr/>
          </p:nvGrpSpPr>
          <p:grpSpPr>
            <a:xfrm>
              <a:off x="318669" y="1595887"/>
              <a:ext cx="1624885" cy="4938263"/>
              <a:chOff x="318669" y="1595887"/>
              <a:chExt cx="2093847" cy="4938263"/>
            </a:xfrm>
          </p:grpSpPr>
          <p:grpSp>
            <p:nvGrpSpPr>
              <p:cNvPr id="124" name="그룹 123"/>
              <p:cNvGrpSpPr/>
              <p:nvPr/>
            </p:nvGrpSpPr>
            <p:grpSpPr>
              <a:xfrm>
                <a:off x="318669" y="1595887"/>
                <a:ext cx="2093847" cy="4938263"/>
                <a:chOff x="335382" y="1595886"/>
                <a:chExt cx="2093847" cy="4938263"/>
              </a:xfrm>
            </p:grpSpPr>
            <p:sp>
              <p:nvSpPr>
                <p:cNvPr id="125" name="직사각형 124"/>
                <p:cNvSpPr/>
                <p:nvPr/>
              </p:nvSpPr>
              <p:spPr>
                <a:xfrm>
                  <a:off x="335382" y="1595886"/>
                  <a:ext cx="1959244" cy="4938263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133" name="모서리가 둥근 직사각형 132"/>
                <p:cNvSpPr/>
                <p:nvPr/>
              </p:nvSpPr>
              <p:spPr>
                <a:xfrm>
                  <a:off x="417308" y="1700088"/>
                  <a:ext cx="1756549" cy="266736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000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    </a:t>
                  </a:r>
                  <a:r>
                    <a:rPr lang="en-US" altLang="ko-KR" sz="1000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Dashboard</a:t>
                  </a:r>
                  <a:endPara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pic>
              <p:nvPicPr>
                <p:cNvPr id="141" name="그림 140"/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7692" y="1740185"/>
                  <a:ext cx="186542" cy="186542"/>
                </a:xfrm>
                <a:prstGeom prst="rect">
                  <a:avLst/>
                </a:prstGeom>
              </p:spPr>
            </p:pic>
            <p:cxnSp>
              <p:nvCxnSpPr>
                <p:cNvPr id="142" name="직선 연결선 141"/>
                <p:cNvCxnSpPr/>
                <p:nvPr/>
              </p:nvCxnSpPr>
              <p:spPr>
                <a:xfrm>
                  <a:off x="477692" y="2325385"/>
                  <a:ext cx="1618527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8" name="그룹 147"/>
                <p:cNvGrpSpPr/>
                <p:nvPr/>
              </p:nvGrpSpPr>
              <p:grpSpPr>
                <a:xfrm>
                  <a:off x="450266" y="2390557"/>
                  <a:ext cx="1756549" cy="352030"/>
                  <a:chOff x="450266" y="1209410"/>
                  <a:chExt cx="1756549" cy="352030"/>
                </a:xfrm>
              </p:grpSpPr>
              <p:cxnSp>
                <p:nvCxnSpPr>
                  <p:cNvPr id="180" name="직선 연결선 179"/>
                  <p:cNvCxnSpPr/>
                  <p:nvPr/>
                </p:nvCxnSpPr>
                <p:spPr>
                  <a:xfrm>
                    <a:off x="477692" y="1561440"/>
                    <a:ext cx="1618527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1" name="TextBox 180"/>
                  <p:cNvSpPr txBox="1"/>
                  <p:nvPr/>
                </p:nvSpPr>
                <p:spPr>
                  <a:xfrm>
                    <a:off x="450266" y="1209410"/>
                    <a:ext cx="1756549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ko-KR" altLang="en-US" sz="1000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면접 현황                ∨               </a:t>
                    </a:r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</p:grpSp>
            <p:sp>
              <p:nvSpPr>
                <p:cNvPr id="176" name="TextBox 175"/>
                <p:cNvSpPr txBox="1"/>
                <p:nvPr/>
              </p:nvSpPr>
              <p:spPr>
                <a:xfrm>
                  <a:off x="538995" y="2881219"/>
                  <a:ext cx="189023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cxnSp>
              <p:nvCxnSpPr>
                <p:cNvPr id="167" name="직선 연결선 166"/>
                <p:cNvCxnSpPr/>
                <p:nvPr/>
              </p:nvCxnSpPr>
              <p:spPr>
                <a:xfrm>
                  <a:off x="477692" y="3627178"/>
                  <a:ext cx="1618527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7" name="모서리가 둥근 직사각형 216"/>
              <p:cNvSpPr/>
              <p:nvPr/>
            </p:nvSpPr>
            <p:spPr>
              <a:xfrm>
                <a:off x="558611" y="3224861"/>
                <a:ext cx="1602313" cy="297090"/>
              </a:xfrm>
              <a:prstGeom prst="roundRect">
                <a:avLst/>
              </a:prstGeom>
              <a:solidFill>
                <a:srgbClr val="FF256E"/>
              </a:solidFill>
              <a:ln>
                <a:solidFill>
                  <a:srgbClr val="FF256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endParaRPr lang="en-US" altLang="ko-KR" sz="1000" dirty="0" smtClean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en-US" altLang="ko-KR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Rubrics</a:t>
                </a:r>
                <a:r>
                  <a:rPr lang="ko-KR" altLang="en-US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  ∧</a:t>
                </a:r>
                <a:endParaRPr lang="ko-KR" altLang="en-US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</a:t>
                </a:r>
                <a:endParaRPr lang="ko-KR" altLang="en-US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219" name="직선 연결선 218"/>
              <p:cNvCxnSpPr/>
              <p:nvPr/>
            </p:nvCxnSpPr>
            <p:spPr>
              <a:xfrm>
                <a:off x="460979" y="3140299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3" name="TextBox 212"/>
            <p:cNvSpPr txBox="1"/>
            <p:nvPr/>
          </p:nvSpPr>
          <p:spPr>
            <a:xfrm>
              <a:off x="405766" y="2052718"/>
              <a:ext cx="17565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공고 </a:t>
              </a:r>
              <a:r>
                <a:rPr lang="ko-KR" altLang="en-US" sz="10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 </a:t>
              </a:r>
              <a:r>
                <a:rPr lang="ko-KR" altLang="en-US" sz="10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          ∨                 </a:t>
              </a:r>
              <a:endParaRPr lang="ko-KR" altLang="en-US" sz="10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398957" y="6246069"/>
            <a:ext cx="1056463" cy="261610"/>
            <a:chOff x="417309" y="6108345"/>
            <a:chExt cx="1066433" cy="388263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09" y="6148038"/>
              <a:ext cx="246925" cy="28033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638355" y="6108345"/>
              <a:ext cx="845387" cy="388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설정</a:t>
              </a:r>
              <a:endParaRPr lang="ko-KR" altLang="en-US" sz="11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70" name="직선 연결선 69"/>
          <p:cNvCxnSpPr/>
          <p:nvPr/>
        </p:nvCxnSpPr>
        <p:spPr>
          <a:xfrm>
            <a:off x="351762" y="6200151"/>
            <a:ext cx="1500339" cy="142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그룹 224"/>
          <p:cNvGrpSpPr/>
          <p:nvPr/>
        </p:nvGrpSpPr>
        <p:grpSpPr>
          <a:xfrm>
            <a:off x="1960619" y="1753881"/>
            <a:ext cx="1868004" cy="1130978"/>
            <a:chOff x="2387942" y="1674968"/>
            <a:chExt cx="1589591" cy="1905349"/>
          </a:xfrm>
        </p:grpSpPr>
        <p:sp>
          <p:nvSpPr>
            <p:cNvPr id="226" name="모서리가 둥근 직사각형 225"/>
            <p:cNvSpPr/>
            <p:nvPr/>
          </p:nvSpPr>
          <p:spPr>
            <a:xfrm>
              <a:off x="2387942" y="1674968"/>
              <a:ext cx="1587995" cy="1905349"/>
            </a:xfrm>
            <a:prstGeom prst="roundRect">
              <a:avLst>
                <a:gd name="adj" fmla="val 4475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7" name="직선 연결선 226"/>
            <p:cNvCxnSpPr/>
            <p:nvPr/>
          </p:nvCxnSpPr>
          <p:spPr>
            <a:xfrm flipV="1">
              <a:off x="2396609" y="2218479"/>
              <a:ext cx="1580924" cy="1847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/>
          <p:cNvSpPr txBox="1"/>
          <p:nvPr/>
        </p:nvSpPr>
        <p:spPr>
          <a:xfrm>
            <a:off x="1985818" y="1791399"/>
            <a:ext cx="1169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 목록 선택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1960619" y="2970986"/>
            <a:ext cx="1861091" cy="3392869"/>
          </a:xfrm>
          <a:prstGeom prst="roundRect">
            <a:avLst>
              <a:gd name="adj" fmla="val 4907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7532303" y="6052500"/>
            <a:ext cx="686905" cy="236537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저장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6" name="모서리가 둥근 직사각형 255"/>
          <p:cNvSpPr/>
          <p:nvPr/>
        </p:nvSpPr>
        <p:spPr>
          <a:xfrm>
            <a:off x="2022298" y="2553723"/>
            <a:ext cx="961047" cy="236537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Rubircs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추가</a:t>
            </a:r>
            <a:endParaRPr lang="ko-KR" alt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09401" y="2813884"/>
            <a:ext cx="1366806" cy="25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 결과                ∨               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2026082" y="2198191"/>
            <a:ext cx="1452422" cy="2607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en-US" altLang="ko-KR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Engineer        </a:t>
            </a:r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∨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" name="모서리가 둥근 직사각형 101"/>
          <p:cNvSpPr/>
          <p:nvPr/>
        </p:nvSpPr>
        <p:spPr>
          <a:xfrm>
            <a:off x="3123437" y="2553723"/>
            <a:ext cx="563218" cy="23653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endParaRPr lang="ko-KR" altLang="en-US" sz="4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75860" y="3013563"/>
            <a:ext cx="148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 목록</a:t>
            </a:r>
            <a:endParaRPr lang="ko-KR" alt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1960619" y="3283054"/>
            <a:ext cx="1864659" cy="402252"/>
            <a:chOff x="2078244" y="3615759"/>
            <a:chExt cx="1864659" cy="402252"/>
          </a:xfrm>
          <a:solidFill>
            <a:schemeClr val="bg1">
              <a:lumMod val="95000"/>
            </a:schemeClr>
          </a:solidFill>
        </p:grpSpPr>
        <p:sp>
          <p:nvSpPr>
            <p:cNvPr id="105" name="모서리가 둥근 직사각형 104"/>
            <p:cNvSpPr/>
            <p:nvPr/>
          </p:nvSpPr>
          <p:spPr>
            <a:xfrm>
              <a:off x="2160146" y="3744885"/>
              <a:ext cx="144000" cy="144000"/>
            </a:xfrm>
            <a:prstGeom prst="round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2078244" y="3615759"/>
              <a:ext cx="1864659" cy="40225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 </a:t>
              </a:r>
              <a:r>
                <a:rPr lang="ko-KR" altLang="en-US" sz="14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직무평가</a:t>
              </a:r>
              <a:endPara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8" name="그룹 107"/>
          <p:cNvGrpSpPr/>
          <p:nvPr/>
        </p:nvGrpSpPr>
        <p:grpSpPr>
          <a:xfrm>
            <a:off x="1957051" y="3688361"/>
            <a:ext cx="1864659" cy="402252"/>
            <a:chOff x="2078244" y="3615759"/>
            <a:chExt cx="1864659" cy="402252"/>
          </a:xfrm>
        </p:grpSpPr>
        <p:sp>
          <p:nvSpPr>
            <p:cNvPr id="109" name="모서리가 둥근 직사각형 108"/>
            <p:cNvSpPr/>
            <p:nvPr/>
          </p:nvSpPr>
          <p:spPr>
            <a:xfrm>
              <a:off x="2160146" y="3744885"/>
              <a:ext cx="144000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2078244" y="3615759"/>
              <a:ext cx="1864659" cy="40225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 </a:t>
              </a:r>
              <a:r>
                <a:rPr lang="ko-KR" altLang="en-US" sz="14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직무경험</a:t>
              </a:r>
              <a:endPara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1" name="그룹 110"/>
          <p:cNvGrpSpPr/>
          <p:nvPr/>
        </p:nvGrpSpPr>
        <p:grpSpPr>
          <a:xfrm>
            <a:off x="1960619" y="4096312"/>
            <a:ext cx="1864659" cy="402252"/>
            <a:chOff x="2078244" y="3615759"/>
            <a:chExt cx="1864659" cy="402252"/>
          </a:xfrm>
        </p:grpSpPr>
        <p:sp>
          <p:nvSpPr>
            <p:cNvPr id="112" name="모서리가 둥근 직사각형 111"/>
            <p:cNvSpPr/>
            <p:nvPr/>
          </p:nvSpPr>
          <p:spPr>
            <a:xfrm>
              <a:off x="2160146" y="3744885"/>
              <a:ext cx="144000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2078244" y="3615759"/>
              <a:ext cx="1864659" cy="40225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 소통능력</a:t>
              </a:r>
              <a:endPara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1957050" y="4498564"/>
            <a:ext cx="1864659" cy="402252"/>
            <a:chOff x="2078244" y="3615759"/>
            <a:chExt cx="1864659" cy="402252"/>
          </a:xfrm>
        </p:grpSpPr>
        <p:sp>
          <p:nvSpPr>
            <p:cNvPr id="115" name="모서리가 둥근 직사각형 114"/>
            <p:cNvSpPr/>
            <p:nvPr/>
          </p:nvSpPr>
          <p:spPr>
            <a:xfrm>
              <a:off x="2160146" y="3744885"/>
              <a:ext cx="144000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2078244" y="3615759"/>
              <a:ext cx="1864659" cy="40225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 </a:t>
              </a:r>
              <a:r>
                <a:rPr lang="ko-KR" altLang="en-US" sz="1400" dirty="0" err="1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업무태도</a:t>
              </a:r>
              <a:endPara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1960619" y="4900733"/>
            <a:ext cx="1864659" cy="402252"/>
            <a:chOff x="2078244" y="3615759"/>
            <a:chExt cx="1864659" cy="402252"/>
          </a:xfrm>
        </p:grpSpPr>
        <p:sp>
          <p:nvSpPr>
            <p:cNvPr id="118" name="모서리가 둥근 직사각형 117"/>
            <p:cNvSpPr/>
            <p:nvPr/>
          </p:nvSpPr>
          <p:spPr>
            <a:xfrm>
              <a:off x="2160146" y="3744885"/>
              <a:ext cx="144000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2078244" y="3615759"/>
              <a:ext cx="1864659" cy="40225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 문제해결능력</a:t>
              </a:r>
              <a:endPara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20" name="모서리가 둥근 직사각형 119"/>
          <p:cNvSpPr/>
          <p:nvPr/>
        </p:nvSpPr>
        <p:spPr>
          <a:xfrm>
            <a:off x="2044396" y="3412180"/>
            <a:ext cx="144000" cy="144000"/>
          </a:xfrm>
          <a:prstGeom prst="roundRect">
            <a:avLst/>
          </a:prstGeom>
          <a:solidFill>
            <a:srgbClr val="FF256E"/>
          </a:solidFill>
          <a:ln>
            <a:solidFill>
              <a:srgbClr val="FF25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884370" y="2059086"/>
            <a:ext cx="4491225" cy="35953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3921004" y="1752140"/>
            <a:ext cx="20320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직무 평가 기준</a:t>
            </a:r>
            <a:endParaRPr lang="ko-KR" alt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4796011" y="2145807"/>
            <a:ext cx="1074482" cy="272946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/>
          <p:cNvGrpSpPr/>
          <p:nvPr/>
        </p:nvGrpSpPr>
        <p:grpSpPr>
          <a:xfrm>
            <a:off x="3966839" y="2145807"/>
            <a:ext cx="1542473" cy="479310"/>
            <a:chOff x="3966839" y="2145807"/>
            <a:chExt cx="1542473" cy="479310"/>
          </a:xfrm>
        </p:grpSpPr>
        <p:sp>
          <p:nvSpPr>
            <p:cNvPr id="27" name="모서리가 둥근 직사각형 26"/>
            <p:cNvSpPr/>
            <p:nvPr/>
          </p:nvSpPr>
          <p:spPr>
            <a:xfrm>
              <a:off x="4077311" y="2145807"/>
              <a:ext cx="946166" cy="347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3966839" y="2436576"/>
              <a:ext cx="1542473" cy="188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4135164" y="2160823"/>
            <a:ext cx="89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 항목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5019715" y="2157439"/>
            <a:ext cx="89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레벨</a:t>
            </a:r>
            <a:endParaRPr lang="ko-KR" altLang="en-US" sz="120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4008291" y="2494582"/>
            <a:ext cx="4306673" cy="2003982"/>
          </a:xfrm>
          <a:prstGeom prst="roundRect">
            <a:avLst>
              <a:gd name="adj" fmla="val 3619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2" name="그룹 131"/>
          <p:cNvGrpSpPr/>
          <p:nvPr/>
        </p:nvGrpSpPr>
        <p:grpSpPr>
          <a:xfrm>
            <a:off x="4298861" y="4805669"/>
            <a:ext cx="3698569" cy="235896"/>
            <a:chOff x="2959323" y="1930356"/>
            <a:chExt cx="3698569" cy="235896"/>
          </a:xfrm>
        </p:grpSpPr>
        <p:grpSp>
          <p:nvGrpSpPr>
            <p:cNvPr id="134" name="그룹 133"/>
            <p:cNvGrpSpPr/>
            <p:nvPr/>
          </p:nvGrpSpPr>
          <p:grpSpPr>
            <a:xfrm>
              <a:off x="2959323" y="2002242"/>
              <a:ext cx="2955243" cy="108000"/>
              <a:chOff x="2848326" y="2002233"/>
              <a:chExt cx="2955243" cy="108000"/>
            </a:xfrm>
          </p:grpSpPr>
          <p:sp>
            <p:nvSpPr>
              <p:cNvPr id="136" name="모서리가 둥근 직사각형 135"/>
              <p:cNvSpPr/>
              <p:nvPr/>
            </p:nvSpPr>
            <p:spPr>
              <a:xfrm>
                <a:off x="2848326" y="2028295"/>
                <a:ext cx="2955243" cy="45719"/>
              </a:xfrm>
              <a:prstGeom prst="roundRect">
                <a:avLst/>
              </a:prstGeom>
              <a:gradFill flip="none" rotWithShape="1">
                <a:gsLst>
                  <a:gs pos="1000">
                    <a:srgbClr val="FF256E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62000">
                    <a:schemeClr val="accent5">
                      <a:lumMod val="20000"/>
                      <a:lumOff val="8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  <a:tileRect/>
              </a:gra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8" name="타원 137"/>
              <p:cNvSpPr/>
              <p:nvPr/>
            </p:nvSpPr>
            <p:spPr>
              <a:xfrm>
                <a:off x="4572610" y="2002233"/>
                <a:ext cx="108000" cy="108000"/>
              </a:xfrm>
              <a:prstGeom prst="ellipse">
                <a:avLst/>
              </a:prstGeom>
              <a:solidFill>
                <a:srgbClr val="FF256E"/>
              </a:solidFill>
              <a:ln>
                <a:solidFill>
                  <a:srgbClr val="FF256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5" name="모서리가 둥근 직사각형 134"/>
            <p:cNvSpPr/>
            <p:nvPr/>
          </p:nvSpPr>
          <p:spPr>
            <a:xfrm>
              <a:off x="5989635" y="1930356"/>
              <a:ext cx="668257" cy="2358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100</a:t>
              </a:r>
              <a:r>
                <a:rPr lang="ko-KR" altLang="en-US" sz="1200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점</a:t>
              </a:r>
              <a:endPara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6" name="모서리가 둥근 직사각형 35"/>
          <p:cNvSpPr/>
          <p:nvPr/>
        </p:nvSpPr>
        <p:spPr>
          <a:xfrm>
            <a:off x="4008291" y="2494583"/>
            <a:ext cx="4306674" cy="476404"/>
          </a:xfrm>
          <a:prstGeom prst="roundRect">
            <a:avLst>
              <a:gd name="adj" fmla="val 10851"/>
            </a:avLst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2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평가항목명</a:t>
            </a:r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008291" y="2801688"/>
            <a:ext cx="4306673" cy="3146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이해 능력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4008290" y="3110947"/>
            <a:ext cx="4306673" cy="31463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활용 능력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7034613" y="2847246"/>
            <a:ext cx="563218" cy="21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endParaRPr lang="ko-KR" altLang="en-US" sz="4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7650350" y="2846182"/>
            <a:ext cx="563218" cy="21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  <a:endParaRPr lang="ko-KR" altLang="en-US" sz="4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7040253" y="3161876"/>
            <a:ext cx="563218" cy="21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endParaRPr lang="ko-KR" altLang="en-US" sz="4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7655990" y="3160812"/>
            <a:ext cx="563218" cy="21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  <a:endParaRPr lang="ko-KR" altLang="en-US" sz="4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135164" y="3514086"/>
            <a:ext cx="4025965" cy="842107"/>
          </a:xfrm>
          <a:prstGeom prst="roundRect">
            <a:avLst>
              <a:gd name="adj" fmla="val 5698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1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기준</a:t>
            </a:r>
            <a:endParaRPr lang="en-US" altLang="ko-KR" sz="11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선택의 논리적 </a:t>
            </a:r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타당성 비교 </a:t>
            </a:r>
            <a:r>
              <a: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분석 능력</a:t>
            </a:r>
            <a:r>
              <a:rPr lang="en-US" altLang="ko-KR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동일 목적을 가진 대안 </a:t>
            </a:r>
            <a:r>
              <a:rPr lang="ko-KR" altLang="en-US" sz="7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기술들과의</a:t>
            </a:r>
            <a:r>
              <a: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차이점 및 상대적 </a:t>
            </a:r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우위를 </a:t>
            </a:r>
            <a:r>
              <a: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객관적으로 비교할 수 있는가</a:t>
            </a:r>
            <a:r>
              <a:rPr lang="en-US" altLang="ko-KR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근거 </a:t>
            </a:r>
            <a:r>
              <a: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의사결정</a:t>
            </a:r>
            <a:r>
              <a:rPr lang="en-US" altLang="ko-KR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특정 도구 채택 시 직면한 문제 상황과 기술의 특성을 결합하여 타당한 논리를 제시하는가</a:t>
            </a:r>
            <a:r>
              <a:rPr lang="en-US" altLang="ko-KR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r>
              <a:rPr lang="ko-KR" altLang="en-US" sz="7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제약 </a:t>
            </a:r>
            <a:r>
              <a: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사항 파악</a:t>
            </a:r>
            <a:r>
              <a:rPr lang="en-US" altLang="ko-KR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7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선택한 기술이 가진 한계점과 발생 가능한 잠재적 리스크를 사전에 인지하고 있는가</a:t>
            </a:r>
            <a:r>
              <a:rPr lang="en-US" altLang="ko-KR" sz="9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9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66839" y="4570560"/>
            <a:ext cx="1224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평가 레벨</a:t>
            </a:r>
            <a:endParaRPr lang="ko-KR" alt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52" name="그룹 151"/>
          <p:cNvGrpSpPr/>
          <p:nvPr/>
        </p:nvGrpSpPr>
        <p:grpSpPr>
          <a:xfrm>
            <a:off x="4085712" y="5173859"/>
            <a:ext cx="3360798" cy="1072210"/>
            <a:chOff x="2387942" y="1674968"/>
            <a:chExt cx="1587995" cy="1905349"/>
          </a:xfrm>
        </p:grpSpPr>
        <p:sp>
          <p:nvSpPr>
            <p:cNvPr id="153" name="모서리가 둥근 직사각형 152"/>
            <p:cNvSpPr/>
            <p:nvPr/>
          </p:nvSpPr>
          <p:spPr>
            <a:xfrm>
              <a:off x="2387942" y="1674968"/>
              <a:ext cx="1587995" cy="1905349"/>
            </a:xfrm>
            <a:prstGeom prst="roundRect">
              <a:avLst>
                <a:gd name="adj" fmla="val 4475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4" name="직선 연결선 153"/>
            <p:cNvCxnSpPr/>
            <p:nvPr/>
          </p:nvCxnSpPr>
          <p:spPr>
            <a:xfrm flipV="1">
              <a:off x="2395013" y="2134147"/>
              <a:ext cx="1580924" cy="1847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/>
          <p:cNvSpPr txBox="1"/>
          <p:nvPr/>
        </p:nvSpPr>
        <p:spPr>
          <a:xfrm>
            <a:off x="4049767" y="5193337"/>
            <a:ext cx="33102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최우수</a:t>
            </a:r>
            <a:r>
              <a:rPr lang="en-US" altLang="ko-KR" sz="8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(90) 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원리 설명이 완벽하며</a:t>
            </a:r>
            <a:r>
              <a:rPr lang="en-US" altLang="ko-KR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7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상황별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최적의 기술 조합을 리스크까지 </a:t>
            </a:r>
            <a:r>
              <a:rPr lang="ko-KR" altLang="en-US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고려</a:t>
            </a:r>
            <a:endParaRPr lang="ko-KR" altLang="en-US" sz="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55" name="직선 연결선 154"/>
          <p:cNvCxnSpPr/>
          <p:nvPr/>
        </p:nvCxnSpPr>
        <p:spPr>
          <a:xfrm flipV="1">
            <a:off x="4093194" y="5668246"/>
            <a:ext cx="3345833" cy="103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4048245" y="5436167"/>
            <a:ext cx="3592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우수</a:t>
            </a:r>
            <a:r>
              <a:rPr lang="en-US" altLang="ko-KR" sz="8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(80) 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기술의 장단점을 명확히 인지하고 있으며</a:t>
            </a:r>
            <a:r>
              <a:rPr lang="en-US" altLang="ko-KR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선택에 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대해 일관된 논리를 유지</a:t>
            </a:r>
          </a:p>
        </p:txBody>
      </p:sp>
      <p:cxnSp>
        <p:nvCxnSpPr>
          <p:cNvPr id="157" name="직선 연결선 156"/>
          <p:cNvCxnSpPr/>
          <p:nvPr/>
        </p:nvCxnSpPr>
        <p:spPr>
          <a:xfrm flipV="1">
            <a:off x="4085712" y="5947607"/>
            <a:ext cx="3345833" cy="103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4056964" y="5976671"/>
            <a:ext cx="3592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미흡 </a:t>
            </a:r>
            <a:r>
              <a:rPr lang="en-US" altLang="ko-KR" sz="8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(60) 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기술 명칭이나 단순 사용법은 아나</a:t>
            </a:r>
            <a:r>
              <a:rPr lang="en-US" altLang="ko-KR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작동 원리나 선택 근거가 모호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043745" y="5709964"/>
            <a:ext cx="3592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부족</a:t>
            </a:r>
            <a:r>
              <a:rPr lang="en-US" altLang="ko-KR" sz="8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en-US" altLang="ko-KR" sz="8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0) 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주요 개념은 이해하고 있으나</a:t>
            </a:r>
            <a:r>
              <a:rPr lang="en-US" altLang="ko-KR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대안 기술과의 </a:t>
            </a:r>
            <a:r>
              <a:rPr lang="ko-KR" altLang="en-US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비교 부족</a:t>
            </a:r>
            <a:endParaRPr lang="ko-KR" altLang="en-US" sz="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1" name="타원 160"/>
          <p:cNvSpPr/>
          <p:nvPr/>
        </p:nvSpPr>
        <p:spPr>
          <a:xfrm>
            <a:off x="1828743" y="166358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2" name="타원 161"/>
          <p:cNvSpPr/>
          <p:nvPr/>
        </p:nvSpPr>
        <p:spPr>
          <a:xfrm>
            <a:off x="1834646" y="290725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3" name="타원 162"/>
          <p:cNvSpPr/>
          <p:nvPr/>
        </p:nvSpPr>
        <p:spPr>
          <a:xfrm>
            <a:off x="3804509" y="161875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4" name="타원 163"/>
          <p:cNvSpPr/>
          <p:nvPr/>
        </p:nvSpPr>
        <p:spPr>
          <a:xfrm>
            <a:off x="3947402" y="2048718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5" name="타원 164"/>
          <p:cNvSpPr/>
          <p:nvPr/>
        </p:nvSpPr>
        <p:spPr>
          <a:xfrm>
            <a:off x="3888317" y="244209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6" name="타원 165"/>
          <p:cNvSpPr/>
          <p:nvPr/>
        </p:nvSpPr>
        <p:spPr>
          <a:xfrm>
            <a:off x="3864791" y="443252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8" name="타원 167"/>
          <p:cNvSpPr/>
          <p:nvPr/>
        </p:nvSpPr>
        <p:spPr>
          <a:xfrm>
            <a:off x="7537928" y="5878130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651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A82C-4F5F-F094-568E-2EA4C461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78E1-EB9D-D419-DC19-E094FB47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08" y="300580"/>
            <a:ext cx="10515600" cy="1136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메인 화면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0F42D-A273-202C-F1D9-03742E23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8BF57-9BFB-4104-A393-BB67BAA24218}" type="datetime9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2026년 3월 6일 오전 11시 28분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70549-073C-1B22-E9D5-4EDB3E19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A4_Project_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화면정의서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_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t>함유라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75C13-3C93-DADF-FEDA-ED4C74A8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A37121-0FE8-400D-89B0-84448AB1177F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Light" panose="020B0200000000000000" pitchFamily="34" charset="-128"/>
              <a:ea typeface="Noto Sans KR Light" panose="020B0200000000000000" pitchFamily="34" charset="-128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062939"/>
              </p:ext>
            </p:extLst>
          </p:nvPr>
        </p:nvGraphicFramePr>
        <p:xfrm>
          <a:off x="8561828" y="1054745"/>
          <a:ext cx="3276234" cy="5479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22">
                  <a:extLst>
                    <a:ext uri="{9D8B030D-6E8A-4147-A177-3AD203B41FA5}">
                      <a16:colId xmlns:a16="http://schemas.microsoft.com/office/drawing/2014/main" val="125308735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793980673"/>
                    </a:ext>
                  </a:extLst>
                </a:gridCol>
              </a:tblGrid>
              <a:tr h="3223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296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44205"/>
                  </a:ext>
                </a:extLst>
              </a:tr>
              <a:tr h="28924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170540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40794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01336"/>
                  </a:ext>
                </a:extLst>
              </a:tr>
              <a:tr h="57645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50308"/>
                  </a:ext>
                </a:extLst>
              </a:tr>
              <a:tr h="8967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939024"/>
                  </a:ext>
                </a:extLst>
              </a:tr>
              <a:tr h="57645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0" kern="1200" baseline="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19119"/>
                  </a:ext>
                </a:extLst>
              </a:tr>
              <a:tr h="57645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rtl="0" eaLnBrk="1" latinLnBrk="1" hangingPunct="1"/>
                      <a:endParaRPr lang="en-US" altLang="ko-KR" sz="1000" dirty="0" smtClean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253"/>
                  </a:ext>
                </a:extLst>
              </a:tr>
              <a:tr h="57645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71567"/>
                  </a:ext>
                </a:extLst>
              </a:tr>
              <a:tr h="416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338373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268653"/>
              </p:ext>
            </p:extLst>
          </p:nvPr>
        </p:nvGraphicFramePr>
        <p:xfrm>
          <a:off x="335382" y="839068"/>
          <a:ext cx="11502680" cy="2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18">
                  <a:extLst>
                    <a:ext uri="{9D8B030D-6E8A-4147-A177-3AD203B41FA5}">
                      <a16:colId xmlns:a16="http://schemas.microsoft.com/office/drawing/2014/main" val="184154726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348579287"/>
                    </a:ext>
                  </a:extLst>
                </a:gridCol>
                <a:gridCol w="590169">
                  <a:extLst>
                    <a:ext uri="{9D8B030D-6E8A-4147-A177-3AD203B41FA5}">
                      <a16:colId xmlns:a16="http://schemas.microsoft.com/office/drawing/2014/main" val="79075497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84219017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427797798"/>
                    </a:ext>
                  </a:extLst>
                </a:gridCol>
                <a:gridCol w="3697986">
                  <a:extLst>
                    <a:ext uri="{9D8B030D-6E8A-4147-A177-3AD203B41FA5}">
                      <a16:colId xmlns:a16="http://schemas.microsoft.com/office/drawing/2014/main" val="380823187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85552104"/>
                    </a:ext>
                  </a:extLst>
                </a:gridCol>
                <a:gridCol w="2713112">
                  <a:extLst>
                    <a:ext uri="{9D8B030D-6E8A-4147-A177-3AD203B41FA5}">
                      <a16:colId xmlns:a16="http://schemas.microsoft.com/office/drawing/2014/main" val="3712205093"/>
                    </a:ext>
                  </a:extLst>
                </a:gridCol>
              </a:tblGrid>
              <a:tr h="215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코드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ADM-00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화면명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관리자 메인 화면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설명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기</a:t>
                      </a:r>
                      <a:r>
                        <a:rPr lang="ko-KR" altLang="en-US" sz="1000" b="1" kern="1200" baseline="0" dirty="0" smtClean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능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001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5382" y="1123950"/>
            <a:ext cx="8132343" cy="5410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17" y="1139337"/>
            <a:ext cx="1877318" cy="437047"/>
          </a:xfrm>
          <a:prstGeom prst="rect">
            <a:avLst/>
          </a:prstGeom>
        </p:spPr>
      </p:pic>
      <p:cxnSp>
        <p:nvCxnSpPr>
          <p:cNvPr id="20" name="직선 연결선 19"/>
          <p:cNvCxnSpPr/>
          <p:nvPr/>
        </p:nvCxnSpPr>
        <p:spPr>
          <a:xfrm>
            <a:off x="2294626" y="1595886"/>
            <a:ext cx="617309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2294626" y="1123950"/>
            <a:ext cx="0" cy="6358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/>
          <p:cNvGrpSpPr/>
          <p:nvPr/>
        </p:nvGrpSpPr>
        <p:grpSpPr>
          <a:xfrm>
            <a:off x="2446350" y="1294579"/>
            <a:ext cx="180000" cy="108000"/>
            <a:chOff x="2415396" y="1285336"/>
            <a:chExt cx="284672" cy="179820"/>
          </a:xfrm>
        </p:grpSpPr>
        <p:sp>
          <p:nvSpPr>
            <p:cNvPr id="28" name="직사각형 27"/>
            <p:cNvSpPr/>
            <p:nvPr/>
          </p:nvSpPr>
          <p:spPr>
            <a:xfrm>
              <a:off x="2415396" y="1285336"/>
              <a:ext cx="28467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2415396" y="1354543"/>
              <a:ext cx="28467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2415396" y="1419437"/>
              <a:ext cx="28467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080877" y="1185263"/>
            <a:ext cx="1381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홍길동님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7896250" y="1179197"/>
            <a:ext cx="380984" cy="361442"/>
          </a:xfrm>
          <a:prstGeom prst="ellipse">
            <a:avLst/>
          </a:prstGeo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2446350" y="1713364"/>
            <a:ext cx="1728835" cy="981587"/>
            <a:chOff x="2446350" y="1713364"/>
            <a:chExt cx="1728835" cy="981587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2446350" y="1713364"/>
              <a:ext cx="1728835" cy="981587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6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DAU</a:t>
              </a:r>
            </a:p>
            <a:p>
              <a:endPara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22402" y="2048620"/>
              <a:ext cx="1652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1,256</a:t>
              </a:r>
              <a:r>
                <a:rPr lang="en-US" altLang="ko-KR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</a:t>
              </a:r>
              <a:r>
                <a:rPr lang="en-US" altLang="ko-KR" sz="1200" dirty="0" smtClean="0">
                  <a:solidFill>
                    <a:schemeClr val="accent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+34</a:t>
              </a:r>
              <a:endParaRPr lang="ko-KR" altLang="en-US" sz="1200" dirty="0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22402" y="2267790"/>
              <a:ext cx="1433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accent6"/>
                  </a:solidFill>
                </a:rPr>
                <a:t>• 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Daily Variance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4370646" y="1721990"/>
            <a:ext cx="1728835" cy="981587"/>
            <a:chOff x="2446350" y="1713364"/>
            <a:chExt cx="1728835" cy="981587"/>
          </a:xfrm>
        </p:grpSpPr>
        <p:sp>
          <p:nvSpPr>
            <p:cNvPr id="48" name="모서리가 둥근 직사각형 47"/>
            <p:cNvSpPr/>
            <p:nvPr/>
          </p:nvSpPr>
          <p:spPr>
            <a:xfrm>
              <a:off x="2446350" y="1713364"/>
              <a:ext cx="1728835" cy="981587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6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Total User</a:t>
              </a:r>
            </a:p>
            <a:p>
              <a:endPara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22402" y="2048620"/>
              <a:ext cx="1652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25,680</a:t>
              </a:r>
              <a:r>
                <a:rPr lang="en-US" altLang="ko-KR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</a:t>
              </a:r>
              <a:r>
                <a:rPr lang="en-US" altLang="ko-KR" sz="1200" dirty="0" smtClean="0">
                  <a:solidFill>
                    <a:srgbClr val="0070C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+1,256</a:t>
              </a:r>
              <a:endParaRPr lang="ko-KR" altLang="en-US" sz="120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522402" y="2267790"/>
              <a:ext cx="1433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0070C0"/>
                  </a:solidFill>
                </a:rPr>
                <a:t>•</a:t>
              </a:r>
              <a:r>
                <a:rPr lang="en-US" altLang="ko-KR" dirty="0">
                  <a:solidFill>
                    <a:schemeClr val="accent6"/>
                  </a:solidFill>
                </a:rPr>
                <a:t> 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Daily Variance</a:t>
              </a:r>
              <a:endPara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6289972" y="1713364"/>
            <a:ext cx="1987262" cy="981587"/>
            <a:chOff x="2446350" y="1713364"/>
            <a:chExt cx="1728835" cy="981587"/>
          </a:xfrm>
        </p:grpSpPr>
        <p:sp>
          <p:nvSpPr>
            <p:cNvPr id="52" name="모서리가 둥근 직사각형 51"/>
            <p:cNvSpPr/>
            <p:nvPr/>
          </p:nvSpPr>
          <p:spPr>
            <a:xfrm>
              <a:off x="2446350" y="1713364"/>
              <a:ext cx="1728835" cy="981587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6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Total Interview</a:t>
              </a:r>
            </a:p>
            <a:p>
              <a:endPara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522402" y="2048620"/>
              <a:ext cx="1652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34,252  </a:t>
              </a:r>
              <a:r>
                <a:rPr lang="en-US" altLang="ko-KR" sz="1200" dirty="0" smtClean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+1,896</a:t>
              </a:r>
              <a:r>
                <a:rPr lang="en-US" altLang="ko-KR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</a:t>
              </a:r>
              <a:endParaRPr lang="ko-KR" altLang="en-US" sz="120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2603855" y="1212280"/>
            <a:ext cx="2219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Dashboard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523053" y="2864918"/>
            <a:ext cx="2670700" cy="2078966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Fallback</a:t>
            </a:r>
            <a:endParaRPr lang="ko-KR" altLang="en-US" sz="14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2455171" y="2864918"/>
            <a:ext cx="2670700" cy="2169847"/>
            <a:chOff x="2446350" y="2932768"/>
            <a:chExt cx="2670700" cy="2169847"/>
          </a:xfrm>
        </p:grpSpPr>
        <p:sp>
          <p:nvSpPr>
            <p:cNvPr id="69" name="모서리가 둥근 직사각형 68"/>
            <p:cNvSpPr/>
            <p:nvPr/>
          </p:nvSpPr>
          <p:spPr>
            <a:xfrm>
              <a:off x="2446350" y="2932768"/>
              <a:ext cx="2670700" cy="2078966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400" b="1" dirty="0" smtClean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User Growth</a:t>
              </a:r>
              <a:endPara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aphicFrame>
          <p:nvGraphicFramePr>
            <p:cNvPr id="70" name="차트 69"/>
            <p:cNvGraphicFramePr/>
            <p:nvPr>
              <p:extLst>
                <p:ext uri="{D42A27DB-BD31-4B8C-83A1-F6EECF244321}">
                  <p14:modId xmlns:p14="http://schemas.microsoft.com/office/powerpoint/2010/main" val="2014125728"/>
                </p:ext>
              </p:extLst>
            </p:nvPr>
          </p:nvGraphicFramePr>
          <p:xfrm>
            <a:off x="2548581" y="3278506"/>
            <a:ext cx="2445258" cy="18241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graphicFrame>
        <p:nvGraphicFramePr>
          <p:cNvPr id="24" name="차트 23"/>
          <p:cNvGraphicFramePr/>
          <p:nvPr>
            <p:extLst>
              <p:ext uri="{D42A27DB-BD31-4B8C-83A1-F6EECF244321}">
                <p14:modId xmlns:p14="http://schemas.microsoft.com/office/powerpoint/2010/main" val="4212650659"/>
              </p:ext>
            </p:extLst>
          </p:nvPr>
        </p:nvGraphicFramePr>
        <p:xfrm>
          <a:off x="5324278" y="3210656"/>
          <a:ext cx="2817606" cy="1557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41" name="그룹 40"/>
          <p:cNvGrpSpPr/>
          <p:nvPr/>
        </p:nvGrpSpPr>
        <p:grpSpPr>
          <a:xfrm>
            <a:off x="5494075" y="5103138"/>
            <a:ext cx="2592667" cy="1219716"/>
            <a:chOff x="2446350" y="4989530"/>
            <a:chExt cx="2592667" cy="1219716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2446350" y="4989530"/>
              <a:ext cx="2592667" cy="1219716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522402" y="5368746"/>
              <a:ext cx="2391343" cy="9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536350" y="5036338"/>
              <a:ext cx="21973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Top 3 Positions 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536350" y="5468863"/>
              <a:ext cx="24452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Top1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 AI Engineer</a:t>
              </a:r>
              <a:endPara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Top2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 SW </a:t>
              </a:r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Development</a:t>
              </a:r>
            </a:p>
            <a:p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Top3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 Backend Development</a:t>
              </a:r>
              <a:endPara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2608973" y="5103138"/>
            <a:ext cx="2592667" cy="1219716"/>
            <a:chOff x="2446350" y="4989530"/>
            <a:chExt cx="2592667" cy="1219716"/>
          </a:xfrm>
        </p:grpSpPr>
        <p:sp>
          <p:nvSpPr>
            <p:cNvPr id="81" name="모서리가 둥근 직사각형 80"/>
            <p:cNvSpPr/>
            <p:nvPr/>
          </p:nvSpPr>
          <p:spPr>
            <a:xfrm>
              <a:off x="2446350" y="4989530"/>
              <a:ext cx="2592667" cy="1219716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2" name="직선 연결선 81"/>
            <p:cNvCxnSpPr/>
            <p:nvPr/>
          </p:nvCxnSpPr>
          <p:spPr>
            <a:xfrm>
              <a:off x="2522402" y="5368746"/>
              <a:ext cx="2391343" cy="9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2536350" y="5036338"/>
              <a:ext cx="21973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Top 3 Companies 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536350" y="5468863"/>
              <a:ext cx="24452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Top1 . </a:t>
              </a:r>
              <a:r>
                <a:rPr lang="ko-KR" altLang="en-US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삼성전자</a:t>
              </a:r>
              <a:endPara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Top2 . </a:t>
              </a:r>
              <a:r>
                <a:rPr lang="en-US" altLang="ko-KR" sz="1200" dirty="0" err="1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Naver</a:t>
              </a:r>
              <a:endPara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2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Top3 . LG CNS</a:t>
              </a: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325303" y="1601645"/>
            <a:ext cx="2639747" cy="4938263"/>
            <a:chOff x="335382" y="1499012"/>
            <a:chExt cx="2639747" cy="4938263"/>
          </a:xfrm>
        </p:grpSpPr>
        <p:sp>
          <p:nvSpPr>
            <p:cNvPr id="8" name="직사각형 7"/>
            <p:cNvSpPr/>
            <p:nvPr/>
          </p:nvSpPr>
          <p:spPr>
            <a:xfrm>
              <a:off x="335382" y="1499012"/>
              <a:ext cx="1959244" cy="49382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17308" y="1700088"/>
              <a:ext cx="1756549" cy="266736"/>
            </a:xfrm>
            <a:prstGeom prst="roundRect">
              <a:avLst/>
            </a:prstGeom>
            <a:solidFill>
              <a:srgbClr val="FF256E"/>
            </a:solidFill>
            <a:ln>
              <a:solidFill>
                <a:srgbClr val="FF2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  </a:t>
              </a:r>
              <a:r>
                <a:rPr lang="en-US" altLang="ko-KR" sz="1400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Dashboard</a:t>
              </a:r>
              <a:endPara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692" y="1740185"/>
              <a:ext cx="186542" cy="186542"/>
            </a:xfrm>
            <a:prstGeom prst="rect">
              <a:avLst/>
            </a:prstGeom>
          </p:spPr>
        </p:pic>
        <p:grpSp>
          <p:nvGrpSpPr>
            <p:cNvPr id="57" name="그룹 56"/>
            <p:cNvGrpSpPr/>
            <p:nvPr/>
          </p:nvGrpSpPr>
          <p:grpSpPr>
            <a:xfrm>
              <a:off x="417309" y="2028295"/>
              <a:ext cx="1678910" cy="297090"/>
              <a:chOff x="417309" y="2028295"/>
              <a:chExt cx="1678910" cy="297090"/>
            </a:xfrm>
          </p:grpSpPr>
          <p:cxnSp>
            <p:nvCxnSpPr>
              <p:cNvPr id="39" name="직선 연결선 38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/>
              <p:cNvSpPr txBox="1"/>
              <p:nvPr/>
            </p:nvSpPr>
            <p:spPr>
              <a:xfrm>
                <a:off x="417309" y="2028295"/>
                <a:ext cx="167891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User Management</a:t>
                </a:r>
                <a:r>
                  <a:rPr lang="ko-KR" altLang="en-US" sz="11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∧</a:t>
                </a:r>
                <a:endParaRPr lang="ko-KR" altLang="en-US" sz="11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110" name="그룹 109"/>
            <p:cNvGrpSpPr/>
            <p:nvPr/>
          </p:nvGrpSpPr>
          <p:grpSpPr>
            <a:xfrm>
              <a:off x="858389" y="2435549"/>
              <a:ext cx="1315468" cy="261610"/>
              <a:chOff x="858389" y="2393766"/>
              <a:chExt cx="1315468" cy="261610"/>
            </a:xfrm>
          </p:grpSpPr>
          <p:sp>
            <p:nvSpPr>
              <p:cNvPr id="111" name="TextBox 110"/>
              <p:cNvSpPr txBox="1"/>
              <p:nvPr/>
            </p:nvSpPr>
            <p:spPr>
              <a:xfrm>
                <a:off x="858389" y="2393766"/>
                <a:ext cx="13154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Daily Active Users</a:t>
                </a:r>
                <a:endParaRPr lang="ko-KR" altLang="en-US" sz="105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115" name="직선 연결선 114"/>
              <p:cNvCxnSpPr/>
              <p:nvPr/>
            </p:nvCxnSpPr>
            <p:spPr>
              <a:xfrm>
                <a:off x="862642" y="2653168"/>
                <a:ext cx="123357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그룹 116"/>
            <p:cNvGrpSpPr/>
            <p:nvPr/>
          </p:nvGrpSpPr>
          <p:grpSpPr>
            <a:xfrm>
              <a:off x="430205" y="3138758"/>
              <a:ext cx="2512586" cy="297090"/>
              <a:chOff x="477692" y="2028295"/>
              <a:chExt cx="2512586" cy="297090"/>
            </a:xfrm>
          </p:grpSpPr>
          <p:cxnSp>
            <p:nvCxnSpPr>
              <p:cNvPr id="118" name="직선 연결선 117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Box 118"/>
              <p:cNvSpPr txBox="1"/>
              <p:nvPr/>
            </p:nvSpPr>
            <p:spPr>
              <a:xfrm>
                <a:off x="510030" y="2028295"/>
                <a:ext cx="248024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Interview Logs</a:t>
                </a:r>
                <a:r>
                  <a:rPr lang="ko-KR" altLang="en-US" sz="11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∨</a:t>
                </a:r>
                <a:endParaRPr lang="ko-KR" altLang="en-US" sz="11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85" name="그룹 84"/>
            <p:cNvGrpSpPr/>
            <p:nvPr/>
          </p:nvGrpSpPr>
          <p:grpSpPr>
            <a:xfrm>
              <a:off x="446374" y="3539414"/>
              <a:ext cx="2512586" cy="297090"/>
              <a:chOff x="477692" y="2028295"/>
              <a:chExt cx="2512586" cy="297090"/>
            </a:xfrm>
          </p:grpSpPr>
          <p:cxnSp>
            <p:nvCxnSpPr>
              <p:cNvPr id="86" name="직선 연결선 85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/>
              <p:cNvSpPr txBox="1"/>
              <p:nvPr/>
            </p:nvSpPr>
            <p:spPr>
              <a:xfrm>
                <a:off x="510030" y="2028295"/>
                <a:ext cx="248024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AI Monitoring</a:t>
                </a:r>
                <a:r>
                  <a:rPr lang="ko-KR" altLang="en-US" sz="11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∨</a:t>
                </a:r>
                <a:endParaRPr lang="ko-KR" altLang="en-US" sz="11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88" name="그룹 87"/>
            <p:cNvGrpSpPr/>
            <p:nvPr/>
          </p:nvGrpSpPr>
          <p:grpSpPr>
            <a:xfrm>
              <a:off x="462543" y="3921100"/>
              <a:ext cx="2512586" cy="297090"/>
              <a:chOff x="477692" y="2028295"/>
              <a:chExt cx="2512586" cy="297090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477692" y="2325385"/>
                <a:ext cx="16185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TextBox 89"/>
              <p:cNvSpPr txBox="1"/>
              <p:nvPr/>
            </p:nvSpPr>
            <p:spPr>
              <a:xfrm>
                <a:off x="510030" y="2028295"/>
                <a:ext cx="248024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Admin Account</a:t>
                </a:r>
                <a:r>
                  <a:rPr lang="ko-KR" altLang="en-US" sz="110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∨</a:t>
                </a:r>
                <a:endParaRPr lang="ko-KR" altLang="en-US" sz="110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91" name="그룹 90"/>
            <p:cNvGrpSpPr/>
            <p:nvPr/>
          </p:nvGrpSpPr>
          <p:grpSpPr>
            <a:xfrm>
              <a:off x="862642" y="2772888"/>
              <a:ext cx="1431984" cy="261610"/>
              <a:chOff x="862642" y="2393664"/>
              <a:chExt cx="1431984" cy="261610"/>
            </a:xfrm>
          </p:grpSpPr>
          <p:sp>
            <p:nvSpPr>
              <p:cNvPr id="92" name="TextBox 91"/>
              <p:cNvSpPr txBox="1"/>
              <p:nvPr/>
            </p:nvSpPr>
            <p:spPr>
              <a:xfrm>
                <a:off x="1241934" y="2393664"/>
                <a:ext cx="105269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 smtClean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Total </a:t>
                </a:r>
                <a:r>
                  <a:rPr lang="en-US" altLang="ko-KR" sz="1050" dirty="0">
                    <a:solidFill>
                      <a:schemeClr val="bg1">
                        <a:lumMod val="7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Users</a:t>
                </a:r>
                <a:endParaRPr lang="ko-KR" altLang="en-US" sz="1050" dirty="0">
                  <a:solidFill>
                    <a:schemeClr val="bg1">
                      <a:lumMod val="7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93" name="직선 연결선 92"/>
              <p:cNvCxnSpPr/>
              <p:nvPr/>
            </p:nvCxnSpPr>
            <p:spPr>
              <a:xfrm>
                <a:off x="862642" y="2653168"/>
                <a:ext cx="123357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TextBox 93"/>
          <p:cNvSpPr txBox="1"/>
          <p:nvPr/>
        </p:nvSpPr>
        <p:spPr>
          <a:xfrm>
            <a:off x="6338388" y="2279453"/>
            <a:ext cx="1433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•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Daily Increase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176295" y="111075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2199096" y="110471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6903826" y="106300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7800719" y="102185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9" name="타원 98"/>
          <p:cNvSpPr/>
          <p:nvPr/>
        </p:nvSpPr>
        <p:spPr>
          <a:xfrm>
            <a:off x="255506" y="1627534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" name="타원 99"/>
          <p:cNvSpPr/>
          <p:nvPr/>
        </p:nvSpPr>
        <p:spPr>
          <a:xfrm>
            <a:off x="2348973" y="1613985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4319567" y="161906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" name="타원 101"/>
          <p:cNvSpPr/>
          <p:nvPr/>
        </p:nvSpPr>
        <p:spPr>
          <a:xfrm>
            <a:off x="6263646" y="1624779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2392402" y="2847857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5545108" y="284283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" name="타원 111"/>
          <p:cNvSpPr/>
          <p:nvPr/>
        </p:nvSpPr>
        <p:spPr>
          <a:xfrm>
            <a:off x="2527346" y="5055712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3" name="타원 112"/>
          <p:cNvSpPr/>
          <p:nvPr/>
        </p:nvSpPr>
        <p:spPr>
          <a:xfrm>
            <a:off x="5415108" y="5049671"/>
            <a:ext cx="260000" cy="21744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355583" y="6087345"/>
            <a:ext cx="19428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65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5689</TotalTime>
  <Words>12490</Words>
  <Application>Microsoft Office PowerPoint</Application>
  <PresentationFormat>와이드스크린</PresentationFormat>
  <Paragraphs>3395</Paragraphs>
  <Slides>52</Slides>
  <Notes>51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0" baseType="lpstr">
      <vt:lpstr>Noto Sans KR</vt:lpstr>
      <vt:lpstr>Noto Sans KR Black</vt:lpstr>
      <vt:lpstr>Noto Sans KR DemiLight</vt:lpstr>
      <vt:lpstr>Noto Sans KR ExtraBold</vt:lpstr>
      <vt:lpstr>Noto Sans KR Light</vt:lpstr>
      <vt:lpstr>맑은 고딕</vt:lpstr>
      <vt:lpstr>Arial</vt:lpstr>
      <vt:lpstr>Office 테마</vt:lpstr>
      <vt:lpstr> </vt:lpstr>
      <vt:lpstr>개정이력</vt:lpstr>
      <vt:lpstr>개요</vt:lpstr>
      <vt:lpstr>User Flow Scenario</vt:lpstr>
      <vt:lpstr>AI Scenario</vt:lpstr>
      <vt:lpstr>Screen List</vt:lpstr>
      <vt:lpstr>Screen List</vt:lpstr>
      <vt:lpstr>메인 화면</vt:lpstr>
      <vt:lpstr>메인 화면</vt:lpstr>
      <vt:lpstr>브랜드 소개</vt:lpstr>
      <vt:lpstr>회원 가입</vt:lpstr>
      <vt:lpstr>로그인</vt:lpstr>
      <vt:lpstr>면접 시작</vt:lpstr>
      <vt:lpstr>이력서 업로드</vt:lpstr>
      <vt:lpstr>이력서 재업로드</vt:lpstr>
      <vt:lpstr>이력서 내역 확인</vt:lpstr>
      <vt:lpstr>환경테스트-오디오</vt:lpstr>
      <vt:lpstr>환경테스트-영상</vt:lpstr>
      <vt:lpstr>면접 시작 </vt:lpstr>
      <vt:lpstr>자기소개</vt:lpstr>
      <vt:lpstr>자기소개</vt:lpstr>
      <vt:lpstr>지원동기</vt:lpstr>
      <vt:lpstr>직무면접</vt:lpstr>
      <vt:lpstr>직무면접</vt:lpstr>
      <vt:lpstr>직무면접</vt:lpstr>
      <vt:lpstr>직무면접</vt:lpstr>
      <vt:lpstr>직무면접</vt:lpstr>
      <vt:lpstr>직무면접</vt:lpstr>
      <vt:lpstr>인성면접</vt:lpstr>
      <vt:lpstr>인성면접</vt:lpstr>
      <vt:lpstr>인성면접</vt:lpstr>
      <vt:lpstr>인성면접</vt:lpstr>
      <vt:lpstr>인성면접</vt:lpstr>
      <vt:lpstr>인성면접</vt:lpstr>
      <vt:lpstr>최종 발언</vt:lpstr>
      <vt:lpstr>면접 종료</vt:lpstr>
      <vt:lpstr>면접 평가</vt:lpstr>
      <vt:lpstr>면접 이력</vt:lpstr>
      <vt:lpstr>면접 결과</vt:lpstr>
      <vt:lpstr>프로필 관리</vt:lpstr>
      <vt:lpstr>계정 설정</vt:lpstr>
      <vt:lpstr>메인 화면</vt:lpstr>
      <vt:lpstr>공고 등록</vt:lpstr>
      <vt:lpstr>공고 현황</vt:lpstr>
      <vt:lpstr>지원자 관리</vt:lpstr>
      <vt:lpstr>면접 관리</vt:lpstr>
      <vt:lpstr>결과 관리</vt:lpstr>
      <vt:lpstr>결과 수정</vt:lpstr>
      <vt:lpstr>결과 분석</vt:lpstr>
      <vt:lpstr>결과 분석</vt:lpstr>
      <vt:lpstr>루브릭 설정</vt:lpstr>
      <vt:lpstr>메인 화면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</dc:title>
  <dc:creator>TJ</dc:creator>
  <cp:lastModifiedBy>TJ</cp:lastModifiedBy>
  <cp:revision>286</cp:revision>
  <dcterms:created xsi:type="dcterms:W3CDTF">2025-12-10T06:17:54Z</dcterms:created>
  <dcterms:modified xsi:type="dcterms:W3CDTF">2026-03-06T02:31:05Z</dcterms:modified>
</cp:coreProperties>
</file>